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16_01_lecture_powerpoint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Y</m:t>
                                </m:r>
                              </m:e>
                            </m:acc>
                          </m:e>
                        </m:d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j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sSub>
                                  <m:e>
                                    <m:r>
                                      <m:t>y</m:t>
                                    </m:r>
                                  </m:e>
                                  <m:sub>
                                    <m:r>
                                      <m:t>j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,</m:t>
                                    </m:r>
                                    <m: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t>i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,</m:t>
                                        </m:r>
                                        <m:r>
                                          <m:t>k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sSub>
                                      <m:e>
                                        <m:r>
                                          <m:t>y</m:t>
                                        </m:r>
                                      </m:e>
                                      <m:sub>
                                        <m:r>
                                          <m:t>j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,</m:t>
                                        </m:r>
                                        <m:r>
                                          <m:t>k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16_01_lecture_powerpoint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16_01_lecture_powerpoint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16_01_lecture_powerpoint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16_01_lecture_powerpoint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16_01_lecture_powerpoint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16_01_lecture_powerpoint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16_01_lecture_powerpoint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16_01_lecture_powerpoint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16_01_lecture_powerpoint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16_01_lecture_powerpoint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 &lt;.0001
##  DG - LEH    -0.366 0.542 83  -0.675  0.9064
##  DG - TJH    -1.447 0.542 83  -2.671  0.0442
##  HD - LEH     3.285 0.673 83   4.883  &lt;.0001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sSub>
                                      <m:e>
                                        <m:acc>
                                          <m:accPr>
                                            <m:chr m:val="‾"/>
                                          </m:accPr>
                                          <m:e>
                                            <m:r>
                                              <m:t>Z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m:t>i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,</m:t>
                                        </m:r>
                                        <m:r>
                                          <m:t>k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sSub>
                                      <m:e>
                                        <m:acc>
                                          <m:accPr>
                                            <m:chr m:val="‾"/>
                                          </m:accPr>
                                          <m:e>
                                            <m:r>
                                              <m:t>Z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m:t>i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,</m:t>
                                        </m:r>
                                        <m:r>
                                          <m:t>j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16_01_lecture_powerpoint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dataset with row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darl_pca_data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keel_diam,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wing1_length, wing2_length, wingsprea,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hoodmass_g, tubemass_g)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pca_facto &lt;- </a:t>
            </a:r>
            <a:r>
              <a:rPr>
                <a:solidFill>
                  <a:srgbClr val="4758AB"/>
                </a:solidFill>
                <a:latin typeface="Courier"/>
              </a:rPr>
              <a:t>PCA</a:t>
            </a:r>
            <a:r>
              <a:rPr>
                <a:solidFill>
                  <a:srgbClr val="003B4F"/>
                </a:solidFill>
                <a:latin typeface="Courier"/>
              </a:rPr>
              <a:t>(darl_pca_data,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graph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scale.unit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grouping factor with same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site_groups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 with grouping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fviz_pca_biplot</a:t>
            </a:r>
            <a:r>
              <a:rPr>
                <a:solidFill>
                  <a:srgbClr val="003B4F"/>
                </a:solidFill>
                <a:latin typeface="Courier"/>
              </a:rPr>
              <a:t>(pca_facto,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col.ind =</a:t>
            </a:r>
            <a:r>
              <a:rPr>
                <a:solidFill>
                  <a:srgbClr val="003B4F"/>
                </a:solidFill>
                <a:latin typeface="Courier"/>
              </a:rPr>
              <a:t> site_groups,  </a:t>
            </a:r>
            <a:r>
              <a:rPr>
                <a:solidFill>
                  <a:srgbClr val="5E5E5E"/>
                </a:solidFill>
                <a:latin typeface="Courier"/>
              </a:rPr>
              <a:t># Use col.ind instead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palette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"jco"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addEllipses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ellipse.level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repel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br/>
            <a:r>
              <a:rPr>
                <a:solidFill>
                  <a:srgbClr val="5E5E5E"/>
                </a:solidFill>
                <a:latin typeface="Courier"/>
              </a:rPr>
              <a:t># Individual plot with better options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fviz_pca_ind</a:t>
            </a:r>
            <a:r>
              <a:rPr>
                <a:solidFill>
                  <a:srgbClr val="003B4F"/>
                </a:solidFill>
                <a:latin typeface="Courier"/>
              </a:rPr>
              <a:t>(pca_facto,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geom.ind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col.ind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palette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"jco"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addEllipses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ellipse.type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legend.title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repel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unnamed-chunk-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PCA plot with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autoplot</a:t>
            </a:r>
            <a:r>
              <a:rPr>
                <a:solidFill>
                  <a:srgbClr val="003B4F"/>
                </a:solidFill>
                <a:latin typeface="Courier"/>
              </a:rPr>
              <a:t>(pca_result,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'site'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loadings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loadings.label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frame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Adds ellipses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frame.type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'norm'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or 't' for confidence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data matrix (samples × variables)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darl_matrix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keel_diam,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wing1_length, wing2_length, wingsprea,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hoodmass_g, tubemass_g)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PCA with vegan (uses SVD, similar to prcomp)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pca_vegan &lt;- </a:t>
            </a:r>
            <a:r>
              <a:rPr>
                <a:solidFill>
                  <a:srgbClr val="4758AB"/>
                </a:solidFill>
                <a:latin typeface="Courier"/>
              </a:rPr>
              <a:t>rda</a:t>
            </a:r>
            <a:r>
              <a:rPr>
                <a:solidFill>
                  <a:srgbClr val="003B4F"/>
                </a:solidFill>
                <a:latin typeface="Courier"/>
              </a:rPr>
              <a:t>(darl_matrix)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biplot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scaling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br/>
            <a:r>
              <a:rPr>
                <a:solidFill>
                  <a:srgbClr val="5E5E5E"/>
                </a:solidFill>
                <a:latin typeface="Courier"/>
              </a:rPr>
              <a:t># Calculate distances between sites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site_matrix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everything</a:t>
            </a:r>
            <a:r>
              <a:rPr>
                <a:solidFill>
                  <a:srgbClr val="003B4F"/>
                </a:solidFill>
                <a:latin typeface="Courier"/>
              </a:rPr>
              <a:t>(),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Euclidean distance (many distance metrics available!)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dist_euclidean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(site_matrix,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dist_bray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(site_matrix,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Bray-Curtis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dist_manhattan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(site_matrix,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"manhattan"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nice color palette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site_factor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n_sites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(site_factor))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colors &lt;- </a:t>
            </a:r>
            <a:r>
              <a:rPr>
                <a:solidFill>
                  <a:srgbClr val="4758AB"/>
                </a:solidFill>
                <a:latin typeface="Courier"/>
              </a:rPr>
              <a:t>brewer.pal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(n_sites,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"Set1"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Use Set1 palette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site_colors &lt;- colors[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(site_factor)]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Ordination plot with sites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site_colors,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ordispider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groups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colors)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ordiellipse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groups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657422"/>
                </a:solidFill>
                <a:latin typeface="Courier"/>
              </a:rPr>
              <a:t>draw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"polygon"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colors,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legend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(site_factor),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colors,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pca_vegan &lt;- </a:t>
            </a:r>
            <a:r>
              <a:rPr>
                <a:solidFill>
                  <a:srgbClr val="4758AB"/>
                </a:solidFill>
                <a:latin typeface="Courier"/>
              </a:rPr>
              <a:t>rda</a:t>
            </a:r>
            <a:r>
              <a:rPr>
                <a:solidFill>
                  <a:srgbClr val="003B4F"/>
                </a:solidFill>
                <a:latin typeface="Courier"/>
              </a:rPr>
              <a:t>(darl_matrix)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permanova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(darl_matrix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fviz_pca_biplot</a:t>
            </a:r>
            <a:r>
              <a:rPr>
                <a:solidFill>
                  <a:srgbClr val="003B4F"/>
                </a:solidFill>
                <a:latin typeface="Courier"/>
              </a:rPr>
              <a:t>(pca_result,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habillage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addEllipses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"PERMANOVA: p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br/>
            <a:r>
              <a:rPr>
                <a:solidFill>
                  <a:srgbClr val="5E5E5E"/>
                </a:solidFill>
                <a:latin typeface="Courier"/>
              </a:rPr>
              <a:t># Scale the data properly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darl_scaled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keel_diam,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wing1_length, wing2_length, wingsprea,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hoodmass_g, tubemass_g)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 </a:t>
            </a:r>
            <a:r>
              <a:rPr>
                <a:solidFill>
                  <a:srgbClr val="5E5E5E"/>
                </a:solidFill>
                <a:latin typeface="Courier"/>
              </a:rPr>
              <a:t># Convert back to data frame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permanova_scaled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(darl_scaled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permanova_scaled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 test for adonis under reduced model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adonis2(formula = darl_scaled ~ site, data = darlingtonia, permutations = 999, method = "euclidean")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3   189.72 0.24512 8.9836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83   584.28 0.75488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86   774.00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Ordination plot with convex hulls (simpler)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ordihull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groups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draw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"polygon"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n_sites,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(pca_vegan,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bg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site)),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pt.bg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n_sites,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between sites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 &lt;- </a:t>
            </a:r>
            <a:r>
              <a:rPr>
                <a:solidFill>
                  <a:srgbClr val="4758AB"/>
                </a:solidFill>
                <a:latin typeface="Courier"/>
              </a:rPr>
              <a:t>pairwise.adonis2</a:t>
            </a:r>
            <a:r>
              <a:rPr>
                <a:solidFill>
                  <a:srgbClr val="003B4F"/>
                </a:solidFill>
                <a:latin typeface="Courier"/>
              </a:rPr>
              <a:t>(darl_scaled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darlingtonia,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Add this!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p.adjust.m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$parent_call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"darl_scaled ~ site , strata = Null , permutations 999"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$TJH_vs_DG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32.602 0.10636 5.7128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48  273.930 0.89364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49  306.532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$TJH_vs_LEH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 47.72 0.10517 5.6414  0.004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48   406.06 0.89483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49   453.78 1.00000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$TJH_vs_HD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69.308 0.25135 11.751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35  206.432 0.74865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36  275.740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$DG_vs_LEH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 26.24 0.06493 3.3333   0.02 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48   377.85 0.93507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49   404.09 1.00000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$DG_vs_HD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131.09 0.42382 25.745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35   178.22 0.57618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36   309.31 1.00000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$LEH_vs_HD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Df SumOfSqs     R2      F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Model     1   101.69 0.2468 11.468  0.001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35   310.35 0.7532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Total    36   412.04 1.0000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attr(,"class")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"pwadstrata" "list"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install.packages("RVAideMemoire")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(RVAideMemoire)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Pairwise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pairwise.perm.manova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(darl_scaled,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nperm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p.method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Pairwise comparisons using permutation MANOVAs on a distance matrix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data:  vegdist(darl_scaled, method = "euclidean") by darlingtonia$site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999 permutations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DG    HD    LEH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0.006 -     -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0.102 0.006 -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0.012 0.006 0.030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2025-11-30T03:40:16Z</dcterms:created>
  <dcterms:modified xsi:type="dcterms:W3CDTF">2025-11-30T03:40:16Z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subtitle">
    <vt:lpwstr>Understanding Multivariate Data with Darlingtonia californica</vt:lpwstr>
  </property>
  <property fmtid="{D5CDD505-2E9C-101B-9397-08002B2CF9AE}" pid="14" name="toc-title">
    <vt:lpwstr>Table of contents</vt:lpwstr>
  </property>
</Properties>
</file>