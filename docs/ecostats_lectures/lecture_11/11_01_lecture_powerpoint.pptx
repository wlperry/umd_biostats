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5" Type="http://schemas.openxmlformats.org/officeDocument/2006/relationships/viewProps" Target="viewProps.xml" /><Relationship Id="rId44" Type="http://schemas.openxmlformats.org/officeDocument/2006/relationships/presProps" Target="presProps.xml" /><Relationship Id="rId1" Type="http://schemas.openxmlformats.org/officeDocument/2006/relationships/slideMaster" Target="slideMasters/slideMaster1.xml" /><Relationship Id="rId47" Type="http://schemas.openxmlformats.org/officeDocument/2006/relationships/tableStyles" Target="tableStyles.xml" /><Relationship Id="rId4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8.png" /><Relationship Id="rId2" Type="http://schemas.openxmlformats.org/officeDocument/2006/relationships/image" Target="../media/image17.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11 - Single factor analysis of variance -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12: Overview</a:t>
            </a:r>
          </a:p>
        </p:txBody>
      </p:sp>
      <p:sp>
        <p:nvSpPr>
          <p:cNvPr id="3" name="Text Placeholder 2"/>
          <p:cNvSpPr>
            <a:spLocks noGrp="1"/>
          </p:cNvSpPr>
          <p:nvPr>
            <p:ph idx="1" type="body"/>
          </p:nvPr>
        </p:nvSpPr>
        <p:spPr/>
        <p:txBody>
          <a:bodyPr/>
          <a:lstStyle/>
          <a:p>
            <a:pPr lvl="0" indent="0" marL="0">
              <a:spcBef>
                <a:spcPts val="3000"/>
              </a:spcBef>
              <a:buNone/>
            </a:pPr>
            <a:r>
              <a:rPr b="1"/>
              <a:t>ANOVA</a:t>
            </a:r>
          </a:p>
          <a:p>
            <a:pPr lvl="0" indent="0" marL="0">
              <a:buNone/>
            </a:pPr>
            <a:r>
              <a:rPr/>
              <a:t>Analysis of variance: single and to come multi-factor designs</a:t>
            </a:r>
          </a:p>
          <a:p>
            <a:pPr lvl="0"/>
            <a:r>
              <a:rPr/>
              <a:t>Predictor variables: fixed</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a:p>
            <a:pPr lvl="0"/>
            <a:r>
              <a:rPr/>
              <a:t>Mixed Model Anova - random effects</a:t>
            </a:r>
          </a:p>
        </p:txBody>
      </p:sp>
      <p:sp>
        <p:nvSpPr>
          <p:cNvPr id="5" name="Text Placeholder 4"/>
          <p:cNvSpPr>
            <a:spLocks noGrp="1"/>
          </p:cNvSpPr>
          <p:nvPr>
            <p:ph idx="3" sz="quarter"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Both regression and ANOVA:</a:t>
                </a:r>
              </a:p>
              <a:p>
                <a:pPr lvl="0"/>
                <a:r>
                  <a:rPr/>
                  <a:t>Partition the total variation in Y</a:t>
                </a:r>
              </a:p>
              <a:p>
                <a:pPr lvl="0"/>
                <a:r>
                  <a:rPr/>
                  <a:t>Use F-tests for significance where one MS is divided by another</a:t>
                </a:r>
              </a:p>
              <a:p>
                <a:pPr lvl="0" indent="0" marL="0">
                  <a:spcBef>
                    <a:spcPts val="3000"/>
                  </a:spcBef>
                  <a:buNone/>
                </a:pPr>
                <a:r>
                  <a:rPr b="1"/>
                  <a:t>Regression</a:t>
                </a:r>
              </a:p>
              <a:p>
                <a:pPr lvl="0"/>
                <a:r>
                  <a:rPr b="1"/>
                  <a:t>Form:</a:t>
                </a:r>
                <a:r>
                  <a:rPr/>
                  <a:t>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p>
              <a:p>
                <a:pPr lvl="1"/>
                <a14:m>
                  <m:oMath xmlns:m="http://schemas.openxmlformats.org/officeDocument/2006/math">
                    <m:r>
                      <m:t>Y</m:t>
                    </m:r>
                  </m:oMath>
                </a14:m>
                <a:r>
                  <a:rPr/>
                  <a:t> = outcome/response variable</a:t>
                </a:r>
              </a:p>
              <a:p>
                <a:pPr lvl="1"/>
                <a14:m>
                  <m:oMath xmlns:m="http://schemas.openxmlformats.org/officeDocument/2006/math">
                    <m:sSub>
                      <m:e>
                        <m:r>
                          <m:t>β</m:t>
                        </m:r>
                      </m:e>
                      <m:sub>
                        <m:r>
                          <m:t>0</m:t>
                        </m:r>
                      </m:sub>
                    </m:sSub>
                  </m:oMath>
                </a14:m>
                <a:r>
                  <a:rPr/>
                  <a:t> = intercept (value of Y when X = 0)</a:t>
                </a:r>
              </a:p>
              <a:p>
                <a:pPr lvl="1"/>
                <a14:m>
                  <m:oMath xmlns:m="http://schemas.openxmlformats.org/officeDocument/2006/math">
                    <m:sSub>
                      <m:e>
                        <m:r>
                          <m:t>β</m:t>
                        </m:r>
                      </m:e>
                      <m:sub>
                        <m:r>
                          <m:t>1</m:t>
                        </m:r>
                      </m:sub>
                    </m:sSub>
                  </m:oMath>
                </a14:m>
                <a:r>
                  <a:rPr/>
                  <a:t> = slope (change in Y per unit increase in X)</a:t>
                </a:r>
              </a:p>
              <a:p>
                <a:pPr lvl="1"/>
                <a14:m>
                  <m:oMath xmlns:m="http://schemas.openxmlformats.org/officeDocument/2006/math">
                    <m:r>
                      <m:t>X</m:t>
                    </m:r>
                  </m:oMath>
                </a14:m>
                <a:r>
                  <a:rPr/>
                  <a:t> = predictor/independent variable</a:t>
                </a:r>
              </a:p>
              <a:p>
                <a:pPr lvl="1"/>
                <a14:m>
                  <m:oMath xmlns:m="http://schemas.openxmlformats.org/officeDocument/2006/math">
                    <m:r>
                      <m:t>ε</m:t>
                    </m:r>
                  </m:oMath>
                </a14:m>
                <a:r>
                  <a:rPr/>
                  <a:t> = error term</a:t>
                </a:r>
              </a:p>
              <a:p>
                <a:pPr lvl="0"/>
                <a:r>
                  <a:rPr b="1"/>
                  <a:t>Test:</a:t>
                </a:r>
                <a:r>
                  <a:rPr/>
                  <a:t> </a:t>
                </a:r>
                <a14:m>
                  <m:oMath xmlns:m="http://schemas.openxmlformats.org/officeDocument/2006/math">
                    <m:sSub>
                      <m:e>
                        <m:r>
                          <m:t>H</m:t>
                        </m:r>
                      </m:e>
                      <m:sub>
                        <m:r>
                          <m:t>0</m:t>
                        </m:r>
                      </m:sub>
                    </m:sSub>
                    <m:r>
                      <m:rPr>
                        <m:sty m:val="p"/>
                      </m:rPr>
                      <m:t>:</m:t>
                    </m:r>
                    <m:sSub>
                      <m:e>
                        <m:r>
                          <m:t>β</m:t>
                        </m:r>
                      </m:e>
                      <m:sub>
                        <m:r>
                          <m:t>1</m:t>
                        </m:r>
                      </m:sub>
                    </m:sSub>
                    <m:r>
                      <m:rPr>
                        <m:sty m:val="p"/>
                      </m:rPr>
                      <m:t>=</m:t>
                    </m:r>
                    <m:r>
                      <m:t>0</m:t>
                    </m:r>
                  </m:oMath>
                </a14:m>
              </a:p>
              <a:p>
                <a:pPr lvl="1"/>
                <a:r>
                  <a:rPr/>
                  <a:t>Tests whether slope equals zero</a:t>
                </a:r>
              </a:p>
              <a:p>
                <a:pPr lvl="1"/>
                <a:r>
                  <a:rPr/>
                  <a:t>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spcBef>
                    <a:spcPts val="3000"/>
                  </a:spcBef>
                  <a:buNone/>
                </a:pPr>
                <a:r>
                  <a:rPr b="1"/>
                  <a:t>ANOVA</a:t>
                </a:r>
              </a:p>
              <a:p>
                <a:pPr lvl="0"/>
                <a:r>
                  <a:rPr b="1"/>
                  <a:t>Form:</a:t>
                </a:r>
                <a:r>
                  <a:rPr/>
                  <a:t>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p>
              <a:p>
                <a:pPr lvl="1"/>
                <a14:m>
                  <m:oMath xmlns:m="http://schemas.openxmlformats.org/officeDocument/2006/math">
                    <m:sSub>
                      <m:e>
                        <m:r>
                          <m:t>Y</m:t>
                        </m:r>
                      </m:e>
                      <m:sub>
                        <m:r>
                          <m:t>i</m:t>
                        </m:r>
                        <m:r>
                          <m:t>j</m:t>
                        </m:r>
                      </m:sub>
                    </m:sSub>
                  </m:oMath>
                </a14:m>
                <a:r>
                  <a:rPr/>
                  <a:t> = observation for person j in group i</a:t>
                </a:r>
              </a:p>
              <a:p>
                <a:pPr lvl="1"/>
                <a14:m>
                  <m:oMath xmlns:m="http://schemas.openxmlformats.org/officeDocument/2006/math">
                    <m:r>
                      <m:t>μ</m:t>
                    </m:r>
                  </m:oMath>
                </a14:m>
                <a:r>
                  <a:rPr/>
                  <a:t> = grand mean across all groups</a:t>
                </a:r>
              </a:p>
              <a:p>
                <a:pPr lvl="1"/>
                <a14:m>
                  <m:oMath xmlns:m="http://schemas.openxmlformats.org/officeDocument/2006/math">
                    <m:sSub>
                      <m:e>
                        <m:r>
                          <m:t>A</m:t>
                        </m:r>
                      </m:e>
                      <m:sub>
                        <m:r>
                          <m:t>i</m:t>
                        </m:r>
                      </m:sub>
                    </m:sSub>
                  </m:oMath>
                </a14:m>
                <a:r>
                  <a:rPr/>
                  <a:t> = effect of group i</a:t>
                </a:r>
              </a:p>
              <a:p>
                <a:pPr lvl="1"/>
                <a14:m>
                  <m:oMath xmlns:m="http://schemas.openxmlformats.org/officeDocument/2006/math">
                    <m:sSub>
                      <m:e>
                        <m:r>
                          <m:t>ε</m:t>
                        </m:r>
                      </m:e>
                      <m:sub>
                        <m:r>
                          <m:t>i</m:t>
                        </m:r>
                        <m:r>
                          <m:t>j</m:t>
                        </m:r>
                      </m:sub>
                    </m:sSub>
                  </m:oMath>
                </a14:m>
                <a:r>
                  <a:rPr/>
                  <a:t> = error term</a:t>
                </a:r>
              </a:p>
              <a:p>
                <a:pPr lvl="0"/>
                <a:r>
                  <a:rPr b="1"/>
                  <a:t>Test:</a:t>
                </a:r>
                <a:r>
                  <a:rPr/>
                  <a: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p>
              <a:p>
                <a:pPr lvl="1"/>
                <a:r>
                  <a:rPr/>
                  <a:t>Tests whether all group means are equal</a:t>
                </a:r>
              </a:p>
              <a:p>
                <a:pPr lvl="1"/>
                <a:r>
                  <a:rPr/>
                  <a:t>Rejecting means at least one group differs</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spcBef>
                <a:spcPts val="3000"/>
              </a:spcBef>
              <a:buNone/>
            </a:pPr>
            <a:r>
              <a:rPr b="1"/>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11_01_lecture_powerpoint_files/figure-pptx/unnamed-chunk-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same code as for regression!</a:t>
            </a:r>
          </a:p>
          <a:p>
            <a:pPr lvl="0" indent="0" marL="1270000">
              <a:buNone/>
            </a:pPr>
            <a:r>
              <a:rPr sz="2000"/>
              <a:t>regression: model &lt;- lm(response ~ predictor, data = df)</a:t>
            </a:r>
            <a:br/>
            <a:r>
              <a:rPr sz="2000"/>
              <a:t>anova: model &lt;- lm(response ~ factor, data = df)</a:t>
            </a:r>
          </a:p>
          <a:p>
            <a:pPr lvl="0" indent="0" marL="1270000">
              <a:buNone/>
            </a:pP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Goals</a:t>
            </a:r>
          </a:p>
        </p:txBody>
      </p:sp>
      <p:sp>
        <p:nvSpPr>
          <p:cNvPr id="3" name="Content Placeholder 2"/>
          <p:cNvSpPr>
            <a:spLocks noGrp="1"/>
          </p:cNvSpPr>
          <p:nvPr>
            <p:ph idx="1" sz="half"/>
          </p:nvPr>
        </p:nvSpPr>
        <p:spPr/>
        <p:txBody>
          <a:bodyPr/>
          <a:lstStyle/>
          <a:p>
            <a:pPr lvl="0" indent="0" marL="0">
              <a:spcBef>
                <a:spcPts val="3000"/>
              </a:spcBef>
              <a:buNone/>
            </a:pPr>
            <a:r>
              <a:rPr b="1"/>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a:t>
            </a:r>
          </a:p>
          <a:p>
            <a:pPr lvl="1"/>
            <a:r>
              <a:rPr/>
              <a:t>two or three factors with two or more levels each</a:t>
            </a:r>
          </a:p>
          <a:p>
            <a:pPr lvl="1"/>
            <a:r>
              <a:rPr/>
              <a:t>Examines variation due to factors </a:t>
            </a:r>
            <a:r>
              <a:rPr b="1"/>
              <a:t>AND</a:t>
            </a:r>
            <a:r>
              <a:rPr/>
              <a:t> their interaction</a:t>
            </a:r>
          </a:p>
        </p:txBody>
      </p:sp>
      <p:pic>
        <p:nvPicPr>
          <p:cNvPr descr="11_01_lecture_powerpoint_files/figure-pptx/unnamed-chunk-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 the most powerful approach known for simultaneously testing if the means of k groups are equal -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a:t>
            </a:r>
          </a:p>
          <a:p>
            <a:pPr lvl="0"/>
            <a:r>
              <a:rPr/>
              <a:t>evidence that the mean of at least one group is different from the others</a:t>
            </a:r>
            <a:br/>
          </a:p>
          <a:p>
            <a:pPr lvl="0"/>
            <a:r>
              <a:rPr/>
              <a:t>does not indicate </a:t>
            </a:r>
            <a:r>
              <a:rPr i="1"/>
              <a:t>which</a:t>
            </a:r>
            <a:r>
              <a:rPr/>
              <a:t> means differ</a:t>
            </a:r>
          </a:p>
        </p:txBody>
      </p:sp>
      <p:pic>
        <p:nvPicPr>
          <p:cNvPr descr="11_01_lecture_powerpoint_files/figure-pptx/unnamed-chunk-3-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11_01_lecture_powerpoint_files/figure-pptx/unnamed-chunk-4-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acc>
                                      <m:accPr>
                                        <m:chr m:val="‾"/>
                                      </m:accPr>
                                      <m:e>
                                        <m:r>
                                          <m:t>Y</m:t>
                                        </m:r>
                                      </m:e>
                                    </m:acc>
                                  </m:e>
                                </m:d>
                              </m:e>
                              <m:sup>
                                <m:r>
                                  <m:t>2</m:t>
                                </m:r>
                              </m:sup>
                            </m:sSup>
                          </m:e>
                        </m:nary>
                      </m:e>
                    </m:nary>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e>
                    </m:nary>
                    <m:r>
                      <m:rPr>
                        <m:sty m:val="p"/>
                      </m:rPr>
                      <m:t>=</m:t>
                    </m:r>
                    <m:r>
                      <m:t>n</m:t>
                    </m:r>
                    <m:nary>
                      <m:naryPr>
                        <m:chr m:val="∑"/>
                        <m:limLoc m:val="undOvr"/>
                        <m:subHide m:val="off"/>
                        <m:supHide m:val="off"/>
                      </m:naryPr>
                      <m:sub>
                        <m:r>
                          <m:t>i</m:t>
                        </m:r>
                        <m:r>
                          <m:rPr>
                            <m:sty m:val="p"/>
                          </m:rPr>
                          <m:t>=</m:t>
                        </m:r>
                        <m:r>
                          <m:t>1</m:t>
                        </m:r>
                      </m:sub>
                      <m:sup>
                        <m:r>
                          <m:t>a</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sSub>
                                      <m:e>
                                        <m:acc>
                                          <m:accPr>
                                            <m:chr m:val="‾"/>
                                          </m:accPr>
                                          <m:e>
                                            <m:r>
                                              <m:t>Y</m:t>
                                            </m:r>
                                          </m:e>
                                        </m:acc>
                                      </m:e>
                                      <m:sub>
                                        <m:r>
                                          <m:t>i</m:t>
                                        </m:r>
                                      </m:sub>
                                    </m:sSub>
                                  </m:e>
                                </m:d>
                              </m:e>
                              <m:sup>
                                <m:r>
                                  <m:t>2</m:t>
                                </m:r>
                              </m:sup>
                            </m:sSup>
                          </m:e>
                        </m:nary>
                      </m:e>
                    </m:nary>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11_01_lecture_powerpoint_files/figure-pptx/unnamed-chunk-5-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Sum of 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Key Connection to Regression</a:t>
                </a:r>
              </a:p>
              <a:p>
                <a:pPr lvl="0"/>
                <a:r>
                  <a:rPr sz="2000"/>
                  <a:t>This is the same partitioning we saw in regression analysis:</a:t>
                </a:r>
              </a:p>
              <a:p>
                <a:pPr lvl="1"/>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a:r>
                  <a:rPr sz="2000"/>
                  <a:t>Where:</a:t>
                </a:r>
              </a:p>
              <a:p>
                <a:pPr lvl="1"/>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1"/>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a:r>
                  <a:rPr sz="2000"/>
                  <a:t>Both measure how much variation is explained by our model vs. unexplained (error).</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Tables</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compared to a regression table:</a:t>
            </a:r>
          </a:p>
          <a:p>
            <a:pPr lvl="0" indent="0" marL="1270000">
              <a:buNone/>
            </a:pPr>
            <a:r>
              <a:rPr sz="2000"/>
              <a:t>Is equivalent to an ANOVA table from a regression model:</a:t>
            </a:r>
          </a:p>
          <a:p>
            <a:pPr lvl="0"/>
            <a:r>
              <a:rPr sz="2000"/>
              <a:t>k = number of predictor / dummy variables = a-1</a:t>
            </a:r>
          </a:p>
          <a:p>
            <a:pPr lvl="0"/>
            <a:r>
              <a:rPr sz="2000"/>
              <a:t>a = treatment groups/levels of factors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p>
              <a:p>
                <a:pPr lvl="0"/>
                <a:r>
                  <a:rPr/>
                  <a:t>Under the null hypothesis (all means equal):</a:t>
                </a:r>
              </a:p>
              <a:p>
                <a:pPr lvl="1"/>
                <a:r>
                  <a:rPr/>
                  <a:t>The F-ratio should be approximately 1</a:t>
                </a:r>
                <a:br/>
              </a:p>
              <a:p>
                <a:pPr lvl="1"/>
                <a:r>
                  <a:rPr/>
                  <a:t>Larger F-ratios suggest among-group variance exceeds that expected by chance</a:t>
                </a:r>
                <a:br/>
              </a:p>
              <a:p>
                <a:pPr lvl="0"/>
                <a:r>
                  <a:rPr/>
                  <a:t>With the circadian rhythm data:</a:t>
                </a:r>
              </a:p>
              <a:p>
                <a:pPr lvl="1"/>
                <a:r>
                  <a:rPr/>
                  <a:t>F = 7.29 - p = 0.004</a:t>
                </a:r>
                <a:br/>
              </a:p>
              <a:p>
                <a:pPr lvl="1"/>
                <a:r>
                  <a:rPr/>
                  <a:t>We reject the null hypothesis</a:t>
                </a:r>
                <a:br/>
              </a:p>
              <a:p>
                <a:pPr lvl="1"/>
                <a:r>
                  <a:rPr/>
                  <a:t>F-ratio follows F-distribution with (a - 1) and (a(n - 1)) df</a:t>
                </a:r>
              </a:p>
              <a:p>
                <a:pPr lvl="0" indent="0">
                  <a:buNone/>
                </a:pPr>
                <a:r>
                  <a:rPr>
                    <a:latin typeface="Courier"/>
                  </a:rPr>
                  <a:t># A tibble: 2 × 2
  Metric                Value
  &lt;chr&gt;                 &lt;dbl&gt;
1 F-observed             7.29
2 F-critical (α = 0.05)  3.52</a:t>
                </a:r>
              </a:p>
            </p:txBody>
          </p:sp>
        </mc:Choice>
      </mc:AlternateContent>
      <p:pic>
        <p:nvPicPr>
          <p:cNvPr descr="11_01_lecture_powerpoint_files/figure-pptx/f_dis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An ANOVA with two groups (a = 2) is equivalent to a t-test:</a:t>
                </a:r>
              </a:p>
              <a:p>
                <a:pPr lvl="0"/>
                <a:r>
                  <a:rPr/>
                  <a:t>Why </a:t>
                </a:r>
                <a14:m>
                  <m:oMath xmlns:m="http://schemas.openxmlformats.org/officeDocument/2006/math">
                    <m:r>
                      <m:t>F</m:t>
                    </m:r>
                    <m:r>
                      <m:rPr>
                        <m:sty m:val="p"/>
                      </m:rPr>
                      <m:t>=</m:t>
                    </m:r>
                    <m:sSup>
                      <m:e>
                        <m:r>
                          <m:t>t</m:t>
                        </m:r>
                      </m:e>
                      <m:sup>
                        <m:r>
                          <m:t>2</m:t>
                        </m:r>
                      </m:sup>
                    </m:sSup>
                  </m:oMath>
                </a14:m>
              </a:p>
              <a:p>
                <a:pPr lvl="1"/>
                <a:r>
                  <a:rPr/>
                  <a:t>testing the same hypothesis: are means of two groups different?</a:t>
                </a:r>
              </a:p>
              <a:p>
                <a:pPr lvl="0"/>
                <a:r>
                  <a:rPr i="1"/>
                  <a:t>Understanding the t-statistic</a:t>
                </a:r>
              </a:p>
              <a:p>
                <a:pPr lvl="1"/>
                <a:r>
                  <a:rPr/>
                  <a:t>The t-statistic for comparing two independent groups is: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rPr>
                                <m:nor/>
                                <m:sty m:val="p"/>
                              </m:rPr>
                              <m:t>difference</m:t>
                            </m:r>
                          </m:sub>
                        </m:sSub>
                      </m:den>
                    </m:f>
                  </m:oMath>
                </a14:m>
              </a:p>
              <a:p>
                <a:pPr lvl="1"/>
                <a:r>
                  <a:rPr/>
                  <a:t>Measuring # standard errors apart the two means are and can be + / -</a:t>
                </a:r>
              </a:p>
              <a:p>
                <a:pPr lvl="0"/>
                <a:r>
                  <a:rPr i="1"/>
                  <a:t>Understanding the F-statistic</a:t>
                </a:r>
              </a:p>
              <a:p>
                <a:pPr lvl="1"/>
                <a:r>
                  <a:rPr/>
                  <a:t>F-statistic in ANOVA is: </a:t>
                </a:r>
                <a14:m>
                  <m:oMath xmlns:m="http://schemas.openxmlformats.org/officeDocument/2006/math">
                    <m:r>
                      <m:t>F</m:t>
                    </m:r>
                    <m:r>
                      <m:rPr>
                        <m:sty m:val="p"/>
                      </m:rPr>
                      <m:t>=</m:t>
                    </m:r>
                    <m:f>
                      <m:fPr>
                        <m:type m:val="bar"/>
                      </m:fPr>
                      <m:num>
                        <m:r>
                          <m:rPr>
                            <m:nor/>
                            <m:sty m:val="p"/>
                          </m:rPr>
                          <m:t>Mean Square Between Groups</m:t>
                        </m:r>
                      </m:num>
                      <m:den>
                        <m:r>
                          <m:rPr>
                            <m:nor/>
                            <m:sty m:val="p"/>
                          </m:rPr>
                          <m:t>Mean Square Within Groups</m:t>
                        </m:r>
                      </m:den>
                    </m:f>
                    <m:r>
                      <m:rPr>
                        <m:sty m:val="p"/>
                      </m:rPr>
                      <m:t>=</m:t>
                    </m:r>
                    <m:f>
                      <m:fPr>
                        <m:type m:val="bar"/>
                      </m:fPr>
                      <m:num>
                        <m:r>
                          <m:t>M</m:t>
                        </m:r>
                        <m:sSub>
                          <m:e>
                            <m:r>
                              <m:t>S</m:t>
                            </m:r>
                          </m:e>
                          <m:sub>
                            <m:r>
                              <m:t>B</m:t>
                            </m:r>
                          </m:sub>
                        </m:sSub>
                      </m:num>
                      <m:den>
                        <m:r>
                          <m:t>M</m:t>
                        </m:r>
                        <m:sSub>
                          <m:e>
                            <m:r>
                              <m:t>S</m:t>
                            </m:r>
                          </m:e>
                          <m:sub>
                            <m:r>
                              <m:t>W</m:t>
                            </m:r>
                          </m:sub>
                        </m:sSub>
                      </m:den>
                    </m:f>
                  </m:oMath>
                </a14:m>
              </a:p>
              <a:p>
                <a:pPr lvl="1"/>
                <a:r>
                  <a:rPr/>
                  <a:t>ratio of variance </a:t>
                </a:r>
                <a:r>
                  <a:rPr i="1"/>
                  <a:t>between</a:t>
                </a:r>
                <a:r>
                  <a:rPr/>
                  <a:t> groups to variance </a:t>
                </a:r>
                <a:r>
                  <a:rPr i="1"/>
                  <a:t>within</a:t>
                </a:r>
                <a:r>
                  <a:rPr/>
                  <a:t> groups</a:t>
                </a:r>
              </a:p>
              <a:p>
                <a:pPr lvl="1"/>
                <a:r>
                  <a:rPr/>
                  <a:t>Unlike </a:t>
                </a:r>
                <a14:m>
                  <m:oMath xmlns:m="http://schemas.openxmlformats.org/officeDocument/2006/math">
                    <m:r>
                      <m:t>t</m:t>
                    </m:r>
                  </m:oMath>
                </a14:m>
                <a:r>
                  <a:rPr/>
                  <a:t>, </a:t>
                </a:r>
                <a14:m>
                  <m:oMath xmlns:m="http://schemas.openxmlformats.org/officeDocument/2006/math">
                    <m:r>
                      <m:t>F</m:t>
                    </m:r>
                  </m:oMath>
                </a14:m>
                <a:r>
                  <a:rPr/>
                  <a:t>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a:r>
                  <a:rPr i="1"/>
                  <a:t>The Mathematical Connection (squaring remove sign) of t</a:t>
                </a:r>
                <a:r>
                  <a:rPr i="1" baseline="30000"/>
                  <a:t>2</a:t>
                </a:r>
              </a:p>
              <a:p>
                <a:pPr lvl="1"/>
                <a:r>
                  <a:rPr b="1"/>
                  <a:t>Both measure same signal-to-noise ratio</a:t>
                </a:r>
                <a:r>
                  <a:rPr/>
                  <a:t>:</a:t>
                </a:r>
              </a:p>
              <a:p>
                <a:pPr lvl="2"/>
                <a:r>
                  <a:rPr/>
                  <a:t>numerators capture difference between groups (signal)</a:t>
                </a:r>
              </a:p>
              <a:p>
                <a:pPr lvl="2"/>
                <a:r>
                  <a:rPr/>
                  <a:t>denominator captures variability within groups (noise)</a:t>
                </a:r>
              </a:p>
              <a:p>
                <a:pPr lvl="0"/>
                <a:r>
                  <a:rPr b="1"/>
                  <a:t>When you have two groups</a:t>
                </a:r>
                <a:r>
                  <a:rPr/>
                  <a:t>:</a:t>
                </a:r>
              </a:p>
              <a:p>
                <a:pPr lvl="1"/>
                <a14:m>
                  <m:oMath xmlns:m="http://schemas.openxmlformats.org/officeDocument/2006/math">
                    <m:r>
                      <m:t>M</m:t>
                    </m:r>
                    <m:sSub>
                      <m:e>
                        <m:r>
                          <m:t>S</m:t>
                        </m:r>
                      </m:e>
                      <m:sub>
                        <m:r>
                          <m:t>B</m:t>
                        </m:r>
                      </m:sub>
                    </m:sSub>
                  </m:oMath>
                </a14:m>
                <a:r>
                  <a:rPr/>
                  <a:t> is directly related to </a:t>
                </a:r>
                <a14:m>
                  <m:oMath xmlns:m="http://schemas.openxmlformats.org/officeDocument/2006/math">
                    <m:sSup>
                      <m:e>
                        <m:d>
                          <m:dPr>
                            <m:begChr m:val="("/>
                            <m:sepChr m:val=""/>
                            <m:endChr m:val=")"/>
                            <m:grow/>
                          </m:dPr>
                          <m:e>
                            <m:sSub>
                              <m:e>
                                <m:acc>
                                  <m:accPr>
                                    <m:chr m:val="‾"/>
                                  </m:accPr>
                                  <m:e>
                                    <m:r>
                                      <m:t>X</m:t>
                                    </m:r>
                                  </m:e>
                                </m:acc>
                              </m:e>
                              <m:sub>
                                <m:r>
                                  <m:t>1</m:t>
                                </m:r>
                              </m:sub>
                            </m:sSub>
                            <m:r>
                              <m:rPr>
                                <m:sty m:val="p"/>
                              </m:rPr>
                              <m:t>−</m:t>
                            </m:r>
                            <m:sSub>
                              <m:e>
                                <m:acc>
                                  <m:accPr>
                                    <m:chr m:val="‾"/>
                                  </m:accPr>
                                  <m:e>
                                    <m:r>
                                      <m:t>X</m:t>
                                    </m:r>
                                  </m:e>
                                </m:acc>
                              </m:e>
                              <m:sub>
                                <m:r>
                                  <m:t>2</m:t>
                                </m:r>
                              </m:sub>
                            </m:sSub>
                          </m:e>
                        </m:d>
                      </m:e>
                      <m:sup>
                        <m:r>
                          <m:t>2</m:t>
                        </m:r>
                      </m:sup>
                    </m:sSup>
                  </m:oMath>
                </a14:m>
              </a:p>
              <a:p>
                <a:pPr lvl="1"/>
                <a14:m>
                  <m:oMath xmlns:m="http://schemas.openxmlformats.org/officeDocument/2006/math">
                    <m:r>
                      <m:t>M</m:t>
                    </m:r>
                    <m:sSub>
                      <m:e>
                        <m:r>
                          <m:t>S</m:t>
                        </m:r>
                      </m:e>
                      <m:sub>
                        <m:r>
                          <m:t>W</m:t>
                        </m:r>
                      </m:sub>
                    </m:sSub>
                  </m:oMath>
                </a14:m>
                <a:r>
                  <a:rPr/>
                  <a:t> is related to the pooled variance</a:t>
                </a:r>
              </a:p>
              <a:p>
                <a:pPr lvl="0"/>
                <a:r>
                  <a:rPr i="1"/>
                  <a:t>Degrees of Freedom also match up:</a:t>
                </a:r>
              </a:p>
              <a:p>
                <a:pPr lvl="1"/>
                <a:r>
                  <a:rPr/>
                  <a:t>t-test: </a:t>
                </a:r>
                <a14:m>
                  <m:oMath xmlns:m="http://schemas.openxmlformats.org/officeDocument/2006/math">
                    <m:r>
                      <m:t>d</m:t>
                    </m:r>
                    <m:r>
                      <m:t>f</m:t>
                    </m:r>
                    <m:r>
                      <m:rPr>
                        <m:sty m:val="p"/>
                      </m:rPr>
                      <m:t>=</m:t>
                    </m:r>
                    <m:sSub>
                      <m:e>
                        <m:r>
                          <m:t>n</m:t>
                        </m:r>
                      </m:e>
                      <m:sub>
                        <m:r>
                          <m:t>1</m:t>
                        </m:r>
                      </m:sub>
                    </m:sSub>
                    <m:r>
                      <m:rPr>
                        <m:sty m:val="p"/>
                      </m:rPr>
                      <m:t>+</m:t>
                    </m:r>
                    <m:sSub>
                      <m:e>
                        <m:r>
                          <m:t>n</m:t>
                        </m:r>
                      </m:e>
                      <m:sub>
                        <m:r>
                          <m:t>2</m:t>
                        </m:r>
                      </m:sub>
                    </m:sSub>
                    <m:r>
                      <m:rPr>
                        <m:sty m:val="p"/>
                      </m:rPr>
                      <m:t>−</m:t>
                    </m:r>
                    <m:r>
                      <m:t>2</m:t>
                    </m:r>
                  </m:oMath>
                </a14:m>
              </a:p>
              <a:p>
                <a:pPr lvl="1"/>
                <a:r>
                  <a:rPr/>
                  <a:t>F-test (two groups): </a:t>
                </a:r>
                <a14:m>
                  <m:oMath xmlns:m="http://schemas.openxmlformats.org/officeDocument/2006/math">
                    <m:r>
                      <m:t>d</m:t>
                    </m:r>
                    <m:sSub>
                      <m:e>
                        <m:r>
                          <m:t>f</m:t>
                        </m:r>
                      </m:e>
                      <m:sub>
                        <m:r>
                          <m:t>1</m:t>
                        </m:r>
                      </m:sub>
                    </m:sSub>
                    <m:r>
                      <m:rPr>
                        <m:sty m:val="p"/>
                      </m:rPr>
                      <m:t>=</m:t>
                    </m:r>
                    <m:r>
                      <m:t>1</m:t>
                    </m:r>
                  </m:oMath>
                </a14:m>
                <a:r>
                  <a:rPr/>
                  <a:t> (numerator), </a:t>
                </a:r>
                <a14:m>
                  <m:oMath xmlns:m="http://schemas.openxmlformats.org/officeDocument/2006/math">
                    <m:r>
                      <m:t>d</m:t>
                    </m:r>
                    <m:sSub>
                      <m:e>
                        <m:r>
                          <m:t>f</m:t>
                        </m:r>
                      </m:e>
                      <m:sub>
                        <m:r>
                          <m:t>2</m:t>
                        </m:r>
                      </m:sub>
                    </m:sSub>
                    <m:r>
                      <m:rPr>
                        <m:sty m:val="p"/>
                      </m:rPr>
                      <m:t>=</m:t>
                    </m:r>
                    <m:sSub>
                      <m:e>
                        <m:r>
                          <m:t>n</m:t>
                        </m:r>
                      </m:e>
                      <m:sub>
                        <m:r>
                          <m:t>1</m:t>
                        </m:r>
                      </m:sub>
                    </m:sSub>
                    <m:r>
                      <m:rPr>
                        <m:sty m:val="p"/>
                      </m:rPr>
                      <m:t>+</m:t>
                    </m:r>
                    <m:sSub>
                      <m:e>
                        <m:r>
                          <m:t>n</m:t>
                        </m:r>
                      </m:e>
                      <m:sub>
                        <m:r>
                          <m:t>2</m:t>
                        </m:r>
                      </m:sub>
                    </m:sSub>
                    <m:r>
                      <m:rPr>
                        <m:sty m:val="p"/>
                      </m:rPr>
                      <m:t>−</m:t>
                    </m:r>
                    <m:r>
                      <m:t>2</m:t>
                    </m:r>
                  </m:oMath>
                </a14:m>
                <a:r>
                  <a:rPr/>
                  <a:t> (denominator)</a:t>
                </a:r>
              </a:p>
              <a:p>
                <a:pPr lvl="1"/>
                <a:r>
                  <a:rPr/>
                  <a:t>F-distribution with </a:t>
                </a:r>
                <a14:m>
                  <m:oMath xmlns:m="http://schemas.openxmlformats.org/officeDocument/2006/math">
                    <m:r>
                      <m:t>d</m:t>
                    </m:r>
                    <m:sSub>
                      <m:e>
                        <m:r>
                          <m:t>f</m:t>
                        </m:r>
                      </m:e>
                      <m:sub>
                        <m:r>
                          <m:t>1</m:t>
                        </m:r>
                      </m:sub>
                    </m:sSub>
                    <m:r>
                      <m:rPr>
                        <m:sty m:val="p"/>
                      </m:rPr>
                      <m:t>=</m:t>
                    </m:r>
                    <m:r>
                      <m:t>1</m:t>
                    </m:r>
                  </m:oMath>
                </a14:m>
                <a:r>
                  <a:rPr/>
                  <a:t> is the square of a t-distribution with </a:t>
                </a:r>
                <a14:m>
                  <m:oMath xmlns:m="http://schemas.openxmlformats.org/officeDocument/2006/math">
                    <m:r>
                      <m:t>d</m:t>
                    </m:r>
                    <m:sSub>
                      <m:e>
                        <m:r>
                          <m:t>f</m:t>
                        </m:r>
                      </m:e>
                      <m:sub>
                        <m:r>
                          <m:t>2</m:t>
                        </m:r>
                      </m:sub>
                    </m:sSub>
                  </m:oMath>
                </a14:m>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Why This Matters</a:t>
                </a:r>
              </a:p>
              <a:p>
                <a:pPr lvl="0"/>
                <a:r>
                  <a:rPr/>
                  <a:t>Shows ANOVA is actually a </a:t>
                </a:r>
                <a:r>
                  <a:rPr i="1"/>
                  <a:t>generalization</a:t>
                </a:r>
                <a:r>
                  <a:rPr/>
                  <a:t> of the t-test</a:t>
                </a:r>
              </a:p>
              <a:p>
                <a:pPr lvl="0"/>
                <a:r>
                  <a:rPr/>
                  <a:t>When </a:t>
                </a:r>
                <a14:m>
                  <m:oMath xmlns:m="http://schemas.openxmlformats.org/officeDocument/2006/math">
                    <m:r>
                      <m:t>a</m:t>
                    </m:r>
                    <m:r>
                      <m:rPr>
                        <m:sty m:val="p"/>
                      </m:rPr>
                      <m:t>=</m:t>
                    </m:r>
                    <m:r>
                      <m:t>2</m:t>
                    </m:r>
                  </m:oMath>
                </a14:m>
                <a:r>
                  <a:rPr/>
                  <a:t>, you get the same result either way</a:t>
                </a:r>
              </a:p>
              <a:p>
                <a:pPr lvl="0"/>
                <a:r>
                  <a:rPr/>
                  <a:t>but ANOVA extends naturally to comparing three or more groups,</a:t>
                </a:r>
              </a:p>
              <a:p>
                <a:pPr lvl="0"/>
                <a:r>
                  <a:rPr/>
                  <a:t>can’t do that directly with a t-test (without running into multiple comparison problems).</a:t>
                </a:r>
              </a:p>
              <a:p>
                <a:pPr lvl="0" indent="0" marL="0">
                  <a:spcBef>
                    <a:spcPts val="3000"/>
                  </a:spcBef>
                  <a:buNone/>
                </a:pPr>
                <a:r>
                  <a:rPr b="1"/>
                  <a:t>Numerical Example</a:t>
                </a:r>
              </a:p>
              <a:p>
                <a:pPr lvl="0" indent="0" marL="0">
                  <a:buNone/>
                </a:pPr>
                <a:r>
                  <a:rPr/>
                  <a:t>Let’s verify this relationship with a simple example in R:</a:t>
                </a:r>
              </a:p>
              <a:p>
                <a:pPr lvl="0" indent="0">
                  <a:buNone/>
                </a:pPr>
                <a:r>
                  <a:rPr>
                    <a:latin typeface="Courier"/>
                  </a:rPr>
                  <a:t>Using circ_data (Control vs Knees groups):
 t-statistic: 0.0741 
 t^2: 0.0055 
 F-statistic: 0.0055 
 Difference (should be ~0): 0 </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r>
                  <a:rPr/>
                  <a:t> - Under the null hypothesis (all means equal): - F-ratio should be approximately 1 - Larger F-ratios suggests among-group variance exceeds chance - With the circadian rhythm data: F</a:t>
                </a:r>
                <a:r>
                  <a:rPr baseline="-25000"/>
                  <a:t>2,19</a:t>
                </a:r>
                <a:r>
                  <a:rPr/>
                  <a:t> = 7.29, p = 0.004</a:t>
                </a:r>
                <a:br/>
                <a:r>
                  <a:rPr/>
                  <a:t>- We reject the null hypothesis</a:t>
                </a:r>
                <a:br/>
                <a:r>
                  <a:rPr/>
                  <a:t>-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11_01_lecture_powerpoint_files/figure-pptx/unnamed-chunk-1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11_01_lecture_powerpoint_files/figure-pptx/unnamed-chunk-1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a:r>
              <a:rPr/>
              <a:t>ANOVA has the same assumptions as the two-sample t-test, but applied to all k groups:</a:t>
            </a:r>
          </a:p>
          <a:p>
            <a:pPr lvl="1"/>
            <a:r>
              <a:rPr b="1"/>
              <a:t>Random samples</a:t>
            </a:r>
            <a:r>
              <a:rPr/>
              <a:t> from corresponding populations</a:t>
            </a:r>
          </a:p>
          <a:p>
            <a:pPr lvl="1"/>
            <a:r>
              <a:rPr b="1"/>
              <a:t>Normality</a:t>
            </a:r>
            <a:r>
              <a:rPr/>
              <a:t>: Y values are normally distributed in each population</a:t>
            </a:r>
          </a:p>
          <a:p>
            <a:pPr lvl="1"/>
            <a:r>
              <a:rPr b="1"/>
              <a:t>Homogeneity of variance</a:t>
            </a:r>
            <a:r>
              <a:rPr/>
              <a:t>: variance is the same in all populations</a:t>
            </a:r>
          </a:p>
          <a:p>
            <a:pPr lvl="1"/>
            <a:r>
              <a:rPr b="1"/>
              <a:t>Independence</a:t>
            </a:r>
            <a:r>
              <a:rPr/>
              <a:t>: observations are independent</a:t>
            </a:r>
          </a:p>
          <a:p>
            <a:pPr lvl="0"/>
            <a:r>
              <a:rPr b="1"/>
              <a:t>Checking assumptions</a:t>
            </a:r>
            <a:r>
              <a:rPr/>
              <a:t>:</a:t>
            </a:r>
          </a:p>
          <a:p>
            <a:pPr lvl="1"/>
            <a:r>
              <a:rPr/>
              <a:t>Normality: Q-Q plots, histogram of residuals, Shapiro-Wilk test</a:t>
            </a:r>
          </a:p>
          <a:p>
            <a:pPr lvl="1"/>
            <a:r>
              <a:rPr/>
              <a:t>Homogeneity: plot residuals vs. predicted values or x-values</a:t>
            </a:r>
          </a:p>
          <a:p>
            <a:pPr lvl="1"/>
            <a:r>
              <a:rPr/>
              <a:t>Independence: examine experimental design</a:t>
            </a:r>
          </a:p>
          <a:p>
            <a:pPr lvl="0"/>
            <a:r>
              <a:rPr b="1"/>
              <a:t>If assumptions are violated</a:t>
            </a:r>
            <a:r>
              <a:rPr/>
              <a:t>:</a:t>
            </a:r>
          </a:p>
          <a:p>
            <a:pPr lvl="1"/>
            <a:r>
              <a:rPr/>
              <a:t>Transform Y (e.g., log, square root)</a:t>
            </a:r>
          </a:p>
          <a:p>
            <a:pPr lvl="1"/>
            <a:r>
              <a:rPr/>
              <a:t>Use robust or non-parametric alternatives</a:t>
            </a:r>
          </a:p>
          <a:p>
            <a:pPr lvl="1"/>
            <a:r>
              <a:rPr/>
              <a:t>Use generalized linear models (GLMs)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diagnostics</a:t>
            </a:r>
          </a:p>
        </p:txBody>
      </p:sp>
      <p:pic>
        <p:nvPicPr>
          <p:cNvPr descr="11_01_lecture_powerpoint_files/figure-pptx/ggplot_diag-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4758AB"/>
                </a:solidFill>
                <a:latin typeface="Courier"/>
              </a:rPr>
              <a:t>print</a:t>
            </a: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 </a:t>
            </a:r>
            <a:r>
              <a:rPr>
                <a:solidFill>
                  <a:srgbClr val="5E5E5E"/>
                </a:solidFill>
                <a:latin typeface="Courier"/>
              </a:rPr>
              <a:t>|</a:t>
            </a:r>
            <a:r>
              <a:rPr>
                <a:solidFill>
                  <a:srgbClr val="003B4F"/>
                </a:solidFill>
                <a:latin typeface="Courier"/>
              </a:rPr>
              <a:t> p4))</a:t>
            </a:r>
          </a:p>
        </p:txBody>
      </p:sp>
      <p:pic>
        <p:nvPicPr>
          <p:cNvPr descr="11_01_lecture_powerpoint_files/figure-pptx/unnamed-chunk-13-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 newer way to check with the performance library</a:t>
            </a:r>
          </a:p>
        </p:txBody>
      </p:sp>
      <p:pic>
        <p:nvPicPr>
          <p:cNvPr descr="11_01_lecture_powerpoint_files/figure-pptx/unnamed-chunk-14-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diagnostics_2.png" id="0" name="Picture 1"/>
          <p:cNvPicPr>
            <a:picLocks noGrp="1" noChangeAspect="1"/>
          </p:cNvPicPr>
          <p:nvPr/>
        </p:nvPicPr>
        <p:blipFill>
          <a:blip r:embed="rId2"/>
          <a:stretch>
            <a:fillRect/>
          </a:stretch>
        </p:blipFill>
        <p:spPr bwMode="auto">
          <a:xfrm>
            <a:off x="2095500" y="609600"/>
            <a:ext cx="48895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a:t>
            </a:r>
          </a:p>
          <a:p>
            <a:pPr lvl="0"/>
            <a:r>
              <a:rPr/>
              <a:t>Null Hypothesis is that they are homogeneous</a:t>
            </a:r>
          </a:p>
          <a:p>
            <a:pPr lvl="0"/>
            <a:r>
              <a:rPr/>
              <a:t>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 Sidak</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a:t>The Main Post-Hoc Tests</a:t>
            </a:r>
          </a:p>
          <a:p>
            <a:pPr lvl="0"/>
            <a:r>
              <a:rPr/>
              <a:t>Tukey-Kramer (HSD - Honestly Significant Difference)</a:t>
            </a:r>
          </a:p>
          <a:p>
            <a:pPr lvl="1"/>
            <a:r>
              <a:rPr/>
              <a:t>Compares all possible pairs of group means</a:t>
            </a:r>
          </a:p>
          <a:p>
            <a:pPr lvl="1"/>
            <a:r>
              <a:rPr/>
              <a:t>Controls family-wise error rate when making multiple comparisons</a:t>
            </a:r>
          </a:p>
          <a:p>
            <a:pPr lvl="1"/>
            <a:r>
              <a:rPr/>
              <a:t>Most powerful when you want to compare ALL pairwise combinations</a:t>
            </a:r>
          </a:p>
          <a:p>
            <a:pPr lvl="0"/>
            <a:r>
              <a:rPr/>
              <a:t>Bonferroni</a:t>
            </a:r>
          </a:p>
          <a:p>
            <a:pPr lvl="1"/>
            <a:r>
              <a:rPr/>
              <a:t>Adjusts α level by dividing by the number of comparisons (e.g., α/k)</a:t>
            </a:r>
          </a:p>
          <a:p>
            <a:pPr lvl="1"/>
            <a:r>
              <a:rPr/>
              <a:t>Very conservative - reduces power to detect real differences</a:t>
            </a:r>
          </a:p>
          <a:p>
            <a:pPr lvl="1"/>
            <a:r>
              <a:rPr/>
              <a:t>Best choice for: small number of planned comparisons (not exploratory analyses of all pairs)</a:t>
            </a:r>
          </a:p>
          <a:p>
            <a:pPr lvl="0"/>
            <a:r>
              <a:rPr/>
              <a:t>Sidak</a:t>
            </a:r>
          </a:p>
          <a:p>
            <a:pPr lvl="1"/>
            <a:r>
              <a:rPr/>
              <a:t>Similar to Bonferroni but slightly less conservative</a:t>
            </a:r>
          </a:p>
          <a:p>
            <a:pPr lvl="1"/>
            <a:r>
              <a:rPr/>
              <a:t>Uses multiplicative adjustment: 1-(1-α)^(1/k)</a:t>
            </a:r>
          </a:p>
          <a:p>
            <a:pPr lvl="1"/>
            <a:r>
              <a:rPr/>
              <a:t>Best choice for: similar situations to Bonferroni, gives slightly more power</a:t>
            </a:r>
          </a:p>
          <a:p>
            <a:pPr lvl="0"/>
            <a:r>
              <a:rPr/>
              <a:t>Dunnett’s Test</a:t>
            </a:r>
          </a:p>
          <a:p>
            <a:pPr lvl="1"/>
            <a:r>
              <a:rPr/>
              <a:t>Specifically for comparing treatment groups to control</a:t>
            </a:r>
          </a:p>
          <a:p>
            <a:pPr lvl="1"/>
            <a:r>
              <a:rPr/>
              <a:t>More powerful than other tests</a:t>
            </a:r>
          </a:p>
          <a:p>
            <a:pPr lvl="0" indent="0" marL="0">
              <a:buNone/>
            </a:pPr>
            <a:r>
              <a:rPr/>
              <a:t>The key tradeoff is between power (ability to detect real differences) and Type I error control (avoiding false positives). More conservative tests = better error control but less power.</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a:t>
            </a:r>
            <a:br/>
            <a:r>
              <a:rPr>
                <a:solidFill>
                  <a:srgbClr val="5E5E5E"/>
                </a:solidFill>
                <a:latin typeface="Courier"/>
              </a:rPr>
              <a:t># TUKEY-KRAMER (HSD)</a:t>
            </a:r>
            <a:br/>
            <a:r>
              <a:rPr>
                <a:solidFill>
                  <a:srgbClr val="5E5E5E"/>
                </a:solidFill>
                <a:latin typeface="Courier"/>
              </a:rPr>
              <a:t># ============================================</a:t>
            </a:r>
            <a:br/>
            <a:r>
              <a:rPr>
                <a:solidFill>
                  <a:srgbClr val="5E5E5E"/>
                </a:solidFill>
                <a:latin typeface="Courier"/>
              </a:rPr>
              <a:t># All pairwise comparisons</a:t>
            </a:r>
            <a:br/>
            <a:r>
              <a:rPr>
                <a:solidFill>
                  <a:srgbClr val="003B4F"/>
                </a:solidFill>
                <a:latin typeface="Courier"/>
              </a:rPr>
              <a:t>tukey_result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br/>
            <a:r>
              <a:rPr>
                <a:solidFill>
                  <a:srgbClr val="5E5E5E"/>
                </a:solidFill>
                <a:latin typeface="Courier"/>
              </a:rPr>
              <a:t># tukey_result</a:t>
            </a:r>
            <a:br/>
            <a:r>
              <a:rPr>
                <a:solidFill>
                  <a:srgbClr val="5E5E5E"/>
                </a:solidFill>
                <a:latin typeface="Courier"/>
              </a:rPr>
              <a:t># # With compact letter display</a:t>
            </a:r>
            <a:br/>
            <a:r>
              <a:rPr>
                <a:solidFill>
                  <a:srgbClr val="5E5E5E"/>
                </a:solidFill>
                <a:latin typeface="Courier"/>
              </a:rPr>
              <a:t># tukey_cld &lt;- emmeans(circ_model, "treatment") |&gt; </a:t>
            </a:r>
            <a:br/>
            <a:r>
              <a:rPr>
                <a:solidFill>
                  <a:srgbClr val="5E5E5E"/>
                </a:solidFill>
                <a:latin typeface="Courier"/>
              </a:rPr>
              <a:t>#   multcomp::cld(Letters = letters, adjust = "tukey")</a:t>
            </a:r>
            <a:br/>
            <a:r>
              <a:rPr>
                <a:solidFill>
                  <a:srgbClr val="5E5E5E"/>
                </a:solidFill>
                <a:latin typeface="Courier"/>
              </a:rPr>
              <a:t># # tukey_cld</a:t>
            </a:r>
            <a:br/>
            <a:r>
              <a:rPr>
                <a:solidFill>
                  <a:srgbClr val="5E5E5E"/>
                </a:solidFill>
                <a:latin typeface="Courier"/>
              </a:rPr>
              <a:t># ============================================</a:t>
            </a:r>
            <a:br/>
            <a:r>
              <a:rPr>
                <a:solidFill>
                  <a:srgbClr val="5E5E5E"/>
                </a:solidFill>
                <a:latin typeface="Courier"/>
              </a:rPr>
              <a:t># BONFERRONI</a:t>
            </a:r>
            <a:br/>
            <a:r>
              <a:rPr>
                <a:solidFill>
                  <a:srgbClr val="5E5E5E"/>
                </a:solidFill>
                <a:latin typeface="Courier"/>
              </a:rPr>
              <a:t># ============================================</a:t>
            </a:r>
            <a:br/>
            <a:r>
              <a:rPr>
                <a:solidFill>
                  <a:srgbClr val="5E5E5E"/>
                </a:solidFill>
                <a:latin typeface="Courier"/>
              </a:rPr>
              <a:t># All pairwise comparisons with Bonferroni adjustment</a:t>
            </a:r>
            <a:br/>
            <a:r>
              <a:rPr>
                <a:solidFill>
                  <a:srgbClr val="003B4F"/>
                </a:solidFill>
                <a:latin typeface="Courier"/>
              </a:rPr>
              <a:t>bonferroni_result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5E5E5E"/>
                </a:solidFill>
                <a:latin typeface="Courier"/>
              </a:rPr>
              <a:t># bonferroni_result</a:t>
            </a:r>
            <a:br/>
            <a:br/>
            <a:r>
              <a:rPr>
                <a:solidFill>
                  <a:srgbClr val="5E5E5E"/>
                </a:solidFill>
                <a:latin typeface="Courier"/>
              </a:rPr>
              <a:t># # With compact letter display</a:t>
            </a:r>
            <a:br/>
            <a:r>
              <a:rPr>
                <a:solidFill>
                  <a:srgbClr val="5E5E5E"/>
                </a:solidFill>
                <a:latin typeface="Courier"/>
              </a:rPr>
              <a:t># bonferroni_cld &lt;- emmeans(circ_model, "treatment") |&gt; </a:t>
            </a:r>
            <a:br/>
            <a:r>
              <a:rPr>
                <a:solidFill>
                  <a:srgbClr val="5E5E5E"/>
                </a:solidFill>
                <a:latin typeface="Courier"/>
              </a:rPr>
              <a:t>#   multcomp::cld(Letters = letters, adjust = "bonferroni")</a:t>
            </a:r>
            <a:br/>
            <a:r>
              <a:rPr>
                <a:solidFill>
                  <a:srgbClr val="5E5E5E"/>
                </a:solidFill>
                <a:latin typeface="Courier"/>
              </a:rPr>
              <a:t># # bonferroni_cld</a:t>
            </a:r>
            <a:br/>
            <a:r>
              <a:rPr>
                <a:solidFill>
                  <a:srgbClr val="5E5E5E"/>
                </a:solidFill>
                <a:latin typeface="Courier"/>
              </a:rPr>
              <a:t># ============================================</a:t>
            </a:r>
            <a:br/>
            <a:r>
              <a:rPr>
                <a:solidFill>
                  <a:srgbClr val="5E5E5E"/>
                </a:solidFill>
                <a:latin typeface="Courier"/>
              </a:rPr>
              <a:t># ŠIDÁK (SIDAK)</a:t>
            </a:r>
            <a:br/>
            <a:r>
              <a:rPr>
                <a:solidFill>
                  <a:srgbClr val="5E5E5E"/>
                </a:solidFill>
                <a:latin typeface="Courier"/>
              </a:rPr>
              <a:t># ============================================</a:t>
            </a:r>
            <a:br/>
            <a:r>
              <a:rPr>
                <a:solidFill>
                  <a:srgbClr val="5E5E5E"/>
                </a:solidFill>
                <a:latin typeface="Courier"/>
              </a:rPr>
              <a:t># All pairwise comparisons with Šidák adjustment</a:t>
            </a:r>
            <a:br/>
            <a:r>
              <a:rPr>
                <a:solidFill>
                  <a:srgbClr val="003B4F"/>
                </a:solidFill>
                <a:latin typeface="Courier"/>
              </a:rPr>
              <a:t>sidak_result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5E5E5E"/>
                </a:solidFill>
                <a:latin typeface="Courier"/>
              </a:rPr>
              <a:t># sidak_result</a:t>
            </a:r>
            <a:br/>
            <a:r>
              <a:rPr>
                <a:solidFill>
                  <a:srgbClr val="5E5E5E"/>
                </a:solidFill>
                <a:latin typeface="Courier"/>
              </a:rPr>
              <a:t># # With compact letter display</a:t>
            </a:r>
            <a:br/>
            <a:r>
              <a:rPr>
                <a:solidFill>
                  <a:srgbClr val="5E5E5E"/>
                </a:solidFill>
                <a:latin typeface="Courier"/>
              </a:rPr>
              <a:t># sidak_cld &lt;- emmeans(circ_model, "treatment") |&gt; </a:t>
            </a:r>
            <a:br/>
            <a:r>
              <a:rPr>
                <a:solidFill>
                  <a:srgbClr val="5E5E5E"/>
                </a:solidFill>
                <a:latin typeface="Courier"/>
              </a:rPr>
              <a:t>#   multcomp::cld(Letters = letters, adjust = "sidak")</a:t>
            </a:r>
            <a:br/>
            <a:r>
              <a:rPr>
                <a:solidFill>
                  <a:srgbClr val="5E5E5E"/>
                </a:solidFill>
                <a:latin typeface="Courier"/>
              </a:rPr>
              <a:t># # sidak_cld</a:t>
            </a:r>
            <a:br/>
            <a:r>
              <a:rPr>
                <a:solidFill>
                  <a:srgbClr val="5E5E5E"/>
                </a:solidFill>
                <a:latin typeface="Courier"/>
              </a:rPr>
              <a:t># ============================================</a:t>
            </a:r>
            <a:br/>
            <a:r>
              <a:rPr>
                <a:solidFill>
                  <a:srgbClr val="5E5E5E"/>
                </a:solidFill>
                <a:latin typeface="Courier"/>
              </a:rPr>
              <a:t># DUNNETT'S </a:t>
            </a:r>
            <a:r>
              <a:rPr>
                <a:solidFill>
                  <a:srgbClr val="AD0000"/>
                </a:solidFill>
                <a:latin typeface="Courier"/>
              </a:rPr>
              <a:t>TEST</a:t>
            </a:r>
            <a:br/>
            <a:r>
              <a:rPr>
                <a:solidFill>
                  <a:srgbClr val="5E5E5E"/>
                </a:solidFill>
                <a:latin typeface="Courier"/>
              </a:rPr>
              <a:t># ============================================</a:t>
            </a:r>
            <a:br/>
            <a:r>
              <a:rPr>
                <a:solidFill>
                  <a:srgbClr val="5E5E5E"/>
                </a:solidFill>
                <a:latin typeface="Courier"/>
              </a:rPr>
              <a:t># Compare all treatments to control</a:t>
            </a:r>
            <a:br/>
            <a:r>
              <a:rPr>
                <a:solidFill>
                  <a:srgbClr val="5E5E5E"/>
                </a:solidFill>
                <a:latin typeface="Courier"/>
              </a:rPr>
              <a:t># Need to specify control group as reference</a:t>
            </a:r>
            <a:br/>
            <a:r>
              <a:rPr>
                <a:solidFill>
                  <a:srgbClr val="003B4F"/>
                </a:solidFill>
                <a:latin typeface="Courier"/>
              </a:rPr>
              <a:t>dunnett_result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contrast</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"trt.vs.ctrl"</a:t>
            </a:r>
            <a:r>
              <a:rPr>
                <a:solidFill>
                  <a:srgbClr val="003B4F"/>
                </a:solidFill>
                <a:latin typeface="Courier"/>
              </a:rPr>
              <a:t>, </a:t>
            </a:r>
            <a:r>
              <a:rPr>
                <a:solidFill>
                  <a:srgbClr val="657422"/>
                </a:solidFill>
                <a:latin typeface="Courier"/>
              </a:rPr>
              <a:t>ref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"dunnett"</a:t>
            </a:r>
            <a:r>
              <a:rPr>
                <a:solidFill>
                  <a:srgbClr val="003B4F"/>
                </a:solidFill>
                <a:latin typeface="Courier"/>
              </a:rPr>
              <a:t>)</a:t>
            </a:r>
            <a:br/>
            <a:r>
              <a:rPr>
                <a:solidFill>
                  <a:srgbClr val="5E5E5E"/>
                </a:solidFill>
                <a:latin typeface="Courier"/>
              </a:rPr>
              <a:t># dunnett_result</a:t>
            </a:r>
            <a:br/>
            <a:r>
              <a:rPr>
                <a:solidFill>
                  <a:srgbClr val="5E5E5E"/>
                </a:solidFill>
                <a:latin typeface="Courier"/>
              </a:rPr>
              <a:t># ============================================</a:t>
            </a:r>
            <a:br/>
            <a:r>
              <a:rPr>
                <a:solidFill>
                  <a:srgbClr val="5E5E5E"/>
                </a:solidFill>
                <a:latin typeface="Courier"/>
              </a:rPr>
              <a:t># COMPARISON TABLE</a:t>
            </a:r>
            <a:br/>
            <a:r>
              <a:rPr>
                <a:solidFill>
                  <a:srgbClr val="5E5E5E"/>
                </a:solidFill>
                <a:latin typeface="Courier"/>
              </a:rPr>
              <a:t># ============================================</a:t>
            </a:r>
            <a:br/>
            <a:r>
              <a:rPr>
                <a:solidFill>
                  <a:srgbClr val="5E5E5E"/>
                </a:solidFill>
                <a:latin typeface="Courier"/>
              </a:rPr>
              <a:t># Create a comparison tibble showing p-values from different methods</a:t>
            </a:r>
            <a:br/>
            <a:r>
              <a:rPr>
                <a:solidFill>
                  <a:srgbClr val="5E5E5E"/>
                </a:solidFill>
                <a:latin typeface="Courier"/>
              </a:rPr>
              <a:t># First, get the actual comparison names from your results</a:t>
            </a:r>
            <a:br/>
            <a:r>
              <a:rPr>
                <a:solidFill>
                  <a:srgbClr val="003B4F"/>
                </a:solidFill>
                <a:latin typeface="Courier"/>
              </a:rPr>
              <a:t>comparison_summary &lt;- </a:t>
            </a: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Comparison =</a:t>
            </a:r>
            <a:r>
              <a:rPr>
                <a:solidFill>
                  <a:srgbClr val="003B4F"/>
                </a:solidFill>
                <a:latin typeface="Courier"/>
              </a:rPr>
              <a:t> </a:t>
            </a:r>
            <a:r>
              <a:rPr>
                <a:solidFill>
                  <a:srgbClr val="4758AB"/>
                </a:solidFill>
                <a:latin typeface="Courier"/>
              </a:rPr>
              <a:t>summary</a:t>
            </a:r>
            <a:r>
              <a:rPr>
                <a:solidFill>
                  <a:srgbClr val="003B4F"/>
                </a:solidFill>
                <a:latin typeface="Courier"/>
              </a:rPr>
              <a:t>(tukey_result)</a:t>
            </a:r>
            <a:r>
              <a:rPr>
                <a:solidFill>
                  <a:srgbClr val="5E5E5E"/>
                </a:solidFill>
                <a:latin typeface="Courier"/>
              </a:rPr>
              <a:t>$</a:t>
            </a:r>
            <a:r>
              <a:rPr>
                <a:solidFill>
                  <a:srgbClr val="003B4F"/>
                </a:solidFill>
                <a:latin typeface="Courier"/>
              </a:rPr>
              <a:t>contrast,</a:t>
            </a:r>
            <a:br/>
            <a:r>
              <a:rPr>
                <a:solidFill>
                  <a:srgbClr val="003B4F"/>
                </a:solidFill>
                <a:latin typeface="Courier"/>
              </a:rPr>
              <a:t>  </a:t>
            </a:r>
            <a:r>
              <a:rPr>
                <a:solidFill>
                  <a:srgbClr val="657422"/>
                </a:solidFill>
                <a:latin typeface="Courier"/>
              </a:rPr>
              <a:t>Tukey =</a:t>
            </a:r>
            <a:r>
              <a:rPr>
                <a:solidFill>
                  <a:srgbClr val="003B4F"/>
                </a:solidFill>
                <a:latin typeface="Courier"/>
              </a:rPr>
              <a:t> </a:t>
            </a:r>
            <a:r>
              <a:rPr>
                <a:solidFill>
                  <a:srgbClr val="4758AB"/>
                </a:solidFill>
                <a:latin typeface="Courier"/>
              </a:rPr>
              <a:t>summary</a:t>
            </a:r>
            <a:r>
              <a:rPr>
                <a:solidFill>
                  <a:srgbClr val="003B4F"/>
                </a:solidFill>
                <a:latin typeface="Courier"/>
              </a:rPr>
              <a:t>(tukey_result)</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Bonferroni =</a:t>
            </a:r>
            <a:r>
              <a:rPr>
                <a:solidFill>
                  <a:srgbClr val="003B4F"/>
                </a:solidFill>
                <a:latin typeface="Courier"/>
              </a:rPr>
              <a:t> </a:t>
            </a:r>
            <a:r>
              <a:rPr>
                <a:solidFill>
                  <a:srgbClr val="4758AB"/>
                </a:solidFill>
                <a:latin typeface="Courier"/>
              </a:rPr>
              <a:t>summary</a:t>
            </a:r>
            <a:r>
              <a:rPr>
                <a:solidFill>
                  <a:srgbClr val="003B4F"/>
                </a:solidFill>
                <a:latin typeface="Courier"/>
              </a:rPr>
              <a:t>(bonferroni_result)</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Sidak =</a:t>
            </a:r>
            <a:r>
              <a:rPr>
                <a:solidFill>
                  <a:srgbClr val="003B4F"/>
                </a:solidFill>
                <a:latin typeface="Courier"/>
              </a:rPr>
              <a:t> </a:t>
            </a:r>
            <a:r>
              <a:rPr>
                <a:solidFill>
                  <a:srgbClr val="4758AB"/>
                </a:solidFill>
                <a:latin typeface="Courier"/>
              </a:rPr>
              <a:t>summary</a:t>
            </a:r>
            <a:r>
              <a:rPr>
                <a:solidFill>
                  <a:srgbClr val="003B4F"/>
                </a:solidFill>
                <a:latin typeface="Courier"/>
              </a:rPr>
              <a:t>(sidak_result)</a:t>
            </a:r>
            <a:r>
              <a:rPr>
                <a:solidFill>
                  <a:srgbClr val="5E5E5E"/>
                </a:solidFill>
                <a:latin typeface="Courier"/>
              </a:rPr>
              <a:t>$</a:t>
            </a:r>
            <a:r>
              <a:rPr>
                <a:solidFill>
                  <a:srgbClr val="003B4F"/>
                </a:solidFill>
                <a:latin typeface="Courier"/>
              </a:rPr>
              <a:t>p.value</a:t>
            </a:r>
            <a:br/>
            <a:r>
              <a:rPr>
                <a:solidFill>
                  <a:srgbClr val="003B4F"/>
                </a:solidFill>
                <a:latin typeface="Courier"/>
              </a:rPr>
              <a:t>)</a:t>
            </a:r>
            <a:br/>
            <a:r>
              <a:rPr>
                <a:solidFill>
                  <a:srgbClr val="5E5E5E"/>
                </a:solidFill>
                <a:latin typeface="Courier"/>
              </a:rPr>
              <a:t># ============================================</a:t>
            </a:r>
            <a:br/>
            <a:r>
              <a:rPr>
                <a:solidFill>
                  <a:srgbClr val="5E5E5E"/>
                </a:solidFill>
                <a:latin typeface="Courier"/>
              </a:rPr>
              <a:t># SUMMARY TABLE WITH ALL RESULTS</a:t>
            </a:r>
            <a:br/>
            <a:r>
              <a:rPr>
                <a:solidFill>
                  <a:srgbClr val="5E5E5E"/>
                </a:solidFill>
                <a:latin typeface="Courier"/>
              </a:rPr>
              <a:t># ============================================</a:t>
            </a:r>
            <a:br/>
            <a:r>
              <a:rPr>
                <a:solidFill>
                  <a:srgbClr val="5E5E5E"/>
                </a:solidFill>
                <a:latin typeface="Courier"/>
              </a:rPr>
              <a:t># Create a comprehensive comparison</a:t>
            </a:r>
            <a:br/>
            <a:r>
              <a:rPr>
                <a:solidFill>
                  <a:srgbClr val="003B4F"/>
                </a:solidFill>
                <a:latin typeface="Courier"/>
              </a:rPr>
              <a:t>all_methods &lt;- </a:t>
            </a:r>
            <a:r>
              <a:rPr>
                <a:solidFill>
                  <a:srgbClr val="4758AB"/>
                </a:solidFill>
                <a:latin typeface="Courier"/>
              </a:rPr>
              <a:t>bind_rows</a:t>
            </a:r>
            <a:r>
              <a:rPr>
                <a:solidFill>
                  <a:srgbClr val="003B4F"/>
                </a:solidFill>
                <a:latin typeface="Courier"/>
              </a:rPr>
              <a:t>(</a:t>
            </a:r>
            <a:br/>
            <a:r>
              <a:rPr>
                <a:solidFill>
                  <a:srgbClr val="003B4F"/>
                </a:solidFill>
                <a:latin typeface="Courier"/>
              </a:rPr>
              <a:t>  </a:t>
            </a:r>
            <a:r>
              <a:rPr>
                <a:solidFill>
                  <a:srgbClr val="4758AB"/>
                </a:solidFill>
                <a:latin typeface="Courier"/>
              </a:rPr>
              <a:t>summary</a:t>
            </a:r>
            <a:r>
              <a:rPr>
                <a:solidFill>
                  <a:srgbClr val="003B4F"/>
                </a:solidFill>
                <a:latin typeface="Courier"/>
              </a:rPr>
              <a:t>(tukey_result)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"Tukey"</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summary</a:t>
            </a:r>
            <a:r>
              <a:rPr>
                <a:solidFill>
                  <a:srgbClr val="003B4F"/>
                </a:solidFill>
                <a:latin typeface="Courier"/>
              </a:rPr>
              <a:t>(bonferroni_result)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summary</a:t>
            </a:r>
            <a:r>
              <a:rPr>
                <a:solidFill>
                  <a:srgbClr val="003B4F"/>
                </a:solidFill>
                <a:latin typeface="Courier"/>
              </a:rPr>
              <a:t>(sidak_result)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003B4F"/>
                </a:solidFill>
                <a:latin typeface="Courier"/>
              </a:rPr>
              <a:t>)</a:t>
            </a:r>
            <a:br/>
            <a:br/>
            <a:r>
              <a:rPr>
                <a:solidFill>
                  <a:srgbClr val="5E5E5E"/>
                </a:solidFill>
                <a:latin typeface="Courier"/>
              </a:rPr>
              <a:t># Pivot wider for easy comparison</a:t>
            </a:r>
            <a:br/>
            <a:r>
              <a:rPr>
                <a:solidFill>
                  <a:srgbClr val="003B4F"/>
                </a:solidFill>
                <a:latin typeface="Courier"/>
              </a:rPr>
              <a:t>all_methods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Method,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Method, </a:t>
            </a:r>
            <a:r>
              <a:rPr>
                <a:solidFill>
                  <a:srgbClr val="657422"/>
                </a:solidFill>
                <a:latin typeface="Courier"/>
              </a:rPr>
              <a:t>values_from =</a:t>
            </a:r>
            <a:r>
              <a:rPr>
                <a:solidFill>
                  <a:srgbClr val="003B4F"/>
                </a:solidFill>
                <a:latin typeface="Courier"/>
              </a:rPr>
              <a:t>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arrange</a:t>
            </a:r>
            <a:r>
              <a:rPr>
                <a:solidFill>
                  <a:srgbClr val="003B4F"/>
                </a:solidFill>
                <a:latin typeface="Courier"/>
              </a:rPr>
              <a:t>(Tukey)</a:t>
            </a:r>
          </a:p>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0-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spcBef>
                <a:spcPts val="3000"/>
              </a:spcBef>
              <a:buNone/>
            </a:pPr>
            <a:r>
              <a:rPr b="1"/>
              <a:t>Common Non-Parametric Alternatives to ANOVA</a:t>
            </a:r>
          </a:p>
          <a:p>
            <a:pPr lvl="0" indent="0" marL="0">
              <a:buNone/>
            </a:pPr>
            <a:r>
              <a:rPr b="1"/>
              <a:t>Non-parametric tests make fewer assumptions about the data distribution</a:t>
            </a:r>
          </a:p>
          <a:p>
            <a:pPr lvl="0" indent="-342900" marL="342900">
              <a:buAutoNum type="arabicPeriod"/>
            </a:pPr>
            <a:r>
              <a:rPr b="1"/>
              <a:t>Kruskal-Wallis Test</a:t>
            </a:r>
          </a:p>
          <a:p>
            <a:pPr lvl="1"/>
            <a:r>
              <a:rPr/>
              <a:t>Non-parametric alternative to one-way ANOVA</a:t>
            </a:r>
          </a:p>
          <a:p>
            <a:pPr lvl="1"/>
            <a:r>
              <a:rPr/>
              <a:t>Tests for differences in median ranks</a:t>
            </a:r>
          </a:p>
          <a:p>
            <a:pPr lvl="1"/>
            <a:r>
              <a:rPr/>
              <a:t>Works with ordinal or continuous data</a:t>
            </a:r>
          </a:p>
          <a:p>
            <a:pPr lvl="1"/>
            <a:r>
              <a:rPr/>
              <a:t>Assumptions: Independent observations, similar distribution shapes</a:t>
            </a:r>
          </a:p>
          <a:p>
            <a:pPr lvl="0" indent="-342900" marL="342900">
              <a:buAutoNum type="arabicPeriod"/>
            </a:pPr>
            <a:r>
              <a:rPr b="1"/>
              <a:t>Mood’s Median Test</a:t>
            </a:r>
            <a:r>
              <a:rPr/>
              <a:t> not covered here</a:t>
            </a:r>
          </a:p>
          <a:p>
            <a:pPr lvl="1"/>
            <a:r>
              <a:rPr/>
              <a:t>Tests whether medians differ across groups</a:t>
            </a:r>
          </a:p>
          <a:p>
            <a:pPr lvl="1"/>
            <a:r>
              <a:rPr/>
              <a:t>More robust but less powerful than Kruskal-Wallis</a:t>
            </a:r>
          </a:p>
          <a:p>
            <a:pPr lvl="1"/>
            <a:r>
              <a:rPr/>
              <a:t>Good for highly skewed data</a:t>
            </a:r>
          </a:p>
        </p:txBody>
      </p:sp>
      <p:sp>
        <p:nvSpPr>
          <p:cNvPr id="4" name="Content Placeholder 3"/>
          <p:cNvSpPr>
            <a:spLocks noGrp="1"/>
          </p:cNvSpPr>
          <p:nvPr>
            <p:ph idx="2" sz="half"/>
          </p:nvPr>
        </p:nvSpPr>
        <p:spPr/>
        <p:txBody>
          <a:bodyPr/>
          <a:lstStyle/>
          <a:p>
            <a:pPr lvl="0" indent="0" marL="0">
              <a:spcBef>
                <a:spcPts val="3000"/>
              </a:spcBef>
              <a:buNone/>
            </a:pPr>
            <a:r>
              <a:rPr b="1"/>
              <a:t>When to Use Non-Parametric Tests</a:t>
            </a:r>
          </a:p>
          <a:p>
            <a:pPr lvl="0" indent="0" marL="0">
              <a:buNone/>
            </a:pPr>
            <a:r>
              <a:rPr b="1"/>
              <a:t>Consider non-parametric tests when:</a:t>
            </a:r>
          </a:p>
          <a:p>
            <a:pPr lvl="0"/>
            <a:r>
              <a:rPr/>
              <a:t>Sample sizes are small</a:t>
            </a:r>
          </a:p>
          <a:p>
            <a:pPr lvl="0"/>
            <a:r>
              <a:rPr/>
              <a:t>Data are heavily skewed</a:t>
            </a:r>
          </a:p>
          <a:p>
            <a:pPr lvl="0"/>
            <a:r>
              <a:rPr/>
              <a:t>Outliers are present and legitimate</a:t>
            </a:r>
          </a:p>
          <a:p>
            <a:pPr lvl="0"/>
            <a:r>
              <a:rPr/>
              <a:t>Variances are very unequal</a:t>
            </a:r>
          </a:p>
          <a:p>
            <a:pPr lvl="0"/>
            <a:r>
              <a:rPr/>
              <a:t>Data are ordinal (ranked)</a:t>
            </a:r>
          </a:p>
          <a:p>
            <a:pPr lvl="0"/>
            <a:r>
              <a:rPr/>
              <a:t>Assumptions checks clearly fail</a:t>
            </a:r>
          </a:p>
          <a:p>
            <a:pPr lvl="0" indent="0" marL="0">
              <a:buNone/>
            </a:pPr>
            <a:r>
              <a:rPr b="1"/>
              <a:t>Trade-offs:</a:t>
            </a:r>
          </a:p>
          <a:p>
            <a:pPr lvl="0"/>
            <a:r>
              <a:rPr/>
              <a:t>☒ Fewer assumptions</a:t>
            </a:r>
          </a:p>
          <a:p>
            <a:pPr lvl="0"/>
            <a:r>
              <a:rPr/>
              <a:t>☒ More robust to outliers</a:t>
            </a:r>
          </a:p>
          <a:p>
            <a:pPr lvl="0"/>
            <a:r>
              <a:rPr/>
              <a:t>✗ Less statistical power</a:t>
            </a:r>
          </a:p>
          <a:p>
            <a:pPr lvl="0"/>
            <a:r>
              <a:rPr/>
              <a:t>✗ Test medians/ranks, not means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Test: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Kruskal-Wallis H Test</a:t>
                </a:r>
              </a:p>
              <a:p>
                <a:pPr lvl="0"/>
                <a:r>
                  <a:rPr b="1"/>
                  <a:t>Most common non-parametric alternative to one-way ANOVA</a:t>
                </a:r>
              </a:p>
              <a:p>
                <a:pPr lvl="1"/>
                <a:r>
                  <a:rPr b="1"/>
                  <a:t>What it does:</a:t>
                </a:r>
              </a:p>
              <a:p>
                <a:pPr lvl="2"/>
                <a:r>
                  <a:rPr/>
                  <a:t>Ranks all observations from smallest to largest</a:t>
                </a:r>
              </a:p>
              <a:p>
                <a:pPr lvl="2"/>
                <a:r>
                  <a:rPr/>
                  <a:t>Compares the sum of ranks between groups</a:t>
                </a:r>
              </a:p>
              <a:p>
                <a:pPr lvl="2"/>
                <a:r>
                  <a:rPr/>
                  <a:t>Tests if groups come from the same distribution</a:t>
                </a:r>
              </a:p>
              <a:p>
                <a:pPr lvl="1"/>
                <a:r>
                  <a:rPr b="1"/>
                  <a:t>Hypotheses:</a:t>
                </a:r>
              </a:p>
              <a:p>
                <a:pPr lvl="2"/>
                <a:r>
                  <a:rPr b="1"/>
                  <a:t>H₀</a:t>
                </a:r>
                <a:r>
                  <a:rPr/>
                  <a:t>: All groups have the same distribution (same median)</a:t>
                </a:r>
              </a:p>
              <a:p>
                <a:pPr lvl="2"/>
                <a:r>
                  <a:rPr b="1"/>
                  <a:t>H₁</a:t>
                </a:r>
                <a:r>
                  <a:rPr/>
                  <a:t>: At least one group has a different distribution</a:t>
                </a:r>
              </a:p>
              <a:p>
                <a:pPr lvl="1"/>
                <a:r>
                  <a:rPr b="1"/>
                  <a:t>Test statistic (H):</a:t>
                </a:r>
                <a:r>
                  <a:rPr/>
                  <a:t> </a:t>
                </a:r>
                <a14:m>
                  <m:oMath xmlns:m="http://schemas.openxmlformats.org/officeDocument/2006/math">
                    <m:r>
                      <m:t>H</m:t>
                    </m:r>
                    <m:r>
                      <m:rPr>
                        <m:sty m:val="p"/>
                      </m:rPr>
                      <m:t>=</m:t>
                    </m:r>
                    <m:f>
                      <m:fPr>
                        <m:type m:val="bar"/>
                      </m:fPr>
                      <m:num>
                        <m:r>
                          <m:t>12</m:t>
                        </m:r>
                      </m:num>
                      <m:den>
                        <m:r>
                          <m:t>N</m:t>
                        </m:r>
                        <m:d>
                          <m:dPr>
                            <m:begChr m:val="("/>
                            <m:sepChr m:val=""/>
                            <m:endChr m:val=")"/>
                            <m:grow/>
                          </m:dPr>
                          <m:e>
                            <m:r>
                              <m:t>N</m:t>
                            </m:r>
                            <m:r>
                              <m:rPr>
                                <m:sty m:val="p"/>
                              </m:rPr>
                              <m:t>+</m:t>
                            </m:r>
                            <m:r>
                              <m:t>1</m:t>
                            </m:r>
                          </m:e>
                        </m:d>
                      </m:den>
                    </m:f>
                    <m:nary>
                      <m:naryPr>
                        <m:chr m:val="∑"/>
                        <m:limLoc m:val="undOvr"/>
                        <m:subHide m:val="off"/>
                        <m:supHide m:val="off"/>
                      </m:naryPr>
                      <m:sub>
                        <m:r>
                          <m:t>i</m:t>
                        </m:r>
                        <m:r>
                          <m:rPr>
                            <m:sty m:val="p"/>
                          </m:rPr>
                          <m:t>=</m:t>
                        </m:r>
                        <m:r>
                          <m:t>1</m:t>
                        </m:r>
                      </m:sub>
                      <m:sup>
                        <m:r>
                          <m:t>k</m:t>
                        </m:r>
                      </m:sup>
                      <m:e>
                        <m:sSub>
                          <m:e>
                            <m:r>
                              <m:t>n</m:t>
                            </m:r>
                          </m:e>
                          <m:sub>
                            <m:r>
                              <m:t>i</m:t>
                            </m:r>
                          </m:sub>
                        </m:sSub>
                      </m:e>
                    </m:nary>
                    <m:sSup>
                      <m:e>
                        <m:d>
                          <m:dPr>
                            <m:begChr m:val="("/>
                            <m:sepChr m:val=""/>
                            <m:endChr m:val=")"/>
                            <m:grow/>
                          </m:dPr>
                          <m:e>
                            <m:sSub>
                              <m:e>
                                <m:acc>
                                  <m:accPr>
                                    <m:chr m:val="‾"/>
                                  </m:accPr>
                                  <m:e>
                                    <m:r>
                                      <m:t>R</m:t>
                                    </m:r>
                                  </m:e>
                                </m:acc>
                              </m:e>
                              <m:sub>
                                <m:r>
                                  <m:t>i</m:t>
                                </m:r>
                              </m:sub>
                            </m:sSub>
                            <m:r>
                              <m:rPr>
                                <m:sty m:val="p"/>
                              </m:rPr>
                              <m:t>−</m:t>
                            </m:r>
                            <m:acc>
                              <m:accPr>
                                <m:chr m:val="‾"/>
                              </m:accPr>
                              <m:e>
                                <m:r>
                                  <m:t>R</m:t>
                                </m:r>
                              </m:e>
                            </m:acc>
                          </m:e>
                        </m:d>
                      </m:e>
                      <m:sup>
                        <m:r>
                          <m:t>2</m:t>
                        </m:r>
                      </m:sup>
                    </m:sSup>
                    <m:r>
                      <m:rPr>
                        <m:sty m:val="p"/>
                      </m:rPr>
                      <m:t>−</m:t>
                    </m:r>
                    <m:r>
                      <m:t>3</m:t>
                    </m:r>
                    <m:d>
                      <m:dPr>
                        <m:begChr m:val="("/>
                        <m:sepChr m:val=""/>
                        <m:endChr m:val=")"/>
                        <m:grow/>
                      </m:dPr>
                      <m:e>
                        <m:r>
                          <m:t>N</m:t>
                        </m:r>
                        <m:r>
                          <m:rPr>
                            <m:sty m:val="p"/>
                          </m:rPr>
                          <m:t>+</m:t>
                        </m:r>
                        <m:r>
                          <m:t>1</m:t>
                        </m:r>
                      </m:e>
                    </m:d>
                  </m:oMath>
                </a14:m>
              </a:p>
              <a:p>
                <a:pPr lvl="1"/>
                <a:r>
                  <a:rPr/>
                  <a:t>Where:</a:t>
                </a:r>
              </a:p>
              <a:p>
                <a:pPr lvl="2"/>
                <a:r>
                  <a:rPr/>
                  <a:t>N = total sample size</a:t>
                </a:r>
              </a:p>
              <a:p>
                <a:pPr lvl="2"/>
                <a:r>
                  <a:rPr/>
                  <a:t>k = number of groups</a:t>
                </a:r>
              </a:p>
              <a:p>
                <a:pPr lvl="2"/>
                <a14:m>
                  <m:oMath xmlns:m="http://schemas.openxmlformats.org/officeDocument/2006/math">
                    <m:sSub>
                      <m:e>
                        <m:acc>
                          <m:accPr>
                            <m:chr m:val="‾"/>
                          </m:accPr>
                          <m:e>
                            <m:r>
                              <m:t>R</m:t>
                            </m:r>
                          </m:e>
                        </m:acc>
                      </m:e>
                      <m:sub>
                        <m:r>
                          <m:t>i</m:t>
                        </m:r>
                      </m:sub>
                    </m:sSub>
                  </m:oMath>
                </a14:m>
                <a:r>
                  <a:rPr/>
                  <a:t> = mean rank for group i</a:t>
                </a:r>
              </a:p>
              <a:p>
                <a:pPr lvl="2"/>
                <a14:m>
                  <m:oMath xmlns:m="http://schemas.openxmlformats.org/officeDocument/2006/math">
                    <m:acc>
                      <m:accPr>
                        <m:chr m:val="‾"/>
                      </m:accPr>
                      <m:e>
                        <m:r>
                          <m:t>R</m:t>
                        </m:r>
                      </m:e>
                    </m:acc>
                  </m:oMath>
                </a14:m>
                <a:r>
                  <a:rPr/>
                  <a:t>= overall mean rank = (N+1)/2</a:t>
                </a:r>
              </a:p>
              <a:p>
                <a:pPr lvl="2"/>
                <a:r>
                  <a:rPr/>
                  <a:t>nᵢ = sample size for group i</a:t>
                </a:r>
              </a:p>
              <a:p>
                <a:pPr lvl="2"/>
                <a:r>
                  <a:rPr/>
                  <a:t>constant 12 comes from the variance of ranks in a uniform distribution</a:t>
                </a:r>
              </a:p>
              <a:p>
                <a:pPr lvl="1"/>
                <a:r>
                  <a:rPr b="1"/>
                  <a:t>Distribution:</a:t>
                </a:r>
                <a:r>
                  <a:rPr/>
                  <a:t> Approximated by χ² with (k-1) degrees of freedom</a:t>
                </a:r>
              </a:p>
            </p:txBody>
          </p:sp>
        </mc:Choice>
      </mc:AlternateContent>
      <p:sp>
        <p:nvSpPr>
          <p:cNvPr id="4" name="Content Placeholder 3"/>
          <p:cNvSpPr>
            <a:spLocks noGrp="1"/>
          </p:cNvSpPr>
          <p:nvPr>
            <p:ph idx="2" sz="half"/>
          </p:nvPr>
        </p:nvSpPr>
        <p:spPr/>
        <p:txBody>
          <a:bodyPr/>
          <a:lstStyle/>
          <a:p>
            <a:pPr lvl="0" indent="0" marL="0">
              <a:spcBef>
                <a:spcPts val="3000"/>
              </a:spcBef>
              <a:buNone/>
            </a:pPr>
            <a:r>
              <a:rPr b="1"/>
              <a:t>Assumptions of Kruskal-Wallis</a:t>
            </a:r>
          </a:p>
          <a:p>
            <a:pPr lvl="0" indent="0" marL="0">
              <a:buNone/>
            </a:pPr>
            <a:r>
              <a:rPr b="1"/>
              <a:t>Much more relaxed than parametric ANOVA:</a:t>
            </a:r>
          </a:p>
          <a:p>
            <a:pPr lvl="0"/>
            <a:r>
              <a:rPr b="1"/>
              <a:t>Independence</a:t>
            </a:r>
            <a:r>
              <a:rPr/>
              <a:t>: Observations must be independent</a:t>
            </a:r>
          </a:p>
          <a:p>
            <a:pPr lvl="1"/>
            <a:r>
              <a:rPr/>
              <a:t>Same as parametric ANOVA</a:t>
            </a:r>
          </a:p>
          <a:p>
            <a:pPr lvl="1"/>
            <a:r>
              <a:rPr/>
              <a:t>Still critical!</a:t>
            </a:r>
          </a:p>
          <a:p>
            <a:pPr lvl="0"/>
            <a:r>
              <a:rPr b="1"/>
              <a:t>Similar distribution shapes</a:t>
            </a:r>
            <a:r>
              <a:rPr/>
              <a:t>: Groups should have similar distribution shapes (same spread/variance)</a:t>
            </a:r>
          </a:p>
          <a:p>
            <a:pPr lvl="1"/>
            <a:r>
              <a:rPr/>
              <a:t>If violated, interprets as differences in distributions generally</a:t>
            </a:r>
          </a:p>
          <a:p>
            <a:pPr lvl="1"/>
            <a:r>
              <a:rPr/>
              <a:t>Not just medians</a:t>
            </a:r>
          </a:p>
          <a:p>
            <a:pPr lvl="0"/>
            <a:r>
              <a:rPr b="1"/>
              <a:t>Ordinal or continuous data</a:t>
            </a:r>
            <a:r>
              <a:rPr/>
              <a:t>: Response variable should be at least ordinal</a:t>
            </a:r>
          </a:p>
          <a:p>
            <a:pPr lvl="0"/>
            <a:r>
              <a:rPr b="1"/>
              <a:t>What’s NOT assumed:</a:t>
            </a:r>
          </a:p>
          <a:p>
            <a:pPr lvl="1"/>
            <a:r>
              <a:rPr/>
              <a:t>✗ Normal distribution</a:t>
            </a:r>
          </a:p>
          <a:p>
            <a:pPr lvl="1"/>
            <a:r>
              <a:rPr/>
              <a:t>✗ Equal variances (though helps interpretation)</a:t>
            </a:r>
          </a:p>
          <a:p>
            <a:pPr lvl="1"/>
            <a:r>
              <a:rPr/>
              <a:t>✗ Specific distribution shape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spcBef>
                <a:spcPts val="3000"/>
              </a:spcBef>
              <a:buNone/>
            </a:pPr>
            <a:r>
              <a:rPr b="1"/>
              <a:t>Creating Data That Violates Assumptions</a:t>
            </a:r>
          </a:p>
          <a:p>
            <a:pPr lvl="0" indent="0" marL="0">
              <a:buNone/>
            </a:pPr>
            <a:r>
              <a:rPr b="1"/>
              <a:t>Let’s create a modified dataset with clear violations:</a:t>
            </a:r>
          </a:p>
          <a:p>
            <a:pPr lvl="0" indent="0">
              <a:buNone/>
            </a:pPr>
            <a:r>
              <a:rPr>
                <a:solidFill>
                  <a:srgbClr val="5E5E5E"/>
                </a:solidFill>
                <a:latin typeface="Courier"/>
              </a:rPr>
              <a:t># Create data with outliers and skewness</a:t>
            </a:r>
            <a:b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5E5E5E"/>
                </a:solidFill>
                <a:latin typeface="Courier"/>
              </a:rPr>
              <a:t># Fit model with violated assumptions</a:t>
            </a: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p>
          <a:p>
            <a:pPr lvl="0"/>
            <a:r>
              <a:rPr/>
              <a:t>- Increased variance in Knees group</a:t>
            </a:r>
          </a:p>
          <a:p>
            <a:pPr lvl="0"/>
            <a:r>
              <a:rPr/>
              <a:t>- Added extreme outliers to Eyes group</a:t>
            </a:r>
          </a:p>
          <a:p>
            <a:pPr lvl="0"/>
            <a:r>
              <a:rPr/>
              <a:t>- Created unequal variances and non-normality</a:t>
            </a:r>
          </a:p>
        </p:txBody>
      </p:sp>
      <p:pic>
        <p:nvPicPr>
          <p:cNvPr descr="11_01_lecture_powerpoint_files/figure-pptx/violated_data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Checking Violated Data Assumptions</a:t>
            </a:r>
          </a:p>
        </p:txBody>
      </p:sp>
      <p:sp>
        <p:nvSpPr>
          <p:cNvPr id="3" name="Text Placeholder 2"/>
          <p:cNvSpPr>
            <a:spLocks noGrp="1"/>
          </p:cNvSpPr>
          <p:nvPr>
            <p:ph idx="1" type="body"/>
          </p:nvPr>
        </p:nvSpPr>
        <p:spPr/>
        <p:txBody>
          <a:bodyPr/>
          <a:lstStyle/>
          <a:p>
            <a:pPr lvl="0" indent="0" marL="0">
              <a:spcBef>
                <a:spcPts val="3000"/>
              </a:spcBef>
              <a:buNone/>
            </a:pPr>
            <a:r>
              <a:rPr b="1"/>
              <a:t>Normality Test on Violated Data</a:t>
            </a:r>
          </a:p>
          <a:p>
            <a:pPr lvl="0" indent="0" marL="0">
              <a:buNone/>
            </a:pPr>
            <a:r>
              <a:rPr b="1"/>
              <a:t>Clear violation:</a:t>
            </a:r>
            <a:r>
              <a:rPr/>
              <a:t> p &lt; 0.05, points deviate from line</a:t>
            </a:r>
          </a:p>
          <a:p>
            <a:pPr lvl="0" indent="0">
              <a:buNone/>
            </a:pPr>
            <a:r>
              <a:rPr>
                <a:latin typeface="Courier"/>
              </a:rPr>
              <a:t>
    Shapiro-Wilk normality test
data:  resid(violated_model)
W = 0.89473, p-value = 0.02335</a:t>
            </a:r>
          </a:p>
        </p:txBody>
      </p:sp>
      <p:pic>
        <p:nvPicPr>
          <p:cNvPr descr="11_01_lecture_powerpoint_files/figure-pptx/violated_normality_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Variance Test on Violated Data</a:t>
            </a:r>
          </a:p>
          <a:p>
            <a:pPr lvl="0"/>
            <a:r>
              <a:rPr/>
              <a:t>ok having issues making it not homogeoeous</a:t>
            </a:r>
          </a:p>
          <a:p>
            <a:pPr lvl="0"/>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11_01_lecture_powerpoint_files/figure-pptx/violated_variance_plot-1.png" id="0" name="Picture 1"/>
          <p:cNvPicPr>
            <a:picLocks noGrp="1" noChangeAspect="1"/>
          </p:cNvPicPr>
          <p:nvPr/>
        </p:nvPicPr>
        <p:blipFill>
          <a:blip r:embed="rId3"/>
          <a:stretch>
            <a:fillRect/>
          </a:stretch>
        </p:blipFill>
        <p:spPr bwMode="auto">
          <a:xfrm>
            <a:off x="4749800" y="1689100"/>
            <a:ext cx="4038600" cy="24892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a:t>
            </a:r>
          </a:p>
        </p:txBody>
      </p:sp>
      <p:sp>
        <p:nvSpPr>
          <p:cNvPr id="3" name="Text Placeholder 2"/>
          <p:cNvSpPr>
            <a:spLocks noGrp="1"/>
          </p:cNvSpPr>
          <p:nvPr>
            <p:ph idx="1" type="body"/>
          </p:nvPr>
        </p:nvSpPr>
        <p:spPr/>
        <p:txBody>
          <a:bodyPr/>
          <a:lstStyle/>
          <a:p>
            <a:pPr lvl="0" indent="0" marL="0">
              <a:spcBef>
                <a:spcPts val="3000"/>
              </a:spcBef>
              <a:buNone/>
            </a:pPr>
            <a:r>
              <a:rPr b="1"/>
              <a:t>Running Kruskal-Wallis on Original Data</a:t>
            </a:r>
          </a:p>
          <a:p>
            <a:pPr lvl="0" indent="0" marL="0">
              <a:buNone/>
            </a:pPr>
            <a:r>
              <a:rPr b="1"/>
              <a:t>Even though assumptions are met, let’s compare results:</a:t>
            </a:r>
          </a:p>
          <a:p>
            <a:pPr lvl="0" indent="0">
              <a:buNone/>
            </a:pPr>
            <a:r>
              <a:rPr>
                <a:solidFill>
                  <a:srgbClr val="5E5E5E"/>
                </a:solidFill>
                <a:latin typeface="Courier"/>
              </a:rPr>
              <a:t># Kruskal-Wallis test on original data</a:t>
            </a:r>
            <a:b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5E5E5E"/>
                </a:solidFill>
                <a:latin typeface="Courier"/>
              </a:rPr>
              <a:t># Display results</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 H = test statistic (chi-squared approximation) - df = degrees of freedom (k - 1 = 3 - 1 = 2) - p-value = 0.0135 (significant at α = 0.05) - Conclusion: At least one group differs from others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spcBef>
                <a:spcPts val="3000"/>
              </a:spcBef>
              <a:buNone/>
            </a:pPr>
            <a:r>
              <a:rPr b="1"/>
              <a:t>Rank Visualization</a:t>
            </a:r>
          </a:p>
          <a:p>
            <a:pPr lvl="0" indent="0" marL="0">
              <a:buNone/>
            </a:pPr>
            <a:r>
              <a:rPr b="1"/>
              <a:t>How Kruskal-Wallis works:</a:t>
            </a:r>
          </a:p>
        </p:txBody>
      </p:sp>
      <p:pic>
        <p:nvPicPr>
          <p:cNvPr descr="11_01_lecture_powerpoint_files/figure-pptx/kruskal_ranks_plot-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
        <p:nvSpPr>
          <p:cNvPr id="6" name="Content Placeholder 5"/>
          <p:cNvSpPr>
            <a:spLocks noGrp="1"/>
          </p:cNvSpPr>
          <p:nvPr>
            <p:ph idx="4" sz="quarter"/>
          </p:nvPr>
        </p:nvSpPr>
        <p:spPr/>
        <p:txBody>
          <a:bodyPr/>
          <a:lstStyle/>
          <a:p>
            <a:pPr lvl="0" indent="0" marL="0">
              <a:buNone/>
            </a:pPr>
            <a:r>
              <a:rPr b="1"/>
              <a:t>Rank Sums:</a:t>
            </a:r>
          </a:p>
          <a:p>
            <a:pPr lvl="0" indent="0">
              <a:buNone/>
            </a:pPr>
            <a:r>
              <a:rPr>
                <a:latin typeface="Courier"/>
              </a:rPr>
              <a:t># A tibble: 3 × 4
  treatment mean_rank sum_rank     n
  &lt;fct&gt;         &lt;dbl&gt;    &lt;dbl&gt; &lt;int&gt;
1 Control       14.6       117     8
2 Eyes           5.29       37     7
3 Knees         14.1        99     7</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on Violated Data</a:t>
            </a:r>
          </a:p>
        </p:txBody>
      </p:sp>
      <p:sp>
        <p:nvSpPr>
          <p:cNvPr id="3" name="Content Placeholder 2"/>
          <p:cNvSpPr>
            <a:spLocks noGrp="1"/>
          </p:cNvSpPr>
          <p:nvPr>
            <p:ph idx="1" sz="half"/>
          </p:nvPr>
        </p:nvSpPr>
        <p:spPr/>
        <p:txBody>
          <a:bodyPr/>
          <a:lstStyle/>
          <a:p>
            <a:pPr lvl="0" indent="0" marL="0">
              <a:spcBef>
                <a:spcPts val="3000"/>
              </a:spcBef>
              <a:buNone/>
            </a:pPr>
            <a:r>
              <a:rPr b="1"/>
              <a:t>Non-Parametric Test Handles Violations</a:t>
            </a:r>
          </a:p>
          <a:p>
            <a:pPr lvl="0" indent="0" marL="0">
              <a:buNone/>
            </a:pPr>
            <a:r>
              <a:rPr b="1"/>
              <a:t>Running Kruskal-Wallis on data with assumption violations:</a:t>
            </a:r>
          </a:p>
          <a:p>
            <a:pPr lvl="0" indent="0">
              <a:buNone/>
            </a:pPr>
            <a:r>
              <a:rPr>
                <a:solidFill>
                  <a:srgbClr val="5E5E5E"/>
                </a:solidFill>
                <a:latin typeface="Courier"/>
              </a:rPr>
              <a:t># Kruskal-Wallis test on violated data</a:t>
            </a:r>
            <a:b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a:r>
              <a:rPr b="1"/>
              <a:t>Key observations:</a:t>
            </a:r>
          </a:p>
          <a:p>
            <a:pPr lvl="1"/>
            <a:r>
              <a:rPr/>
              <a:t>Both tests still detect differences</a:t>
            </a:r>
          </a:p>
          <a:p>
            <a:pPr lvl="1"/>
            <a:r>
              <a:rPr/>
              <a:t>Kruskal-Wallis more robust to violations</a:t>
            </a:r>
          </a:p>
          <a:p>
            <a:pPr lvl="1"/>
            <a:r>
              <a:rPr/>
              <a:t>Parametric test may give misleading results when assumptions violated</a:t>
            </a:r>
          </a:p>
          <a:p>
            <a:pPr lvl="1"/>
            <a:r>
              <a:rPr/>
              <a:t>Non-parametric test maintains validity</a:t>
            </a:r>
          </a:p>
        </p:txBody>
      </p:sp>
      <p:pic>
        <p:nvPicPr>
          <p:cNvPr descr="11_01_lecture_powerpoint_files/figure-pptx/violated_comparison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a:t>
            </a:r>
          </a:p>
        </p:txBody>
      </p:sp>
      <p:sp>
        <p:nvSpPr>
          <p:cNvPr id="3" name="Content Placeholder 2"/>
          <p:cNvSpPr>
            <a:spLocks noGrp="1"/>
          </p:cNvSpPr>
          <p:nvPr>
            <p:ph idx="1" sz="half"/>
          </p:nvPr>
        </p:nvSpPr>
        <p:spPr/>
        <p:txBody>
          <a:bodyPr/>
          <a:lstStyle/>
          <a:p>
            <a:pPr lvl="0" indent="0" marL="0">
              <a:spcBef>
                <a:spcPts val="3000"/>
              </a:spcBef>
              <a:buNone/>
            </a:pPr>
            <a:r>
              <a:rPr b="1"/>
              <a:t>Pairwise Comparisons After Significant Kruskal-Wallis</a:t>
            </a:r>
          </a:p>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a:r>
              <a:rPr b="1"/>
              <a:t>Interpretation of p-values:</a:t>
            </a:r>
          </a:p>
          <a:p>
            <a:pPr lvl="1"/>
            <a:r>
              <a:rPr/>
              <a:t>- Control vs Eyes: p = 0.024 (significant)</a:t>
            </a:r>
          </a:p>
          <a:p>
            <a:pPr lvl="1"/>
            <a:r>
              <a:rPr/>
              <a:t>- Control vs Knees: p = 1.000 (not significant)</a:t>
            </a:r>
          </a:p>
          <a:p>
            <a:pPr lvl="1"/>
            <a:r>
              <a:rPr/>
              <a:t>- Eyes vs Knees: p = 0.078 (not significant)</a:t>
            </a:r>
          </a:p>
          <a:p>
            <a:pPr lvl="0"/>
            <a:r>
              <a:rPr b="1"/>
              <a:t>Common adjustment methods:</a:t>
            </a:r>
          </a:p>
          <a:p>
            <a:pPr lvl="1"/>
            <a:r>
              <a:rPr/>
              <a:t>- </a:t>
            </a:r>
            <a:r>
              <a:rPr>
                <a:latin typeface="Courier"/>
              </a:rPr>
              <a:t>"bonferroni"</a:t>
            </a:r>
            <a:r>
              <a:rPr/>
              <a:t>: Most conservative</a:t>
            </a:r>
          </a:p>
          <a:p>
            <a:pPr lvl="1"/>
            <a:r>
              <a:rPr/>
              <a:t>- </a:t>
            </a:r>
            <a:r>
              <a:rPr>
                <a:latin typeface="Courier"/>
              </a:rPr>
              <a:t>"holm"</a:t>
            </a:r>
            <a:r>
              <a:rPr/>
              <a:t>: Less conservative than Bonferroni</a:t>
            </a:r>
          </a:p>
          <a:p>
            <a:pPr lvl="1"/>
            <a:r>
              <a:rPr/>
              <a:t>- </a:t>
            </a:r>
            <a:r>
              <a:rPr>
                <a:latin typeface="Courier"/>
              </a:rPr>
              <a:t>"BH"</a:t>
            </a:r>
            <a:r>
              <a:rPr/>
              <a:t>: Benjamini-Hochberg (controls false discovery rate)</a:t>
            </a:r>
          </a:p>
          <a:p>
            <a:pPr lvl="1"/>
            <a:r>
              <a:rPr/>
              <a:t>- </a:t>
            </a:r>
            <a:r>
              <a:rPr>
                <a:latin typeface="Courier"/>
              </a:rPr>
              <a:t>"none"</a:t>
            </a:r>
            <a:r>
              <a:rPr/>
              <a:t>: No adjustment (not recommended)</a:t>
            </a:r>
          </a:p>
        </p:txBody>
      </p:sp>
      <p:sp>
        <p:nvSpPr>
          <p:cNvPr id="4" name="Content Placeholder 3"/>
          <p:cNvSpPr>
            <a:spLocks noGrp="1"/>
          </p:cNvSpPr>
          <p:nvPr>
            <p:ph idx="2" sz="half"/>
          </p:nvPr>
        </p:nvSpPr>
        <p:spPr/>
        <p:txBody>
          <a:bodyPr/>
          <a:lstStyle/>
          <a:p>
            <a:pPr lvl="0" indent="0" marL="0">
              <a:spcBef>
                <a:spcPts val="3000"/>
              </a:spcBef>
              <a:buNone/>
            </a:pPr>
            <a:r>
              <a:rPr b="1"/>
              <a:t>Post-Hoc for Violated Data</a:t>
            </a:r>
          </a:p>
          <a:p>
            <a:pPr lvl="0" indent="0">
              <a:buNone/>
            </a:pPr>
            <a:r>
              <a:rPr>
                <a:solidFill>
                  <a:srgbClr val="5E5E5E"/>
                </a:solidFill>
                <a:latin typeface="Courier"/>
              </a:rPr>
              <a:t># Post-hoc tests on violated data</a:t>
            </a:r>
            <a:b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marL="0">
              <a:buNone/>
            </a:pPr>
            <a:r>
              <a:rPr b="1"/>
              <a:t>Comparison table:</a:t>
            </a:r>
          </a:p>
          <a:p>
            <a:pPr lvl="0" indent="0">
              <a:buNone/>
            </a:pPr>
            <a:r>
              <a:rPr>
                <a:latin typeface="Courier"/>
              </a:rPr>
              <a:t>Original Data Pairwise p-values:
   Control vs Eyes:  0.024 *
   Control vs Knees: 1.000
   Eyes vs Knees:    0.078</a:t>
            </a:r>
          </a:p>
          <a:p>
            <a:pPr lvl="0" indent="0">
              <a:buNone/>
            </a:pPr>
            <a:r>
              <a:rPr>
                <a:latin typeface="Courier"/>
              </a:rPr>
              <a:t>Violated Data Pairwise p-values:
   Control vs Eyes:  0.015 *
   Control vs Knees: 1.000
   Eyes vs Knees:    0.015 *</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Alternative Post-Hoc</a:t>
            </a:r>
          </a:p>
        </p:txBody>
      </p:sp>
      <p:sp>
        <p:nvSpPr>
          <p:cNvPr id="3" name="Content Placeholder 2"/>
          <p:cNvSpPr>
            <a:spLocks noGrp="1"/>
          </p:cNvSpPr>
          <p:nvPr>
            <p:ph idx="1" sz="half"/>
          </p:nvPr>
        </p:nvSpPr>
        <p:spPr/>
        <p:txBody>
          <a:bodyPr/>
          <a:lstStyle/>
          <a:p>
            <a:pPr lvl="0" indent="0" marL="0">
              <a:spcBef>
                <a:spcPts val="3000"/>
              </a:spcBef>
              <a:buNone/>
            </a:pPr>
            <a:r>
              <a:rPr b="1"/>
              <a:t>Dunn’s Test for Multiple Comparisons</a:t>
            </a:r>
          </a:p>
          <a:p>
            <a:pPr lvl="0" indent="0" marL="0">
              <a:buNone/>
            </a:pPr>
            <a:r>
              <a:rPr b="1"/>
              <a:t>Dunn’s test is specifically designed for Kruskal-Wallis post-hoc comparisons:</a:t>
            </a:r>
          </a:p>
          <a:p>
            <a:pPr lvl="0" indent="0">
              <a:buNone/>
            </a:pPr>
            <a:r>
              <a:rPr>
                <a:solidFill>
                  <a:srgbClr val="5E5E5E"/>
                </a:solidFill>
                <a:latin typeface="Courier"/>
              </a:rPr>
              <a:t># Dunn's test on original data</a:t>
            </a:r>
            <a:b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a:r>
              <a:rPr b="1"/>
              <a:t>Advantages of Dunn’s test:</a:t>
            </a:r>
          </a:p>
          <a:p>
            <a:pPr lvl="1"/>
            <a:r>
              <a:rPr/>
              <a:t>Designed specifically for Kruskal-Wallis</a:t>
            </a:r>
          </a:p>
          <a:p>
            <a:pPr lvl="1"/>
            <a:r>
              <a:rPr/>
              <a:t>Provides Z-statistics in addition to p-values</a:t>
            </a:r>
          </a:p>
          <a:p>
            <a:pPr lvl="1"/>
            <a:r>
              <a:rPr/>
              <a:t>Multiple adjustment methods available</a:t>
            </a:r>
          </a:p>
          <a:p>
            <a:pPr lvl="1"/>
            <a:r>
              <a:rPr/>
              <a:t>More appropriate than multiple Wilcoxon tests</a:t>
            </a:r>
          </a:p>
          <a:p>
            <a:pPr lvl="0"/>
            <a:r>
              <a:rPr/>
              <a:t>Z-statistic is a standardized test statistic that tells you how many standard deviations an observation or difference is from the expected value (usually zero, meaning “no difference”).</a:t>
            </a:r>
          </a:p>
        </p:txBody>
      </p:sp>
      <p:sp>
        <p:nvSpPr>
          <p:cNvPr id="4" name="Content Placeholder 3"/>
          <p:cNvSpPr>
            <a:spLocks noGrp="1"/>
          </p:cNvSpPr>
          <p:nvPr>
            <p:ph idx="2" sz="half"/>
          </p:nvPr>
        </p:nvSpPr>
        <p:spPr/>
        <p:txBody>
          <a:bodyPr/>
          <a:lstStyle/>
          <a:p>
            <a:pPr lvl="0" indent="0" marL="0">
              <a:spcBef>
                <a:spcPts val="3000"/>
              </a:spcBef>
              <a:buNone/>
            </a:pPr>
            <a:r>
              <a:rPr b="1"/>
              <a:t>Dunn’s Test on Violated Data</a:t>
            </a:r>
          </a:p>
          <a:p>
            <a:pPr lvl="0" indent="0">
              <a:buNone/>
            </a:pPr>
            <a:r>
              <a:rPr>
                <a:solidFill>
                  <a:srgbClr val="5E5E5E"/>
                </a:solidFill>
                <a:latin typeface="Courier"/>
              </a:rPr>
              <a:t># Dunn's test on violated data</a:t>
            </a:r>
            <a:b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a:r>
              <a:rPr b="1"/>
              <a:t>Interpreting Z-statistics:</a:t>
            </a:r>
          </a:p>
          <a:p>
            <a:pPr lvl="1"/>
            <a:r>
              <a:rPr/>
              <a:t>- Large |Z| values indicate bigger differences</a:t>
            </a:r>
          </a:p>
          <a:p>
            <a:pPr lvl="1"/>
            <a:r>
              <a:rPr/>
              <a:t>- Z &gt; 1.96 approximately equivalent to p &lt; 0.05</a:t>
            </a:r>
          </a:p>
          <a:p>
            <a:pPr lvl="1"/>
            <a:r>
              <a:rPr/>
              <a:t>- Sign indicates direction of difference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Non-Parametric Results</a:t>
            </a:r>
          </a:p>
        </p:txBody>
      </p:sp>
      <p:sp>
        <p:nvSpPr>
          <p:cNvPr id="3" name="Content Placeholder 2"/>
          <p:cNvSpPr>
            <a:spLocks noGrp="1"/>
          </p:cNvSpPr>
          <p:nvPr>
            <p:ph idx="1"/>
          </p:nvPr>
        </p:nvSpPr>
        <p:spPr/>
        <p:txBody>
          <a:bodyPr/>
          <a:lstStyle/>
          <a:p>
            <a:pPr lvl="0" indent="0" marL="0">
              <a:spcBef>
                <a:spcPts val="3000"/>
              </a:spcBef>
              <a:buNone/>
            </a:pPr>
            <a:r>
              <a:rPr b="1"/>
              <a:t>How to Report Kruskal-Wallis Results</a:t>
            </a:r>
          </a:p>
          <a:p>
            <a:pPr lvl="0" indent="0" marL="0">
              <a:buNone/>
            </a:pPr>
            <a:r>
              <a:rPr b="1"/>
              <a:t>Essential elements to include:</a:t>
            </a:r>
          </a:p>
          <a:p>
            <a:pPr lvl="0" indent="-342900" marL="342900">
              <a:buAutoNum type="arabicPeriod"/>
            </a:pPr>
            <a:r>
              <a:rPr/>
              <a:t>Test name and purpose</a:t>
            </a:r>
          </a:p>
          <a:p>
            <a:pPr lvl="0" indent="-342900" marL="342900">
              <a:buAutoNum type="arabicPeriod"/>
            </a:pPr>
            <a:r>
              <a:rPr/>
              <a:t>Sample sizes per group</a:t>
            </a:r>
          </a:p>
          <a:p>
            <a:pPr lvl="0" indent="-342900" marL="342900">
              <a:buAutoNum type="arabicPeriod"/>
            </a:pPr>
            <a:r>
              <a:rPr/>
              <a:t>Medians and IQRs (not means and SDs!)</a:t>
            </a:r>
          </a:p>
          <a:p>
            <a:pPr lvl="0" indent="-342900" marL="342900">
              <a:buAutoNum type="arabicPeriod"/>
            </a:pPr>
            <a:r>
              <a:rPr/>
              <a:t>Test statistic (H) and degrees of freedom, P-value, Effect size</a:t>
            </a:r>
          </a:p>
          <a:p>
            <a:pPr lvl="0" indent="-342900" marL="342900">
              <a:buAutoNum type="arabicPeriod"/>
            </a:pPr>
            <a:r>
              <a:rPr/>
              <a:t>Post-hoc test results</a:t>
            </a:r>
          </a:p>
          <a:p>
            <a:pPr lvl="0" indent="-342900" marL="342900">
              <a:buAutoNum type="arabicPeriod"/>
            </a:pPr>
            <a:r>
              <a:rPr/>
              <a:t>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0.84) for Control, -0.29 hours (IQR = 1.04) for Knees, and -1.48 hours (IQR = 0.66) for Eyes. The test revealed a statistically significant difference in phase shift between the groups, H(2) = 8.66, p = 0.013, ε² = 0.37. Post-hoc pairwise comparisons using Dunn’s test with Bonferroni correction indicated that the Eyes treatment differed significantly from Control (p = 0.024), but no other pairwise differences were significant. These results suggest that light exposure to the eyes has a different effect on circadian rhythm than light to other body parts.”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APA Style Reporting</a:t>
            </a:r>
          </a:p>
        </p:txBody>
      </p:sp>
      <p:sp>
        <p:nvSpPr>
          <p:cNvPr id="3" name="Content Placeholder 2"/>
          <p:cNvSpPr>
            <a:spLocks noGrp="1"/>
          </p:cNvSpPr>
          <p:nvPr>
            <p:ph idx="1"/>
          </p:nvPr>
        </p:nvSpPr>
        <p:spPr/>
        <p:txBody>
          <a:bodyPr/>
          <a:lstStyle/>
          <a:p>
            <a:pPr lvl="0" indent="0" marL="0">
              <a:buNone/>
            </a:pPr>
            <a:r>
              <a:rPr b="1"/>
              <a:t>In-text citation format:</a:t>
            </a:r>
          </a:p>
          <a:p>
            <a:pPr lvl="0" indent="0" marL="1270000">
              <a:buNone/>
            </a:pPr>
            <a:r>
              <a:rPr sz="2000"/>
              <a:t>The Kruskal-Wallis test revealed significant differences between treatment groups, H(2) = 8.66, p = .013.</a:t>
            </a:r>
          </a:p>
          <a:p>
            <a:pPr lvl="0" indent="0" marL="0">
              <a:buNone/>
            </a:pPr>
            <a:r>
              <a:rPr b="1"/>
              <a:t>Table format:</a:t>
            </a:r>
          </a:p>
          <a:p>
            <a:pPr lvl="0" indent="0">
              <a:buNone/>
            </a:pPr>
            <a:r>
              <a:rPr>
                <a:latin typeface="Courier"/>
              </a:rPr>
              <a:t>Table 1. Descriptive Statistics for Phase Shift by Treatment
Note. IQR = interquartile range.
 Kruskal-Wallis H(2) = 8.66, p = .013</a:t>
            </a:r>
          </a:p>
          <a:p>
            <a:pPr lvl="0" indent="0">
              <a:buNone/>
            </a:pPr>
            <a:r>
              <a:rPr>
                <a:latin typeface="Courier"/>
              </a:rPr>
              <a:t># A tibble: 3 × 6
  treatment     n Median   IQR   Min   Max
  &lt;fct&gt;     &lt;int&gt;  &lt;dbl&gt; &lt;dbl&gt; &lt;dbl&gt; &lt;dbl&gt;
1 Control       8 -0.485 0.89  -1.27  0.53
2 Eyes          7 -1.48  0.675 -2.83 -0.78
3 Knees         7 -0.29  0.93  -1.61  0.73</a:t>
            </a:r>
          </a:p>
          <a:p>
            <a:pPr lvl="0" indent="0" marL="0">
              <a:buNone/>
            </a:pPr>
            <a:r>
              <a:rPr b="1"/>
              <a:t>Common mistakes to avoid:</a:t>
            </a:r>
          </a:p>
          <a:p>
            <a:pPr lvl="0"/>
            <a:r>
              <a:rPr/>
              <a:t>✗ Reporting means instead of medians &amp; Using SD instead of IQR</a:t>
            </a:r>
          </a:p>
          <a:p>
            <a:pPr lvl="0"/>
            <a:r>
              <a:rPr/>
              <a:t>✗ Not mentioning it’s a non-parametric test</a:t>
            </a:r>
          </a:p>
          <a:p>
            <a:pPr lvl="0"/>
            <a:r>
              <a:rPr/>
              <a:t>✗ Not justifying why non-parametric test used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Single factor analysis of variance - ANOVA</dc:title>
  <dc:creator>Bill Perry</dc:creator>
  <cp:keywords/>
  <dcterms:created xsi:type="dcterms:W3CDTF">2025-10-22T03:04:28Z</dcterms:created>
  <dcterms:modified xsi:type="dcterms:W3CDTF">2025-10-22T03:04:28Z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