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acc>
                                      <m:accPr>
                                        <m:chr m:val="‾"/>
                                      </m:accPr>
                                      <m:e>
                                        <m:r>
                                          <m:t>Y</m:t>
                                        </m:r>
                                      </m:e>
                                    </m:acc>
                                  </m:e>
                                </m:d>
                              </m:e>
                              <m:sup>
                                <m:r>
                                  <m:t>2</m:t>
                                </m:r>
                              </m:sup>
                            </m:sSup>
                          </m:e>
                        </m:nary>
                      </m:e>
                    </m:nary>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e>
                    </m:nary>
                    <m:r>
                      <m:rPr>
                        <m:sty m:val="p"/>
                      </m:rPr>
                      <m:t>=</m:t>
                    </m:r>
                    <m:r>
                      <m:t>n</m:t>
                    </m:r>
                    <m:nary>
                      <m:naryPr>
                        <m:chr m:val="∑"/>
                        <m:limLoc m:val="undOvr"/>
                        <m:subHide m:val="off"/>
                        <m:supHide m:val="off"/>
                      </m:naryPr>
                      <m:sub>
                        <m:r>
                          <m:t>i</m:t>
                        </m:r>
                        <m:r>
                          <m:rPr>
                            <m:sty m:val="p"/>
                          </m:rPr>
                          <m:t>=</m:t>
                        </m:r>
                        <m:r>
                          <m:t>1</m:t>
                        </m:r>
                      </m:sub>
                      <m:sup>
                        <m:r>
                          <m:t>a</m:t>
                        </m:r>
                      </m:sup>
                      <m:e>
                        <m:sSup>
                          <m:e>
                            <m:d>
                              <m:dPr>
                                <m:begChr m:val="("/>
                                <m:sepChr m:val=""/>
                                <m:endChr m:val=")"/>
                                <m:grow/>
                              </m:dPr>
                              <m:e>
                                <m:sSub>
                                  <m:e>
                                    <m:acc>
                                      <m:accPr>
                                        <m:chr m:val="‾"/>
                                      </m:accPr>
                                      <m:e>
                                        <m:r>
                                          <m:t>Y</m:t>
                                        </m:r>
                                      </m:e>
                                    </m:acc>
                                  </m:e>
                                  <m:sub>
                                    <m:r>
                                      <m:t>i</m:t>
                                    </m:r>
                                  </m:sub>
                                </m:sSub>
                                <m:r>
                                  <m:rPr>
                                    <m:sty m:val="p"/>
                                  </m:rPr>
                                  <m:t>−</m:t>
                                </m:r>
                                <m:acc>
                                  <m:accPr>
                                    <m:chr m:val="‾"/>
                                  </m:accPr>
                                  <m:e>
                                    <m:r>
                                      <m:t>Y</m:t>
                                    </m:r>
                                  </m:e>
                                </m:acc>
                              </m:e>
                            </m:d>
                          </m:e>
                          <m:sup>
                            <m:r>
                              <m:t>2</m:t>
                            </m:r>
                          </m:sup>
                        </m:sSup>
                      </m:e>
                    </m:nary>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sSup>
                              <m:e>
                                <m:d>
                                  <m:dPr>
                                    <m:begChr m:val="("/>
                                    <m:sepChr m:val=""/>
                                    <m:endChr m:val=")"/>
                                    <m:grow/>
                                  </m:dPr>
                                  <m:e>
                                    <m:sSub>
                                      <m:e>
                                        <m:r>
                                          <m:t>Y</m:t>
                                        </m:r>
                                      </m:e>
                                      <m:sub>
                                        <m:r>
                                          <m:t>i</m:t>
                                        </m:r>
                                        <m:r>
                                          <m:t>j</m:t>
                                        </m:r>
                                      </m:sub>
                                    </m:sSub>
                                    <m:r>
                                      <m:rPr>
                                        <m:sty m:val="p"/>
                                      </m:rPr>
                                      <m:t>−</m:t>
                                    </m:r>
                                    <m:sSub>
                                      <m:e>
                                        <m:acc>
                                          <m:accPr>
                                            <m:chr m:val="‾"/>
                                          </m:accPr>
                                          <m:e>
                                            <m:r>
                                              <m:t>Y</m:t>
                                            </m:r>
                                          </m:e>
                                        </m:acc>
                                      </m:e>
                                      <m:sub>
                                        <m:r>
                                          <m:t>i</m:t>
                                        </m:r>
                                      </m:sub>
                                    </m:sSub>
                                  </m:e>
                                </m:d>
                              </m:e>
                              <m:sup>
                                <m:r>
                                  <m:t>2</m:t>
                                </m:r>
                              </m:sup>
                            </m:sSup>
                          </m:e>
                        </m:nary>
                      </m:e>
                    </m:nary>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sSup>
                      <m:e>
                        <m:d>
                          <m:dPr>
                            <m:begChr m:val="("/>
                            <m:sepChr m:val=""/>
                            <m:endChr m:val=")"/>
                            <m:grow/>
                          </m:dPr>
                          <m:e>
                            <m:sSub>
                              <m:e>
                                <m:acc>
                                  <m:accPr>
                                    <m:chr m:val="‾"/>
                                  </m:accPr>
                                  <m:e>
                                    <m:r>
                                      <m:t>X</m:t>
                                    </m:r>
                                  </m:e>
                                </m:acc>
                              </m:e>
                              <m:sub>
                                <m:r>
                                  <m:t>1</m:t>
                                </m:r>
                              </m:sub>
                            </m:sSub>
                            <m:r>
                              <m:rPr>
                                <m:sty m:val="p"/>
                              </m:rPr>
                              <m:t>−</m:t>
                            </m:r>
                            <m:sSub>
                              <m:e>
                                <m:acc>
                                  <m:accPr>
                                    <m:chr m:val="‾"/>
                                  </m:accPr>
                                  <m:e>
                                    <m:r>
                                      <m:t>X</m:t>
                                    </m:r>
                                  </m:e>
                                </m:acc>
                              </m:e>
                              <m:sub>
                                <m:r>
                                  <m:t>2</m:t>
                                </m:r>
                              </m:sub>
                            </m:sSub>
                          </m:e>
                        </m:d>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4758AB"/>
                </a:solidFill>
                <a:latin typeface="Courier"/>
              </a:rPr>
              <a:t>print</a:t>
            </a: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 </a:t>
            </a:r>
            <a:r>
              <a:rPr>
                <a:solidFill>
                  <a:srgbClr val="5E5E5E"/>
                </a:solidFill>
                <a:latin typeface="Courier"/>
              </a:rPr>
              <a:t>|</a:t>
            </a:r>
            <a:r>
              <a:rPr>
                <a:solidFill>
                  <a:srgbClr val="003B4F"/>
                </a:solidFill>
                <a:latin typeface="Courier"/>
              </a:rPr>
              <a:t> p4))</a:t>
            </a:r>
          </a:p>
        </p:txBody>
      </p:sp>
      <p:pic>
        <p:nvPicPr>
          <p:cNvPr descr="11_01_lecture_powerpoint_files/figure-pptx/unnamed-chunk-13-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t>
            </a:r>
            <a:br/>
            <a:r>
              <a:rPr>
                <a:solidFill>
                  <a:srgbClr val="5E5E5E"/>
                </a:solidFill>
                <a:latin typeface="Courier"/>
              </a:rPr>
              <a:t># TUKEY-KRAMER (HSD)</a:t>
            </a:r>
            <a:br/>
            <a:r>
              <a:rPr>
                <a:solidFill>
                  <a:srgbClr val="5E5E5E"/>
                </a:solidFill>
                <a:latin typeface="Courier"/>
              </a:rPr>
              <a:t># ============================================</a:t>
            </a:r>
            <a:br/>
            <a:r>
              <a:rPr>
                <a:solidFill>
                  <a:srgbClr val="5E5E5E"/>
                </a:solidFill>
                <a:latin typeface="Courier"/>
              </a:rPr>
              <a:t># All pairwise comparisons</a:t>
            </a:r>
            <a:br/>
            <a:r>
              <a:rPr>
                <a:solidFill>
                  <a:srgbClr val="003B4F"/>
                </a:solidFill>
                <a:latin typeface="Courier"/>
              </a:rPr>
              <a:t>tukey_result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5E5E5E"/>
                </a:solidFill>
                <a:latin typeface="Courier"/>
              </a:rPr>
              <a:t># tukey_result</a:t>
            </a:r>
            <a:br/>
            <a:r>
              <a:rPr>
                <a:solidFill>
                  <a:srgbClr val="5E5E5E"/>
                </a:solidFill>
                <a:latin typeface="Courier"/>
              </a:rPr>
              <a:t># # With compact letter display</a:t>
            </a:r>
            <a:br/>
            <a:r>
              <a:rPr>
                <a:solidFill>
                  <a:srgbClr val="5E5E5E"/>
                </a:solidFill>
                <a:latin typeface="Courier"/>
              </a:rPr>
              <a:t># tukey_cld &lt;- emmeans(circ_model, "treatment") |&gt; </a:t>
            </a:r>
            <a:br/>
            <a:r>
              <a:rPr>
                <a:solidFill>
                  <a:srgbClr val="5E5E5E"/>
                </a:solidFill>
                <a:latin typeface="Courier"/>
              </a:rPr>
              <a:t>#   multcomp::cld(Letters = letters, adjust = "tukey")</a:t>
            </a:r>
            <a:br/>
            <a:r>
              <a:rPr>
                <a:solidFill>
                  <a:srgbClr val="5E5E5E"/>
                </a:solidFill>
                <a:latin typeface="Courier"/>
              </a:rPr>
              <a:t># # tukey_cld</a:t>
            </a:r>
            <a:br/>
            <a:r>
              <a:rPr>
                <a:solidFill>
                  <a:srgbClr val="5E5E5E"/>
                </a:solidFill>
                <a:latin typeface="Courier"/>
              </a:rPr>
              <a:t># ============================================</a:t>
            </a:r>
            <a:br/>
            <a:r>
              <a:rPr>
                <a:solidFill>
                  <a:srgbClr val="5E5E5E"/>
                </a:solidFill>
                <a:latin typeface="Courier"/>
              </a:rPr>
              <a:t># BONFERRONI</a:t>
            </a:r>
            <a:br/>
            <a:r>
              <a:rPr>
                <a:solidFill>
                  <a:srgbClr val="5E5E5E"/>
                </a:solidFill>
                <a:latin typeface="Courier"/>
              </a:rPr>
              <a:t># ============================================</a:t>
            </a:r>
            <a:br/>
            <a:r>
              <a:rPr>
                <a:solidFill>
                  <a:srgbClr val="5E5E5E"/>
                </a:solidFill>
                <a:latin typeface="Courier"/>
              </a:rPr>
              <a:t># All pairwise comparisons with Bonferroni adjustment</a:t>
            </a:r>
            <a:br/>
            <a:r>
              <a:rPr>
                <a:solidFill>
                  <a:srgbClr val="003B4F"/>
                </a:solidFill>
                <a:latin typeface="Courier"/>
              </a:rPr>
              <a:t>bonferroni_result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5E5E5E"/>
                </a:solidFill>
                <a:latin typeface="Courier"/>
              </a:rPr>
              <a:t># bonferroni_result</a:t>
            </a:r>
            <a:br/>
            <a:br/>
            <a:r>
              <a:rPr>
                <a:solidFill>
                  <a:srgbClr val="5E5E5E"/>
                </a:solidFill>
                <a:latin typeface="Courier"/>
              </a:rPr>
              <a:t># # With compact letter display</a:t>
            </a:r>
            <a:br/>
            <a:r>
              <a:rPr>
                <a:solidFill>
                  <a:srgbClr val="5E5E5E"/>
                </a:solidFill>
                <a:latin typeface="Courier"/>
              </a:rPr>
              <a:t># bonferroni_cld &lt;- emmeans(circ_model, "treatment") |&gt; </a:t>
            </a:r>
            <a:br/>
            <a:r>
              <a:rPr>
                <a:solidFill>
                  <a:srgbClr val="5E5E5E"/>
                </a:solidFill>
                <a:latin typeface="Courier"/>
              </a:rPr>
              <a:t>#   multcomp::cld(Letters = letters, adjust = "bonferroni")</a:t>
            </a:r>
            <a:br/>
            <a:r>
              <a:rPr>
                <a:solidFill>
                  <a:srgbClr val="5E5E5E"/>
                </a:solidFill>
                <a:latin typeface="Courier"/>
              </a:rPr>
              <a:t># # bonferroni_cld</a:t>
            </a:r>
            <a:br/>
            <a:r>
              <a:rPr>
                <a:solidFill>
                  <a:srgbClr val="5E5E5E"/>
                </a:solidFill>
                <a:latin typeface="Courier"/>
              </a:rPr>
              <a:t># ============================================</a:t>
            </a:r>
            <a:br/>
            <a:r>
              <a:rPr>
                <a:solidFill>
                  <a:srgbClr val="5E5E5E"/>
                </a:solidFill>
                <a:latin typeface="Courier"/>
              </a:rPr>
              <a:t># ŠIDÁK (SIDAK)</a:t>
            </a:r>
            <a:br/>
            <a:r>
              <a:rPr>
                <a:solidFill>
                  <a:srgbClr val="5E5E5E"/>
                </a:solidFill>
                <a:latin typeface="Courier"/>
              </a:rPr>
              <a:t># ============================================</a:t>
            </a:r>
            <a:br/>
            <a:r>
              <a:rPr>
                <a:solidFill>
                  <a:srgbClr val="5E5E5E"/>
                </a:solidFill>
                <a:latin typeface="Courier"/>
              </a:rPr>
              <a:t># All pairwise comparisons with Šidák adjustment</a:t>
            </a:r>
            <a:br/>
            <a:r>
              <a:rPr>
                <a:solidFill>
                  <a:srgbClr val="003B4F"/>
                </a:solidFill>
                <a:latin typeface="Courier"/>
              </a:rPr>
              <a:t>sidak_result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pairs</a:t>
            </a:r>
            <a:r>
              <a:rPr>
                <a:solidFill>
                  <a:srgbClr val="003B4F"/>
                </a:solidFill>
                <a:latin typeface="Courier"/>
              </a:rPr>
              <a:t>(</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5E5E5E"/>
                </a:solidFill>
                <a:latin typeface="Courier"/>
              </a:rPr>
              <a:t># sidak_result</a:t>
            </a:r>
            <a:br/>
            <a:r>
              <a:rPr>
                <a:solidFill>
                  <a:srgbClr val="5E5E5E"/>
                </a:solidFill>
                <a:latin typeface="Courier"/>
              </a:rPr>
              <a:t># # With compact letter display</a:t>
            </a:r>
            <a:br/>
            <a:r>
              <a:rPr>
                <a:solidFill>
                  <a:srgbClr val="5E5E5E"/>
                </a:solidFill>
                <a:latin typeface="Courier"/>
              </a:rPr>
              <a:t># sidak_cld &lt;- emmeans(circ_model, "treatment") |&gt; </a:t>
            </a:r>
            <a:br/>
            <a:r>
              <a:rPr>
                <a:solidFill>
                  <a:srgbClr val="5E5E5E"/>
                </a:solidFill>
                <a:latin typeface="Courier"/>
              </a:rPr>
              <a:t>#   multcomp::cld(Letters = letters, adjust = "sidak")</a:t>
            </a:r>
            <a:br/>
            <a:r>
              <a:rPr>
                <a:solidFill>
                  <a:srgbClr val="5E5E5E"/>
                </a:solidFill>
                <a:latin typeface="Courier"/>
              </a:rPr>
              <a:t># # sidak_cld</a:t>
            </a:r>
            <a:br/>
            <a:r>
              <a:rPr>
                <a:solidFill>
                  <a:srgbClr val="5E5E5E"/>
                </a:solidFill>
                <a:latin typeface="Courier"/>
              </a:rPr>
              <a:t># ============================================</a:t>
            </a:r>
            <a:br/>
            <a:r>
              <a:rPr>
                <a:solidFill>
                  <a:srgbClr val="5E5E5E"/>
                </a:solidFill>
                <a:latin typeface="Courier"/>
              </a:rPr>
              <a:t># DUNNETT'S </a:t>
            </a:r>
            <a:r>
              <a:rPr>
                <a:solidFill>
                  <a:srgbClr val="AD0000"/>
                </a:solidFill>
                <a:latin typeface="Courier"/>
              </a:rPr>
              <a:t>TEST</a:t>
            </a:r>
            <a:br/>
            <a:r>
              <a:rPr>
                <a:solidFill>
                  <a:srgbClr val="5E5E5E"/>
                </a:solidFill>
                <a:latin typeface="Courier"/>
              </a:rPr>
              <a:t># ============================================</a:t>
            </a:r>
            <a:br/>
            <a:r>
              <a:rPr>
                <a:solidFill>
                  <a:srgbClr val="5E5E5E"/>
                </a:solidFill>
                <a:latin typeface="Courier"/>
              </a:rPr>
              <a:t># Compare all treatments to control</a:t>
            </a:r>
            <a:br/>
            <a:r>
              <a:rPr>
                <a:solidFill>
                  <a:srgbClr val="5E5E5E"/>
                </a:solidFill>
                <a:latin typeface="Courier"/>
              </a:rPr>
              <a:t># Need to specify control group as reference</a:t>
            </a:r>
            <a:br/>
            <a:r>
              <a:rPr>
                <a:solidFill>
                  <a:srgbClr val="003B4F"/>
                </a:solidFill>
                <a:latin typeface="Courier"/>
              </a:rPr>
              <a:t>dunnett_result &lt;- </a:t>
            </a:r>
            <a:r>
              <a:rPr>
                <a:solidFill>
                  <a:srgbClr val="4758AB"/>
                </a:solidFill>
                <a:latin typeface="Courier"/>
              </a:rPr>
              <a:t>emmeans</a:t>
            </a:r>
            <a:r>
              <a:rPr>
                <a:solidFill>
                  <a:srgbClr val="003B4F"/>
                </a:solidFill>
                <a:latin typeface="Courier"/>
              </a:rPr>
              <a:t>(circ_model, </a:t>
            </a:r>
            <a:r>
              <a:rPr>
                <a:solidFill>
                  <a:srgbClr val="20794D"/>
                </a:solidFill>
                <a:latin typeface="Courier"/>
              </a:rPr>
              <a:t>"treatment"</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contrast</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"trt.vs.ctrl"</a:t>
            </a:r>
            <a:r>
              <a:rPr>
                <a:solidFill>
                  <a:srgbClr val="003B4F"/>
                </a:solidFill>
                <a:latin typeface="Courier"/>
              </a:rPr>
              <a:t>, </a:t>
            </a:r>
            <a:r>
              <a:rPr>
                <a:solidFill>
                  <a:srgbClr val="657422"/>
                </a:solidFill>
                <a:latin typeface="Courier"/>
              </a:rPr>
              <a:t>ref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adjust =</a:t>
            </a:r>
            <a:r>
              <a:rPr>
                <a:solidFill>
                  <a:srgbClr val="003B4F"/>
                </a:solidFill>
                <a:latin typeface="Courier"/>
              </a:rPr>
              <a:t> </a:t>
            </a:r>
            <a:r>
              <a:rPr>
                <a:solidFill>
                  <a:srgbClr val="20794D"/>
                </a:solidFill>
                <a:latin typeface="Courier"/>
              </a:rPr>
              <a:t>"dunnett"</a:t>
            </a:r>
            <a:r>
              <a:rPr>
                <a:solidFill>
                  <a:srgbClr val="003B4F"/>
                </a:solidFill>
                <a:latin typeface="Courier"/>
              </a:rPr>
              <a:t>)</a:t>
            </a:r>
            <a:br/>
            <a:r>
              <a:rPr>
                <a:solidFill>
                  <a:srgbClr val="5E5E5E"/>
                </a:solidFill>
                <a:latin typeface="Courier"/>
              </a:rPr>
              <a:t># dunnett_result</a:t>
            </a:r>
            <a:br/>
            <a:r>
              <a:rPr>
                <a:solidFill>
                  <a:srgbClr val="5E5E5E"/>
                </a:solidFill>
                <a:latin typeface="Courier"/>
              </a:rPr>
              <a:t># ============================================</a:t>
            </a:r>
            <a:br/>
            <a:r>
              <a:rPr>
                <a:solidFill>
                  <a:srgbClr val="5E5E5E"/>
                </a:solidFill>
                <a:latin typeface="Courier"/>
              </a:rPr>
              <a:t># COMPARISON TABLE</a:t>
            </a:r>
            <a:br/>
            <a:r>
              <a:rPr>
                <a:solidFill>
                  <a:srgbClr val="5E5E5E"/>
                </a:solidFill>
                <a:latin typeface="Courier"/>
              </a:rPr>
              <a:t># ============================================</a:t>
            </a:r>
            <a:br/>
            <a:r>
              <a:rPr>
                <a:solidFill>
                  <a:srgbClr val="5E5E5E"/>
                </a:solidFill>
                <a:latin typeface="Courier"/>
              </a:rPr>
              <a:t># Create a comparison tibble showing p-values from different methods</a:t>
            </a:r>
            <a:br/>
            <a:r>
              <a:rPr>
                <a:solidFill>
                  <a:srgbClr val="5E5E5E"/>
                </a:solidFill>
                <a:latin typeface="Courier"/>
              </a:rPr>
              <a:t># First, get the actual comparison names from your results</a:t>
            </a:r>
            <a:br/>
            <a:r>
              <a:rPr>
                <a:solidFill>
                  <a:srgbClr val="003B4F"/>
                </a:solidFill>
                <a:latin typeface="Courier"/>
              </a:rPr>
              <a:t>comparison_summary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Comparison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contrast,</a:t>
            </a:r>
            <a:br/>
            <a:r>
              <a:rPr>
                <a:solidFill>
                  <a:srgbClr val="003B4F"/>
                </a:solidFill>
                <a:latin typeface="Courier"/>
              </a:rPr>
              <a:t>  </a:t>
            </a:r>
            <a:r>
              <a:rPr>
                <a:solidFill>
                  <a:srgbClr val="657422"/>
                </a:solidFill>
                <a:latin typeface="Courier"/>
              </a:rPr>
              <a:t>Tukey =</a:t>
            </a:r>
            <a:r>
              <a:rPr>
                <a:solidFill>
                  <a:srgbClr val="003B4F"/>
                </a:solidFill>
                <a:latin typeface="Courier"/>
              </a:rPr>
              <a:t> </a:t>
            </a:r>
            <a:r>
              <a:rPr>
                <a:solidFill>
                  <a:srgbClr val="4758AB"/>
                </a:solidFill>
                <a:latin typeface="Courier"/>
              </a:rPr>
              <a:t>summary</a:t>
            </a:r>
            <a:r>
              <a:rPr>
                <a:solidFill>
                  <a:srgbClr val="003B4F"/>
                </a:solidFill>
                <a:latin typeface="Courier"/>
              </a:rPr>
              <a:t>(tukey_result)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Bonferroni =</a:t>
            </a:r>
            <a:r>
              <a:rPr>
                <a:solidFill>
                  <a:srgbClr val="003B4F"/>
                </a:solidFill>
                <a:latin typeface="Courier"/>
              </a:rPr>
              <a:t> </a:t>
            </a:r>
            <a:r>
              <a:rPr>
                <a:solidFill>
                  <a:srgbClr val="4758AB"/>
                </a:solidFill>
                <a:latin typeface="Courier"/>
              </a:rPr>
              <a:t>summary</a:t>
            </a:r>
            <a:r>
              <a:rPr>
                <a:solidFill>
                  <a:srgbClr val="003B4F"/>
                </a:solidFill>
                <a:latin typeface="Courier"/>
              </a:rPr>
              <a:t>(bonferroni_result)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Sidak =</a:t>
            </a:r>
            <a:r>
              <a:rPr>
                <a:solidFill>
                  <a:srgbClr val="003B4F"/>
                </a:solidFill>
                <a:latin typeface="Courier"/>
              </a:rPr>
              <a:t> </a:t>
            </a:r>
            <a:r>
              <a:rPr>
                <a:solidFill>
                  <a:srgbClr val="4758AB"/>
                </a:solidFill>
                <a:latin typeface="Courier"/>
              </a:rPr>
              <a:t>summary</a:t>
            </a:r>
            <a:r>
              <a:rPr>
                <a:solidFill>
                  <a:srgbClr val="003B4F"/>
                </a:solidFill>
                <a:latin typeface="Courier"/>
              </a:rPr>
              <a:t>(sidak_result)</a:t>
            </a:r>
            <a:r>
              <a:rPr>
                <a:solidFill>
                  <a:srgbClr val="5E5E5E"/>
                </a:solidFill>
                <a:latin typeface="Courier"/>
              </a:rPr>
              <a:t>$</a:t>
            </a:r>
            <a:r>
              <a:rPr>
                <a:solidFill>
                  <a:srgbClr val="003B4F"/>
                </a:solidFill>
                <a:latin typeface="Courier"/>
              </a:rPr>
              <a:t>p.value</a:t>
            </a:r>
            <a:br/>
            <a:r>
              <a:rPr>
                <a:solidFill>
                  <a:srgbClr val="003B4F"/>
                </a:solidFill>
                <a:latin typeface="Courier"/>
              </a:rPr>
              <a:t>)</a:t>
            </a:r>
            <a:br/>
            <a:r>
              <a:rPr>
                <a:solidFill>
                  <a:srgbClr val="5E5E5E"/>
                </a:solidFill>
                <a:latin typeface="Courier"/>
              </a:rPr>
              <a:t># ============================================</a:t>
            </a:r>
            <a:br/>
            <a:r>
              <a:rPr>
                <a:solidFill>
                  <a:srgbClr val="5E5E5E"/>
                </a:solidFill>
                <a:latin typeface="Courier"/>
              </a:rPr>
              <a:t># SUMMARY TABLE WITH ALL RESULTS</a:t>
            </a:r>
            <a:br/>
            <a:r>
              <a:rPr>
                <a:solidFill>
                  <a:srgbClr val="5E5E5E"/>
                </a:solidFill>
                <a:latin typeface="Courier"/>
              </a:rPr>
              <a:t># ============================================</a:t>
            </a:r>
            <a:br/>
            <a:r>
              <a:rPr>
                <a:solidFill>
                  <a:srgbClr val="5E5E5E"/>
                </a:solidFill>
                <a:latin typeface="Courier"/>
              </a:rPr>
              <a:t># Create a comprehensive comparison</a:t>
            </a:r>
            <a:br/>
            <a:r>
              <a:rPr>
                <a:solidFill>
                  <a:srgbClr val="003B4F"/>
                </a:solidFill>
                <a:latin typeface="Courier"/>
              </a:rPr>
              <a:t>all_methods &lt;- </a:t>
            </a:r>
            <a:r>
              <a:rPr>
                <a:solidFill>
                  <a:srgbClr val="4758AB"/>
                </a:solidFill>
                <a:latin typeface="Courier"/>
              </a:rPr>
              <a:t>bind_rows</a:t>
            </a:r>
            <a:r>
              <a:rPr>
                <a:solidFill>
                  <a:srgbClr val="003B4F"/>
                </a:solidFill>
                <a:latin typeface="Courier"/>
              </a:rPr>
              <a:t>(</a:t>
            </a:r>
            <a:br/>
            <a:r>
              <a:rPr>
                <a:solidFill>
                  <a:srgbClr val="003B4F"/>
                </a:solidFill>
                <a:latin typeface="Courier"/>
              </a:rPr>
              <a:t>  </a:t>
            </a:r>
            <a:r>
              <a:rPr>
                <a:solidFill>
                  <a:srgbClr val="4758AB"/>
                </a:solidFill>
                <a:latin typeface="Courier"/>
              </a:rPr>
              <a:t>summary</a:t>
            </a:r>
            <a:r>
              <a:rPr>
                <a:solidFill>
                  <a:srgbClr val="003B4F"/>
                </a:solidFill>
                <a:latin typeface="Courier"/>
              </a:rPr>
              <a:t>(tukey_result)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"Tukey"</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(bonferroni_result)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summary</a:t>
            </a:r>
            <a:r>
              <a:rPr>
                <a:solidFill>
                  <a:srgbClr val="003B4F"/>
                </a:solidFill>
                <a:latin typeface="Courier"/>
              </a:rPr>
              <a:t>(sidak_result)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as_tibble</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estimate, SE,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"Sidak"</a:t>
            </a:r>
            <a:r>
              <a:rPr>
                <a:solidFill>
                  <a:srgbClr val="003B4F"/>
                </a:solidFill>
                <a:latin typeface="Courier"/>
              </a:rPr>
              <a:t>)</a:t>
            </a:r>
            <a:br/>
            <a:r>
              <a:rPr>
                <a:solidFill>
                  <a:srgbClr val="003B4F"/>
                </a:solidFill>
                <a:latin typeface="Courier"/>
              </a:rPr>
              <a:t>)</a:t>
            </a:r>
            <a:br/>
            <a:br/>
            <a:r>
              <a:rPr>
                <a:solidFill>
                  <a:srgbClr val="5E5E5E"/>
                </a:solidFill>
                <a:latin typeface="Courier"/>
              </a:rPr>
              <a:t># Pivot wider for easy comparison</a:t>
            </a:r>
            <a:br/>
            <a:r>
              <a:rPr>
                <a:solidFill>
                  <a:srgbClr val="003B4F"/>
                </a:solidFill>
                <a:latin typeface="Courier"/>
              </a:rPr>
              <a:t>all_methods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(contrast, Method,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Method, </a:t>
            </a:r>
            <a:r>
              <a:rPr>
                <a:solidFill>
                  <a:srgbClr val="657422"/>
                </a:solidFill>
                <a:latin typeface="Courier"/>
              </a:rPr>
              <a:t>values_from =</a:t>
            </a:r>
            <a:r>
              <a:rPr>
                <a:solidFill>
                  <a:srgbClr val="003B4F"/>
                </a:solidFill>
                <a:latin typeface="Courier"/>
              </a:rPr>
              <a:t> p.value)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arrange</a:t>
            </a:r>
            <a:r>
              <a:rPr>
                <a:solidFill>
                  <a:srgbClr val="003B4F"/>
                </a:solidFill>
                <a:latin typeface="Courier"/>
              </a:rPr>
              <a:t>(Tukey)</a:t>
            </a:r>
          </a:p>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d>
                          <m:dPr>
                            <m:begChr m:val="("/>
                            <m:sepChr m:val=""/>
                            <m:endChr m:val=")"/>
                            <m:grow/>
                          </m:dPr>
                          <m:e>
                            <m:r>
                              <m:t>N</m:t>
                            </m:r>
                            <m:r>
                              <m:rPr>
                                <m:sty m:val="p"/>
                              </m:rPr>
                              <m:t>+</m:t>
                            </m:r>
                            <m:r>
                              <m:t>1</m:t>
                            </m:r>
                          </m:e>
                        </m:d>
                      </m:den>
                    </m:f>
                    <m:nary>
                      <m:naryPr>
                        <m:chr m:val="∑"/>
                        <m:limLoc m:val="undOvr"/>
                        <m:subHide m:val="off"/>
                        <m:supHide m:val="off"/>
                      </m:naryPr>
                      <m:sub>
                        <m:r>
                          <m:t>i</m:t>
                        </m:r>
                        <m:r>
                          <m:rPr>
                            <m:sty m:val="p"/>
                          </m:rPr>
                          <m:t>=</m:t>
                        </m:r>
                        <m:r>
                          <m:t>1</m:t>
                        </m:r>
                      </m:sub>
                      <m:sup>
                        <m:r>
                          <m:t>k</m:t>
                        </m:r>
                      </m:sup>
                      <m:e>
                        <m:sSub>
                          <m:e>
                            <m:r>
                              <m:t>n</m:t>
                            </m:r>
                          </m:e>
                          <m:sub>
                            <m:r>
                              <m:t>i</m:t>
                            </m:r>
                          </m:sub>
                        </m:sSub>
                      </m:e>
                    </m:nary>
                    <m:sSup>
                      <m:e>
                        <m:d>
                          <m:dPr>
                            <m:begChr m:val="("/>
                            <m:sepChr m:val=""/>
                            <m:endChr m:val=")"/>
                            <m:grow/>
                          </m:dPr>
                          <m:e>
                            <m:sSub>
                              <m:e>
                                <m:acc>
                                  <m:accPr>
                                    <m:chr m:val="‾"/>
                                  </m:accPr>
                                  <m:e>
                                    <m:r>
                                      <m:t>R</m:t>
                                    </m:r>
                                  </m:e>
                                </m:acc>
                              </m:e>
                              <m:sub>
                                <m:r>
                                  <m:t>i</m:t>
                                </m:r>
                              </m:sub>
                            </m:sSub>
                            <m:r>
                              <m:rPr>
                                <m:sty m:val="p"/>
                              </m:rPr>
                              <m:t>−</m:t>
                            </m:r>
                            <m:acc>
                              <m:accPr>
                                <m:chr m:val="‾"/>
                              </m:accPr>
                              <m:e>
                                <m:r>
                                  <m:t>R</m:t>
                                </m:r>
                              </m:e>
                            </m:acc>
                          </m:e>
                        </m:d>
                      </m:e>
                      <m:sup>
                        <m:r>
                          <m:t>2</m:t>
                        </m:r>
                      </m:sup>
                    </m:sSup>
                    <m:r>
                      <m:rPr>
                        <m:sty m:val="p"/>
                      </m:rPr>
                      <m:t>−</m:t>
                    </m:r>
                    <m:r>
                      <m:t>3</m:t>
                    </m:r>
                    <m:d>
                      <m:dPr>
                        <m:begChr m:val="("/>
                        <m:sepChr m:val=""/>
                        <m:endChr m:val=")"/>
                        <m:grow/>
                      </m:dPr>
                      <m:e>
                        <m:r>
                          <m:t>N</m:t>
                        </m:r>
                        <m:r>
                          <m:rPr>
                            <m:sty m:val="p"/>
                          </m:rPr>
                          <m:t>+</m:t>
                        </m:r>
                        <m:r>
                          <m:t>1</m:t>
                        </m:r>
                      </m:e>
                    </m:d>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1689100"/>
            <a:ext cx="4038600" cy="2489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2025-11-17T16:48:52Z</dcterms:created>
  <dcterms:modified xsi:type="dcterms:W3CDTF">2025-11-17T16:48:52Z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