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12: Overview</a:t>
            </a:r>
          </a:p>
        </p:txBody>
      </p:sp>
      <p:sp>
        <p:nvSpPr>
          <p:cNvPr id="3" name="Content Placeholder 2"/>
          <p:cNvSpPr>
            <a:spLocks noGrp="1"/>
          </p:cNvSpPr>
          <p:nvPr>
            <p:ph idx="1"/>
          </p:nvPr>
        </p:nvSpPr>
        <p:spPr/>
        <p:txBody>
          <a:bodyPr/>
          <a:lstStyle/>
          <a:p>
            <a:pPr lvl="0" indent="0" marL="0">
              <a:spcBef>
                <a:spcPts val="3000"/>
              </a:spcBef>
              <a:buNone/>
            </a:pPr>
            <a:r>
              <a:rPr b="1"/>
              <a:t>ANOVA</a:t>
            </a:r>
          </a:p>
          <a:p>
            <a:pPr lvl="0" indent="0" marL="0">
              <a:buNone/>
            </a:pPr>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12:</a:t>
            </a:r>
            <a:r>
              <a:rPr/>
              <a:t> ANOVA Introduction</a:t>
            </a:r>
          </a:p>
        </p:txBody>
      </p:sp>
      <p:sp>
        <p:nvSpPr>
          <p:cNvPr id="4" name="Text Placeholder 3"/>
          <p:cNvSpPr>
            <a:spLocks noGrp="1"/>
          </p:cNvSpPr>
          <p:nvPr>
            <p:ph idx="2" sz="half"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pPr lvl="0" indent="0" marL="0" algn="l">
                        <a:buNone/>
                      </a:pPr>
                      <a:r>
                        <a:rPr/>
                        <a:t>Tabular</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and Regression Connection</a:t>
            </a:r>
          </a:p>
        </p:txBody>
      </p:sp>
      <p:sp>
        <p:nvSpPr>
          <p:cNvPr id="3" name="Content Placeholder 2"/>
          <p:cNvSpPr>
            <a:spLocks noGrp="1"/>
          </p:cNvSpPr>
          <p:nvPr>
            <p:ph idx="1"/>
          </p:nvPr>
        </p:nvSpPr>
        <p:spPr/>
        <p:txBody>
          <a:bodyPr/>
          <a:lstStyle/>
          <a:p>
            <a:pPr lvl="0" indent="0" marL="1270000">
              <a:buNone/>
            </a:pPr>
            <a:r>
              <a:rPr sz="2000" b="1"/>
              <a:t>Remember</a:t>
            </a:r>
          </a:p>
          <a:p>
            <a:pPr lvl="0" indent="0" marL="0">
              <a:spcBef>
                <a:spcPts val="3000"/>
              </a:spcBef>
              <a:buNone/>
            </a:pPr>
            <a:r>
              <a:rPr sz="2000" b="1"/>
              <a:t>Key Insight</a:t>
            </a:r>
          </a:p>
          <a:p>
            <a:pPr lvl="0" indent="0" marL="1270000">
              <a:buNone/>
            </a:pPr>
            <a:r>
              <a:rPr sz="2000"/>
              <a:t>Both regression and ANOVA:</a:t>
            </a:r>
          </a:p>
          <a:p>
            <a:pPr lvl="0"/>
            <a:r>
              <a:rPr sz="2000"/>
              <a:t>Partition the total variation in Y</a:t>
            </a:r>
          </a:p>
          <a:p>
            <a:pPr lvl="0"/>
            <a:r>
              <a:rPr sz="2000"/>
              <a:t>Use F-tests for significance</a:t>
            </a:r>
          </a:p>
          <a:p>
            <a:pPr lvl="0"/>
            <a:r>
              <a:rPr sz="2000"/>
              <a:t>Are based on the General Linear Model</a:t>
            </a:r>
          </a:p>
          <a:p>
            <a:pPr lvl="0"/>
            <a:r>
              <a:rPr sz="2000"/>
              <a:t>Test if explanatory variables predict Y ANOVA is fundamentally connected to regression analysis - both are special cases of the General Linear Model.</a:t>
            </a:r>
          </a:p>
          <a:p>
            <a:pPr lvl="0" indent="0">
              <a:buNone/>
            </a:pPr>
            <a:r>
              <a:rPr sz="2000">
                <a:latin typeface="Courier"/>
              </a:rPr>
              <a:t># A tibble: 2 × 3
  Model      Form               Tests                 
  &lt;chr&gt;      &lt;chr&gt;              &lt;chr&gt;                 
1 Regression Y = β₀ + β₁X + ε   H₀: β₁ = 0            
2 ANOVA      Yᵢⱼ = μ + Aᵢ + εᵢⱼ H₀: μ₁ = μ₂ = ... = μₖ</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buNone/>
            </a:pPr>
            <a:r>
              <a:rPr/>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smae code as for regression! See explanation on oher web page - Will link here</a:t>
            </a:r>
          </a:p>
          <a:p>
            <a:pPr lvl="0" indent="0" marL="127000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Goals</a:t>
            </a:r>
          </a:p>
        </p:txBody>
      </p:sp>
      <p:sp>
        <p:nvSpPr>
          <p:cNvPr id="3" name="Content Placeholder 2"/>
          <p:cNvSpPr>
            <a:spLocks noGrp="1"/>
          </p:cNvSpPr>
          <p:nvPr>
            <p:ph idx="1"/>
          </p:nvPr>
        </p:nvSpPr>
        <p:spPr/>
        <p:txBody>
          <a:bodyPr/>
          <a:lstStyle/>
          <a:p>
            <a:pPr lvl="0" indent="0" marL="0">
              <a:buNone/>
            </a:pPr>
            <a:r>
              <a:rPr/>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more than two levels.</a:t>
            </a:r>
          </a:p>
          <a:p>
            <a:pPr lvl="0"/>
            <a:r>
              <a:rPr/>
              <a:t>Multifactor:</a:t>
            </a:r>
          </a:p>
          <a:p>
            <a:pPr lvl="1"/>
            <a:r>
              <a:rPr/>
              <a:t>two or three factors, two or more levels.</a:t>
            </a:r>
          </a:p>
          <a:p>
            <a:pPr lvl="1"/>
            <a:r>
              <a:rPr/>
              <a:t>Examines variation due to factors </a:t>
            </a:r>
            <a:r>
              <a:rPr b="1"/>
              <a:t>AND</a:t>
            </a:r>
            <a:r>
              <a:rPr/>
              <a:t> their interaction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Analysis of Variance</a:t>
            </a:r>
          </a:p>
        </p:txBody>
      </p:sp>
      <p:sp>
        <p:nvSpPr>
          <p:cNvPr id="3" name="Content Placeholder 2"/>
          <p:cNvSpPr>
            <a:spLocks noGrp="1"/>
          </p:cNvSpPr>
          <p:nvPr>
            <p:ph idx="1" sz="half"/>
          </p:nvPr>
        </p:nvSpPr>
        <p:spPr/>
        <p:txBody>
          <a:bodyPr/>
          <a:lstStyle/>
          <a:p>
            <a:pPr lvl="0" indent="0" marL="0">
              <a:buNone/>
            </a:pPr>
            <a:r>
              <a:rPr/>
              <a:t>Analysis of variance is the most powerful approach known for simultaneously testing whether the means of k groups are equal. It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indent="0" marL="0">
              <a:buNone/>
            </a:pPr>
            <a:r>
              <a:rPr b="1"/>
              <a:t>H₀</a:t>
            </a:r>
            <a:r>
              <a:rPr/>
              <a:t>: μ₁ = μ₂ = … = μₖ</a:t>
            </a:r>
          </a:p>
          <a:p>
            <a:pPr lvl="0" indent="0" marL="0">
              <a:buNone/>
            </a:pPr>
            <a:r>
              <a:rPr b="1"/>
              <a:t>H₁</a:t>
            </a:r>
            <a:r>
              <a:rPr/>
              <a:t>: At least one μᵢ is different from the others.</a:t>
            </a:r>
          </a:p>
          <a:p>
            <a:pPr lvl="0" indent="0" marL="1270000">
              <a:buNone/>
            </a:pPr>
            <a:r>
              <a:rPr sz="2000" b="1"/>
              <a:t>Note</a:t>
            </a:r>
          </a:p>
          <a:p>
            <a:pPr lvl="0" indent="0" marL="1270000">
              <a:buNone/>
            </a:pPr>
            <a:r>
              <a:rPr sz="2000"/>
              <a:t>Rejecting H₀ in ANOVA is evidence that the mean of at least one group is different from the others. It does not indicate </a:t>
            </a:r>
            <a:r>
              <a:rPr sz="2000" i="1"/>
              <a:t>which</a:t>
            </a:r>
            <a:r>
              <a:rPr sz="2000"/>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acc>
                                      <m:accPr>
                                        <m:chr m:val="‾"/>
                                      </m:accPr>
                                      <m:e>
                                        <m:r>
                                          <m:t>Y</m:t>
                                        </m:r>
                                      </m:e>
                                    </m:acc>
                                  </m:e>
                                </m:d>
                              </m:e>
                              <m:sup>
                                <m:r>
                                  <m:t>2</m:t>
                                </m:r>
                              </m:sup>
                            </m:sSup>
                          </m:e>
                        </m:nary>
                      </m:e>
                    </m:nary>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e>
                    </m:nary>
                    <m:r>
                      <m:rPr>
                        <m:sty m:val="p"/>
                      </m:rPr>
                      <m:t>=</m:t>
                    </m:r>
                    <m:r>
                      <m:t>n</m:t>
                    </m:r>
                    <m:nary>
                      <m:naryPr>
                        <m:chr m:val="∑"/>
                        <m:limLoc m:val="undOvr"/>
                        <m:subHide m:val="off"/>
                        <m:supHide m:val="off"/>
                      </m:naryPr>
                      <m:sub>
                        <m:r>
                          <m:t>i</m:t>
                        </m:r>
                        <m:r>
                          <m:rPr>
                            <m:sty m:val="p"/>
                          </m:rPr>
                          <m:t>=</m:t>
                        </m:r>
                        <m:r>
                          <m:t>1</m:t>
                        </m:r>
                      </m:sub>
                      <m:sup>
                        <m:r>
                          <m:t>a</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sSub>
                                      <m:e>
                                        <m:acc>
                                          <m:accPr>
                                            <m:chr m:val="‾"/>
                                          </m:accPr>
                                          <m:e>
                                            <m:r>
                                              <m:t>Y</m:t>
                                            </m:r>
                                          </m:e>
                                        </m:acc>
                                      </m:e>
                                      <m:sub>
                                        <m:r>
                                          <m:t>i</m:t>
                                        </m:r>
                                      </m:sub>
                                    </m:sSub>
                                  </m:e>
                                </m:d>
                              </m:e>
                              <m:sup>
                                <m:r>
                                  <m:t>2</m:t>
                                </m:r>
                              </m:sup>
                            </m:sSup>
                          </m:e>
                        </m:nary>
                      </m:e>
                    </m:nary>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Sum of Squares Example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a:buNone/>
                </a:pPr>
                <a:r>
                  <a:rPr>
                    <a:latin typeface="Courier"/>
                  </a:rPr>
                  <a:t>Analysis of Variance Table
Response: phase_shift
          Df  Sum Sq Mean Sq F value   Pr(&gt;F)   
treatment  2 2.23686 1.11843   16.05 0.001076 **
Residuals  9 0.62714 0.06968                    
---
Signif. codes:  0 '***' 0.001 '**' 0.01 '*' 0.05 '.' 0.1 ' ' 1</a:t>
                </a:r>
              </a:p>
              <a:p>
                <a:pPr lvl="0" indent="0">
                  <a:buNone/>
                </a:pPr>
                <a:r>
                  <a:rPr>
                    <a:latin typeface="Courier"/>
                  </a:rPr>
                  <a:t># A tibble: 3 × 4
  Component     `Sum of Squares` `Degrees of Freedom` `Mean Square`
  &lt;chr&gt;                    &lt;dbl&gt;                &lt;dbl&gt;         &lt;dbl&gt;
1 Total                    2.86                    11       NA     
2 Among Groups             2.24                     2        1.12  
3 Within Groups            0.627                    9        0.0697</a:t>
                </a:r>
              </a:p>
              <a:p>
                <a:pPr lvl="0" indent="0" marL="1270000">
                  <a:buNone/>
                </a:pPr>
                <a:r>
                  <a:rPr sz="2000" b="1"/>
                  <a:t>Key Connection to Regression</a:t>
                </a:r>
              </a:p>
              <a:p>
                <a:pPr lvl="0" indent="0" marL="1270000">
                  <a:buNone/>
                </a:pPr>
                <a:r>
                  <a:rPr sz="2000"/>
                  <a:t>This is the same partitioning we saw in regression analysis: </a:t>
                </a:r>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indent="0" marL="1270000">
                  <a:buNone/>
                </a:pPr>
                <a:r>
                  <a:rPr sz="2000"/>
                  <a:t>Where:</a:t>
                </a:r>
              </a:p>
              <a:p>
                <a:pPr lvl="0"/>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0"/>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indent="0" marL="1270000">
                  <a:buNone/>
                </a:pPr>
                <a:r>
                  <a:rPr sz="2000"/>
                  <a:t>Both measure how much variation is explained by our model vs. unexplained (error).</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Tables</a:t>
            </a:r>
          </a:p>
        </p:txBody>
      </p:sp>
      <p:sp>
        <p:nvSpPr>
          <p:cNvPr id="3" name="Content Placeholder 2"/>
          <p:cNvSpPr>
            <a:spLocks noGrp="1"/>
          </p:cNvSpPr>
          <p:nvPr>
            <p:ph idx="1"/>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Circadian Rhythm Data Example</a:t>
            </a:r>
          </a:p>
        </p:txBody>
      </p:sp>
      <p:sp>
        <p:nvSpPr>
          <p:cNvPr id="3" name="Content Placeholder 2"/>
          <p:cNvSpPr>
            <a:spLocks noGrp="1"/>
          </p:cNvSpPr>
          <p:nvPr>
            <p:ph idx="1"/>
          </p:nvPr>
        </p:nvSpPr>
        <p:spPr/>
        <p:txBody>
          <a:bodyPr/>
          <a:lstStyle/>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from an ANOVA model:</a:t>
            </a:r>
          </a:p>
          <a:p>
            <a:pPr lvl="0" indent="0" marL="1270000">
              <a:buNone/>
            </a:pPr>
            <a:r>
              <a:rPr sz="2000"/>
              <a:t>Is equivalent to an ANOVA table from a regression model:</a:t>
            </a:r>
          </a:p>
          <a:p>
            <a:pPr lvl="0" indent="0" marL="1270000">
              <a:buNone/>
            </a:pPr>
            <a:r>
              <a:rPr sz="2000"/>
              <a:t>where k = number of dummy variables = a-1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indent="0" marL="0">
                  <a:buNone/>
                </a:pPr>
                <a:r>
                  <a:rPr/>
                  <a:t>Under the null hypothesis (all means equal): - The F-ratio should be approximately 1 - Larger F-ratios suggest the among-group variance exceeds what would be expected by chance</a:t>
                </a:r>
              </a:p>
              <a:p>
                <a:pPr lvl="0" indent="0" marL="0">
                  <a:buNone/>
                </a:pPr>
                <a:r>
                  <a:rPr/>
                  <a:t>With the circadian rhythm data: - F = 7.29 - p = 0.004 - We reject the null hypothesis</a:t>
                </a:r>
              </a:p>
              <a:p>
                <a:pPr lvl="0" indent="0" marL="0">
                  <a:buNone/>
                </a:pPr>
                <a:r>
                  <a:rPr/>
                  <a:t>The F-ratio follows an F-distribution with (a - 1) and (a(n - 1)) degrees of freedom.</a:t>
                </a:r>
              </a:p>
              <a:p>
                <a:pPr lvl="0" indent="0">
                  <a:buNone/>
                </a:pPr>
                <a:r>
                  <a:rPr>
                    <a:latin typeface="Courier"/>
                  </a:rPr>
                  <a:t># A tibble: 2 × 2
  Metric                Value
  &lt;chr&gt;                 &lt;dbl&gt;
1 F-observed             7.29
2 F-critical (α = 0.05)  3.52</a:t>
                </a:r>
              </a:p>
            </p:txBody>
          </p:sp>
        </mc:Choice>
      </mc:AlternateContent>
      <p:pic>
        <p:nvPicPr>
          <p:cNvPr descr="11_01_lecture_powerpoint_files/figure-pptx/unnamed-chunk-8-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Connection to t-test</a:t>
                </a:r>
              </a:p>
              <a:p>
                <a:pPr lvl="0" indent="0" marL="1270000">
                  <a:buNone/>
                </a:pPr>
                <a:r>
                  <a:rPr sz="2000"/>
                  <a:t>An ANOVA with two groups (a = 2) is equivalent to a t-test:</a:t>
                </a:r>
              </a:p>
              <a:p>
                <a:pPr lvl="0" indent="0" marL="1270000">
                  <a:buNone/>
                </a:pPr>
                <a14:m>
                  <m:oMathPara xmlns:m="http://schemas.openxmlformats.org/officeDocument/2006/math">
                    <m:oMathParaPr>
                      <m:jc m:val="center"/>
                    </m:oMathParaPr>
                    <m:oMath>
                      <m:r>
                        <m:t>F</m:t>
                      </m:r>
                      <m:r>
                        <m:rPr>
                          <m:sty m:val="p"/>
                        </m:rPr>
                        <m:t>=</m:t>
                      </m:r>
                      <m:sSup>
                        <m:e>
                          <m:r>
                            <m:t>t</m:t>
                          </m:r>
                        </m:e>
                        <m:sup>
                          <m:r>
                            <m:t>2</m:t>
                          </m:r>
                        </m:sup>
                      </m:sSup>
                    </m:oMath>
                  </m:oMathPara>
                </a14:m>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m:oMathPara>
                </a14:m>
              </a:p>
              <a:p>
                <a:pPr lvl="0" indent="0" marL="0">
                  <a:buNone/>
                </a:pPr>
                <a:r>
                  <a:rPr/>
                  <a:t>Under the null hypothesis (all means equal): - The F-ratio should be approximately 1 - Larger F-ratios suggest the among-group variance exceeds what would be expected by chance</a:t>
                </a:r>
              </a:p>
              <a:p>
                <a:pPr lvl="0" indent="0" marL="0">
                  <a:buNone/>
                </a:pPr>
                <a:r>
                  <a:rPr/>
                  <a:t>With the circadian rhythm data: - F = 7.29 - p = 0.004 - We reject the null hypothesis</a:t>
                </a:r>
              </a:p>
              <a:p>
                <a:pPr lvl="0" indent="0" marL="0">
                  <a:buNone/>
                </a:pPr>
                <a:r>
                  <a:rPr/>
                  <a:t>The F-ratio follows an F-distribution with (a - 1) and (a(n - 1)) degrees of freedom.</a:t>
                </a:r>
              </a:p>
              <a:p>
                <a:pPr lvl="0" indent="0">
                  <a:buNone/>
                </a:pPr>
                <a:r>
                  <a:rPr>
                    <a:latin typeface="Courier"/>
                  </a:rPr>
                  <a:t># A tibble: 2 × 2
  Metric                Value
  &lt;chr&gt;                 &lt;dbl&gt;
1 F-observed             7.29
2 F-critical (α = 0.05)  3.52</a:t>
                </a:r>
              </a:p>
            </p:txBody>
          </p:sp>
        </mc:Choice>
      </mc:AlternateContent>
      <p:pic>
        <p:nvPicPr>
          <p:cNvPr descr="11_01_lecture_powerpoint_files/figure-pptx/unnamed-chunk-1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indent="0" marL="0">
              <a:buNone/>
            </a:pPr>
            <a:r>
              <a:rPr/>
              <a:t>ANOVA has the same assumptions as the two-sample t-test, but applied to all k groups:</a:t>
            </a:r>
          </a:p>
          <a:p>
            <a:pPr lvl="0" indent="-342900" marL="342900">
              <a:buAutoNum type="arabicPeriod"/>
            </a:pPr>
            <a:r>
              <a:rPr b="1"/>
              <a:t>Random samples</a:t>
            </a:r>
            <a:r>
              <a:rPr/>
              <a:t> from corresponding populations</a:t>
            </a:r>
          </a:p>
          <a:p>
            <a:pPr lvl="0" indent="-342900" marL="342900">
              <a:buAutoNum type="arabicPeriod"/>
            </a:pPr>
            <a:r>
              <a:rPr b="1"/>
              <a:t>Normality</a:t>
            </a:r>
            <a:r>
              <a:rPr/>
              <a:t>: Y values are normally distributed in each population</a:t>
            </a:r>
          </a:p>
          <a:p>
            <a:pPr lvl="0" indent="-342900" marL="342900">
              <a:buAutoNum type="arabicPeriod"/>
            </a:pPr>
            <a:r>
              <a:rPr b="1"/>
              <a:t>Homogeneity of variance</a:t>
            </a:r>
            <a:r>
              <a:rPr/>
              <a:t>: variance is the same in all populations</a:t>
            </a:r>
          </a:p>
          <a:p>
            <a:pPr lvl="0" indent="-342900" marL="342900">
              <a:buAutoNum type="arabicPeriod"/>
            </a:pPr>
            <a:r>
              <a:rPr b="1"/>
              <a:t>Independence</a:t>
            </a:r>
            <a:r>
              <a:rPr/>
              <a:t>: observations are independent</a:t>
            </a:r>
          </a:p>
          <a:p>
            <a:pPr lvl="0" indent="0" marL="0">
              <a:buNone/>
            </a:pPr>
            <a:r>
              <a:rPr b="1"/>
              <a:t>Checking assumptions</a:t>
            </a:r>
            <a:r>
              <a:rPr/>
              <a:t>:</a:t>
            </a:r>
          </a:p>
          <a:p>
            <a:pPr lvl="0"/>
            <a:r>
              <a:rPr/>
              <a:t>Normality: Q-Q plots, histogram of residuals, Shapiro-Wilk test</a:t>
            </a:r>
          </a:p>
          <a:p>
            <a:pPr lvl="0"/>
            <a:r>
              <a:rPr/>
              <a:t>Homogeneity: plot residuals vs. predicted values or x-values</a:t>
            </a:r>
          </a:p>
          <a:p>
            <a:pPr lvl="0"/>
            <a:r>
              <a:rPr/>
              <a:t>Independence: examine experimental design</a:t>
            </a:r>
          </a:p>
          <a:p>
            <a:pPr lvl="0" indent="0" marL="0">
              <a:buNone/>
            </a:pPr>
            <a:r>
              <a:rPr b="1"/>
              <a:t>If assumptions are violated</a:t>
            </a:r>
            <a:r>
              <a:rPr/>
              <a:t>:</a:t>
            </a:r>
          </a:p>
          <a:p>
            <a:pPr lvl="0"/>
            <a:r>
              <a:rPr/>
              <a:t>Transform Y (e.g., log, square root)</a:t>
            </a:r>
          </a:p>
          <a:p>
            <a:pPr lvl="0"/>
            <a:r>
              <a:rPr/>
              <a:t>Use robust or non-parametric alternatives</a:t>
            </a:r>
          </a:p>
          <a:p>
            <a:pPr lvl="0"/>
            <a:r>
              <a:rPr/>
              <a:t>Use generalized linear models (GLMs)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12:</a:t>
            </a:r>
            <a:r>
              <a:rPr/>
              <a:t> ANOVA diagnostics</a:t>
            </a:r>
          </a:p>
        </p:txBody>
      </p:sp>
      <p:sp>
        <p:nvSpPr>
          <p:cNvPr id="4" name="Text Placeholder 3"/>
          <p:cNvSpPr>
            <a:spLocks noGrp="1"/>
          </p:cNvSpPr>
          <p:nvPr>
            <p:ph idx="2" sz="half" type="body"/>
          </p:nvPr>
        </p:nvSpPr>
        <p:spPr/>
        <p:txBody>
          <a:bodyPr/>
          <a:lstStyle/>
          <a:p>
            <a:pPr lvl="0" indent="0" marL="0">
              <a:buNone/>
            </a:pPr>
            <a:r>
              <a:rPr/>
              <a:t>This is the default output of base R</a:t>
            </a:r>
          </a:p>
          <a:p>
            <a:pPr lvl="0" indent="0">
              <a:buNone/>
            </a:pPr>
            <a:r>
              <a:rPr>
                <a:solidFill>
                  <a:srgbClr val="5E5E5E"/>
                </a:solidFill>
                <a:latin typeface="Courier"/>
              </a:rPr>
              <a:t># Model diagnostics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(circ_model)</a:t>
            </a:r>
            <a:br/>
            <a:r>
              <a:rPr>
                <a:solidFill>
                  <a:srgbClr val="4758AB"/>
                </a:solidFill>
                <a:latin typeface="Courier"/>
              </a:rPr>
              <a:t>dev.off</a:t>
            </a:r>
            <a:r>
              <a:rPr>
                <a:solidFill>
                  <a:srgbClr val="003B4F"/>
                </a:solidFill>
                <a:latin typeface="Courier"/>
              </a:rPr>
              <a:t>() </a:t>
            </a:r>
            <a:r>
              <a:rPr>
                <a:solidFill>
                  <a:srgbClr val="5E5E5E"/>
                </a:solidFill>
                <a:latin typeface="Courier"/>
              </a:rPr>
              <a:t># This forces the plot to be written</a:t>
            </a:r>
          </a:p>
          <a:p>
            <a:pPr lvl="0" indent="0">
              <a:buNone/>
            </a:pPr>
            <a:r>
              <a:rPr>
                <a:latin typeface="Courier"/>
              </a:rPr>
              <a:t>null device 
          1 </a:t>
            </a:r>
          </a:p>
        </p:txBody>
      </p:sp>
      <p:pic>
        <p:nvPicPr>
          <p:cNvPr descr="11_01_lecture_powerpoint_files/figure-pptx/unnamed-chunk-12-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 newer way to check with the performance library</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install.packages("performance")</a:t>
            </a:r>
            <a:br/>
            <a:r>
              <a:rPr>
                <a:solidFill>
                  <a:srgbClr val="4758AB"/>
                </a:solidFill>
                <a:latin typeface="Courier"/>
              </a:rPr>
              <a:t>library</a:t>
            </a:r>
            <a:r>
              <a:rPr>
                <a:solidFill>
                  <a:srgbClr val="003B4F"/>
                </a:solidFill>
                <a:latin typeface="Courier"/>
              </a:rPr>
              <a:t>(performance)</a:t>
            </a:r>
            <a:br/>
            <a:r>
              <a:rPr>
                <a:solidFill>
                  <a:srgbClr val="4758AB"/>
                </a:solidFill>
                <a:latin typeface="Courier"/>
              </a:rPr>
              <a:t>check_model</a:t>
            </a:r>
            <a:r>
              <a:rPr>
                <a:solidFill>
                  <a:srgbClr val="003B4F"/>
                </a:solidFill>
                <a:latin typeface="Courier"/>
              </a:rPr>
              <a:t>(circ_model)</a:t>
            </a:r>
          </a:p>
        </p:txBody>
      </p:sp>
      <p:pic>
        <p:nvPicPr>
          <p:cNvPr descr="11_01_lecture_powerpoint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 Null Hypothesis is that they are homogeneous 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treatment emmean    SE df lower.CL upper.CL .group
 Eyes      -1.551 0.266 19   -2.108   -0.995  a    
 Knees     -0.336 0.266 19   -0.893    0.221   b   
 Control   -0.309 0.249 19   -0.830    0.212   b   
Confidence level used: 0.95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pic>
        <p:nvPicPr>
          <p:cNvPr descr="11_01_lecture_powerpoint_files/figure-pptx/unnamed-chunk-18-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indent="0" marL="0">
              <a:buNone/>
            </a:pPr>
            <a:r>
              <a:rPr b="1"/>
              <a:t>Planned comparisons</a:t>
            </a:r>
            <a:r>
              <a:rPr/>
              <a:t>: - Identified during study design - Have strong prior justification - Use pooled variance from all groups - Have higher precision than separate t-tests</a:t>
            </a:r>
          </a:p>
          <a:p>
            <a:pPr lvl="0" indent="0" marL="0">
              <a:buNone/>
            </a:pPr>
            <a:r>
              <a:rPr b="1"/>
              <a:t>Unplanned (post hoc) comparisons</a:t>
            </a:r>
            <a:r>
              <a:rPr/>
              <a:t>: - Used when no specific comparisons were planned - Must adjust for multiple testing - Common methods: Tukey-Kramer, Bonferroni, Scheffé</a:t>
            </a:r>
          </a:p>
          <a:p>
            <a:pPr lvl="0" indent="0" marL="0">
              <a:buNone/>
            </a:pPr>
            <a:r>
              <a:rPr b="1"/>
              <a:t>Example</a:t>
            </a:r>
            <a:r>
              <a:rPr/>
              <a:t>: Using Tukey’s HSD to compare all pairs of treatments in the circadian rhythm data.</a:t>
            </a:r>
          </a:p>
        </p:txBody>
      </p:sp>
      <p:pic>
        <p:nvPicPr>
          <p:cNvPr descr="11_01_lecture_powerpoint_files/figure-pptx/unnamed-chunk-19-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Assumptions</a:t>
            </a:r>
          </a:p>
        </p:txBody>
      </p:sp>
      <p:sp>
        <p:nvSpPr>
          <p:cNvPr id="3" name="Content Placeholder 2"/>
          <p:cNvSpPr>
            <a:spLocks noGrp="1"/>
          </p:cNvSpPr>
          <p:nvPr>
            <p:ph idx="1"/>
          </p:nvPr>
        </p:nvSpPr>
        <p:spPr/>
        <p:txBody>
          <a:bodyPr/>
          <a:lstStyle/>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2025-09-29T16:03:33Z</dcterms:created>
  <dcterms:modified xsi:type="dcterms:W3CDTF">2025-09-29T16:03:33Z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