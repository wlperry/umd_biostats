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indent="0" marL="0">
                  <a:buNone/>
                </a:pPr>
                <a:r>
                  <a:rPr b="1"/>
                  <a:t>Most common non-parametric alternative to one-way ANOVA</a:t>
                </a:r>
              </a:p>
              <a:p>
                <a:pPr lvl="0"/>
                <a:r>
                  <a:rPr b="1"/>
                  <a:t>What it does:</a:t>
                </a:r>
              </a:p>
              <a:p>
                <a:pPr lvl="1"/>
                <a:r>
                  <a:rPr/>
                  <a:t>Ranks all observations from smallest to largest</a:t>
                </a:r>
              </a:p>
              <a:p>
                <a:pPr lvl="1"/>
                <a:r>
                  <a:rPr/>
                  <a:t>Compares the sum of ranks between groups</a:t>
                </a:r>
              </a:p>
              <a:p>
                <a:pPr lvl="1"/>
                <a:r>
                  <a:rPr/>
                  <a:t>Tests if groups come from the same distribution</a:t>
                </a:r>
              </a:p>
              <a:p>
                <a:pPr lvl="0"/>
                <a:r>
                  <a:rPr b="1"/>
                  <a:t>Hypotheses:</a:t>
                </a:r>
              </a:p>
              <a:p>
                <a:pPr lvl="1"/>
                <a:r>
                  <a:rPr b="1"/>
                  <a:t>H₀</a:t>
                </a:r>
                <a:r>
                  <a:rPr/>
                  <a:t>: All groups have the same distribution (same median)</a:t>
                </a:r>
              </a:p>
              <a:p>
                <a:pPr lvl="1"/>
                <a:r>
                  <a:rPr b="1"/>
                  <a:t>H₁</a:t>
                </a:r>
                <a:r>
                  <a:rPr/>
                  <a:t>: At least one group has a different distribution</a:t>
                </a:r>
              </a:p>
              <a:p>
                <a:pPr lvl="0"/>
                <a:r>
                  <a:rPr b="1"/>
                  <a:t>Test statistic (H):</a:t>
                </a:r>
              </a:p>
              <a:p>
                <a:pPr lvl="0"/>
                <a14:m>
                  <m:oMathPara xmlns:m="http://schemas.openxmlformats.org/officeDocument/2006/math">
                    <m:oMathParaPr>
                      <m:jc m:val="center"/>
                    </m:oMathParaPr>
                    <m:o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m:oMathPara>
                </a14:m>
              </a:p>
              <a:p>
                <a:pPr lvl="0"/>
                <a:r>
                  <a:rPr/>
                  <a:t>Where:</a:t>
                </a:r>
              </a:p>
              <a:p>
                <a:pPr lvl="1"/>
                <a:r>
                  <a:rPr/>
                  <a:t>N = total sample size</a:t>
                </a:r>
              </a:p>
              <a:p>
                <a:pPr lvl="1"/>
                <a:r>
                  <a:rPr/>
                  <a:t>k = number of groups</a:t>
                </a:r>
              </a:p>
              <a:p>
                <a:pPr lvl="1"/>
                <a14:m>
                  <m:oMath xmlns:m="http://schemas.openxmlformats.org/officeDocument/2006/math">
                    <m:sSub>
                      <m:e>
                        <m:acc>
                          <m:accPr>
                            <m:chr m:val="‾"/>
                          </m:accPr>
                          <m:e>
                            <m:r>
                              <m:t>R</m:t>
                            </m:r>
                          </m:e>
                        </m:acc>
                      </m:e>
                      <m:sub>
                        <m:r>
                          <m:t>i</m:t>
                        </m:r>
                      </m:sub>
                    </m:sSub>
                  </m:oMath>
                </a14:m>
                <a:r>
                  <a:rPr/>
                  <a:t> = mean rank for group i</a:t>
                </a:r>
              </a:p>
              <a:p>
                <a:pPr lvl="1"/>
                <a14:m>
                  <m:oMath xmlns:m="http://schemas.openxmlformats.org/officeDocument/2006/math">
                    <m:acc>
                      <m:accPr>
                        <m:chr m:val="‾"/>
                      </m:accPr>
                      <m:e>
                        <m:r>
                          <m:t>R</m:t>
                        </m:r>
                      </m:e>
                    </m:acc>
                  </m:oMath>
                </a14:m>
                <a:r>
                  <a:rPr/>
                  <a:t>= overall mean rank = (N+1)/2</a:t>
                </a:r>
              </a:p>
              <a:p>
                <a:pPr lvl="1"/>
                <a:r>
                  <a:rPr/>
                  <a:t>nᵢ = sample size for group i</a:t>
                </a:r>
              </a:p>
              <a:p>
                <a:pPr lvl="1"/>
                <a:r>
                  <a:rPr/>
                  <a:t>constant 12 comes from the variance of ranks in a uniform distribution</a:t>
                </a:r>
              </a:p>
              <a:p>
                <a:pPr lvl="0"/>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Demonstrating Assumption Violations</a:t>
            </a:r>
          </a:p>
        </p:txBody>
      </p:sp>
      <p:sp>
        <p:nvSpPr>
          <p:cNvPr id="3" name="Text Placeholder 2"/>
          <p:cNvSpPr>
            <a:spLocks noGrp="1"/>
          </p:cNvSpPr>
          <p:nvPr>
            <p:ph idx="1" type="body"/>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ggplot</a:t>
            </a:r>
            <a:r>
              <a:rPr>
                <a:solidFill>
                  <a:srgbClr val="003B4F"/>
                </a:solidFill>
                <a:latin typeface="Courier"/>
              </a:rPr>
              <a:t>(violated_circ_df,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treatment, </a:t>
            </a:r>
            <a:r>
              <a:rPr>
                <a:solidFill>
                  <a:srgbClr val="657422"/>
                </a:solidFill>
                <a:latin typeface="Courier"/>
              </a:rPr>
              <a:t>y =</a:t>
            </a:r>
            <a:r>
              <a:rPr>
                <a:solidFill>
                  <a:srgbClr val="003B4F"/>
                </a:solidFill>
                <a:latin typeface="Courier"/>
              </a:rPr>
              <a:t> phase_shift_violated, </a:t>
            </a:r>
            <a:br/>
            <a:r>
              <a:rPr>
                <a:solidFill>
                  <a:srgbClr val="003B4F"/>
                </a:solidFill>
                <a:latin typeface="Courier"/>
              </a:rPr>
              <a:t>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"Modified Data with Violations"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"Median with IQR"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"Light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"Phase Shift (hours)"</a:t>
            </a:r>
            <a:r>
              <a:rPr>
                <a:solidFill>
                  <a:srgbClr val="003B4F"/>
                </a:solidFill>
                <a:latin typeface="Courier"/>
              </a:rPr>
              <a:t>) </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solidFill>
                  <a:srgbClr val="5E5E5E"/>
                </a:solidFill>
                <a:latin typeface="Courier"/>
              </a:rPr>
              <a:t># Shapiro-Wilk test on residuals</a:t>
            </a:r>
            <a:br/>
            <a:r>
              <a:rPr>
                <a:solidFill>
                  <a:srgbClr val="4758AB"/>
                </a:solidFill>
                <a:latin typeface="Courier"/>
              </a:rPr>
              <a:t>shapiro.test</a:t>
            </a:r>
            <a:r>
              <a:rPr>
                <a:solidFill>
                  <a:srgbClr val="003B4F"/>
                </a:solidFill>
                <a:latin typeface="Courier"/>
              </a:rPr>
              <a:t>(</a:t>
            </a:r>
            <a:r>
              <a:rPr>
                <a:solidFill>
                  <a:srgbClr val="4758AB"/>
                </a:solidFill>
                <a:latin typeface="Courier"/>
              </a:rPr>
              <a:t>resid</a:t>
            </a:r>
            <a:r>
              <a:rPr>
                <a:solidFill>
                  <a:srgbClr val="003B4F"/>
                </a:solidFill>
                <a:latin typeface="Courier"/>
              </a:rPr>
              <a:t>(violated_model))</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indent="0" marL="0">
              <a:buNone/>
            </a:pPr>
            <a:r>
              <a:rPr b="1"/>
              <a:t>Clear violation:</a:t>
            </a:r>
            <a:r>
              <a:rPr/>
              <a:t> p &lt; 0.05, unequal variances evident</a:t>
            </a:r>
          </a:p>
          <a:p>
            <a:pPr lvl="0" indent="0">
              <a:buNone/>
            </a:pPr>
            <a:r>
              <a:rPr>
                <a:solidFill>
                  <a:srgbClr val="5E5E5E"/>
                </a:solidFill>
                <a:latin typeface="Courier"/>
              </a:rPr>
              <a:t># Levene's test</a:t>
            </a:r>
            <a:br/>
            <a:r>
              <a:rPr>
                <a:solidFill>
                  <a:srgbClr val="4758AB"/>
                </a:solidFill>
                <a:latin typeface="Courier"/>
              </a:rPr>
              <a:t>leveneTest</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a:t>
            </a:r>
            <a:b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solidFill>
                  <a:srgbClr val="4758AB"/>
                </a:solidFill>
                <a:latin typeface="Courier"/>
              </a:rPr>
              <a:t>anova</a:t>
            </a:r>
            <a:r>
              <a:rPr>
                <a:solidFill>
                  <a:srgbClr val="003B4F"/>
                </a:solidFill>
                <a:latin typeface="Courier"/>
              </a:rPr>
              <a:t>(circ_model)</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a:t>
            </a:r>
            <a:b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marL="0">
              <a:buNone/>
            </a:pPr>
            <a:r>
              <a:rPr b="1"/>
              <a:t>Compare parametric ANOVA on same violated data:</a:t>
            </a:r>
          </a:p>
          <a:p>
            <a:pPr lvl="0" indent="0">
              <a:buNone/>
            </a:pPr>
            <a:r>
              <a:rPr>
                <a:solidFill>
                  <a:srgbClr val="4758AB"/>
                </a:solidFill>
                <a:latin typeface="Courier"/>
              </a:rPr>
              <a:t>anova</a:t>
            </a:r>
            <a:r>
              <a:rPr>
                <a:solidFill>
                  <a:srgbClr val="003B4F"/>
                </a:solidFill>
                <a:latin typeface="Courier"/>
              </a:rPr>
              <a:t>(violated_model)</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 Both tests still detect differences</a:t>
            </a:r>
          </a:p>
          <a:p>
            <a:pPr lvl="1"/>
            <a:r>
              <a:rPr/>
              <a:t>- Kruskal-Wallis more robust to violations</a:t>
            </a:r>
          </a:p>
          <a:p>
            <a:pPr lvl="1"/>
            <a:r>
              <a:rPr/>
              <a:t>- Parametric test may give misleading results when assumptions violated</a:t>
            </a:r>
          </a:p>
          <a:p>
            <a:pPr lvl="1"/>
            <a:r>
              <a:rPr/>
              <a:t>- 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solidFill>
                  <a:srgbClr val="5E5E5E"/>
                </a:solidFill>
                <a:latin typeface="Courier"/>
              </a:rPr>
              <a:t># Pairwise Wilcoxon rank sum tests with </a:t>
            </a:r>
            <a:br/>
            <a:r>
              <a:rPr>
                <a:solidFill>
                  <a:srgbClr val="5E5E5E"/>
                </a:solidFill>
                <a:latin typeface="Courier"/>
              </a:rPr>
              <a:t># Bonferroni correction</a:t>
            </a:r>
            <a:br/>
            <a:r>
              <a:rPr>
                <a:solidFill>
                  <a:srgbClr val="003B4F"/>
                </a:solidFill>
                <a:latin typeface="Courier"/>
              </a:rPr>
              <a:t>pairwise_original_result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nonparam_circ_df</a:t>
            </a:r>
            <a:r>
              <a:rPr>
                <a:solidFill>
                  <a:srgbClr val="5E5E5E"/>
                </a:solidFill>
                <a:latin typeface="Courier"/>
              </a:rPr>
              <a:t>$</a:t>
            </a:r>
            <a:r>
              <a:rPr>
                <a:solidFill>
                  <a:srgbClr val="003B4F"/>
                </a:solidFill>
                <a:latin typeface="Courier"/>
              </a:rPr>
              <a:t>phase_shift,</a:t>
            </a:r>
            <a:br/>
            <a:r>
              <a:rPr>
                <a:solidFill>
                  <a:srgbClr val="003B4F"/>
                </a:solidFill>
                <a:latin typeface="Courier"/>
              </a:rPr>
              <a:t>  </a:t>
            </a:r>
            <a:r>
              <a:rPr>
                <a:solidFill>
                  <a:srgbClr val="657422"/>
                </a:solidFill>
                <a:latin typeface="Courier"/>
              </a:rPr>
              <a:t>g =</a:t>
            </a:r>
            <a:r>
              <a:rPr>
                <a:solidFill>
                  <a:srgbClr val="003B4F"/>
                </a:solidFill>
                <a:latin typeface="Courier"/>
              </a:rPr>
              <a:t> nonparam_circ_df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pairwise_original_result</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4758AB"/>
                </a:solidFill>
                <a:latin typeface="Courier"/>
              </a:rPr>
              <a:t>library</a:t>
            </a:r>
            <a:r>
              <a:rPr>
                <a:solidFill>
                  <a:srgbClr val="003B4F"/>
                </a:solidFill>
                <a:latin typeface="Courier"/>
              </a:rPr>
              <a:t>(FSA)</a:t>
            </a:r>
            <a:br/>
            <a:b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a:t>
            </a:r>
          </a:p>
          <a:p>
            <a:pPr lvl="0" indent="-342900" marL="342900">
              <a:buAutoNum type="arabicPeriod"/>
            </a:pPr>
            <a:r>
              <a:rPr/>
              <a:t>P-value</a:t>
            </a:r>
          </a:p>
          <a:p>
            <a:pPr lvl="0" indent="-342900" marL="342900">
              <a:buAutoNum type="arabicPeriod"/>
            </a:pPr>
            <a:r>
              <a:rPr/>
              <a:t>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p>
          <a:p>
            <a:pPr lvl="0" indent="0" marL="0">
              <a:buNone/>
            </a:pPr>
            <a:r>
              <a:rPr/>
              <a:t>“A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
        <p:nvSpPr>
          <p:cNvPr id="4" name="Content Placeholder 3"/>
          <p:cNvSpPr>
            <a:spLocks noGrp="1"/>
          </p:cNvSpPr>
          <p:nvPr>
            <p:ph idx="2" sz="half"/>
          </p:nvPr>
        </p:nvSpPr>
        <p:spPr/>
        <p:txBody>
          <a:bodyPr/>
          <a:lstStyle/>
          <a:p>
            <a:pPr lvl="0" indent="0" marL="0">
              <a:spcBef>
                <a:spcPts val="3000"/>
              </a:spcBef>
              <a:buNone/>
            </a:pPr>
            <a:r>
              <a:rPr b="1"/>
              <a:t>APA Style Reporting</a:t>
            </a:r>
          </a:p>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a:buNone/>
            </a:pPr>
            <a:r>
              <a:rPr>
                <a:latin typeface="Courier"/>
              </a:rPr>
              <a:t>
Note. IQR = interquartile range.</a:t>
            </a:r>
          </a:p>
          <a:p>
            <a:pPr lvl="0" indent="0">
              <a:buNone/>
            </a:pPr>
            <a:r>
              <a:rPr>
                <a:latin typeface="Courier"/>
              </a:rPr>
              <a:t>Kruskal-Wallis H(2) = 8.66, p = .013, ε² = .37</a:t>
            </a:r>
          </a:p>
          <a:p>
            <a:pPr lvl="0" indent="0" marL="0">
              <a:buNone/>
            </a:pPr>
            <a:r>
              <a:rPr b="1"/>
              <a:t>Common mistakes to avoid:</a:t>
            </a:r>
          </a:p>
          <a:p>
            <a:pPr lvl="0"/>
            <a:r>
              <a:rPr/>
              <a:t>✗ Reporting means instead of medians</a:t>
            </a:r>
          </a:p>
          <a:p>
            <a:pPr lvl="0"/>
            <a:r>
              <a:rPr/>
              <a:t>✗ Using SD instead of IQR</a:t>
            </a:r>
          </a:p>
          <a:p>
            <a:pPr lvl="0"/>
            <a:r>
              <a:rPr/>
              <a:t>✗ Not mentioning it’s a non-parametric test</a:t>
            </a:r>
          </a:p>
          <a:p>
            <a:pPr lvl="0"/>
            <a:r>
              <a:rPr/>
              <a:t>✗ Forgetting effect size</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2025-10-13T17:55:06Z</dcterms:created>
  <dcterms:modified xsi:type="dcterms:W3CDTF">2025-10-13T17:55:06Z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