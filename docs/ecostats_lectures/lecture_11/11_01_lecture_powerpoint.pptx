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0"/>
            <a:r>
              <a:rPr/>
              <a:t>Specifically for comparing treatment groups to control</a:t>
            </a:r>
          </a:p>
          <a:p>
            <a:pPr lvl="0"/>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0"/>
            <a:r>
              <a:rPr/>
              <a:t>Tests whether medians differ across groups</a:t>
            </a:r>
          </a:p>
          <a:p>
            <a:pPr lvl="0"/>
            <a:r>
              <a:rPr/>
              <a:t>More robust but less powerful than Kruskal-Wallis</a:t>
            </a:r>
          </a:p>
          <a:p>
            <a:pPr lvl="0"/>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indent="0" marL="0">
                  <a:buNone/>
                </a:pPr>
                <a:r>
                  <a:rPr b="1"/>
                  <a:t>Most common non-parametric alternative to one-way ANOVA</a:t>
                </a:r>
              </a:p>
              <a:p>
                <a:pPr lvl="0"/>
                <a:r>
                  <a:rPr b="1"/>
                  <a:t>What it does:</a:t>
                </a:r>
              </a:p>
              <a:p>
                <a:pPr lvl="1"/>
                <a:r>
                  <a:rPr/>
                  <a:t>Ranks all observations from smallest to largest</a:t>
                </a:r>
              </a:p>
              <a:p>
                <a:pPr lvl="1"/>
                <a:r>
                  <a:rPr/>
                  <a:t>Compares the sum of ranks between groups</a:t>
                </a:r>
              </a:p>
              <a:p>
                <a:pPr lvl="1"/>
                <a:r>
                  <a:rPr/>
                  <a:t>Tests if groups come from the same distribution</a:t>
                </a:r>
              </a:p>
              <a:p>
                <a:pPr lvl="0"/>
                <a:r>
                  <a:rPr b="1"/>
                  <a:t>Hypotheses:</a:t>
                </a:r>
              </a:p>
              <a:p>
                <a:pPr lvl="1"/>
                <a:r>
                  <a:rPr b="1"/>
                  <a:t>H₀</a:t>
                </a:r>
                <a:r>
                  <a:rPr/>
                  <a:t>: All groups have the same distribution (same median)</a:t>
                </a:r>
              </a:p>
              <a:p>
                <a:pPr lvl="1"/>
                <a:r>
                  <a:rPr b="1"/>
                  <a:t>H₁</a:t>
                </a:r>
                <a:r>
                  <a:rPr/>
                  <a:t>: At least one group has a different distribution</a:t>
                </a:r>
              </a:p>
              <a:p>
                <a:pPr lvl="0"/>
                <a:r>
                  <a:rPr b="1"/>
                  <a:t>Test statistic (H):</a:t>
                </a:r>
              </a:p>
              <a:p>
                <a:pPr lvl="0"/>
                <a14:m>
                  <m:oMathPara xmlns:m="http://schemas.openxmlformats.org/officeDocument/2006/math">
                    <m:oMathParaPr>
                      <m:jc m:val="center"/>
                    </m:oMathParaPr>
                    <m:o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m:oMathPara>
                </a14:m>
              </a:p>
              <a:p>
                <a:pPr lvl="0"/>
                <a:r>
                  <a:rPr/>
                  <a:t>Where:</a:t>
                </a:r>
              </a:p>
              <a:p>
                <a:pPr lvl="1"/>
                <a:r>
                  <a:rPr/>
                  <a:t>N = total sample size</a:t>
                </a:r>
              </a:p>
              <a:p>
                <a:pPr lvl="1"/>
                <a:r>
                  <a:rPr/>
                  <a:t>k = number of groups</a:t>
                </a:r>
              </a:p>
              <a:p>
                <a:pPr lvl="1"/>
                <a14:m>
                  <m:oMath xmlns:m="http://schemas.openxmlformats.org/officeDocument/2006/math">
                    <m:sSub>
                      <m:e>
                        <m:acc>
                          <m:accPr>
                            <m:chr m:val="‾"/>
                          </m:accPr>
                          <m:e>
                            <m:r>
                              <m:t>R</m:t>
                            </m:r>
                          </m:e>
                        </m:acc>
                      </m:e>
                      <m:sub>
                        <m:r>
                          <m:t>i</m:t>
                        </m:r>
                      </m:sub>
                    </m:sSub>
                  </m:oMath>
                </a14:m>
                <a:r>
                  <a:rPr/>
                  <a:t> = mean rank for group i</a:t>
                </a:r>
              </a:p>
              <a:p>
                <a:pPr lvl="1"/>
                <a14:m>
                  <m:oMath xmlns:m="http://schemas.openxmlformats.org/officeDocument/2006/math">
                    <m:acc>
                      <m:accPr>
                        <m:chr m:val="‾"/>
                      </m:accPr>
                      <m:e>
                        <m:r>
                          <m:t>R</m:t>
                        </m:r>
                      </m:e>
                    </m:acc>
                  </m:oMath>
                </a14:m>
                <a:r>
                  <a:rPr/>
                  <a:t>= overall mean rank = (N+1)/2</a:t>
                </a:r>
              </a:p>
              <a:p>
                <a:pPr lvl="1"/>
                <a:r>
                  <a:rPr/>
                  <a:t>nᵢ = sample size for group i</a:t>
                </a:r>
              </a:p>
              <a:p>
                <a:pPr lvl="1"/>
                <a:r>
                  <a:rPr/>
                  <a:t>constant 12 comes from the variance of ranks in a uniform distribution</a:t>
                </a:r>
              </a:p>
              <a:p>
                <a:pPr lvl="0"/>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Demonstrating Assumption Violations</a:t>
            </a:r>
          </a:p>
        </p:txBody>
      </p:sp>
      <p:sp>
        <p:nvSpPr>
          <p:cNvPr id="3" name="Text Placeholder 2"/>
          <p:cNvSpPr>
            <a:spLocks noGrp="1"/>
          </p:cNvSpPr>
          <p:nvPr>
            <p:ph idx="1" type="body"/>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 Increased variance in Knees group - Added extreme outliers to Eyes group - Created unequal variances and non-normality</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ggplot</a:t>
            </a:r>
            <a:r>
              <a:rPr>
                <a:solidFill>
                  <a:srgbClr val="003B4F"/>
                </a:solidFill>
                <a:latin typeface="Courier"/>
              </a:rPr>
              <a:t>(violated_circ_df,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treatment, </a:t>
            </a:r>
            <a:r>
              <a:rPr>
                <a:solidFill>
                  <a:srgbClr val="657422"/>
                </a:solidFill>
                <a:latin typeface="Courier"/>
              </a:rPr>
              <a:t>y =</a:t>
            </a:r>
            <a:r>
              <a:rPr>
                <a:solidFill>
                  <a:srgbClr val="003B4F"/>
                </a:solidFill>
                <a:latin typeface="Courier"/>
              </a:rPr>
              <a:t> phase_shift_violated, </a:t>
            </a:r>
            <a:br/>
            <a:r>
              <a:rPr>
                <a:solidFill>
                  <a:srgbClr val="003B4F"/>
                </a:solidFill>
                <a:latin typeface="Courier"/>
              </a:rPr>
              <a:t>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"Modified Data with Violations"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"Median with IQR"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"Light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"Phase Shift (hours)"</a:t>
            </a:r>
            <a:r>
              <a:rPr>
                <a:solidFill>
                  <a:srgbClr val="003B4F"/>
                </a:solidFill>
                <a:latin typeface="Courier"/>
              </a:rPr>
              <a:t>) </a:t>
            </a:r>
          </a:p>
          <a:p>
            <a:pPr lvl="0" indent="0">
              <a:buNone/>
            </a:pPr>
            <a:r>
              <a:rPr>
                <a:latin typeface="Courier"/>
              </a:rPr>
              <a:t>&lt;theme&gt; List of 147
 $ line                            : &lt;ggplot2::element_line&gt;
  ..@ colour       : chr "black"
  ..@ linewidth    : num 0.5
  ..@ linetype     : num 1
  ..@ lineend      : chr "butt"
  ..@ linejoin     : chr "round"
  ..@ arrow        : logi FALSE
  ..@ arrow.fill   : chr "black"
  ..@ inherit.blank: logi TRUE
 $ rect                            : &lt;ggplot2::element_rect&gt;
  ..@ fill         : chr "white"
  ..@ colour       : chr "black"
  ..@ linewidth    : num 0.5
  ..@ linetype     : num 1
  ..@ linejoin     : chr "round"
  ..@ inherit.blank: logi TRUE
 $ text                            : &lt;ggplot2::element_text&gt;
  ..@ family       : chr ""
  ..@ face         : chr "plain"
  ..@ italic       : chr NA
  ..@ fontweight   : num NA
  ..@ fontwidth    : num NA
  ..@ colour       : chr "black"
  ..@ size         : num 11
  ..@ hjust        : num 0.5
  ..@ vjust        : num 0.5
  ..@ angle        : num 0
  ..@ lineheight   : num 0.9
  ..@ margin       : &lt;ggplot2::margin&gt; num [1:4] 0 0 0 0
  ..@ debug        : logi FALSE
  ..@ inherit.blank: logi TRUE
 $ title                           : chr "Modified Data with Violations"
 $ point                           : &lt;ggplot2::element_point&gt;
  ..@ colour       : chr "black"
  ..@ shape        : num 19
  ..@ size         : num 1.5
  ..@ fill         : chr "white"
  ..@ stroke       : num 0.5
  ..@ inherit.blank: logi TRUE
 $ polygon                         : &lt;ggplot2::element_polygon&gt;
  ..@ fill         : chr "white"
  ..@ colour       : chr "black"
  ..@ linewidth    : num 0.5
  ..@ linetype     : num 1
  ..@ linejoin     : chr "round"
  ..@ inherit.blank: logi TRUE
 $ geom                            : &lt;ggplot2::element_geom&gt;
  ..@ ink        : chr "black"
  ..@ paper      : chr "white"
  ..@ accent     : chr "#3366FF"
  ..@ linewidth  : num 0.5
  ..@ borderwidth: num 0.5
  ..@ linetype   : int 1
  ..@ bordertype : int 1
  ..@ family     : chr ""
  ..@ fontsize   : num 3.87
  ..@ pointsize  : num 1.5
  ..@ pointshape : num 19
  ..@ colour     : NULL
  ..@ fill       : NULL
 $ spacing                         : 'simpleUnit' num 5.5points
  ..- attr(*, "unit")= int 8
 $ margins                         : &lt;ggplot2::margin&gt; num [1:4] 5.5 5.5 5.5 5.5
 $ aspect.ratio                    : NULL
 $ axis.title                      : NULL
 $ axis.title.x                    : &lt;ggplot2::element_text&gt;
  ..@ family       : NULL
  ..@ face         : NULL
  ..@ italic       : chr NA
  ..@ fontweight   : num NA
  ..@ fontwidth    : num NA
  ..@ colour       : NULL
  ..@ size         : NULL
  ..@ hjust        : NULL
  ..@ vjust        : num 1
  ..@ angle        : NULL
  ..@ lineheight   : NULL
  ..@ margin       : &lt;ggplot2::margin&gt; num [1:4] 2.75 0 0 0
  ..@ debug        : NULL
  ..@ inherit.blank: logi TRUE
 $ axis.title.x.top                : &lt;ggplot2::element_text&gt;
  ..@ family       : NULL
  ..@ face         : NULL
  ..@ italic       : chr NA
  ..@ fontweight   : num NA
  ..@ fontwidth    : num NA
  ..@ colour       : NULL
  ..@ size         : NULL
  ..@ hjust        : NULL
  ..@ vjust        : num 0
  ..@ angle        : NULL
  ..@ lineheight   : NULL
  ..@ margin       : &lt;ggplot2::margin&gt; num [1:4] 0 0 2.75 0
  ..@ debug        : NULL
  ..@ inherit.blank: logi TRUE
 $ axis.title.x.bottom             : NULL
 $ axis.title.y                    : &lt;ggplot2::element_text&gt;
  ..@ family       : NULL
  ..@ face         : NULL
  ..@ italic       : chr NA
  ..@ fontweight   : num NA
  ..@ fontwidth    : num NA
  ..@ colour       : NULL
  ..@ size         : NULL
  ..@ hjust        : NULL
  ..@ vjust        : num 1
  ..@ angle        : num 90
  ..@ lineheight   : NULL
  ..@ margin       : &lt;ggplot2::margin&gt; num [1:4] 0 2.75 0 0
  ..@ debug        : NULL
  ..@ inherit.blank: logi TRUE
 $ axis.title.y.left               : NULL
 $ axis.title.y.right              : &lt;ggplot2::element_text&gt;
  ..@ family       : NULL
  ..@ face         : NULL
  ..@ italic       : chr NA
  ..@ fontweight   : num NA
  ..@ fontwidth    : num NA
  ..@ colour       : NULL
  ..@ size         : NULL
  ..@ hjust        : NULL
  ..@ vjust        : num 1
  ..@ angle        : num -90
  ..@ lineheight   : NULL
  ..@ margin       : &lt;ggplot2::margin&gt; num [1:4] 0 0 0 2.75
  ..@ debug        : NULL
  ..@ inherit.blank: logi TRUE
 $ axis.text                       : &lt;ggplot2::element_text&gt;
  ..@ family       : NULL
  ..@ face         : NULL
  ..@ italic       : chr NA
  ..@ fontweight   : num NA
  ..@ fontwidth    : num NA
  ..@ colour       : chr "#4D4D4DFF"
  ..@ size         : 'rel' num 0.8
  ..@ hjust        : NULL
  ..@ vjust        : NULL
  ..@ angle        : NULL
  ..@ lineheight   : NULL
  ..@ margin       : NULL
  ..@ debug        : NULL
  ..@ inherit.blank: logi TRUE
 $ axis.text.x                     : &lt;ggplot2::element_text&gt;
  ..@ family       : NULL
  ..@ face         : NULL
  ..@ italic       : chr NA
  ..@ fontweight   : num NA
  ..@ fontwidth    : num NA
  ..@ colour       : NULL
  ..@ size         : NULL
  ..@ hjust        : NULL
  ..@ vjust        : num 1
  ..@ angle        : NULL
  ..@ lineheight   : NULL
  ..@ margin       : &lt;ggplot2::margin&gt; num [1:4] 2.2 0 0 0
  ..@ debug        : NULL
  ..@ inherit.blank: logi TRUE
 $ axis.text.x.top                 : &lt;ggplot2::element_text&gt;
  ..@ family       : NULL
  ..@ face         : NULL
  ..@ italic       : chr NA
  ..@ fontweight   : num NA
  ..@ fontwidth    : num NA
  ..@ colour       : NULL
  ..@ size         : NULL
  ..@ hjust        : NULL
  ..@ vjust        : NULL
  ..@ angle        : NULL
  ..@ lineheight   : NULL
  ..@ margin       : &lt;ggplot2::margin&gt; num [1:4] 0 0 4.95 0
  ..@ debug        : NULL
  ..@ inherit.blank: logi TRUE
 $ axis.text.x.bottom              : &lt;ggplot2::element_text&gt;
  ..@ family       : NULL
  ..@ face         : NULL
  ..@ italic       : chr NA
  ..@ fontweight   : num NA
  ..@ fontwidth    : num NA
  ..@ colour       : NULL
  ..@ size         : NULL
  ..@ hjust        : NULL
  ..@ vjust        : NULL
  ..@ angle        : NULL
  ..@ lineheight   : NULL
  ..@ margin       : &lt;ggplot2::margin&gt; num [1:4] 4.95 0 0 0
  ..@ debug        : NULL
  ..@ inherit.blank: logi TRUE
 $ axis.text.y                     : &lt;ggplot2::element_text&gt;
  ..@ family       : NULL
  ..@ face         : NULL
  ..@ italic       : chr NA
  ..@ fontweight   : num NA
  ..@ fontwidth    : num NA
  ..@ colour       : NULL
  ..@ size         : NULL
  ..@ hjust        : num 1
  ..@ vjust        : NULL
  ..@ angle        : NULL
  ..@ lineheight   : NULL
  ..@ margin       : &lt;ggplot2::margin&gt; num [1:4] 0 2.2 0 0
  ..@ debug        : NULL
  ..@ inherit.blank: logi TRUE
 $ axis.text.y.left                : &lt;ggplot2::element_text&gt;
  ..@ family       : NULL
  ..@ face         : NULL
  ..@ italic       : chr NA
  ..@ fontweight   : num NA
  ..@ fontwidth    : num NA
  ..@ colour       : NULL
  ..@ size         : NULL
  ..@ hjust        : NULL
  ..@ vjust        : NULL
  ..@ angle        : NULL
  ..@ lineheight   : NULL
  ..@ margin       : &lt;ggplot2::margin&gt; num [1:4] 0 4.95 0 0
  ..@ debug        : NULL
  ..@ inherit.blank: logi TRUE
 $ axis.text.y.right               : &lt;ggplot2::element_text&gt;
  ..@ family       : NULL
  ..@ face         : NULL
  ..@ italic       : chr NA
  ..@ fontweight   : num NA
  ..@ fontwidth    : num NA
  ..@ colour       : NULL
  ..@ size         : NULL
  ..@ hjust        : NULL
  ..@ vjust        : NULL
  ..@ angle        : NULL
  ..@ lineheight   : NULL
  ..@ margin       : &lt;ggplot2::margin&gt; num [1:4] 0 0 0 4.95
  ..@ debug        : NULL
  ..@ inherit.blank: logi TRUE
 $ axis.text.theta                 : NULL
 $ axis.text.r                     : &lt;ggplot2::element_text&gt;
  ..@ family       : NULL
  ..@ face         : NULL
  ..@ italic       : chr NA
  ..@ fontweight   : num NA
  ..@ fontwidth    : num NA
  ..@ colour       : NULL
  ..@ size         : NULL
  ..@ hjust        : num 0.5
  ..@ vjust        : NULL
  ..@ angle        : NULL
  ..@ lineheight   : NULL
  ..@ margin       : &lt;ggplot2::margin&gt; num [1:4] 0 2.2 0 2.2
  ..@ debug        : NULL
  ..@ inherit.blank: logi TRUE
 $ axis.ticks                      : &lt;ggplot2::element_blank&gt;
 $ axis.ticks.x                    : NULL
 $ axis.ticks.x.top                : NULL
 $ axis.ticks.x.bottom             : NULL
 $ axis.ticks.y                    : NULL
 $ axis.ticks.y.left               : NULL
 $ axis.ticks.y.right              : NULL
 $ axis.ticks.theta                : NULL
 $ axis.ticks.r                    : NULL
 $ axis.minor.ticks.x.top          : NULL
 $ axis.minor.ticks.x.bottom       : NULL
 $ axis.minor.ticks.y.left         : NULL
 $ axis.minor.ticks.y.right        : NULL
 $ axis.minor.ticks.theta          : NULL
 $ axis.minor.ticks.r              : NULL
 $ axis.ticks.length               : 'rel' num 0.5
 $ axis.ticks.length.x             : NULL
 $ axis.ticks.length.x.top         : NULL
 $ axis.ticks.length.x.bottom      : NULL
 $ axis.ticks.length.y             : NULL
 $ axis.ticks.length.y.left        : NULL
 $ axis.ticks.length.y.right       : NULL
 $ axis.ticks.length.theta         : NULL
 $ axis.ticks.length.r             : NULL
 $ axis.minor.ticks.length         : 'rel' num 0.75
 $ axis.minor.ticks.length.x       : NULL
 $ axis.minor.ticks.length.x.top   : NULL
 $ axis.minor.ticks.length.x.bottom: NULL
 $ axis.minor.ticks.length.y       : NULL
 $ axis.minor.ticks.length.y.left  : NULL
 $ axis.minor.ticks.length.y.right : NULL
 $ axis.minor.ticks.length.theta   : NULL
 $ axis.minor.ticks.length.r       : NULL
 $ axis.line                       : &lt;ggplot2::element_blank&gt;
 $ axis.line.x                     : NULL
 $ axis.line.x.top                 : NULL
 $ axis.line.x.bottom              : NULL
 $ axis.line.y                     : NULL
 $ axis.line.y.left                : NULL
 $ axis.line.y.right               : NULL
 $ axis.line.theta                 : NULL
 $ axis.line.r                     : NULL
 $ legend.background               : &lt;ggplot2::element_blank&gt;
 $ legend.margin                   : NULL
 $ legend.spacing                  : 'rel' num 2
 $ legend.spacing.x                : NULL
 $ legend.spacing.y                : NULL
 $ legend.key                      : &lt;ggplot2::element_blank&gt;
 $ legend.key.size                 : 'simpleUnit' num 1.2lines
  ..- attr(*, "unit")= int 3
 $ legend.key.height               : NULL
 $ legend.key.width                : NULL
 $ legend.key.spacing              : NULL
 $ legend.key.spacing.x            : NULL
 $ legend.key.spacing.y            : NULL
 $ legend.key.justification        : NULL
 $ legend.frame                    : NULL
 $ legend.ticks                    : NULL
 $ legend.ticks.length             : 'rel' num 0.2
 $ legend.axis.line                : NULL
 $ legend.text                     : &lt;ggplot2::element_text&gt;
  ..@ family       : NULL
  ..@ face         : NULL
  ..@ italic       : chr NA
  ..@ fontweight   : num NA
  ..@ fontwidth    : num NA
  ..@ colour       : NULL
  ..@ size         : 'rel' num 0.8
  ..@ hjust        : NULL
  ..@ vjust        : NULL
  ..@ angle        : NULL
  ..@ lineheight   : NULL
  ..@ margin       : NULL
  ..@ debug        : NULL
  ..@ inherit.blank: logi TRUE
 $ legend.text.position            : NULL
 $ legend.title                    : &lt;ggplot2::element_text&gt;
  ..@ family       : NULL
  ..@ face         : NULL
  ..@ italic       : chr NA
  ..@ fontweight   : num NA
  ..@ fontwidth    : num NA
  ..@ colour       : NULL
  ..@ size         : NULL
  ..@ hjust        : num 0
  ..@ vjust        : NULL
  ..@ angle        : NULL
  ..@ lineheight   : NULL
  ..@ margin       : NULL
  ..@ debug        : NULL
  ..@ inherit.blank: logi TRUE
 $ legend.title.position           : NULL
 $ legend.position                 : chr "right"
 $ legend.position.inside          : NULL
 $ legend.direction                : NULL
 $ legend.byrow                    : NULL
 $ legend.justification            : chr "center"
 $ legend.justification.top        : NULL
 $ legend.justification.bottom     : NULL
 $ legend.justification.left       : NULL
 $ legend.justification.right      : NULL
 $ legend.justification.inside     : NULL
  [list output truncated]
 @ complete: logi TRUE
 @ validate: logi TRUE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solidFill>
                  <a:srgbClr val="5E5E5E"/>
                </a:solidFill>
                <a:latin typeface="Courier"/>
              </a:rPr>
              <a:t># Shapiro-Wilk test on residuals</a:t>
            </a:r>
            <a:br/>
            <a:r>
              <a:rPr>
                <a:solidFill>
                  <a:srgbClr val="4758AB"/>
                </a:solidFill>
                <a:latin typeface="Courier"/>
              </a:rPr>
              <a:t>shapiro.test</a:t>
            </a:r>
            <a:r>
              <a:rPr>
                <a:solidFill>
                  <a:srgbClr val="003B4F"/>
                </a:solidFill>
                <a:latin typeface="Courier"/>
              </a:rPr>
              <a:t>(</a:t>
            </a:r>
            <a:r>
              <a:rPr>
                <a:solidFill>
                  <a:srgbClr val="4758AB"/>
                </a:solidFill>
                <a:latin typeface="Courier"/>
              </a:rPr>
              <a:t>resid</a:t>
            </a:r>
            <a:r>
              <a:rPr>
                <a:solidFill>
                  <a:srgbClr val="003B4F"/>
                </a:solidFill>
                <a:latin typeface="Courier"/>
              </a:rPr>
              <a:t>(violated_model))</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indent="0" marL="0">
              <a:buNone/>
            </a:pPr>
            <a:r>
              <a:rPr b="1"/>
              <a:t>Clear violation:</a:t>
            </a:r>
            <a:r>
              <a:rPr/>
              <a:t> p &lt; 0.05, unequal variances evident</a:t>
            </a:r>
          </a:p>
          <a:p>
            <a:pPr lvl="0" indent="0">
              <a:buNone/>
            </a:pPr>
            <a:r>
              <a:rPr>
                <a:solidFill>
                  <a:srgbClr val="5E5E5E"/>
                </a:solidFill>
                <a:latin typeface="Courier"/>
              </a:rPr>
              <a:t># Levene's test</a:t>
            </a:r>
            <a:br/>
            <a:r>
              <a:rPr>
                <a:solidFill>
                  <a:srgbClr val="4758AB"/>
                </a:solidFill>
                <a:latin typeface="Courier"/>
              </a:rPr>
              <a:t>leveneTest</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a:t>
            </a:r>
            <a:b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solidFill>
                  <a:srgbClr val="4758AB"/>
                </a:solidFill>
                <a:latin typeface="Courier"/>
              </a:rPr>
              <a:t>anova</a:t>
            </a:r>
            <a:r>
              <a:rPr>
                <a:solidFill>
                  <a:srgbClr val="003B4F"/>
                </a:solidFill>
                <a:latin typeface="Courier"/>
              </a:rPr>
              <a:t>(circ_model)</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a:t>
            </a:r>
            <a:b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marL="0">
              <a:buNone/>
            </a:pPr>
            <a:r>
              <a:rPr b="1"/>
              <a:t>Compare parametric ANOVA on same violated data:</a:t>
            </a:r>
          </a:p>
          <a:p>
            <a:pPr lvl="0" indent="0">
              <a:buNone/>
            </a:pPr>
            <a:r>
              <a:rPr>
                <a:solidFill>
                  <a:srgbClr val="4758AB"/>
                </a:solidFill>
                <a:latin typeface="Courier"/>
              </a:rPr>
              <a:t>anova</a:t>
            </a:r>
            <a:r>
              <a:rPr>
                <a:solidFill>
                  <a:srgbClr val="003B4F"/>
                </a:solidFill>
                <a:latin typeface="Courier"/>
              </a:rPr>
              <a:t>(violated_model)</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 Both tests still detect differences - Kruskal-Wallis more robust to violations - Parametric test may give misleading results when assumptions violated - 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solidFill>
                  <a:srgbClr val="5E5E5E"/>
                </a:solidFill>
                <a:latin typeface="Courier"/>
              </a:rPr>
              <a:t># Pairwise Wilcoxon rank sum tests with </a:t>
            </a:r>
            <a:br/>
            <a:r>
              <a:rPr>
                <a:solidFill>
                  <a:srgbClr val="5E5E5E"/>
                </a:solidFill>
                <a:latin typeface="Courier"/>
              </a:rPr>
              <a:t># Bonferroni correction</a:t>
            </a:r>
            <a:br/>
            <a:r>
              <a:rPr>
                <a:solidFill>
                  <a:srgbClr val="003B4F"/>
                </a:solidFill>
                <a:latin typeface="Courier"/>
              </a:rPr>
              <a:t>pairwise_original_result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nonparam_circ_df</a:t>
            </a:r>
            <a:r>
              <a:rPr>
                <a:solidFill>
                  <a:srgbClr val="5E5E5E"/>
                </a:solidFill>
                <a:latin typeface="Courier"/>
              </a:rPr>
              <a:t>$</a:t>
            </a:r>
            <a:r>
              <a:rPr>
                <a:solidFill>
                  <a:srgbClr val="003B4F"/>
                </a:solidFill>
                <a:latin typeface="Courier"/>
              </a:rPr>
              <a:t>phase_shift,</a:t>
            </a:r>
            <a:br/>
            <a:r>
              <a:rPr>
                <a:solidFill>
                  <a:srgbClr val="003B4F"/>
                </a:solidFill>
                <a:latin typeface="Courier"/>
              </a:rPr>
              <a:t>  </a:t>
            </a:r>
            <a:r>
              <a:rPr>
                <a:solidFill>
                  <a:srgbClr val="657422"/>
                </a:solidFill>
                <a:latin typeface="Courier"/>
              </a:rPr>
              <a:t>g =</a:t>
            </a:r>
            <a:r>
              <a:rPr>
                <a:solidFill>
                  <a:srgbClr val="003B4F"/>
                </a:solidFill>
                <a:latin typeface="Courier"/>
              </a:rPr>
              <a:t> nonparam_circ_df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pairwise_original_result</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 Control vs Eyes: p = 0.024 (significant) - Control vs Knees: p = 1.000 (not significant) - Eyes vs Knees: p = 0.078 (not significant)</a:t>
            </a:r>
          </a:p>
          <a:p>
            <a:pPr lvl="0" indent="0" marL="0">
              <a:buNone/>
            </a:pPr>
            <a:r>
              <a:rPr b="1"/>
              <a:t>Common adjustment methods:</a:t>
            </a:r>
            <a:r>
              <a:rPr/>
              <a:t> - </a:t>
            </a:r>
            <a:r>
              <a:rPr>
                <a:latin typeface="Courier"/>
              </a:rPr>
              <a:t>"bonferroni"</a:t>
            </a:r>
            <a:r>
              <a:rPr/>
              <a:t>: Most conservative - </a:t>
            </a:r>
            <a:r>
              <a:rPr>
                <a:latin typeface="Courier"/>
              </a:rPr>
              <a:t>"holm"</a:t>
            </a:r>
            <a:r>
              <a:rPr/>
              <a:t>: Less conservative than Bonferroni - </a:t>
            </a:r>
            <a:r>
              <a:rPr>
                <a:latin typeface="Courier"/>
              </a:rPr>
              <a:t>"BH"</a:t>
            </a:r>
            <a:r>
              <a:rPr/>
              <a:t>: Benjamini-Hochberg (controls false discovery rate) -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4758AB"/>
                </a:solidFill>
                <a:latin typeface="Courier"/>
              </a:rPr>
              <a:t>library</a:t>
            </a:r>
            <a:r>
              <a:rPr>
                <a:solidFill>
                  <a:srgbClr val="003B4F"/>
                </a:solidFill>
                <a:latin typeface="Courier"/>
              </a:rPr>
              <a:t>(FSA)</a:t>
            </a:r>
            <a:br/>
            <a:b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 of Dunn’s test:</a:t>
            </a:r>
            <a:r>
              <a:rPr/>
              <a:t> - Designed specifically for Kruskal-Wallis - Provides Z-statistics in addition to p-values - Multiple adjustment methods available - More appropriate than multiple Wilcoxon tests</a:t>
            </a:r>
          </a:p>
          <a:p>
            <a:pPr lvl="0" indent="0" marL="0">
              <a:buNone/>
            </a:pPr>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 Large |Z| values indicate bigger differences - Z &gt; 1.96 approximately equivalent to p &lt; 0.05 -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a:t>
            </a:r>
          </a:p>
          <a:p>
            <a:pPr lvl="0" indent="-342900" marL="342900">
              <a:buAutoNum type="arabicPeriod"/>
            </a:pPr>
            <a:r>
              <a:rPr/>
              <a:t>P-value</a:t>
            </a:r>
          </a:p>
          <a:p>
            <a:pPr lvl="0" indent="-342900" marL="342900">
              <a:buAutoNum type="arabicPeriod"/>
            </a:pPr>
            <a:r>
              <a:rPr/>
              <a:t>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p>
          <a:p>
            <a:pPr lvl="0" indent="0" marL="0">
              <a:buNone/>
            </a:pPr>
            <a:r>
              <a:rPr/>
              <a:t>“A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
        <p:nvSpPr>
          <p:cNvPr id="4" name="Content Placeholder 3"/>
          <p:cNvSpPr>
            <a:spLocks noGrp="1"/>
          </p:cNvSpPr>
          <p:nvPr>
            <p:ph idx="2" sz="half"/>
          </p:nvPr>
        </p:nvSpPr>
        <p:spPr/>
        <p:txBody>
          <a:bodyPr/>
          <a:lstStyle/>
          <a:p>
            <a:pPr lvl="0" indent="0" marL="0">
              <a:spcBef>
                <a:spcPts val="3000"/>
              </a:spcBef>
              <a:buNone/>
            </a:pPr>
            <a:r>
              <a:rPr b="1"/>
              <a:t>APA Style Reporting</a:t>
            </a:r>
          </a:p>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a:buNone/>
            </a:pPr>
            <a:r>
              <a:rPr>
                <a:latin typeface="Courier"/>
              </a:rPr>
              <a:t>
Note. IQR = interquartile range.</a:t>
            </a:r>
          </a:p>
          <a:p>
            <a:pPr lvl="0" indent="0">
              <a:buNone/>
            </a:pPr>
            <a:r>
              <a:rPr>
                <a:latin typeface="Courier"/>
              </a:rPr>
              <a:t>Kruskal-Wallis H(2) = 8.66, p = .013, ε² = .37</a:t>
            </a:r>
          </a:p>
          <a:p>
            <a:pPr lvl="0" indent="0" marL="0">
              <a:buNone/>
            </a:pPr>
            <a:r>
              <a:rPr b="1"/>
              <a:t>Common mistakes to avoid:</a:t>
            </a:r>
          </a:p>
          <a:p>
            <a:pPr lvl="0"/>
            <a:r>
              <a:rPr/>
              <a:t>✗ Reporting means instead of medians</a:t>
            </a:r>
          </a:p>
          <a:p>
            <a:pPr lvl="0"/>
            <a:r>
              <a:rPr/>
              <a:t>✗ Using SD instead of IQR</a:t>
            </a:r>
          </a:p>
          <a:p>
            <a:pPr lvl="0"/>
            <a:r>
              <a:rPr/>
              <a:t>✗ Not mentioning it’s a non-parametric test</a:t>
            </a:r>
          </a:p>
          <a:p>
            <a:pPr lvl="0"/>
            <a:r>
              <a:rPr/>
              <a:t>✗ Forgetting effect size</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2025-10-13T14:28:13Z</dcterms:created>
  <dcterms:modified xsi:type="dcterms:W3CDTF">2025-10-13T14:28:13Z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