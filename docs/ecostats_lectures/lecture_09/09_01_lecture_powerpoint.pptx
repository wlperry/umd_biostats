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7" Type="http://schemas.openxmlformats.org/officeDocument/2006/relationships/viewProps" Target="viewProps.xml" /><Relationship Id="rId3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9" Type="http://schemas.openxmlformats.org/officeDocument/2006/relationships/tableStyles" Target="tableStyles.xml" /><Relationship Id="rId3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8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0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1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2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09 Correlation and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8: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Covered</a:t>
            </a:r>
          </a:p>
          <a:p>
            <a:pPr lvl="0"/>
            <a:r>
              <a:rPr/>
              <a:t>Study design</a:t>
            </a:r>
          </a:p>
          <a:p>
            <a:pPr lvl="0"/>
            <a:r>
              <a:rPr/>
              <a:t>Causality in ecology</a:t>
            </a:r>
          </a:p>
          <a:p>
            <a:pPr lvl="0"/>
            <a:r>
              <a:rPr/>
              <a:t>Experimental design:</a:t>
            </a:r>
          </a:p>
          <a:p>
            <a:pPr lvl="1"/>
            <a:r>
              <a:rPr/>
              <a:t>Replication, controls, randomization, independence</a:t>
            </a:r>
          </a:p>
          <a:p>
            <a:pPr lvl="0"/>
            <a:r>
              <a:rPr/>
              <a:t>Sampling in field studies</a:t>
            </a:r>
          </a:p>
          <a:p>
            <a:pPr lvl="0"/>
            <a:r>
              <a:rPr/>
              <a:t>Power analysis: </a:t>
            </a:r>
            <a:r>
              <a:rPr i="1"/>
              <a:t>a priori</a:t>
            </a:r>
            <a:r>
              <a:rPr/>
              <a:t> and </a:t>
            </a:r>
            <a:r>
              <a:rPr i="1"/>
              <a:t>post hoc</a:t>
            </a:r>
          </a:p>
          <a:p>
            <a:pPr lvl="0"/>
            <a:r>
              <a:rPr/>
              <a:t>Study design and analysis</a:t>
            </a:r>
          </a:p>
        </p:txBody>
      </p:sp>
      <p:pic>
        <p:nvPicPr>
          <p:cNvPr descr="09_01_lecture_powerpoint_files/figure-pptx/review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objectives:</a:t>
            </a:r>
          </a:p>
          <a:p>
            <a:pPr lvl="0" indent="0" marL="0">
              <a:buNone/>
            </a:pPr>
            <a:r>
              <a:rPr/>
              <a:t>This lecture covers two fundamental statistical techniques in biology: correlation and regression analysis. Based on Chapters 16-17 from Whitlock &amp; Schluter’s </a:t>
            </a:r>
            <a:r>
              <a:rPr i="1"/>
              <a:t>The Analysis of Biological Data</a:t>
            </a:r>
            <a:r>
              <a:rPr/>
              <a:t> (3rd edition), we’ll explore:</a:t>
            </a:r>
          </a:p>
          <a:p>
            <a:pPr lvl="0"/>
            <a:r>
              <a:rPr/>
              <a:t>Correlation analysis: measuring relationships between variables</a:t>
            </a:r>
          </a:p>
          <a:p>
            <a:pPr lvl="0"/>
            <a:r>
              <a:rPr/>
              <a:t>The distinction between correlation and regression</a:t>
            </a:r>
          </a:p>
          <a:p>
            <a:pPr lvl="0"/>
            <a:r>
              <a:rPr/>
              <a:t>Simple linear regression: predicting one variable from another</a:t>
            </a:r>
          </a:p>
          <a:p>
            <a:pPr lvl="0"/>
            <a:r>
              <a:rPr/>
              <a:t>Estimating and interpreting regression parameters</a:t>
            </a:r>
          </a:p>
          <a:p>
            <a:pPr lvl="0"/>
            <a:r>
              <a:rPr/>
              <a:t>Testing assumptions and handling violations</a:t>
            </a:r>
          </a:p>
          <a:p>
            <a:pPr lvl="0"/>
            <a:r>
              <a:rPr/>
              <a:t>Analysis of variance in regression</a:t>
            </a:r>
          </a:p>
          <a:p>
            <a:pPr lvl="0"/>
            <a:r>
              <a:rPr/>
              <a:t>Model selection and comparison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vs. Regression: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What’s the Difference?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Correlation Analysis:</a:t>
            </a:r>
          </a:p>
          <a:p>
            <a:pPr lvl="0"/>
            <a:r>
              <a:rPr/>
              <a:t>Measures the strength and direction of a relationship between two numerical variables</a:t>
            </a:r>
          </a:p>
          <a:p>
            <a:pPr lvl="0"/>
            <a:r>
              <a:rPr/>
              <a:t>Both X and Y are random variables (both measured, neither manipulated)</a:t>
            </a:r>
          </a:p>
          <a:p>
            <a:pPr lvl="0"/>
            <a:r>
              <a:rPr/>
              <a:t>Variables are typically on equal footing (either could be X or Y)</a:t>
            </a:r>
          </a:p>
          <a:p>
            <a:pPr lvl="0"/>
            <a:r>
              <a:rPr/>
              <a:t>No cause-effect relationship implied</a:t>
            </a:r>
          </a:p>
          <a:p>
            <a:pPr lvl="0"/>
            <a:r>
              <a:rPr/>
              <a:t>Quantifies the degree to which variables are related</a:t>
            </a:r>
          </a:p>
          <a:p>
            <a:pPr lvl="0"/>
            <a:r>
              <a:rPr/>
              <a:t>Expressed as a correlation coefficient (r) from -1 to +1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Regression Analysis:</a:t>
            </a:r>
          </a:p>
          <a:p>
            <a:pPr lvl="0"/>
            <a:r>
              <a:rPr/>
              <a:t>Predicts one variable (Y) from another (X)</a:t>
            </a:r>
          </a:p>
          <a:p>
            <a:pPr lvl="0"/>
            <a:r>
              <a:rPr/>
              <a:t>X is often fixed or controlled (manipulated)</a:t>
            </a:r>
          </a:p>
          <a:p>
            <a:pPr lvl="0"/>
            <a:r>
              <a:rPr/>
              <a:t>Y is the response variable of interest</a:t>
            </a:r>
          </a:p>
          <a:p>
            <a:pPr lvl="0"/>
            <a:r>
              <a:rPr/>
              <a:t>Often implies a cause-effect relationship</a:t>
            </a:r>
          </a:p>
          <a:p>
            <a:pPr lvl="0"/>
            <a:r>
              <a:rPr/>
              <a:t>Produces an equation for prediction with slope and intercept parameters</a:t>
            </a:r>
          </a:p>
        </p:txBody>
      </p:sp>
      <p:pic>
        <p:nvPicPr>
          <p:cNvPr descr="09_01_lecture_powerpoint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55700"/>
            <a:ext cx="27813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What Is Correlation?</a:t>
                </a:r>
              </a:p>
              <a:p>
                <a:pPr lvl="0" indent="0" marL="0">
                  <a:buNone/>
                </a:pPr>
                <a:r>
                  <a:rPr b="1"/>
                  <a:t>Correlation analysis</a:t>
                </a:r>
                <a:r>
                  <a:rPr/>
                  <a:t> measures the strength and direction of a relationship between two numerical variables:</a:t>
                </a:r>
              </a:p>
              <a:p>
                <a:pPr lvl="0"/>
                <a:r>
                  <a:rPr/>
                  <a:t>Ranges from -1 to +1</a:t>
                </a:r>
              </a:p>
              <a:p>
                <a:pPr lvl="0"/>
                <a:r>
                  <a:rPr/>
                  <a:t>+1 indicates perfect positive correlation</a:t>
                </a:r>
              </a:p>
              <a:p>
                <a:pPr lvl="0"/>
                <a:r>
                  <a:rPr/>
                  <a:t>0 indicates no correlation</a:t>
                </a:r>
              </a:p>
              <a:p>
                <a:pPr lvl="0"/>
                <a:r>
                  <a:rPr/>
                  <a:t>-1 indicates perfect negative correlation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Pearson correlation coefficient (r)</a:t>
                </a:r>
                <a:r>
                  <a:rPr/>
                  <a:t> is defined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Y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n"/>
                                </m:naryPr>
                                <m:sub>
                                  <m:r>
                                    <m:t>i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/>
                                        </m:dPr>
                                        <m:e>
                                          <m:sSub>
                                            <m:e>
                                              <m:r>
                                                <m:t>X</m:t>
                                              </m:r>
                                            </m:e>
                                            <m:sub>
                                              <m:r>
                                                <m:t>i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m:t>−</m:t>
                                          </m:r>
                                          <m:acc>
                                            <m:accPr>
                                              <m:chr m:val="‾"/>
                                            </m:accPr>
                                            <m:e>
                                              <m:r>
                                                <m:t>X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n"/>
                                </m:naryPr>
                                <m:sub>
                                  <m:r>
                                    <m:t>i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/>
                                        </m:dPr>
                                        <m:e>
                                          <m:sSub>
                                            <m:e>
                                              <m:r>
                                                <m:t>Y</m:t>
                                              </m:r>
                                            </m:e>
                                            <m:sub>
                                              <m:r>
                                                <m:t>i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m:t>−</m:t>
                                          </m:r>
                                          <m:acc>
                                            <m:accPr>
                                              <m:chr m:val="‾"/>
                                            </m:accPr>
                                            <m:e>
                                              <m:r>
                                                <m:t>Y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can be simplified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m:t>Covariance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Y</m:t>
                              </m:r>
                            </m:e>
                          </m:d>
                        </m:num>
                        <m:den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X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⋅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Y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X</m:t>
                        </m:r>
                      </m:sub>
                    </m:sSub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Y</m:t>
                        </m:r>
                      </m:sub>
                    </m:sSub>
                  </m:oMath>
                </a14:m>
                <a:r>
                  <a:rPr/>
                  <a:t> are the standard deviations of X and Y.</a:t>
                </a:r>
              </a:p>
            </p:txBody>
          </p:sp>
        </mc:Choice>
      </mc:AlternateContent>
      <p:pic>
        <p:nvPicPr>
          <p:cNvPr descr="09_01_lecture_powerpoint_files/figure-pptx/overview-plot-1i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12800"/>
            <a:ext cx="2781300" cy="416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Example 16.1: Flipping the Bird</a:t>
                </a:r>
              </a:p>
              <a:p>
                <a:pPr lvl="0" indent="0" marL="0">
                  <a:buNone/>
                </a:pPr>
                <a:r>
                  <a:rPr/>
                  <a:t>Nazca boobies (</a:t>
                </a:r>
                <a:r>
                  <a:rPr i="1"/>
                  <a:t>Sula granti</a:t>
                </a:r>
                <a:r>
                  <a:rPr/>
                  <a:t>) - Do aggressive behaviors as a chick predict future aggressive behavior as an adult?</a:t>
                </a:r>
              </a:p>
              <a:p>
                <a:pPr lvl="0"/>
                <a:r>
                  <a:rPr/>
                  <a:t>correlation is r = 0.534 - moderate positive relationship</a:t>
                </a:r>
              </a:p>
              <a:p>
                <a:pPr lvl="0"/>
                <a:r>
                  <a:rPr/>
                  <a:t>p-value = 0.007 correlation is statistically significant.</a:t>
                </a:r>
              </a:p>
              <a:p>
                <a:pPr lvl="0" indent="0" marL="0">
                  <a:buNone/>
                </a:pPr>
                <a:r>
                  <a:rPr/>
                  <a:t>For a Pearson correlation coefficient (r) of 0.53372:</a:t>
                </a:r>
              </a:p>
              <a:p>
                <a:pPr lvl="0"/>
                <a:r>
                  <a:rPr/>
                  <a:t>This is r (not rho as Spearman nonparametric below), as indicated by “cor” in your output</a:t>
                </a:r>
              </a:p>
              <a:p>
                <a:pPr lvl="0"/>
                <a:r>
                  <a:rPr/>
                  <a:t>To determine the amount of variation explained, you square this value: r² = 0.53372² = 0.2849 (or approximately 28.49%)</a:t>
                </a:r>
              </a:p>
              <a:p>
                <a:pPr lvl="0"/>
                <a:r>
                  <a:rPr/>
                  <a:t>means about 28.49% of the variance in one variable can be explained by the other variable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Note that it is tested by a t test: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r</m:t>
                        </m:r>
                      </m:num>
                      <m:den>
                        <m:r>
                          <m:t>S</m:t>
                        </m:r>
                        <m:sSub>
                          <m:e>
                            <m:r>
                              <m:t>E</m:t>
                            </m:r>
                          </m:e>
                          <m:sub>
                            <m:r>
                              <m:t>r</m:t>
                            </m:r>
                          </m:sub>
                        </m:sSub>
                      </m:den>
                    </m:f>
                  </m:oMath>
                </a14:m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
    Pearson's product-moment correlation
data:  booby_data$visits_as_nestling and booby_data$future_aggression
t = 2.9603, df = 22, p-value = 0.007229
alternative hypothesis: true correlation is not equal to 0
95 percent confidence interval:
 0.1660840 0.7710999
sample estimates:
      cor 
0.5337225 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Example 16.1: Flipping the Bird</a:t>
                </a:r>
              </a:p>
              <a:p>
                <a:pPr lvl="0" indent="0" marL="0">
                  <a:buNone/>
                </a:pPr>
                <a:r>
                  <a:rPr b="1"/>
                  <a:t>Interpretation:</a:t>
                </a:r>
                <a:r>
                  <a:rPr/>
                  <a:t> The correlation coefficient of r = 0.534 suggests that Nazca boobies who experienced more visits from non-parent adults as nestlings tend to display more aggressive behavior as adults. This supports the hypothesis that early experiences influence adult behavior patterns in this species.</a:t>
                </a:r>
              </a:p>
              <a:p>
                <a:pPr lvl="0" indent="0" marL="0">
                  <a:buNone/>
                </a:pPr>
                <a:r>
                  <a:rPr b="1"/>
                  <a:t>Standard Error: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  <m:sty m:val="p"/>
                          </m:rPr>
                          <m:t>SE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r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m:t>n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</m:t>
                            </m:r>
                          </m:den>
                        </m:f>
                      </m:e>
                    </m:rad>
                  </m:oMath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SE = 0.180</a:t>
                </a:r>
              </a:p>
              <a:p>
                <a:pPr lvl="0" indent="0" marL="0">
                  <a:buNone/>
                </a:pPr>
                <a:r>
                  <a:rPr/>
                  <a:t>Need to be sure relationship is not curved - note below</a:t>
                </a:r>
              </a:p>
            </p:txBody>
          </p:sp>
        </mc:Choice>
      </mc:AlternateContent>
      <p:pic>
        <p:nvPicPr>
          <p:cNvPr descr="09_01_lecture_powerpoint_files/figure-pptx/overview-plot-1k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55700"/>
            <a:ext cx="27813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Assumptions for Correlation</a:t>
            </a:r>
          </a:p>
          <a:p>
            <a:pPr lvl="0" indent="0" marL="0">
              <a:buNone/>
            </a:pPr>
            <a:r>
              <a:rPr/>
              <a:t>As described in Section 16.3, correlation analysis has key assumptions:</a:t>
            </a:r>
          </a:p>
          <a:p>
            <a:pPr lvl="0" indent="-342900" marL="342900">
              <a:buAutoNum type="arabicPeriod"/>
            </a:pPr>
            <a:r>
              <a:rPr b="1"/>
              <a:t>Random sampling</a:t>
            </a:r>
            <a:r>
              <a:rPr/>
              <a:t>: Observations should be a random sample from the population</a:t>
            </a:r>
          </a:p>
          <a:p>
            <a:pPr lvl="0" indent="-342900" marL="342900">
              <a:buAutoNum type="arabicPeriod"/>
            </a:pPr>
            <a:r>
              <a:rPr b="1"/>
              <a:t>Bivariate normality</a:t>
            </a:r>
            <a:r>
              <a:rPr/>
              <a:t>: Both variables follow a normal distribution, and their joint distribution is bivariate normal</a:t>
            </a:r>
          </a:p>
          <a:p>
            <a:pPr lvl="0" indent="-342900" marL="342900">
              <a:buAutoNum type="arabicPeriod"/>
            </a:pPr>
            <a:r>
              <a:rPr b="1"/>
              <a:t>Linear relationship</a:t>
            </a:r>
            <a:r>
              <a:rPr/>
              <a:t>: The relationship between variables is linear, not curved</a:t>
            </a:r>
          </a:p>
          <a:p>
            <a:pPr lvl="0" indent="0" marL="0">
              <a:buNone/>
            </a:pPr>
            <a:r>
              <a:rPr/>
              <a:t>Let’s check these assumptions booby data: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    Shapiro-Wilk normality test
data:  booby_data$visits_as_nestling
W = 0.95783, p-value = 0.3965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booby_data$future_aggression
W = 0.91575, p-value = 0.04709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Assumptions for Correlation</a:t>
            </a:r>
          </a:p>
          <a:p>
            <a:pPr lvl="0" indent="0" marL="0">
              <a:buNone/>
            </a:pPr>
            <a:r>
              <a:rPr/>
              <a:t>As described in Section 16.3, correlation analysis has key assumptions:</a:t>
            </a:r>
          </a:p>
          <a:p>
            <a:pPr lvl="0" indent="-342900" marL="342900">
              <a:buAutoNum type="arabicPeriod"/>
            </a:pPr>
            <a:r>
              <a:rPr b="1"/>
              <a:t>Random sampling</a:t>
            </a:r>
            <a:r>
              <a:rPr/>
              <a:t>: Observations should be a random sample from the population</a:t>
            </a:r>
          </a:p>
          <a:p>
            <a:pPr lvl="0" indent="-342900" marL="342900">
              <a:buAutoNum type="arabicPeriod"/>
            </a:pPr>
            <a:r>
              <a:rPr b="1"/>
              <a:t>Bivariate normality</a:t>
            </a:r>
            <a:r>
              <a:rPr/>
              <a:t>: Both variables follow a normal distribution, and their joint distribution is bivariate normal</a:t>
            </a:r>
          </a:p>
          <a:p>
            <a:pPr lvl="0" indent="-342900" marL="342900">
              <a:buAutoNum type="arabicPeriod"/>
            </a:pPr>
            <a:r>
              <a:rPr b="1"/>
              <a:t>Linear relationship</a:t>
            </a:r>
            <a:r>
              <a:rPr/>
              <a:t>: The relationship between variables is linear, not curved</a:t>
            </a:r>
          </a:p>
          <a:p>
            <a:pPr lvl="0" indent="0" marL="0">
              <a:buNone/>
            </a:pPr>
            <a:r>
              <a:rPr/>
              <a:t>Let’s check these assumptions using the booby data</a:t>
            </a:r>
          </a:p>
        </p:txBody>
      </p:sp>
      <p:pic>
        <p:nvPicPr>
          <p:cNvPr descr="09_01_lecture_powerpoint_files/figure-pptx/overview-plot-1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to do if assumptions are violated:</a:t>
            </a:r>
          </a:p>
          <a:p>
            <a:pPr lvl="0" indent="0" marL="0">
              <a:buNone/>
            </a:pPr>
            <a:r>
              <a:rPr/>
              <a:t>Transform one or both variables (log, square root, etc.)</a:t>
            </a:r>
          </a:p>
          <a:p>
            <a:pPr lvl="0" indent="0" marL="0">
              <a:buNone/>
            </a:pPr>
            <a:r>
              <a:rPr/>
              <a:t>Use non-parametric correlation (</a:t>
            </a:r>
            <a:r>
              <a:rPr b="1"/>
              <a:t>Spearman’s rank correlation</a:t>
            </a:r>
            <a:r>
              <a:rPr/>
              <a:t>) or Kendall’s tau 𝛕</a:t>
            </a:r>
          </a:p>
          <a:p>
            <a:pPr lvl="0" indent="0" marL="0">
              <a:buNone/>
            </a:pPr>
            <a:r>
              <a:rPr/>
              <a:t>Examine the data for outliers or influential points</a:t>
            </a:r>
          </a:p>
        </p:txBody>
      </p:sp>
      <p:pic>
        <p:nvPicPr>
          <p:cNvPr descr="09_01_lecture_powerpoint_files/figure-pptx/overview-plot-2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understand the amount of variation explained, you can square the non parametric Spearman’s rho value.</a:t>
            </a:r>
          </a:p>
          <a:p>
            <a:pPr lvl="0" indent="0" marL="0">
              <a:buNone/>
            </a:pPr>
            <a:r>
              <a:rPr/>
              <a:t>For your value of 0.74485:</a:t>
            </a:r>
          </a:p>
          <a:p>
            <a:pPr lvl="0" indent="0" marL="0">
              <a:buNone/>
            </a:pPr>
            <a:r>
              <a:rPr/>
              <a:t>ρ² = 0.74485² = 0.5548</a:t>
            </a:r>
          </a:p>
          <a:p>
            <a:pPr lvl="0" indent="0" marL="0">
              <a:buNone/>
            </a:pPr>
            <a:r>
              <a:rPr/>
              <a:t>This means approximately 55.48% of the variance in ranks of one variable can be explained by the ranks of the other variable. This is similar to how R² works in linear regression, but specifically for ranked data.</a:t>
            </a:r>
          </a:p>
          <a:p>
            <a:pPr lvl="0" indent="0">
              <a:buNone/>
            </a:pPr>
            <a:r>
              <a:rPr>
                <a:latin typeface="Courier"/>
              </a:rPr>
              <a:t>
    Spearman's rank correlation rho
data:  lion_data$proportion_black and lion_data$age_years
S = 1392.1, p-value = 1.013e-06
alternative hypothesis: true rho is not equal to 0
sample estimates:
      rho 
0.7448561 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Correlation: Important Considerations</a:t>
            </a:r>
          </a:p>
          <a:p>
            <a:pPr lvl="0"/>
            <a:r>
              <a:rPr b="1"/>
              <a:t>The correlation coefficient depends on the range</a:t>
            </a:r>
          </a:p>
          <a:p>
            <a:pPr lvl="1"/>
            <a:r>
              <a:rPr/>
              <a:t>Restricting range of values can reduce the correlation coefficient</a:t>
            </a:r>
          </a:p>
          <a:p>
            <a:pPr lvl="1"/>
            <a:r>
              <a:rPr/>
              <a:t>Comparing correlations between studies requires similar ranges of values</a:t>
            </a:r>
          </a:p>
          <a:p>
            <a:pPr lvl="0"/>
            <a:r>
              <a:rPr b="1"/>
              <a:t>Measurement error affects correlation</a:t>
            </a:r>
          </a:p>
          <a:p>
            <a:pPr lvl="1"/>
            <a:r>
              <a:rPr/>
              <a:t>Measurement error in X or Y tends to weaken observed correlation</a:t>
            </a:r>
          </a:p>
          <a:p>
            <a:pPr lvl="1"/>
            <a:r>
              <a:rPr/>
              <a:t>This bias is called </a:t>
            </a:r>
            <a:r>
              <a:rPr b="1"/>
              <a:t>attenuation</a:t>
            </a:r>
          </a:p>
          <a:p>
            <a:pPr lvl="1"/>
            <a:r>
              <a:rPr/>
              <a:t>True correlation typically stronger than observed correlation</a:t>
            </a:r>
          </a:p>
          <a:p>
            <a:pPr lvl="0"/>
            <a:r>
              <a:rPr b="1"/>
              <a:t>Correlation vs. Causation</a:t>
            </a:r>
          </a:p>
          <a:p>
            <a:pPr lvl="1"/>
            <a:r>
              <a:rPr/>
              <a:t>Correlation does not imply causation</a:t>
            </a:r>
          </a:p>
          <a:p>
            <a:pPr lvl="1"/>
            <a:r>
              <a:rPr/>
              <a:t>Three possible explanations for correlation:</a:t>
            </a:r>
          </a:p>
          <a:p>
            <a:pPr lvl="2" indent="-342900" marL="1028700">
              <a:buAutoNum type="arabicPeriod"/>
            </a:pPr>
            <a:r>
              <a:rPr/>
              <a:t>X causes Y</a:t>
            </a:r>
          </a:p>
          <a:p>
            <a:pPr lvl="2" indent="-342900" marL="1028700">
              <a:buAutoNum type="arabicPeriod"/>
            </a:pPr>
            <a:r>
              <a:rPr/>
              <a:t>Y causes X</a:t>
            </a:r>
          </a:p>
          <a:p>
            <a:pPr lvl="2" indent="-342900" marL="1028700">
              <a:buAutoNum type="arabicPeriod"/>
            </a:pPr>
            <a:r>
              <a:rPr/>
              <a:t>Z (a third variable) causes both X and Y</a:t>
            </a:r>
          </a:p>
          <a:p>
            <a:pPr lvl="0"/>
            <a:r>
              <a:rPr b="1"/>
              <a:t>Correlation significance test</a:t>
            </a:r>
          </a:p>
          <a:p>
            <a:pPr lvl="1"/>
            <a:r>
              <a:rPr/>
              <a:t>H₀: ρ = 0 (no correlation in population)</a:t>
            </a:r>
          </a:p>
          <a:p>
            <a:pPr lvl="1"/>
            <a:r>
              <a:rPr/>
              <a:t>H₁: ρ ≠ 0 (correlation exists in population)</a:t>
            </a:r>
          </a:p>
          <a:p>
            <a:pPr lvl="1"/>
            <a:r>
              <a:rPr b="1"/>
              <a:t>Test statistic: t = r / SE(r) with df = n-2</a:t>
            </a:r>
          </a:p>
        </p:txBody>
      </p:sp>
      <p:pic>
        <p:nvPicPr>
          <p:cNvPr descr="09_01_lecture_powerpoint_files/figure-pptx/overview-plot-1o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55700"/>
            <a:ext cx="27813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Simple Linear Regression Model</a:t>
                </a:r>
              </a:p>
              <a:p>
                <a:pPr lvl="0" indent="0" marL="0">
                  <a:buNone/>
                </a:pPr>
                <a:r>
                  <a:rPr b="1"/>
                  <a:t>Simple linear regression</a:t>
                </a:r>
                <a:r>
                  <a:rPr/>
                  <a:t> models the relationship between a response variable (Y) and a predictor variable (X).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population</a:t>
                </a:r>
                <a:r>
                  <a:rPr/>
                  <a:t> regression model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α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β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ε</m:t>
                    </m:r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:r>
                  <a:rPr/>
                  <a:t>Y is the response variable</a:t>
                </a:r>
              </a:p>
              <a:p>
                <a:pPr lvl="1"/>
                <a:r>
                  <a:rPr/>
                  <a:t>X is the predictor variable</a:t>
                </a:r>
              </a:p>
              <a:p>
                <a:pPr lvl="1"/>
                <a:r>
                  <a:rPr/>
                  <a:t>α (alpha) is the intercept (value of Y when X=0)</a:t>
                </a:r>
              </a:p>
              <a:p>
                <a:pPr lvl="1"/>
                <a:r>
                  <a:rPr/>
                  <a:t>β (beta) is the slope (change in Y per unit change in X)</a:t>
                </a:r>
              </a:p>
              <a:p>
                <a:pPr lvl="1"/>
                <a:r>
                  <a:rPr/>
                  <a:t>ε (epsilon) is the error term (random deviation from the line)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sample</a:t>
                </a:r>
                <a:r>
                  <a:rPr/>
                  <a:t> regression equation is: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 is the predicted value of Y</a:t>
                </a:r>
              </a:p>
              <a:p>
                <a:pPr lvl="1"/>
                <a:r>
                  <a:rPr/>
                  <a:t>a is the estimate of α (intercept)</a:t>
                </a:r>
              </a:p>
              <a:p>
                <a:pPr lvl="1"/>
                <a:r>
                  <a:rPr/>
                  <a:t>b is the estimate of β (slope)</a:t>
                </a:r>
              </a:p>
              <a:p>
                <a:pPr lvl="0" indent="0" marL="0">
                  <a:buNone/>
                </a:pPr>
                <a:r>
                  <a:rPr b="1"/>
                  <a:t>Method of Least Squares</a:t>
                </a:r>
                <a:r>
                  <a:rPr/>
                  <a:t>: The line is chosen to minimize the sum of squared vertical distances (residuals) between observed and predicted Y values.</a:t>
                </a:r>
              </a:p>
            </p:txBody>
          </p:sp>
        </mc:Choice>
      </mc:AlternateContent>
      <p:pic>
        <p:nvPicPr>
          <p:cNvPr descr="images/clipboard-336024496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680200" y="660400"/>
            <a:ext cx="16637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Simple Linear Regression Model</a:t>
                </a:r>
              </a:p>
              <a:p>
                <a:pPr lvl="0" indent="0" marL="0">
                  <a:buNone/>
                </a:pPr>
                <a:r>
                  <a:rPr b="1"/>
                  <a:t>Simple linear regression</a:t>
                </a:r>
                <a:r>
                  <a:rPr/>
                  <a:t> models the relationship between a response variable (Y) and a predictor variable (X).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population</a:t>
                </a:r>
                <a:r>
                  <a:rPr/>
                  <a:t> regression model is: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α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β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ε</m:t>
                    </m:r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:r>
                  <a:rPr/>
                  <a:t>Y is the response variable</a:t>
                </a:r>
              </a:p>
              <a:p>
                <a:pPr lvl="1"/>
                <a:r>
                  <a:rPr/>
                  <a:t>X is the predictor variable</a:t>
                </a:r>
              </a:p>
              <a:p>
                <a:pPr lvl="1"/>
                <a:r>
                  <a:rPr/>
                  <a:t>α (alpha) is the intercept (value of Y when X=0)</a:t>
                </a:r>
              </a:p>
              <a:p>
                <a:pPr lvl="1"/>
                <a:r>
                  <a:rPr/>
                  <a:t>β (beta) is the slope (change in Y per unit change in X)</a:t>
                </a:r>
              </a:p>
              <a:p>
                <a:pPr lvl="1"/>
                <a:r>
                  <a:rPr/>
                  <a:t>ε (epsilon) is the error term (random deviation from the line)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sample</a:t>
                </a:r>
                <a:r>
                  <a:rPr/>
                  <a:t> regression equation is: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 is the predicted value of Y</a:t>
                </a:r>
              </a:p>
              <a:p>
                <a:pPr lvl="1"/>
                <a:r>
                  <a:rPr/>
                  <a:t>a is the estimate of α (intercept)</a:t>
                </a:r>
              </a:p>
              <a:p>
                <a:pPr lvl="1"/>
                <a:r>
                  <a:rPr/>
                  <a:t>b is the estimate of β (slope)</a:t>
                </a:r>
              </a:p>
              <a:p>
                <a:pPr lvl="0" indent="0" marL="0">
                  <a:buNone/>
                </a:pPr>
                <a:r>
                  <a:rPr b="1"/>
                  <a:t>Method of Least Squares</a:t>
                </a:r>
                <a:r>
                  <a:rPr/>
                  <a:t>: The line is chosen to minimize the sum of squared vertical distances (residuals) between observed and predicted Y values.</a:t>
                </a:r>
              </a:p>
            </p:txBody>
          </p:sp>
        </mc:Choice>
      </mc:AlternateContent>
      <p:pic>
        <p:nvPicPr>
          <p:cNvPr descr="09_01_lecture_powerpoint_files/figure-pptx/overview-plot-1p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From Example 17.1 in the textbook the regression line for the lion data is: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age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0.88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10.65</m:t>
                    </m:r>
                    <m:r>
                      <m:rPr>
                        <m:sty m:val="p"/>
                      </m:rPr>
                      <m:t>×</m:t>
                    </m:r>
                    <m:sSub>
                      <m:e>
                        <m:r>
                          <m:rPr>
                            <m:nor/>
                            <m:sty m:val="p"/>
                          </m:rPr>
                          <m:t>proportion</m:t>
                        </m:r>
                      </m:e>
                      <m:sub>
                        <m:r>
                          <m:t>b</m:t>
                        </m:r>
                        <m:r>
                          <m:t>l</m:t>
                        </m:r>
                        <m:r>
                          <m:t>a</m:t>
                        </m:r>
                        <m:r>
                          <m:t>c</m:t>
                        </m:r>
                        <m:r>
                          <m:t>k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This means:</a:t>
                </a:r>
              </a:p>
              <a:p>
                <a:pPr lvl="0"/>
                <a:r>
                  <a:rPr/>
                  <a:t>When a lion has no black on its nose (proportion = 0), its predicted age is 0.88 years</a:t>
                </a:r>
              </a:p>
              <a:p>
                <a:pPr lvl="0"/>
                <a:r>
                  <a:rPr/>
                  <a:t>For each 0.1 increase in the proportion of black, age increases by 1.065 years</a:t>
                </a:r>
              </a:p>
              <a:p>
                <a:pPr lvl="0"/>
                <a:r>
                  <a:rPr/>
                  <a:t>The slope (10.65) indicates that lions with more black on their noses tend to be older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$data
# A tibble: 32 × 2
   proportion_black age_years
              &lt;dbl&gt;     &lt;dbl&gt;
 1             0.21       1.1
 2             0.14       1.5
 3             0.11       1.9
 4             0.13       2.2
 5             0.12       2.6
 6             0.13       3.2
 7             0.12       3.2
 8             0.18       2.9
 9             0.23       2.4
10             0.22       2.1
# ℹ 22 more rows
$layers
$layers[[1]]
geom_point: na.rm = FALSE
stat_identity: na.rm = FALSE
position_identity 
$layers[[2]]
geom_smooth: se = FALSE, na.rm = FALSE, orientation = NA
stat_smooth: method = lm, formula = NULL, se = FALSE, n = 80, fullrange = TRUE, level = 0.95, na.rm = FALSE, orientation = NA, method.args = list(), span = 0.75, xseq = c(-0.1, 1)
position_identity 
$layers[[3]]
mapping: x = ~proportion_black[10], y = ~age_years[10], xend = ~proportion_black[10], yend = ~predict(lion_model)[10] 
geom_segment: arrow = NULL, arrow.fill = NULL, lineend = butt, linejoin = round, na.rm = FALSE
stat_identity: na.rm = FALSE
position_identity 
$layers[[4]]
mapping: x = ~x, y = ~y 
geom_text: na.rm = FALSE
stat_identity: na.rm = FALSE
position_identity 
$layers[[5]]
mapping: x = ~x, y = ~y 
geom_text: na.rm = FALSE
stat_identity: na.rm = FALSE
position_identity 
$layers[[6]]
mapping: x = ~x, y = ~y 
geom_text: na.rm = FALSE
stat_identity: na.rm = FALSE
position_identity 
$layers[[7]]
mapping: x = ~x, y = ~y 
geom_text: na.rm = FALSE
stat_identity: na.rm = FALSE
position_identity 
$scales
&lt;ggproto object: Class ScalesList, gg&gt;
    add: function
    add_defaults: function
    add_missing: function
    backtransform_df: function
    clone: function
    find: function
    get_scales: function
    has_scale: function
    input: function
    map_df: function
    n: function
    non_position_scales: function
    scales: list
    set_palettes: function
    train_df: function
    transform_df: function
    super:  &lt;ggproto object: Class ScalesList, gg&gt;
$guides
&lt;Guides[0] ggproto object&gt;
&lt;empty&gt;
$mapping
$x
&lt;quosure&gt;
expr: ^proportion_black
env:  global
$y
&lt;quosure&gt;
expr: ^age_years
env:  global
attr(,"class")
[1] "uneval"
$theme
$line
$colour
[1] "black"
$linewidth
[1] 0.5
$linetype
[1] 1
$lineend
[1] "butt"
$arrow
[1] FALSE
$inherit.blank
[1] TRUE
attr(,"class")
[1] "element_line" "element"     
$rect
$fill
[1] "white"
$colour
[1] "black"
$linewidth
[1] 0.5
$linetype
[1] 1
$inherit.blank
[1] TRUE
attr(,"class")
[1] "element_rect" "element"     
$text
$family
[1] ""
$face
[1] "plain"
$colour
[1] "black"
$size
[1] 11
$hjust
[1] 0.5
$vjust
[1] 0.5
$angle
[1] 0
$lineheight
[1] 0.9
$margin
[1] 0points 0points 0points 0points
$debug
[1] FALSE
$inherit.blank
[1] TRUE
attr(,"class")
[1] "element_text" "element"     
$title
NULL
$aspect.ratio
NULL
$axis.title
NULL
$axis.title.x
$family
NULL
$face
NULL
$colour
NULL
$size
NULL
$hjust
NULL
$vjust
[1] 1
$angle
NULL
$lineheight
NULL
$margin
[1] 2.75points 0points    0points    0points   
$debug
NULL
$inherit.blank
[1] TRUE
attr(,"class")
[1] "element_text" "element"     
$axis.title.x.top
$family
NULL
$face
NULL
$colour
NULL
$size
NULL
$hjust
NULL
$vjust
[1] 0
$angle
NULL
$lineheight
NULL
$margin
[1] 0points    0points    2.75points 0points   
$debug
NULL
$inherit.blank
[1] TRUE
attr(,"class")
[1] "element_text" "element"     
$axis.title.x.bottom
NULL
$axis.title.y
$family
NULL
$face
NULL
$colour
NULL
$size
NULL
$hjust
NULL
$vjust
[1] 1
$angle
[1] 90
$lineheight
NULL
$margin
[1] 0points    2.75points 0points    0points   
$debug
NULL
$inherit.blank
[1] TRUE
attr(,"class")
[1] "element_text" "element"     
$axis.title.y.left
NULL
$axis.title.y.right
$family
NULL
$face
NULL
$colour
NULL
$size
NULL
$hjust
NULL
$vjust
[1] 1
$angle
[1] -90
$lineheight
NULL
$margin
[1] 0points    0points    0points    2.75points
$debug
NULL
$inherit.blank
[1] TRUE
attr(,"class")
[1] "element_text" "element"     
$axis.text
$family
NULL
$face
NULL
$colour
[1] "grey30"
$size
[1] 0.8 *
$hjust
NULL
$vjust
NULL
$angle
NULL
$lineheight
NULL
$margin
NULL
$debug
NULL
$inherit.blank
[1] TRUE
attr(,"class")
[1] "element_text" "element"     
$axis.text.x
$family
NULL
$face
NULL
$colour
NULL
$size
NULL
$hjust
NULL
$vjust
[1] 1
$angle
NULL
$lineheight
NULL
$margin
[1] 2.2points 0points   0points   0points  
$debug
NULL
$inherit.blank
[1] TRUE
attr(,"class")
[1] "element_text" "element"     
$axis.text.x.top
$family
NULL
$face
NULL
$colour
NULL
$size
NULL
$hjust
NULL
$vjust
[1] 0
$angle
NULL
$lineheight
NULL
$margin
[1] 0points   0points   2.2points 0points  
$debug
NULL
$inherit.blank
[1] TRUE
attr(,"class")
[1] "element_text" "element"     
$axis.text.x.bottom
NULL
$axis.text.y
$family
NULL
$face
NULL
$colour
NULL
$size
NULL
$hjust
[1] 1
$vjust
NULL
$angle
NULL
$lineheight
NULL
$margin
[1] 0points   2.2points 0points   0points  
$debug
NULL
$inherit.blank
[1] TRUE
attr(,"class")
[1] "element_text" "element"     
$axis.text.y.left
NULL
$axis.text.y.right
$family
NULL
$face
NULL
$colour
NULL
$size
NULL
$hjust
[1] 0
$vjust
NULL
$angle
NULL
$lineheight
NULL
$margin
[1] 0points   0points   0points   2.2points
$debug
NULL
$inherit.blank
[1] TRUE
attr(,"class")
[1] "element_text" "element"     
$axis.text.theta
NULL
$axis.text.r
$family
NULL
$face
NULL
$colour
NULL
$size
NULL
$hjust
[1] 0.5
$vjust
NULL
$angle
NULL
$lineheight
NULL
$margin
[1] 0points   2.2points 0points   2.2points
$debug
NULL
$inherit.blank
[1] TRUE
attr(,"class")
[1] "element_text" "element"     
$axis.ticks
list()
attr(,"class")
[1] "element_blank" "element"      
$axis.ticks.x
NULL
$axis.ticks.x.top
NULL
$axis.ticks.x.bottom
NULL
$axis.ticks.y
NULL
$axis.ticks.y.left
NULL
$axis.ticks.y.right
NULL
$axis.ticks.theta
NULL
$axis.ticks.r
NULL
$axis.minor.ticks.x.top
NULL
$axis.minor.ticks.x.bottom
NULL
$axis.minor.ticks.y.left
NULL
$axis.minor.ticks.y.right
NULL
$axis.minor.ticks.theta
NULL
$axis.minor.ticks.r
NULL
$axis.ticks.length
[1] 2.75points
$axis.ticks.length.x
NULL
$axis.ticks.length.x.top
NULL
$axis.ticks.length.x.bottom
NULL
$axis.ticks.length.y
NULL
$axis.ticks.length.y.left
NULL
$axis.ticks.length.y.right
NULL
$axis.ticks.length.theta
NULL
$axis.ticks.length.r
NULL
$axis.minor.ticks.length
[1] 0.75 *
$axis.minor.ticks.length.x
NULL
$axis.minor.ticks.length.x.top
NULL
$axis.minor.ticks.length.x.bottom
NULL
$axis.minor.ticks.length.y
NULL
$axis.minor.ticks.length.y.left
NULL
$axis.minor.ticks.length.y.right
NULL
$axis.minor.ticks.length.theta
NULL
$axis.minor.ticks.length.r
NULL
$axis.line
list()
attr(,"class")
[1] "element_blank" "element"      
$axis.line.x
NULL
$axis.line.x.top
NULL
$axis.line.x.bottom
NULL
$axis.line.y
NULL
$axis.line.y.left
NULL
$axis.line.y.right
NULL
$axis.line.theta
NULL
$axis.line.r
NULL
$legend.background
list()
attr(,"class")
[1] "element_blank" "element"      
$legend.margin
[1] 5.5points 5.5points 5.5points 5.5points
$legend.spacing
[1] 11points
$legend.spacing.x
NULL
$legend.spacing.y
NULL
$legend.key
list()
attr(,"class")
[1] "element_blank" "element"      
$legend.key.size
[1] 1.2lines
$legend.key.height
NULL
$legend.key.width
NULL
$legend.key.spacing
[1] 5.5points
$legend.key.spacing.x
NULL
$legend.key.spacing.y
NULL
$legend.frame
NULL
$legend.ticks
NULL
$legend.ticks.length
[1] 0.2 *
$legend.axis.line
NULL
$legend.text
$family
NULL
$face
NULL
$colour
NULL
$size
[1] 0.8 *
$hjust
NULL
$vjust
NULL
$angle
NULL
$lineheight
NULL
$margin
NULL
$debug
NULL
$inherit.blank
[1] TRUE
attr(,"class")
[1] "element_text" "element"     
$legend.text.position
NULL
$legend.title
$family
NULL
$face
NULL
$colour
NULL
$size
NULL
$hjust
[1] 0
$vjust
NULL
$angle
NULL
$lineheight
NULL
$margin
NULL
$debug
NULL
$inherit.blank
[1] TRUE
attr(,"class")
[1] "element_text" "element"     
$legend.title.position
NULL
$legend.position
[1] "right"
$legend.position.inside
NULL
$legend.direction
NULL
$legend.byrow
NULL
$legend.justification
[1] "center"
$legend.justification.top
NULL
$legend.justification.bottom
NULL
$legend.justification.left
NULL
$legend.justification.right
NULL
$legend.justification.inside
NULL
$legend.location
NULL
$legend.box
NULL
$legend.box.just
NULL
$legend.box.margin
[1] 0cm 0cm 0cm 0cm
$legend.box.background
list()
attr(,"class")
[1] "element_blank" "element"      
$legend.box.spacing
[1] 11points
$panel.background
list()
attr(,"class")
[1] "element_blank" "element"      
$panel.border
list()
attr(,"class")
[1] "element_blank" "element"      
$panel.spacing
[1] 5.5points
$panel.spacing.x
NULL
$panel.spacing.y
NULL
$panel.grid
$colour
[1] "grey92"
$linewidth
NULL
$linetype
NULL
$lineend
NULL
$arrow
[1] FALSE
$inherit.blank
[1] TRUE
attr(,"class")
[1] "element_line" "element"     
$panel.grid.major
NULL
$panel.grid.minor
$colour
NULL
$linewidth
[1] 0.5 *
$linetype
NULL
$lineend
NULL
$arrow
[1] FALSE
$inherit.blank
[1] TRUE
attr(,"class")
[1] "element_line" "element"     
$panel.grid.major.x
NULL
$panel.grid.major.y
NULL
$panel.grid.minor.x
NULL
$panel.grid.minor.y
NULL
$panel.ontop
[1] FALSE
$plot.background
list()
attr(,"class")
[1] "element_blank" "element"      
$plot.title
$family
NULL
$face
NULL
$colour
NULL
$size
[1] 1.2 *
$hjust
[1] 0
$vjust
[1] 1
$angle
NULL
$lineheight
NULL
$margin
[1] 0points   0points   5.5points 0points  
$debug
NULL
$inherit.blank
[1] TRUE
attr(,"class")
[1] "element_text" "element"     
$plot.title.position
[1] "panel"
$plot.subtitle
$family
NULL
$face
NULL
$colour
NULL
$size
NULL
$hjust
[1] 0
$vjust
[1] 1
$angle
NULL
$lineheight
NULL
$margin
[1] 0points   0points   5.5points 0points  
$debug
NULL
$inherit.blank
[1] TRUE
attr(,"class")
[1] "element_text" "element"     
$plot.caption
$family
NULL
$face
NULL
$colour
NULL
$size
[1] 0.8 *
$hjust
[1] 1
$vjust
[1] 1
$angle
NULL
$lineheight
NULL
$margin
[1] 5.5points 0points   0points   0points  
$debug
NULL
$inherit.blank
[1] TRUE
attr(,"class")
[1] "element_text" "element"     
$plot.caption.position
[1] "panel"
$plot.tag
$family
NULL
$face
NULL
$colour
NULL
$size
[1] 1.2 *
$hjust
[1] 0.5
$vjust
[1] 0.5
$angle
NULL
$lineheight
NULL
$margin
NULL
$debug
NULL
$inherit.blank
[1] TRUE
attr(,"class")
[1] "element_text" "element"     
$plot.tag.position
[1] "topleft"
$plot.tag.location
NULL
$plot.margin
[1] 5.5points 5.5points 5.5points 5.5points
$strip.background
list()
attr(,"class")
[1] "element_blank" "element"      
$strip.background.x
NULL
$strip.background.y
NULL
$strip.clip
[1] "inherit"
$strip.placement
[1] "inside"
$strip.text
$family
NULL
$face
NULL
$colour
[1] "grey10"
$size
[1] 0.8 *
$hjust
NULL
$vjust
NULL
$angle
NULL
$lineheight
NULL
$margin
[1] 4.4points 4.4points 4.4points 4.4points
$debug
NULL
$inherit.blank
[1] TRUE
attr(,"class")
[1] "element_text" "element"     
$strip.text.x
NULL
$strip.text.x.bottom
NULL
$strip.text.x.top
NULL
$strip.text.y
$family
NULL
$face
NULL
$colour
NULL
$size
NULL
$hjust
NULL
$vjust
NULL
$angle
[1] -90
$lineheight
NULL
$margin
NULL
$debug
NULL
$inherit.blank
[1] TRUE
attr(,"class")
[1] "element_text" "element"     
$strip.text.y.left
$family
NULL
$face
NULL
$colour
NULL
$size
NULL
$hjust
NULL
$vjust
NULL
$angle
[1] 90
$lineheight
NULL
$margin
NULL
$debug
NULL
$inherit.blank
[1] TRUE
attr(,"class")
[1] "element_text" "element"     
$strip.text.y.right
NULL
$strip.switch.pad.grid
[1] 2.75points
$strip.switch.pad.wrap
[1] 2.75points
attr(,"class")
[1] "theme" "gg"   
attr(,"complete")
[1] TRUE
attr(,"validate")
[1] TRUE
$coordinates
&lt;ggproto object: Class CoordCartesian, Coord, gg&gt;
    aspect: function
    backtransform_range: function
    clip: on
    default: FALSE
    distance: function
    draw_panel: function
    expand: TRUE
    is_free: function
    is_linear: function
    labels: function
    limits: list
    modify_scales: function
    range: function
    render_axis_h: function
    render_axis_v: function
    render_bg: function
    render_fg: function
    reverse: none
    setup_data: function
    setup_layout: function
    setup_panel_guides: function
    setup_panel_params: function
    setup_params: function
    train_panel_guides: function
    transform: function
    super:  &lt;ggproto object: Class CoordCartesian, Coord, gg&gt;
$facet
&lt;ggproto object: Class FacetNull, Facet, gg&gt;
    attach_axes: function
    attach_strips: function
    compute_layout: function
    draw_back: function
    draw_front: function
    draw_labels: function
    draw_panel_content: function
    draw_panels: function
    finish_data: function
    format_strip_labels: function
    init_gtable: function
    init_scales: function
    map_data: function
    params: list
    set_panel_size: function
    setup_data: function
    setup_panel_params: function
    setup_params: function
    shrink: TRUE
    train_scales: function
    vars: function
    super:  &lt;ggproto object: Class FacetNull, Facet, gg&gt;
$plot_env
&lt;environment: R_GlobalEnv&gt;
$layout
&lt;ggproto object: Class Layout, gg&gt;
    coord: NULL
    coord_params: list
    facet: NULL
    facet_params: list
    finish_data: function
    get_scales: function
    layout: NULL
    map_position: function
    panel_params: NULL
    panel_scales_x: NULL
    panel_scales_y: NULL
    render: function
    render_labels: function
    reset_scales: function
    resolve_label: function
    setup: function
    setup_panel_guides: function
    setup_panel_params: function
    train_position: function
    super:  &lt;ggproto object: Class Layout, gg&gt;
$labels
$labels$x
[1] "Proportion of black on nose"
$labels$y
[1] "Age (years)"
$labels$title
[1] "Lion Age vs. Nose Blackness"
$labels$xend
[1] "proportion_black[10]"
$labels$yend
[1] "predict(lion_model)[10]"
attr(,"class")
[1] "gg"     "ggplot"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Linear Regression Model</a:t>
            </a:r>
          </a:p>
          <a:p>
            <a:pPr lvl="0"/>
            <a:r>
              <a:rPr/>
              <a:t>male lions develop more black pigmentation on their noses as they age.</a:t>
            </a:r>
          </a:p>
          <a:p>
            <a:pPr lvl="0"/>
            <a:r>
              <a:rPr/>
              <a:t>can be used to estimate the age of lions in the field.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age_years ~ proportion_black, data = lion_data)
Residuals:
    Min      1Q  Median      3Q     Max 
-2.5449 -1.1117 -0.5285  0.9635  4.3421 
Coefficients:
                 Estimate Std. Error t value Pr(&gt;|t|)    
(Intercept)        0.8790     0.5688   1.545    0.133    
proportion_black  10.6471     1.5095   7.053 7.68e-08 ***
---
Signif. codes:  0 '***' 0.001 '**' 0.01 '*' 0.05 '.' 0.1 ' ' 1
Residual standard error: 1.669 on 30 degrees of freedom
Multiple R-squared:  0.6238,    Adjusted R-squared:  0.6113 
F-statistic: 49.75 on 1 and 30 DF,  p-value: 7.677e-08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Simple Linear Regression Model</a:t>
                </a:r>
              </a:p>
              <a:p>
                <a:pPr lvl="0" indent="0" marL="0">
                  <a:buNone/>
                </a:pPr>
                <a:r>
                  <a:rPr/>
                  <a:t>The calculation for slope (m) is:</a:t>
                </a:r>
                <a:br/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m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Y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acc>
                                        <m:accPr>
                                          <m:chr m:val="‾"/>
                                        </m:accPr>
                                        <m:e>
                                          <m:r>
                                            <m:t>X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Given:</a:t>
                </a:r>
              </a:p>
              <a:p>
                <a:pPr lvl="1"/>
                <a:r>
                  <a:rPr/>
                  <a:t>-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0.3222</m:t>
                    </m:r>
                  </m:oMath>
                </a14:m>
              </a:p>
              <a:p>
                <a:pPr lvl="1"/>
                <a:r>
                  <a:rPr/>
                  <a:t>-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4.3094</m:t>
                    </m:r>
                  </m:oMath>
                </a14:m>
              </a:p>
              <a:p>
                <a:pPr lvl="1"/>
                <a:r>
                  <a:rPr/>
                  <a:t>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i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acc>
                                  <m:accPr>
                                    <m:chr m:val="‾"/>
                                  </m:accPr>
                                  <m:e>
                                    <m:r>
                                      <m:t>X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m:t>=</m:t>
                    </m:r>
                    <m:r>
                      <m:t>1.2221</m:t>
                    </m:r>
                  </m:oMath>
                </a14:m>
              </a:p>
              <a:p>
                <a:pPr lvl="1"/>
                <a:r>
                  <a:rPr/>
                  <a:t>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i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sSub>
                              <m:e>
                                <m:r>
                                  <m:t>X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−</m:t>
                            </m:r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X</m:t>
                                </m:r>
                              </m:e>
                            </m:acc>
                          </m:e>
                        </m:d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acc>
                          <m:accPr>
                            <m:chr m:val="‾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13.0123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b = 13.0123 / 1.2221 = 10.647</a:t>
                </a:r>
              </a:p>
              <a:p>
                <a:pPr lvl="0" indent="0" marL="0">
                  <a:buNone/>
                </a:pPr>
                <a:r>
                  <a:rPr/>
                  <a:t>Intercept (b): </a:t>
                </a:r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=</m:t>
                    </m:r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−</m:t>
                    </m:r>
                    <m:r>
                      <m:t>m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4.3094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10.647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0.3222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0.879</m:t>
                    </m:r>
                  </m:oMath>
                </a14:m>
              </a:p>
            </p:txBody>
          </p:sp>
        </mc:Choice>
      </mc:AlternateContent>
      <p:pic>
        <p:nvPicPr>
          <p:cNvPr descr="09_01_lecture_powerpoint_files/figure-pptx/overview-plot-1b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Simple Linear Regression Model</a:t>
                </a:r>
              </a:p>
              <a:p>
                <a:pPr lvl="0" indent="0" marL="0">
                  <a:buNone/>
                </a:pPr>
                <a:r>
                  <a:rPr b="1"/>
                  <a:t>Making predictions:</a:t>
                </a:r>
              </a:p>
              <a:p>
                <a:pPr lvl="0" indent="0" marL="0">
                  <a:buNone/>
                </a:pPr>
                <a:r>
                  <a:rPr/>
                  <a:t>To predict the age of a lion with 0.50 proportion of black on its nose: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0.88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10.65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0.50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6.2</m:t>
                      </m:r>
                      <m:r>
                        <m:rPr>
                          <m:nor/>
                          <m:sty m:val="p"/>
                        </m:rPr>
                        <m:t> years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Confidence intervals vs. Prediction intervals:</a:t>
                </a:r>
              </a:p>
              <a:p>
                <a:pPr lvl="0"/>
                <a:r>
                  <a:rPr b="1"/>
                  <a:t>Confidence interval</a:t>
                </a:r>
                <a:r>
                  <a:rPr/>
                  <a:t>: Range for the mean age of all lions with 0.50 black</a:t>
                </a:r>
              </a:p>
              <a:p>
                <a:pPr lvl="0"/>
                <a:r>
                  <a:rPr b="1"/>
                  <a:t>Prediction interval</a:t>
                </a:r>
                <a:r>
                  <a:rPr/>
                  <a:t>: Range for an individual lion with 0.50 black</a:t>
                </a:r>
              </a:p>
              <a:p>
                <a:pPr lvl="0" indent="0" marL="0">
                  <a:buNone/>
                </a:pPr>
                <a:r>
                  <a:rPr/>
                  <a:t>Both intervals are narrowest near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and widen as X moves away from the mean.</a:t>
                </a:r>
              </a:p>
            </p:txBody>
          </p:sp>
        </mc:Choice>
      </mc:AlternateContent>
      <p:pic>
        <p:nvPicPr>
          <p:cNvPr descr="09_01_lecture_powerpoint_files/figure-pptx/overview-plot-1bb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Prairie Home Companion</a:t>
            </a:r>
          </a:p>
          <a:p>
            <a:pPr lvl="0"/>
            <a:r>
              <a:rPr/>
              <a:t>Does biodiversity affect ecosystem stability?</a:t>
            </a:r>
          </a:p>
          <a:p>
            <a:pPr lvl="0"/>
            <a:r>
              <a:rPr/>
              <a:t>Tilman et al. (2006) investigated using experimental plots varying plant species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log_stability ~ species_number, data = prairie_data)
Residuals:
     Min       1Q   Median       3Q      Max 
-0.82774 -0.25344 -0.00426  0.27498  0.75240 
Coefficients:
               Estimate Std. Error t value Pr(&gt;|t|)    
(Intercept)    1.252629   0.041023  30.535  &lt; 2e-16 ***
species_number 0.025984   0.004926   5.275 4.28e-07 ***
---
Signif. codes:  0 '***' 0.001 '**' 0.01 '*' 0.05 '.' 0.1 ' ' 1
Residual standard error: 0.3433 on 159 degrees of freedom
Multiple R-squared:  0.149, Adjusted R-squared:  0.1436 
F-statistic: 27.83 on 1 and 159 DF,  p-value: 4.276e-07</a:t>
            </a:r>
          </a:p>
          <a:p>
            <a:pPr lvl="0" indent="0">
              <a:buNone/>
            </a:pPr>
            <a:r>
              <a:rPr>
                <a:latin typeface="Courier"/>
              </a:rPr>
              <a:t>Analysis of Variance Table
Response: log_stability
                Df  Sum Sq Mean Sq F value    Pr(&gt;F)    
species_number   1  3.2792  3.2792  27.829 4.276e-07 ***
Residuals      159 18.7358  0.1178                      
---
Signif. codes:  0 '***' 0.001 '**' 0.01 '*' 0.05 '.' 0.1 ' ' 1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hypothesis test asks whether the slope equals zero:</a:t>
            </a:r>
          </a:p>
          <a:p>
            <a:pPr lvl="0"/>
            <a:r>
              <a:rPr/>
              <a:t>H₀: β = 0 (species number does not affect stability)</a:t>
            </a:r>
          </a:p>
          <a:p>
            <a:pPr lvl="0"/>
            <a:r>
              <a:rPr/>
              <a:t>H₁: β ≠ 0 (species number does affect stability)</a:t>
            </a:r>
          </a:p>
          <a:p>
            <a:pPr lvl="0" indent="0" marL="0">
              <a:buNone/>
            </a:pPr>
            <a:r>
              <a:rPr/>
              <a:t>t = estimate/SE</a:t>
            </a:r>
          </a:p>
          <a:p>
            <a:pPr lvl="0" indent="0" marL="0">
              <a:buNone/>
            </a:pPr>
            <a:r>
              <a:rPr b="1"/>
              <a:t>Interpretation:</a:t>
            </a:r>
          </a:p>
          <a:p>
            <a:pPr lvl="0" indent="0" marL="0">
              <a:buNone/>
            </a:pPr>
            <a:r>
              <a:rPr/>
              <a:t>The slope estimate is 0.033, indicating that log stability increases by 0.033 units for each additional plant species in the plot.</a:t>
            </a:r>
          </a:p>
          <a:p>
            <a:pPr lvl="0" indent="0" marL="0">
              <a:buNone/>
            </a:pPr>
            <a:r>
              <a:rPr/>
              <a:t>The p-value is very small (2.73e-10), providing strong evidence to reject the null hypothesis that species number has no effect on ecosystem stability.</a:t>
            </a:r>
          </a:p>
          <a:p>
            <a:pPr lvl="0" indent="0" marL="0">
              <a:buNone/>
            </a:pPr>
            <a:r>
              <a:rPr/>
              <a:t>R² = 0.222, meaning that approximately 22.2% of the variation in log stability is explained by the number of plant species.</a:t>
            </a:r>
          </a:p>
          <a:p>
            <a:pPr lvl="0" indent="0" marL="0">
              <a:buNone/>
            </a:pPr>
            <a:r>
              <a:rPr/>
              <a:t>This supports the biodiversity-stability hypothesis: more diverse plant communities have more stable biomass production over time.</a:t>
            </a:r>
          </a:p>
        </p:txBody>
      </p:sp>
      <p:pic>
        <p:nvPicPr>
          <p:cNvPr descr="09_01_lecture_powerpoint_files/figure-pptx/overview-plot-1d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Testing Regression Assumptions</a:t>
                </a:r>
              </a:p>
              <a:p>
                <a:pPr lvl="0" indent="0" marL="0">
                  <a:buNone/>
                </a:pPr>
                <a:r>
                  <a:rPr/>
                  <a:t>linear regression has four key assumptions: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Linearity</a:t>
                </a:r>
                <a:r>
                  <a:rPr/>
                  <a:t>: The relationship between X and Y is linear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Independence</a:t>
                </a:r>
                <a:r>
                  <a:rPr/>
                  <a:t>: Observations are independent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Homoscedasticity</a:t>
                </a:r>
                <a:r>
                  <a:rPr/>
                  <a:t>: Equal variance across all values of X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Normality</a:t>
                </a:r>
                <a:r>
                  <a:rPr/>
                  <a:t>: Residuals are normally distributed</a:t>
                </a:r>
              </a:p>
              <a:p>
                <a:pPr lvl="0" indent="0" marL="0">
                  <a:buNone/>
                </a:pPr>
                <a:r>
                  <a:rPr/>
                  <a:t>Let’s check these assumptions for the lion regression model:</a:t>
                </a:r>
                <a:br/>
                <a:br/>
                <a:r>
                  <a:rPr/>
                  <a:t>Assume that </a:t>
                </a:r>
                <a:r>
                  <a:rPr b="1"/>
                  <a:t>error 𝞮 i</a:t>
                </a:r>
                <a:r>
                  <a:rPr/>
                  <a:t>s </a:t>
                </a:r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normally distributed for each x</a:t>
                </a:r>
                <a:r>
                  <a:rPr baseline="-25000"/>
                  <a:t>i</a:t>
                </a:r>
              </a:p>
              <a:p>
                <a:pPr lvl="0"/>
                <a:r>
                  <a:rPr/>
                  <a:t>has the same variance</a:t>
                </a:r>
              </a:p>
              <a:p>
                <a:pPr lvl="0"/>
                <a:r>
                  <a:rPr/>
                  <a:t>has a mean of 0 at each xi</a:t>
                </a:r>
              </a:p>
            </p:txBody>
          </p:sp>
        </mc:Choice>
      </mc:AlternateContent>
      <p:pic>
        <p:nvPicPr>
          <p:cNvPr descr="images/clipboard-209203423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08200"/>
            <a:ext cx="2781300" cy="158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Testing Regression Assumptions</a:t>
                </a:r>
              </a:p>
              <a:p>
                <a:pPr lvl="0" indent="0" marL="0">
                  <a:buNone/>
                </a:pPr>
                <a:r>
                  <a:rPr/>
                  <a:t>linear regression has four key assumptions: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Linearity</a:t>
                </a:r>
                <a:r>
                  <a:rPr/>
                  <a:t>: The relationship between X and Y is linear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Independence</a:t>
                </a:r>
                <a:r>
                  <a:rPr/>
                  <a:t>: Observations are independent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Homoscedasticity</a:t>
                </a:r>
                <a:r>
                  <a:rPr/>
                  <a:t>: Equal variance across all values of X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Normality</a:t>
                </a:r>
                <a:r>
                  <a:rPr/>
                  <a:t>: Residuals are normally distributed</a:t>
                </a:r>
              </a:p>
              <a:p>
                <a:pPr lvl="0" indent="0" marL="0">
                  <a:buNone/>
                </a:pPr>
                <a:r>
                  <a:rPr/>
                  <a:t>Let’s check these assumptions for the lion regression model:</a:t>
                </a:r>
                <a:br/>
                <a:br/>
                <a:r>
                  <a:rPr/>
                  <a:t>Assume that </a:t>
                </a:r>
                <a:r>
                  <a:rPr b="1"/>
                  <a:t>error 𝞮 i</a:t>
                </a:r>
                <a:r>
                  <a:rPr/>
                  <a:t>s - estimated as the residuals: </a:t>
                </a:r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ordinary lease square estimates a and b or slope and intercept to minimize the sum of the residuals squared as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n</m:t>
                        </m:r>
                      </m:sup>
                      <m:e>
                        <m:r>
                          <m:rPr>
                            <m:sty m:val="p"/>
                          </m:rPr>
                          <m:t>=</m:t>
                        </m:r>
                      </m:e>
                    </m:nary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sSub>
                              <m:e>
                                <m:r>
                                  <m:t>y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−</m:t>
                            </m:r>
                            <m:sSub>
                              <m:e>
                                <m:acc>
                                  <m:accPr>
                                    <m:chr m:val="̂"/>
                                  </m:accPr>
                                  <m:e>
                                    <m:r>
                                      <m:t>y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a:p>
            </p:txBody>
          </p:sp>
        </mc:Choice>
      </mc:AlternateContent>
      <p:pic>
        <p:nvPicPr>
          <p:cNvPr descr="images/clipboard-14110524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30400"/>
            <a:ext cx="27813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Regression Assumptions</a:t>
            </a:r>
          </a:p>
          <a:p>
            <a:pPr lvl="0" indent="0" marL="0">
              <a:buNone/>
            </a:pPr>
            <a:r>
              <a:rPr/>
              <a:t>linear regression has four key assumptions:</a:t>
            </a:r>
          </a:p>
          <a:p>
            <a:pPr lvl="0" indent="-342900" marL="342900">
              <a:buAutoNum type="arabicPeriod"/>
            </a:pPr>
            <a:r>
              <a:rPr b="1"/>
              <a:t>Linearity</a:t>
            </a:r>
            <a:r>
              <a:rPr/>
              <a:t>: The relationship between X and Y is linear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: Observations are independent</a:t>
            </a:r>
          </a:p>
          <a:p>
            <a:pPr lvl="0" indent="-342900" marL="342900">
              <a:buAutoNum type="arabicPeriod"/>
            </a:pPr>
            <a:r>
              <a:rPr b="1"/>
              <a:t>Homoscedasticity</a:t>
            </a:r>
            <a:r>
              <a:rPr/>
              <a:t>: Equal variance across all values of X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: Residuals are normally distributed</a:t>
            </a:r>
          </a:p>
          <a:p>
            <a:pPr lvl="0" indent="0" marL="0">
              <a:buNone/>
            </a:pPr>
            <a:r>
              <a:rPr/>
              <a:t>Let’s check these assumptions for the lion regression model:</a:t>
            </a:r>
          </a:p>
          <a:p>
            <a:pPr lvl="0" indent="0" marL="0">
              <a:buNone/>
            </a:pPr>
            <a:r>
              <a:rPr/>
              <a:t>Linearity - how does this plot work</a:t>
            </a:r>
          </a:p>
        </p:txBody>
      </p:sp>
      <p:pic>
        <p:nvPicPr>
          <p:cNvPr descr="09_01_lecture_powerpoint_files/figure-pptx/overview-plot-1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Regression Assumptions</a:t>
            </a:r>
          </a:p>
          <a:p>
            <a:pPr lvl="0" indent="0" marL="0">
              <a:buNone/>
            </a:pPr>
            <a:r>
              <a:rPr/>
              <a:t>linear regression has four key assumptions:</a:t>
            </a:r>
          </a:p>
          <a:p>
            <a:pPr lvl="0" indent="-342900" marL="342900">
              <a:buAutoNum type="arabicPeriod"/>
            </a:pPr>
            <a:r>
              <a:rPr b="1"/>
              <a:t>Linearity</a:t>
            </a:r>
            <a:r>
              <a:rPr/>
              <a:t>: The relationship between X and Y is linear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: Observations are independent</a:t>
            </a:r>
          </a:p>
          <a:p>
            <a:pPr lvl="0" indent="-342900" marL="342900">
              <a:buAutoNum type="arabicPeriod"/>
            </a:pPr>
            <a:r>
              <a:rPr b="1"/>
              <a:t>Homoscedasticity</a:t>
            </a:r>
            <a:r>
              <a:rPr/>
              <a:t>: Equal variance across all values of X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: Residuals are normally distributed</a:t>
            </a:r>
          </a:p>
          <a:p>
            <a:pPr lvl="0" indent="0" marL="0">
              <a:buNone/>
            </a:pPr>
            <a:r>
              <a:rPr/>
              <a:t>Let’s check these assumptions for the lion regression model:</a:t>
            </a:r>
          </a:p>
        </p:txBody>
      </p:sp>
      <p:pic>
        <p:nvPicPr>
          <p:cNvPr descr="09_01_lecture_powerpoint_files/figure-pptx/overview-plot-1f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Regression Assumptions</a:t>
            </a:r>
          </a:p>
          <a:p>
            <a:pPr lvl="0" indent="0" marL="0">
              <a:buNone/>
            </a:pPr>
            <a:r>
              <a:rPr/>
              <a:t>linear regression has four key assumptions:</a:t>
            </a:r>
          </a:p>
          <a:p>
            <a:pPr lvl="0" indent="-342900" marL="342900">
              <a:buAutoNum type="arabicPeriod"/>
            </a:pPr>
            <a:r>
              <a:rPr b="1"/>
              <a:t>Linearity</a:t>
            </a:r>
            <a:r>
              <a:rPr/>
              <a:t>: The relationship between X and Y is linear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: Observations are independent</a:t>
            </a:r>
          </a:p>
          <a:p>
            <a:pPr lvl="0" indent="-342900" marL="342900">
              <a:buAutoNum type="arabicPeriod"/>
            </a:pPr>
            <a:r>
              <a:rPr b="1"/>
              <a:t>Homoscedasticity</a:t>
            </a:r>
            <a:r>
              <a:rPr/>
              <a:t>: Equal variance across all values of X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: Residuals are normally distributed</a:t>
            </a:r>
          </a:p>
          <a:p>
            <a:pPr lvl="0" indent="0" marL="0">
              <a:buNone/>
            </a:pPr>
            <a:r>
              <a:rPr/>
              <a:t>Let’s check these assumptions for the lion regression model: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    Shapiro-Wilk normality test
data:  residuals(lion_model)
W = 0.93879, p-value = 0.0692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Linear Regression Model</a:t>
            </a:r>
          </a:p>
          <a:p>
            <a:pPr lvl="0" indent="0" marL="0">
              <a:buNone/>
            </a:pPr>
            <a:r>
              <a:rPr/>
              <a:t>linear regression has four key assumptions:</a:t>
            </a:r>
          </a:p>
          <a:p>
            <a:pPr lvl="0" indent="-342900" marL="342900">
              <a:buAutoNum type="arabicPeriod"/>
            </a:pPr>
            <a:r>
              <a:rPr b="1"/>
              <a:t>Linearity</a:t>
            </a:r>
            <a:r>
              <a:rPr/>
              <a:t>: The relationship between X and Y is linear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: Observations are independent</a:t>
            </a:r>
          </a:p>
          <a:p>
            <a:pPr lvl="0" indent="-342900" marL="342900">
              <a:buAutoNum type="arabicPeriod"/>
            </a:pPr>
            <a:r>
              <a:rPr b="1"/>
              <a:t>Homoscedasticity</a:t>
            </a:r>
            <a:r>
              <a:rPr/>
              <a:t>: Equal variance across all values of X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: Residuals are normally distributed</a:t>
            </a:r>
          </a:p>
          <a:p>
            <a:pPr lvl="0" indent="0" marL="0">
              <a:buNone/>
            </a:pPr>
            <a:r>
              <a:rPr/>
              <a:t>If assumptions are violated: 1. Transform the data (Section 17.6) 2. Use weighted least squares for heteroscedasticity 3. Consider non-linear models (Section 17.8)</a:t>
            </a:r>
          </a:p>
        </p:txBody>
      </p:sp>
      <p:pic>
        <p:nvPicPr>
          <p:cNvPr descr="09_01_lecture_powerpoint_files/figure-pptx/overview-plot-1h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error and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Estimates of standard error and confidence intervals for slow and intercept to determine confidence bands</a:t>
            </a:r>
          </a:p>
          <a:p>
            <a:pPr lvl="0"/>
            <a:r>
              <a:rPr/>
              <a:t>the 95% confidence band will contain the true population line 95/100 under repeated sampling</a:t>
            </a:r>
          </a:p>
          <a:p>
            <a:pPr lvl="0"/>
            <a:r>
              <a:rPr/>
              <a:t>this is usually done in R</a:t>
            </a:r>
          </a:p>
        </p:txBody>
      </p:sp>
      <p:pic>
        <p:nvPicPr>
          <p:cNvPr descr="images/clipboard-93459430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374900"/>
            <a:ext cx="2781300" cy="102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error and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addition to getting estimates of population parameters (β0 , β1), want to test hypotheses about them</a:t>
            </a:r>
          </a:p>
          <a:p>
            <a:pPr lvl="0"/>
            <a:r>
              <a:rPr/>
              <a:t>This is accomplished by analysis of variance</a:t>
            </a:r>
          </a:p>
          <a:p>
            <a:pPr lvl="0"/>
            <a:r>
              <a:rPr/>
              <a:t>Partition variance in Y: due to variation in X, due to other things (error)</a:t>
            </a:r>
          </a:p>
        </p:txBody>
      </p:sp>
      <p:pic>
        <p:nvPicPr>
          <p:cNvPr descr="images/clipboard-281778718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25700"/>
            <a:ext cx="2781300" cy="92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Total variation in Y is “partitioned” into 3 components: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: variation explained by regression</a:t>
                </a:r>
              </a:p>
              <a:p>
                <a:pPr lvl="1"/>
                <a:r>
                  <a:rPr/>
                  <a:t>difference between predicted values (ŷi ) and mean y (ȳ)</a:t>
                </a:r>
              </a:p>
              <a:p>
                <a:pPr lvl="1"/>
                <a:r>
                  <a:rPr/>
                  <a:t>dfs= 1 for simple linear (parameters-1)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variation not explained by regression</a:t>
                </a:r>
              </a:p>
              <a:p>
                <a:pPr lvl="1"/>
                <a:r>
                  <a:rPr/>
                  <a:t>difference between observed (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and predicted (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values</a:t>
                </a:r>
              </a:p>
              <a:p>
                <a:pPr lvl="1"/>
                <a:r>
                  <a:rPr/>
                  <a:t>dfs= n-2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total variation</a:t>
                </a:r>
              </a:p>
              <a:p>
                <a:pPr lvl="1"/>
                <a:r>
                  <a:rPr/>
                  <a:t>sum of squared deviations of each observation (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from mean (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)</a:t>
                </a:r>
              </a:p>
              <a:p>
                <a:pPr lvl="1"/>
                <a:r>
                  <a:rPr/>
                  <a:t>dfs = n-1</a:t>
                </a:r>
              </a:p>
            </p:txBody>
          </p:sp>
        </mc:Choice>
      </mc:AlternateContent>
      <p:pic>
        <p:nvPicPr>
          <p:cNvPr descr="images/clipboard-281778718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25700"/>
            <a:ext cx="2781300" cy="92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Total variation in Y is “partitioned” into 3 components: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: variation explained by regression</a:t>
                </a:r>
              </a:p>
              <a:p>
                <a:pPr lvl="1"/>
                <a:r>
                  <a:rPr/>
                  <a:t>difference between predicted values (ŷi ) and mean y (ȳ)</a:t>
                </a:r>
              </a:p>
              <a:p>
                <a:pPr lvl="1"/>
                <a:r>
                  <a:rPr/>
                  <a:t>dfs= 1 for simple linear (parameters-1)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variation not explained by regression</a:t>
                </a:r>
              </a:p>
              <a:p>
                <a:pPr lvl="1"/>
                <a:r>
                  <a:rPr/>
                  <a:t>difference between observed (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and predicted (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values</a:t>
                </a:r>
              </a:p>
              <a:p>
                <a:pPr lvl="1"/>
                <a:r>
                  <a:rPr/>
                  <a:t>dfs= n-2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total variation</a:t>
                </a:r>
              </a:p>
              <a:p>
                <a:pPr lvl="1"/>
                <a:r>
                  <a:rPr/>
                  <a:t>sum of squared deviations of each observation (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from mean (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)</a:t>
                </a:r>
              </a:p>
              <a:p>
                <a:pPr lvl="1"/>
                <a:r>
                  <a:rPr/>
                  <a:t>dfs = n-1</a:t>
                </a:r>
              </a:p>
            </p:txBody>
          </p:sp>
        </mc:Choice>
      </mc:AlternateContent>
      <p:pic>
        <p:nvPicPr>
          <p:cNvPr descr="images/clipboard-7706327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38400"/>
            <a:ext cx="2781300" cy="91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Total variation in Y is “partitioned” into 3 components: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: variation explained by regression</a:t>
                </a:r>
              </a:p>
              <a:p>
                <a:pPr lvl="1"/>
                <a:r>
                  <a:rPr/>
                  <a:t>GREATER IN C than D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variation not explained by regression</a:t>
                </a:r>
              </a:p>
              <a:p>
                <a:pPr lvl="1"/>
                <a:r>
                  <a:rPr/>
                  <a:t>GREATER IN B THAN A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total variation</a:t>
                </a:r>
              </a:p>
            </p:txBody>
          </p:sp>
        </mc:Choice>
      </mc:AlternateContent>
      <p:pic>
        <p:nvPicPr>
          <p:cNvPr descr="images/clipboard-21715154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92300"/>
            <a:ext cx="2781300" cy="199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Sums of Squares and degress of freedome are: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d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d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d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Sums of Squares depends on n</a:t>
                </a:r>
              </a:p>
              <a:p>
                <a:pPr lvl="0"/>
                <a:r>
                  <a:rPr/>
                  <a:t>We need a different estimate of variance</a:t>
                </a:r>
              </a:p>
            </p:txBody>
          </p:sp>
        </mc:Choice>
      </mc:AlternateContent>
      <p:pic>
        <p:nvPicPr>
          <p:cNvPr descr="images/clipboard-275897227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38400"/>
            <a:ext cx="2781300" cy="91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Sums of Squares converted to Mean Squares</a:t>
                </a:r>
              </a:p>
              <a:p>
                <a:pPr lvl="0"/>
                <a:r>
                  <a:rPr/>
                  <a:t>Sums of Squares divided by degrees of freedom - does not depend on n</a:t>
                </a:r>
              </a:p>
              <a:p>
                <a:pPr lvl="0"/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estimate population variation</a:t>
                </a:r>
              </a:p>
              <a:p>
                <a:pPr lvl="0"/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: estimate pop variation and variation due to X-Y relationship</a:t>
                </a:r>
              </a:p>
              <a:p>
                <a:pPr lvl="0"/>
                <a:r>
                  <a:rPr/>
                  <a:t>Mean Squares are not additive</a:t>
                </a:r>
              </a:p>
            </p:txBody>
          </p:sp>
        </mc:Choice>
      </mc:AlternateContent>
      <p:pic>
        <p:nvPicPr>
          <p:cNvPr descr="images/clipboard-275897227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38400"/>
            <a:ext cx="2781300" cy="91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09 Correlation and Regression</dc:title>
  <dc:creator>Bill Perry</dc:creator>
  <cp:keywords/>
  <dcterms:created xsi:type="dcterms:W3CDTF">2025-11-07T19:46:56Z</dcterms:created>
  <dcterms:modified xsi:type="dcterms:W3CDTF">2025-11-07T19:46:56Z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