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 with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nonparametric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that it is tested by a t 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booby data: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</p:txBody>
      </p:sp>
      <p:pic>
        <p:nvPicPr>
          <p:cNvPr descr="09_01_lecture_powerpoint_files/figure-pptx/overview-plot-2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understand the amount of variation explained, you can square the non parametric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typically stronger than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 for correlation:</a:t>
            </a:r>
          </a:p>
          <a:p>
            <a:pPr lvl="2" indent="-342900" marL="1028700">
              <a:buAutoNum type="arabicPeriod"/>
            </a:pPr>
            <a:r>
              <a:rPr/>
              <a:t>X causes Y</a:t>
            </a:r>
          </a:p>
          <a:p>
            <a:pPr lvl="2" indent="-342900" marL="1028700">
              <a:buAutoNum type="arabicPeriod"/>
            </a:pPr>
            <a:r>
              <a:rPr/>
              <a:t>Y causes X</a:t>
            </a:r>
          </a:p>
          <a:p>
            <a:pPr lvl="2" indent="-342900" marL="1028700">
              <a:buAutoNum type="arabicPeriod"/>
            </a:pPr>
            <a:r>
              <a:rPr/>
              <a:t>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</a:t>
            </a:r>
          </a:p>
          <a:p>
            <a:pPr lvl="1"/>
            <a:r>
              <a:rPr/>
              <a:t>H₁: ρ ≠ 0 (correlation exists in population)</a:t>
            </a:r>
          </a:p>
          <a:p>
            <a:pPr lvl="1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$data
# A tibble: 32 × 2
   proportion_black age_years
              &lt;dbl&gt;     &lt;dbl&gt;
 1             0.21       1.1
 2             0.14       1.5
 3             0.11       1.9
 4             0.13       2.2
 5             0.12       2.6
 6             0.13       3.2
 7             0.12       3.2
 8             0.18       2.9
 9             0.23       2.4
10             0.22       2.1
# ℹ 22 more rows
$layers
$layers[[1]]
geom_point: na.rm = FALSE
stat_identity: na.rm = FALSE
position_identity 
$layers[[2]]
geom_smooth: se = FALSE, na.rm = FALSE, orientation = NA
stat_smooth: method = lm, formula = NULL, se = FALSE, n = 80, fullrange = TRUE, level = 0.95, na.rm = FALSE, orientation = NA, method.args = list(), span = 0.75, xseq = c(-0.1, 1)
position_identity 
$layers[[3]]
mapping: x = ~proportion_black[10], y = ~age_years[10], xend = ~proportion_black[10], yend = ~predict(lion_model)[10] 
geom_segment: arrow = NULL, arrow.fill = NULL, lineend = butt, linejoin = round, na.rm = FALSE
stat_identity: na.rm = FALSE
position_identity 
$layers[[4]]
mapping: x = ~x, y = ~y 
geom_text: na.rm = FALSE
stat_identity: na.rm = FALSE
position_identity 
$layers[[5]]
mapping: x = ~x, y = ~y 
geom_text: na.rm = FALSE
stat_identity: na.rm = FALSE
position_identity 
$layers[[6]]
mapping: x = ~x, y = ~y 
geom_text: na.rm = FALSE
stat_identity: na.rm = FALSE
position_identity 
$layers[[7]]
mapping: x = ~x, y = ~y 
geom_text: na.rm = FALSE
stat_identity: na.rm = FALSE
position_identity 
$scales
&lt;ggproto object: Class ScalesList, gg&gt;
    add: function
    add_defaults: function
    add_missing: function
    backtransform_df: function
    clone: function
    find: function
    get_scales: function
    has_scale: function
    input: function
    map_df: function
    n: function
    non_position_scales: function
    scales: list
    set_palettes: function
    train_df: function
    transform_df: function
    super:  &lt;ggproto object: Class ScalesList, gg&gt;
$guides
&lt;Guides[0] ggproto object&gt;
&lt;empty&gt;
$mapping
$x
&lt;quosure&gt;
expr: ^proportion_black
env:  global
$y
&lt;quosure&gt;
expr: ^age_years
env:  global
attr(,"class")
[1] "uneval"
$theme
$line
$colour
[1] "black"
$linewidth
[1] 0.5
$linetype
[1] 1
$lineend
[1] "butt"
$arrow
[1] FALSE
$inherit.blank
[1] TRUE
attr(,"class")
[1] "element_line" "element"     
$rect
$fill
[1] "white"
$colour
[1] "black"
$linewidth
[1] 0.5
$linetype
[1] 1
$inherit.blank
[1] TRUE
attr(,"class")
[1] "element_rect" "element"     
$text
$family
[1] ""
$face
[1] "plain"
$colour
[1] "black"
$size
[1] 11
$hjust
[1] 0.5
$vjust
[1] 0.5
$angle
[1] 0
$lineheight
[1] 0.9
$margin
[1] 0points 0points 0points 0points
$debug
[1] FALSE
$inherit.blank
[1] TRUE
attr(,"class")
[1] "element_text" "element"     
$title
NULL
$aspect.ratio
NULL
$axis.title
NULL
$axis.title.x
$family
NULL
$face
NULL
$colour
NULL
$size
NULL
$hjust
NULL
$vjust
[1] 1
$angle
NULL
$lineheight
NULL
$margin
[1] 2.75points 0points    0points    0points   
$debug
NULL
$inherit.blank
[1] TRUE
attr(,"class")
[1] "element_text" "element"     
$axis.title.x.top
$family
NULL
$face
NULL
$colour
NULL
$size
NULL
$hjust
NULL
$vjust
[1] 0
$angle
NULL
$lineheight
NULL
$margin
[1] 0points    0points    2.75points 0points   
$debug
NULL
$inherit.blank
[1] TRUE
attr(,"class")
[1] "element_text" "element"     
$axis.title.x.bottom
NULL
$axis.title.y
$family
NULL
$face
NULL
$colour
NULL
$size
NULL
$hjust
NULL
$vjust
[1] 1
$angle
[1] 90
$lineheight
NULL
$margin
[1] 0points    2.75points 0points    0points   
$debug
NULL
$inherit.blank
[1] TRUE
attr(,"class")
[1] "element_text" "element"     
$axis.title.y.left
NULL
$axis.title.y.right
$family
NULL
$face
NULL
$colour
NULL
$size
NULL
$hjust
NULL
$vjust
[1] 1
$angle
[1] -90
$lineheight
NULL
$margin
[1] 0points    0points    0points    2.75points
$debug
NULL
$inherit.blank
[1] TRUE
attr(,"class")
[1] "element_text" "element"     
$axis.text
$family
NULL
$face
NULL
$colour
[1] "grey30"
$size
[1] 0.8 *
$hjust
NULL
$vjust
NULL
$angle
NULL
$lineheight
NULL
$margin
NULL
$debug
NULL
$inherit.blank
[1] TRUE
attr(,"class")
[1] "element_text" "element"     
$axis.text.x
$family
NULL
$face
NULL
$colour
NULL
$size
NULL
$hjust
NULL
$vjust
[1] 1
$angle
NULL
$lineheight
NULL
$margin
[1] 2.2points 0points   0points   0points  
$debug
NULL
$inherit.blank
[1] TRUE
attr(,"class")
[1] "element_text" "element"     
$axis.text.x.top
$family
NULL
$face
NULL
$colour
NULL
$size
NULL
$hjust
NULL
$vjust
[1] 0
$angle
NULL
$lineheight
NULL
$margin
[1] 0points   0points   2.2points 0points  
$debug
NULL
$inherit.blank
[1] TRUE
attr(,"class")
[1] "element_text" "element"     
$axis.text.x.bottom
NULL
$axis.text.y
$family
NULL
$face
NULL
$colour
NULL
$size
NULL
$hjust
[1] 1
$vjust
NULL
$angle
NULL
$lineheight
NULL
$margin
[1] 0points   2.2points 0points   0points  
$debug
NULL
$inherit.blank
[1] TRUE
attr(,"class")
[1] "element_text" "element"     
$axis.text.y.left
NULL
$axis.text.y.right
$family
NULL
$face
NULL
$colour
NULL
$size
NULL
$hjust
[1] 0
$vjust
NULL
$angle
NULL
$lineheight
NULL
$margin
[1] 0points   0points   0points   2.2points
$debug
NULL
$inherit.blank
[1] TRUE
attr(,"class")
[1] "element_text" "element"     
$axis.text.theta
NULL
$axis.text.r
$family
NULL
$face
NULL
$colour
NULL
$size
NULL
$hjust
[1] 0.5
$vjust
NULL
$angle
NULL
$lineheight
NULL
$margin
[1] 0points   2.2points 0points   2.2points
$debug
NULL
$inherit.blank
[1] TRUE
attr(,"class")
[1] "element_text" "element"     
$axis.ticks
list()
attr(,"class")
[1] "element_blank" "element"      
$axis.ticks.x
NULL
$axis.ticks.x.top
NULL
$axis.ticks.x.bottom
NULL
$axis.ticks.y
NULL
$axis.ticks.y.left
NULL
$axis.ticks.y.right
NULL
$axis.ticks.theta
NULL
$axis.ticks.r
NULL
$axis.minor.ticks.x.top
NULL
$axis.minor.ticks.x.bottom
NULL
$axis.minor.ticks.y.left
NULL
$axis.minor.ticks.y.right
NULL
$axis.minor.ticks.theta
NULL
$axis.minor.ticks.r
NULL
$axis.ticks.length
[1] 2.75points
$axis.ticks.length.x
NULL
$axis.ticks.length.x.top
NULL
$axis.ticks.length.x.bottom
NULL
$axis.ticks.length.y
NULL
$axis.ticks.length.y.left
NULL
$axis.ticks.length.y.right
NULL
$axis.ticks.length.theta
NULL
$axis.ticks.length.r
NULL
$axis.minor.ticks.length
[1] 0.75 *
$axis.minor.ticks.length.x
NULL
$axis.minor.ticks.length.x.top
NULL
$axis.minor.ticks.length.x.bottom
NULL
$axis.minor.ticks.length.y
NULL
$axis.minor.ticks.length.y.left
NULL
$axis.minor.ticks.length.y.right
NULL
$axis.minor.ticks.length.theta
NULL
$axis.minor.ticks.length.r
NULL
$axis.line
list()
attr(,"class")
[1] "element_blank" "element"      
$axis.line.x
NULL
$axis.line.x.top
NULL
$axis.line.x.bottom
NULL
$axis.line.y
NULL
$axis.line.y.left
NULL
$axis.line.y.right
NULL
$axis.line.theta
NULL
$axis.line.r
NULL
$legend.background
list()
attr(,"class")
[1] "element_blank" "element"      
$legend.margin
[1] 5.5points 5.5points 5.5points 5.5points
$legend.spacing
[1] 11points
$legend.spacing.x
NULL
$legend.spacing.y
NULL
$legend.key
list()
attr(,"class")
[1] "element_blank" "element"      
$legend.key.size
[1] 1.2lines
$legend.key.height
NULL
$legend.key.width
NULL
$legend.key.spacing
[1] 5.5points
$legend.key.spacing.x
NULL
$legend.key.spacing.y
NULL
$legend.frame
NULL
$legend.ticks
NULL
$legend.ticks.length
[1] 0.2 *
$legend.axis.line
NULL
$legend.text
$family
NULL
$face
NULL
$colour
NULL
$size
[1] 0.8 *
$hjust
NULL
$vjust
NULL
$angle
NULL
$lineheight
NULL
$margin
NULL
$debug
NULL
$inherit.blank
[1] TRUE
attr(,"class")
[1] "element_text" "element"     
$legend.text.position
NULL
$legend.title
$family
NULL
$face
NULL
$colour
NULL
$size
NULL
$hjust
[1] 0
$vjust
NULL
$angle
NULL
$lineheight
NULL
$margin
NULL
$debug
NULL
$inherit.blank
[1] TRUE
attr(,"class")
[1] "element_text" "element"     
$legend.title.position
NULL
$legend.position
[1] "right"
$legend.position.inside
NULL
$legend.direction
NULL
$legend.byrow
NULL
$legend.justification
[1] "center"
$legend.justification.top
NULL
$legend.justification.bottom
NULL
$legend.justification.left
NULL
$legend.justification.right
NULL
$legend.justification.inside
NULL
$legend.location
NULL
$legend.box
NULL
$legend.box.just
NULL
$legend.box.margin
[1] 0cm 0cm 0cm 0cm
$legend.box.background
list()
attr(,"class")
[1] "element_blank" "element"      
$legend.box.spacing
[1] 11points
$panel.background
list()
attr(,"class")
[1] "element_blank" "element"      
$panel.border
list()
attr(,"class")
[1] "element_blank" "element"      
$panel.spacing
[1] 5.5points
$panel.spacing.x
NULL
$panel.spacing.y
NULL
$panel.grid
$colour
[1] "grey92"
$linewidth
NULL
$linetype
NULL
$lineend
NULL
$arrow
[1] FALSE
$inherit.blank
[1] TRUE
attr(,"class")
[1] "element_line" "element"     
$panel.grid.major
NULL
$panel.grid.minor
$colour
NULL
$linewidth
[1] 0.5 *
$linetype
NULL
$lineend
NULL
$arrow
[1] FALSE
$inherit.blank
[1] TRUE
attr(,"class")
[1] "element_line" "element"     
$panel.grid.major.x
NULL
$panel.grid.major.y
NULL
$panel.grid.minor.x
NULL
$panel.grid.minor.y
NULL
$panel.ontop
[1] FALSE
$plot.background
list()
attr(,"class")
[1] "element_blank" "element"      
$plot.title
$family
NULL
$face
NULL
$colour
NULL
$size
[1] 1.2 *
$hjust
[1] 0
$vjust
[1] 1
$angle
NULL
$lineheight
NULL
$margin
[1] 0points   0points   5.5points 0points  
$debug
NULL
$inherit.blank
[1] TRUE
attr(,"class")
[1] "element_text" "element"     
$plot.title.position
[1] "panel"
$plot.subtitle
$family
NULL
$face
NULL
$colour
NULL
$size
NULL
$hjust
[1] 0
$vjust
[1] 1
$angle
NULL
$lineheight
NULL
$margin
[1] 0points   0points   5.5points 0points  
$debug
NULL
$inherit.blank
[1] TRUE
attr(,"class")
[1] "element_text" "element"     
$plot.caption
$family
NULL
$face
NULL
$colour
NULL
$size
[1] 0.8 *
$hjust
[1] 1
$vjust
[1] 1
$angle
NULL
$lineheight
NULL
$margin
[1] 5.5points 0points   0points   0points  
$debug
NULL
$inherit.blank
[1] TRUE
attr(,"class")
[1] "element_text" "element"     
$plot.caption.position
[1] "panel"
$plot.tag
$family
NULL
$face
NULL
$colour
NULL
$size
[1] 1.2 *
$hjust
[1] 0.5
$vjust
[1] 0.5
$angle
NULL
$lineheight
NULL
$margin
NULL
$debug
NULL
$inherit.blank
[1] TRUE
attr(,"class")
[1] "element_text" "element"     
$plot.tag.position
[1] "topleft"
$plot.tag.location
NULL
$plot.margin
[1] 5.5points 5.5points 5.5points 5.5points
$strip.background
list()
attr(,"class")
[1] "element_blank" "element"      
$strip.background.x
NULL
$strip.background.y
NULL
$strip.clip
[1] "inherit"
$strip.placement
[1] "inside"
$strip.text
$family
NULL
$face
NULL
$colour
[1] "grey10"
$size
[1] 0.8 *
$hjust
NULL
$vjust
NULL
$angle
NULL
$lineheight
NULL
$margin
[1] 4.4points 4.4points 4.4points 4.4points
$debug
NULL
$inherit.blank
[1] TRUE
attr(,"class")
[1] "element_text" "element"     
$strip.text.x
NULL
$strip.text.x.bottom
NULL
$strip.text.x.top
NULL
$strip.text.y
$family
NULL
$face
NULL
$colour
NULL
$size
NULL
$hjust
NULL
$vjust
NULL
$angle
[1] -90
$lineheight
NULL
$margin
NULL
$debug
NULL
$inherit.blank
[1] TRUE
attr(,"class")
[1] "element_text" "element"     
$strip.text.y.left
$family
NULL
$face
NULL
$colour
NULL
$size
NULL
$hjust
NULL
$vjust
NULL
$angle
[1] 90
$lineheight
NULL
$margin
NULL
$debug
NULL
$inherit.blank
[1] TRUE
attr(,"class")
[1] "element_text" "element"     
$strip.text.y.right
NULL
$strip.switch.pad.grid
[1] 2.75points
$strip.switch.pad.wrap
[1] 2.75points
attr(,"class")
[1] "theme" "gg"   
attr(,"complete")
[1] TRUE
attr(,"validate")
[1] TRUE
$coordinates
&lt;ggproto object: Class CoordCartesian, Coord, gg&gt;
    aspect: function
    backtransform_range: function
    clip: on
    default: FALSE
    distance: function
    draw_panel: function
    expand: TRUE
    is_free: function
    is_linear: function
    labels: function
    limits: list
    modify_scales: function
    range: function
    render_axis_h: function
    render_axis_v: function
    render_bg: function
    render_fg: function
    reverse: none
    setup_data: function
    setup_layout: function
    setup_panel_guides: function
    setup_panel_params: function
    setup_params: function
    train_panel_guides: function
    transform: function
    super:  &lt;ggproto object: Class CoordCartesian, Coord, gg&gt;
$facet
&lt;ggproto object: Class FacetNull, Facet, gg&gt;
    attach_axes: function
    attach_strips: function
    compute_layout: function
    draw_back: function
    draw_front: function
    draw_labels: function
    draw_panel_content: function
    draw_panels: function
    finish_data: function
    format_strip_labels: function
    init_gtable: function
    init_scales: function
    map_data: function
    params: list
    set_panel_size: function
    setup_data: function
    setup_panel_params: function
    setup_params: function
    shrink: TRUE
    train_scales: function
    vars: function
    super:  &lt;ggproto object: Class FacetNull, Facet, gg&gt;
$plot_env
&lt;environment: R_GlobalEnv&gt;
$layout
&lt;ggproto object: Class Layout, gg&gt;
    coord: NULL
    coord_params: list
    facet: NULL
    facet_params: list
    finish_data: function
    get_scales: function
    layout: NULL
    map_position: function
    panel_params: NULL
    panel_scales_x: NULL
    panel_scales_y: NULL
    render: function
    render_labels: function
    reset_scales: function
    resolve_label: function
    setup: function
    setup_panel_guides: function
    setup_panel_params: function
    train_position: function
    super:  &lt;ggproto object: Class Layout, gg&gt;
$labels
$labels$x
[1] "Proportion of black on nose"
$labels$y
[1] "Age (years)"
$labels$title
[1] "Lion Age vs. Nose Blackness"
$labels$xend
[1] "proportion_black[10]"
$labels$yend
[1] "predict(lion_model)[10]"
attr(,"class")
[1] "gg"     "ggplot"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(m)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Given:</a:t>
                </a:r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‾"/>
                                  </m:accPr>
                                  <m:e>
                                    <m:r>
                                      <m:t>X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</m:d>
                      </m:e>
                    </m:nary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(b):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0.3222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0.50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estimate/SE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that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sSub>
                              <m:e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y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  <a:p>
            <a:pPr lvl="0" indent="0" marL="0">
              <a:buNone/>
            </a:pPr>
            <a:r>
              <a:rPr/>
              <a:t>Linearity - how does this plot work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2025-11-10T19:32:48Z</dcterms:created>
  <dcterms:modified xsi:type="dcterms:W3CDTF">2025-11-10T19:32:48Z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