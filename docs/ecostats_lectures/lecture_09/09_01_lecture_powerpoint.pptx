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</a:t>
            </a:r>
          </a:p>
          <a:p>
            <a:pPr lvl="0"/>
            <a:r>
              <a:rPr/>
              <a:t>Estimates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nonparticipant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0.5337225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lion_data$proportion_black
W = 0.88895, p-value = 0.003279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lion_data$age_years
W = 0.87615, p-value = 0.001615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  <a:p>
            <a:pPr lvl="0" indent="0" marL="0">
              <a:buNone/>
            </a:pPr>
            <a:r>
              <a:rPr/>
              <a:t>To understand the amount of variation explained, you can square the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 indent="0" marL="0">
              <a:buNone/>
            </a:pPr>
            <a:r>
              <a:rPr b="1"/>
              <a:t>The correlation coefficient depends on the range</a:t>
            </a:r>
          </a:p>
          <a:p>
            <a:pPr lvl="0"/>
            <a:r>
              <a:rPr/>
              <a:t>Restricting range of values can reduce the correlation coefficient</a:t>
            </a:r>
          </a:p>
          <a:p>
            <a:pPr lvl="0"/>
            <a:r>
              <a:rPr/>
              <a:t>Comparing correlations between studies requires similar ranges of values</a:t>
            </a:r>
          </a:p>
          <a:p>
            <a:pPr lvl="0" indent="0" marL="0">
              <a:buNone/>
            </a:pPr>
            <a:r>
              <a:rPr b="1"/>
              <a:t>Measurement error affects correlation</a:t>
            </a:r>
          </a:p>
          <a:p>
            <a:pPr lvl="0"/>
            <a:r>
              <a:rPr/>
              <a:t>Measurement error in X or Y tends to weaken observed correlation</a:t>
            </a:r>
          </a:p>
          <a:p>
            <a:pPr lvl="0"/>
            <a:r>
              <a:rPr/>
              <a:t>This bias is called </a:t>
            </a:r>
            <a:r>
              <a:rPr b="1"/>
              <a:t>attenuation</a:t>
            </a:r>
          </a:p>
          <a:p>
            <a:pPr lvl="0"/>
            <a:r>
              <a:rPr/>
              <a:t>True correlation typically stronger than observed correlation</a:t>
            </a:r>
          </a:p>
          <a:p>
            <a:pPr lvl="0" indent="0" marL="0">
              <a:buNone/>
            </a:pPr>
            <a:r>
              <a:rPr b="1"/>
              <a:t>Correlation vs. Causation</a:t>
            </a:r>
          </a:p>
          <a:p>
            <a:pPr lvl="0"/>
            <a:r>
              <a:rPr/>
              <a:t>Correlation does not imply causation</a:t>
            </a:r>
          </a:p>
          <a:p>
            <a:pPr lvl="0"/>
            <a:r>
              <a:rPr/>
              <a:t>Three possible explanations for correlation:</a:t>
            </a:r>
          </a:p>
          <a:p>
            <a:pPr lvl="1" indent="-342900" marL="685800">
              <a:buAutoNum type="arabicPeriod"/>
            </a:pPr>
            <a:r>
              <a:rPr/>
              <a:t>X causes Y</a:t>
            </a:r>
          </a:p>
          <a:p>
            <a:pPr lvl="1" indent="-342900" marL="685800">
              <a:buAutoNum type="arabicPeriod"/>
            </a:pPr>
            <a:r>
              <a:rPr/>
              <a:t>Y causes X</a:t>
            </a:r>
          </a:p>
          <a:p>
            <a:pPr lvl="1" indent="-342900" marL="685800">
              <a:buAutoNum type="arabicPeriod"/>
            </a:pPr>
            <a:r>
              <a:rPr/>
              <a:t>Z (a third variable) causes both X and Y</a:t>
            </a:r>
          </a:p>
          <a:p>
            <a:pPr lvl="0" indent="0" marL="0">
              <a:buNone/>
            </a:pPr>
            <a:r>
              <a:rPr b="1"/>
              <a:t>Correlation significance test</a:t>
            </a:r>
          </a:p>
          <a:p>
            <a:pPr lvl="0"/>
            <a:r>
              <a:rPr/>
              <a:t>H₀: ρ = 0 (no correlation in population)</a:t>
            </a:r>
          </a:p>
          <a:p>
            <a:pPr lvl="0"/>
            <a:r>
              <a:rPr/>
              <a:t>H₁: ρ ≠ 0 (correlation exists in population)</a:t>
            </a:r>
          </a:p>
          <a:p>
            <a:pPr lvl="0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 - When a lion has no black on its nose (proportion = 0), its predicted age is 0.88 years - For each 0.1 increase in the proportion of black, age increases by 1.065 years - 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01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(b)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Given: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(a):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b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species_number log_stability
           &lt;dbl&gt;         &lt;dbl&gt;
1              1         0.763
2              1         1.45 
3              1         1.51 
4              1         0.747
5              1         0.983
6              1         1.12 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[1] "rsquared is:  0.148953385305455"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hypothesis test asks whether the slope equals zero:</a:t>
                </a:r>
              </a:p>
              <a:p>
                <a:pPr lvl="0"/>
                <a:r>
                  <a:rPr/>
                  <a:t>H₀: β = 0 (species number does not affect stability)</a:t>
                </a:r>
              </a:p>
              <a:p>
                <a:pPr lvl="0"/>
                <a:r>
                  <a:rPr/>
                  <a:t>H₁: β ≠ 0 (species number does affect stability)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test statistic is: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b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b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With df = n - 2 = 161 - 2 = 159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</a:p>
              <a:p>
                <a:pPr lvl="0" indent="0" marL="0">
                  <a:buNone/>
                </a:pPr>
                <a:r>
                  <a:rPr/>
                  <a:t>The slope estimate is 0.033, indicating that log stability increases by 0.033 units for each additional plant species in the plot.</a:t>
                </a:r>
              </a:p>
              <a:p>
                <a:pPr lvl="0" indent="0" marL="0">
                  <a:buNone/>
                </a:pPr>
                <a:r>
                  <a:rPr/>
                  <a:t>The p-value is very small (2.73e-10), providing strong evidence to reject the null hypothesis that species number has no effect on ecosystem stability.</a:t>
                </a:r>
              </a:p>
              <a:p>
                <a:pPr lvl="0" indent="0" marL="0">
                  <a:buNone/>
                </a:pPr>
                <a:r>
                  <a:rPr/>
                  <a:t>R² = 0.222, meaning that approximately 22.2% of the variation in log stability is explained by the number of plant species.</a:t>
                </a:r>
              </a:p>
              <a:p>
                <a:pPr lvl="0" indent="0" marL="0">
                  <a:buNone/>
                </a:pPr>
                <a:r>
                  <a:rPr/>
                  <a:t>This supports the biodiversity-stability hypothesis: more diverse plant communities have more stable biomass production over time.</a:t>
                </a:r>
              </a:p>
            </p:txBody>
          </p:sp>
        </mc:Choice>
      </mc:AlternateContent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or Mean Squared Error (MSE)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2025-08-14T16:00:29Z</dcterms:created>
  <dcterms:modified xsi:type="dcterms:W3CDTF">2025-08-14T16:00:29Z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