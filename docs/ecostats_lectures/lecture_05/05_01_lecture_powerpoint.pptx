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0"/>
            <a:r>
              <a:rPr/>
              <a:t>Descriptive Statistics</a:t>
            </a:r>
          </a:p>
          <a:p>
            <a:pPr lvl="1"/>
            <a:r>
              <a:rPr/>
              <a:t>Center - mean, median, mode</a:t>
            </a:r>
          </a:p>
          <a:p>
            <a:pPr lvl="1"/>
            <a:r>
              <a:rPr/>
              <a:t>Spread - range, variance, standard deviation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 - Statistical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0"/>
            <a:r>
              <a:rPr/>
              <a:t>Descriptive Statistics</a:t>
            </a:r>
          </a:p>
          <a:p>
            <a:pPr lvl="1"/>
            <a:r>
              <a:rPr/>
              <a:t>Center - mean, median, mode</a:t>
            </a:r>
          </a:p>
          <a:p>
            <a:pPr lvl="1"/>
            <a:r>
              <a:rPr/>
              <a:t>Spread - range, variance, standard deviation</a:t>
            </a:r>
          </a:p>
        </p:txBody>
      </p:sp>
      <p:pic>
        <p:nvPicPr>
          <p:cNvPr descr="images/clipboard-325723926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98700"/>
            <a:ext cx="2781300" cy="118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4: Review -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0"/>
            <a:r>
              <a:rPr/>
              <a:t>Descriptive Statistics</a:t>
            </a:r>
          </a:p>
          <a:p>
            <a:pPr lvl="1"/>
            <a:r>
              <a:rPr/>
              <a:t>Center - mean, median, mode</a:t>
            </a:r>
          </a:p>
          <a:p>
            <a:pPr lvl="1"/>
            <a:r>
              <a:rPr/>
              <a:t>Spread - range, variance, standard deviation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69973134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lake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mean_length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sd_length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se_length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count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265.6061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28.30378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3.483954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362.5980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52.33901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5.182334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Tests</a:t>
            </a:r>
          </a:p>
          <a:p>
            <a:pPr lvl="0"/>
            <a:r>
              <a:rPr/>
              <a:t>Two sample T Test</a:t>
            </a:r>
          </a:p>
        </p:txBody>
      </p:sp>
      <p:pic>
        <p:nvPicPr>
          <p:cNvPr descr="0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Confidence intervals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more typical case DON’T know the population σ or standard deviation</a:t>
            </a:r>
          </a:p>
          <a:p>
            <a:pPr lvl="0"/>
            <a:r>
              <a:rPr/>
              <a:t>estimate it from the samples</a:t>
            </a:r>
          </a:p>
          <a:p>
            <a:pPr lvl="0"/>
            <a:r>
              <a:rPr/>
              <a:t>and when sample size is &lt;~30)</a:t>
            </a:r>
          </a:p>
          <a:p>
            <a:pPr lvl="0"/>
            <a:r>
              <a:rPr/>
              <a:t>can’t use the standard normal (z) distribution</a:t>
            </a:r>
          </a:p>
          <a:p>
            <a:pPr lvl="0" indent="0" marL="0">
              <a:buNone/>
            </a:pPr>
            <a:r>
              <a:rPr i="1"/>
              <a:t>Instead, we use Student’s t distribution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Understanding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sample sizes are small, the </a:t>
            </a:r>
            <a:r>
              <a:rPr b="1"/>
              <a:t>t-distribution</a:t>
            </a:r>
            <a:r>
              <a:rPr/>
              <a:t> is more appropriate than the normal distribution.</a:t>
            </a:r>
          </a:p>
          <a:p>
            <a:pPr lvl="0"/>
            <a:r>
              <a:rPr/>
              <a:t>Similar to normal distribution but with heavier tails</a:t>
            </a:r>
          </a:p>
          <a:p>
            <a:pPr lvl="0"/>
            <a:r>
              <a:rPr/>
              <a:t>Shape depends on </a:t>
            </a:r>
            <a:r>
              <a:rPr b="1"/>
              <a:t>degrees of freedom</a:t>
            </a:r>
            <a:r>
              <a:rPr/>
              <a:t> (df = n-1)</a:t>
            </a:r>
          </a:p>
          <a:p>
            <a:pPr lvl="0"/>
            <a:r>
              <a:rPr/>
              <a:t>With large df (&gt;30), approaches the normal distribution</a:t>
            </a:r>
          </a:p>
          <a:p>
            <a:pPr lvl="0"/>
            <a:r>
              <a:rPr/>
              <a:t>Used for:</a:t>
            </a:r>
          </a:p>
          <a:p>
            <a:pPr lvl="1"/>
            <a:r>
              <a:rPr/>
              <a:t>Small sample sizes</a:t>
            </a:r>
          </a:p>
          <a:p>
            <a:pPr lvl="1"/>
            <a:r>
              <a:rPr/>
              <a:t>When population standard deviation is unknown</a:t>
            </a:r>
          </a:p>
          <a:p>
            <a:pPr lvl="1"/>
            <a:r>
              <a:rPr/>
              <a:t>Calculating confidence intervals</a:t>
            </a:r>
          </a:p>
          <a:p>
            <a:pPr lvl="1"/>
            <a:r>
              <a:rPr/>
              <a:t>Conducting t-tests</a:t>
            </a:r>
          </a:p>
        </p:txBody>
      </p:sp>
      <p:pic>
        <p:nvPicPr>
          <p:cNvPr descr="0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38300"/>
            <a:ext cx="2781300" cy="250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t-distribution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sample sizes are small, the </a:t>
            </a:r>
            <a:r>
              <a:rPr b="1"/>
              <a:t>t-distribution</a:t>
            </a:r>
            <a:r>
              <a:rPr/>
              <a:t> is more appropriate than the normal distribution.</a:t>
            </a:r>
          </a:p>
          <a:p>
            <a:pPr lvl="0"/>
            <a:r>
              <a:rPr/>
              <a:t>Similar to normal distribution (1.96 = 2.5% tails) but with heavier tails</a:t>
            </a:r>
          </a:p>
          <a:p>
            <a:pPr lvl="0"/>
            <a:r>
              <a:rPr/>
              <a:t>Shape depends on </a:t>
            </a:r>
            <a:r>
              <a:rPr b="1"/>
              <a:t>degrees of freedom</a:t>
            </a:r>
            <a:r>
              <a:rPr/>
              <a:t> (df = n-1)</a:t>
            </a:r>
          </a:p>
          <a:p>
            <a:pPr lvl="0"/>
            <a:r>
              <a:rPr/>
              <a:t>With large df (&gt;30), approaches the normal distribution</a:t>
            </a:r>
          </a:p>
          <a:p>
            <a:pPr lvl="0"/>
            <a:r>
              <a:rPr/>
              <a:t>Used for:</a:t>
            </a:r>
          </a:p>
          <a:p>
            <a:pPr lvl="1"/>
            <a:r>
              <a:rPr/>
              <a:t>Small sample sizes</a:t>
            </a:r>
          </a:p>
          <a:p>
            <a:pPr lvl="1"/>
            <a:r>
              <a:rPr/>
              <a:t>When population standard deviation is unknown</a:t>
            </a:r>
          </a:p>
          <a:p>
            <a:pPr lvl="1"/>
            <a:r>
              <a:rPr/>
              <a:t>Calculating confidence intervals</a:t>
            </a:r>
          </a:p>
          <a:p>
            <a:pPr lvl="1"/>
            <a:r>
              <a:rPr/>
              <a:t>Conducting t-tests</a:t>
            </a:r>
          </a:p>
        </p:txBody>
      </p:sp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Using 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Using the t-distribution</a:t>
            </a:r>
          </a:p>
          <a:p>
            <a:pPr lvl="0" indent="0" marL="1270000">
              <a:buNone/>
            </a:pPr>
            <a:r>
              <a:rPr sz="2000"/>
              <a:t>Let’s compare confidence intervals using the normal approximation (z) versus the t-distribution for our fish data.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CI using both z and t distributions for a smaller subset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small_sample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sample_sd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sample_n &lt;-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(small_sample)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sample_se &lt;- sample_sd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(sample_n)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z_ci_lower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z_ci_upper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For t-distribution, get critical value for 95% CI with df = n-1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t_crit &lt;-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sample_n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t_ci_lower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t_crit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t_ci_upper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t_crit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(sample_mean,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276.2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(sample_sd,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Standard deviation: 17.22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error:"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(sample_se,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Standard error: 5.44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CI using z:"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(z_ci_lower,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(z_ci_upper,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95% CI using z: 265.5 to 286.9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CI using t:"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(t_ci_lower,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(t_ci_upper,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95% CI using t: 263.9 to 288.5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 critical 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(t_crit,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"vs z critical value: 1.96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t critical value: 2.262 vs z critical value: 1.96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Student’s t-distribution 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 calculate CI for sample from “unknown” population: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ȳ is sample mean</a:t>
                </a:r>
              </a:p>
              <a:p>
                <a:pPr lvl="0"/>
                <a:r>
                  <a:rPr/>
                  <a:t>𝑛 is sample size</a:t>
                </a:r>
              </a:p>
              <a:p>
                <a:pPr lvl="0"/>
                <a:r>
                  <a:rPr/>
                  <a:t>s is sample standard deviation</a:t>
                </a:r>
              </a:p>
              <a:p>
                <a:pPr lvl="0"/>
                <a:r>
                  <a:rPr/>
                  <a:t>t t-value corresponding the probability of the CI</a:t>
                </a:r>
              </a:p>
              <a:p>
                <a:pPr lvl="0"/>
                <a:r>
                  <a:rPr/>
                  <a:t>t in t-table for different degrees of freedom (n-1)</a:t>
                </a:r>
              </a:p>
            </p:txBody>
          </p:sp>
        </mc:Choice>
      </mc:AlternateContent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Student’s t-distribution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Here is a t-table</a:t>
            </a:r>
          </a:p>
          <a:p>
            <a:pPr lvl="0"/>
            <a:r>
              <a:rPr/>
              <a:t>Values of t that correspond to probabilities</a:t>
            </a:r>
          </a:p>
          <a:p>
            <a:pPr lvl="0"/>
            <a:r>
              <a:rPr/>
              <a:t>Probabilities listed along top</a:t>
            </a:r>
          </a:p>
          <a:p>
            <a:pPr lvl="0"/>
            <a:r>
              <a:rPr/>
              <a:t>Sample dfs are listed in the left-most column</a:t>
            </a:r>
          </a:p>
          <a:p>
            <a:pPr lvl="0"/>
            <a:r>
              <a:rPr/>
              <a:t>Probabilities are given for one-tailed and two-tailed “questions”</a:t>
            </a:r>
          </a:p>
        </p:txBody>
      </p:sp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</a:t>
            </a:r>
          </a:p>
          <a:p>
            <a:pPr lvl="0"/>
            <a:r>
              <a:rPr/>
              <a:t>n=20 (df=19) - 90% of the observations found left</a:t>
            </a:r>
          </a:p>
          <a:p>
            <a:pPr lvl="0"/>
            <a:r>
              <a:rPr/>
              <a:t>t= 1.328 (10%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20900"/>
            <a:ext cx="2781300" cy="153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20 (df=19), 90% of the observations are between</a:t>
            </a:r>
          </a:p>
          <a:p>
            <a:pPr lvl="0"/>
            <a:r>
              <a:rPr/>
              <a:t>t=-1.729 and t=1.729 (10%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95500"/>
            <a:ext cx="2781300" cy="160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272.8 ± 2.262 * (37.81/(9^0.5)) = 1.650788</a:t>
                </a:r>
              </a:p>
              <a:p>
                <a:pPr lvl="0"/>
                <a:r>
                  <a:rPr/>
                  <a:t>The 95% CI is between 244.3 and 301.3</a:t>
                </a:r>
              </a:p>
              <a:p>
                <a:pPr lvl="0"/>
                <a:r>
                  <a:rPr/>
                  <a:t>“The 95% CI for the population mean from sample A is 272.8 ± 28.5”</a:t>
                </a:r>
              </a:p>
            </p:txBody>
          </p:sp>
        </mc:Choice>
      </mc:AlternateContent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 from population with mean = µ?” (1 sample t-test)</a:t>
            </a:r>
          </a:p>
          <a:p>
            <a:pPr lvl="1"/>
            <a:r>
              <a:rPr/>
              <a:t>“What is the probability that two samples came from same population?” (2 sample t-test)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Single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fish length in I3 differs from 240mm.</a:t>
            </a:r>
          </a:p>
          <a:p>
            <a:pPr lvl="0" indent="0" marL="0"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240 (The mean fish length in I3 is 240mm)</a:t>
            </a:r>
          </a:p>
          <a:p>
            <a:pPr lvl="0" indent="0" marL="0">
              <a:buNone/>
            </a:pPr>
            <a:r>
              <a:rPr/>
              <a:t>H₁: μ ≠ 240 (The mean fish length in I3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just windward side needles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Test normality of windward pine needle lengths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length of Grayling"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5_01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53 35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shapiro_test &lt;-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(shapiro_test)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i3_df$length_mm
W = 0.91051, p-value = 0.0001623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for outliers using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(lake, length_mm))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5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fish length in I3 Lake differs from 240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(i3_mean,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265.6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240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test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i3_df$length_mm
t = 7.3497, df = 65, p-value = 4.17e-10
alternative hypothesis: true mean is not equal to 240
95 percent confidence interval:
 258.6481 272.5640
sample estimates:
mean of x 
 265.6061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fish biologists?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&lt; α == p &lt; 0.05</a:t>
            </a:r>
          </a:p>
        </p:txBody>
      </p:sp>
      <p:pic>
        <p:nvPicPr>
          <p:cNvPr descr="0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- Original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one-sample t-test at α=0.05 showed that the mean pine needle length on the windward side (… mm, SD = …) [was/was not] significantly different from the expected 55 mm, t(…) = …, p = …”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  <a:p>
            <a:pPr lvl="0" indent="0" marL="0">
              <a:buNone/>
            </a:pPr>
            <a:r>
              <a:rPr/>
              <a:t>This is what we will do with the pine needles…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Now create a boxplot to visualize the difference in fish lengths between these lakes: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boxplot comparing the two lakes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pine_wind_plot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wind))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"Pine Needle Lengths by Wind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"Position"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"Wind Position"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"skyblue"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"Leeward"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"Windward"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pine_wind_plot</a:t>
            </a:r>
          </a:p>
        </p:txBody>
      </p:sp>
      <p:pic>
        <p:nvPicPr>
          <p:cNvPr descr="05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20800"/>
            <a:ext cx="40386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the t-test results and the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what can you conclude about the fish populations in these two lakes?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pine needles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needles on the lee side longer than the needles on the windy side?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pine needle lengths between windward and leeward sides of trees.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windward and leeward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wind exposure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(wind)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(group_summary)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wind  mean_length sd_length     n se_length
  &lt;chr&gt;       &lt;dbl&gt;     &lt;dbl&gt; &lt;int&gt;     &lt;dbl&gt;
1 lee          20.4      2.45    24     0.500
2 wind         14.9      1.91    24     0.390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Group Differences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boxplot comparing the two sides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pine_wind_plot</a:t>
            </a:r>
          </a:p>
        </p:txBody>
      </p:sp>
      <p:pic>
        <p:nvPicPr>
          <p:cNvPr descr="05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mean_length[wind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"wind"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mean_length[wind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"lee"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-5.5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stats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whit a lot of others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wind))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Pine Needle Length by Wind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"Wind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"skyblue"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"Leeward"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"Windward"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Creating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6: Test normality of windward pine needle lengths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7: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windward pine needle lengths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do you make separate dataframes to do this on?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Separate data by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windward_data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(wind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leeward_data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(wind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(leeward_data)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6
  date    group       n_s   wind  tree_no length_mm
  &lt;chr&gt;   &lt;chr&gt;       &lt;chr&gt; &lt;chr&gt;   &lt;dbl&gt;     &lt;dbl&gt;
1 3/20/25 cephalopods n     lee         1        20
2 3/20/25 cephalopods n     lee         1        21
3 3/20/25 cephalopods n     lee         1        23
4 3/20/25 cephalopods n     lee         1        25
5 3/20/25 cephalopods n     lee         1        21
6 3/20/25 cephalopods n     lee         1        16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QQ Plot for Windward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of windward pine needle lengths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QQ Plot for windward group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(windward_data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Windward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</a:p>
          <a:p>
            <a:pPr lvl="0" indent="0">
              <a:buNone/>
            </a:pPr>
            <a:r>
              <a:rPr sz="2000">
                <a:latin typeface="Courier"/>
              </a:rPr>
              <a:t>[1] 21 22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9: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9: Test normality of windward pine needle lengths</a:t>
            </a:r>
          </a:p>
          <a:p>
            <a:pPr lvl="0" indent="0" marL="1270000">
              <a:buNone/>
            </a:pPr>
            <a:r>
              <a:rPr sz="2000"/>
              <a:t>Shapiro-Wilk test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windward group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shapiro_windward &lt;-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(windward_data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"Shapiro-Wilk test for windward data:"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"Shapiro-Wilk test for windward data:"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(shapiro_windward)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Shapiro-Wilk normality test
data:  windward_data$length_mm
W = 0.96062, p-value = 0.451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10: QQ Plot for Leeward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10: Test normality of leeward pine needle lengths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 can also test the leeward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 for leeward group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(leeward_data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Leeward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</a:p>
          <a:p>
            <a:pPr lvl="0" indent="0">
              <a:buNone/>
            </a:pPr>
            <a:r>
              <a:rPr sz="2000">
                <a:latin typeface="Courier"/>
              </a:rPr>
              <a:t>[1]  4 16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11: Shapiro-Wilk for Leeward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11: Test normality of leeward pine needle lengths</a:t>
            </a:r>
          </a:p>
          <a:p>
            <a:pPr lvl="0" indent="0" marL="1270000">
              <a:buNone/>
            </a:pPr>
            <a:r>
              <a:rPr sz="2000"/>
              <a:t>Shapiro-Wilk test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leeward group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shapiro_lee &lt;-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(leeward_data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"Shapiro-Wilk test for leeward data:"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"Shapiro-Wilk test for leeward data:"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(shapiro_lee)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Shapiro-Wilk normality test
data:  leeward_data$length_mm
W = 0.95477, p-value = 0.3425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12: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12: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there are always two ways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normality using Shapiro-Wilk test for each wind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All in one pipeline using tidyverse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(wind)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Print the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(normality_results)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wind  shapiro_stat shapiro_p_value normal_distribution
  &lt;chr&gt;        &lt;dbl&gt;           &lt;dbl&gt; &lt;chr&gt;              
1 lee          0.955           0.343 Normal             
2 wind         0.961           0.451 Normal             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Method 1: Using car package's leveneTest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often preferred as it's more robust to departures from normality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pine_df)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1.2004 0.2789
      46              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pine needle lengths between windward and leeward sides.</a:t>
            </a:r>
          </a:p>
          <a:p>
            <a:pPr lvl="0" indent="0" marL="0">
              <a:buNone/>
            </a:pPr>
            <a:r>
              <a:rPr/>
              <a:t>Ho: μ₁ = μ₂ (The mean needle lengths are equal)</a:t>
            </a:r>
          </a:p>
          <a:p>
            <a:pPr lvl="0" indent="0" marL="0">
              <a:buNone/>
            </a:pPr>
            <a:r>
              <a:rPr/>
              <a:t>Ha: μ₁ ≠ μ₂ (The mean needle lengths are different)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  <a:p>
            <a:pPr lvl="0" indent="0" marL="0">
              <a:buNone/>
            </a:pPr>
            <a:r>
              <a:rPr b="1"/>
              <a:t>Note the Levenes Test should be NOT SIGNIFICANT - What is the null hypothesis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1.2004 0.2789
      46               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Running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do a two sample TTEST</a:t>
            </a:r>
          </a:p>
          <a:p>
            <a:pPr lvl="0" indent="0" marL="0">
              <a:buNone/>
            </a:pPr>
            <a:r>
              <a:rPr/>
              <a:t>Calculate t-statistic manually (optional)</a:t>
            </a:r>
          </a:p>
          <a:p>
            <a:pPr lvl="0" indent="0" marL="0">
              <a:buNone/>
            </a:pPr>
            <a:r>
              <a:rPr/>
              <a:t>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pine_df,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Two Sample t-test
data:  length_mm by wind
t = 8.6792, df = 46, p-value = 3.01e-11
alternative hypothesis: true difference in means between group lee and group wind is not equal to 0
95 percent confidence interval:
 4.224437 6.775563
sample estimates:
 mean in group lee mean in group wind 
          20.41667           14.91667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t-test (if variances are unequal)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windward vs. leeward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windward (M = …, SD = …) and leeward (M = …, SD = …) sides of pine trees, t(…) = …, p = ….”</a:t>
            </a:r>
          </a:p>
        </p:txBody>
      </p:sp>
      <p:pic>
        <p:nvPicPr>
          <p:cNvPr descr="05_01_lecture_powerpoint_files/figure-pptx/unnamed-chunk-2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Visualizing the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windward vs. leeward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windward (M = …, SD = …) and leeward (M = …, SD = …) sides of pine trees, t(…) = …, p = ….”</a:t>
            </a:r>
          </a:p>
        </p:txBody>
      </p:sp>
      <p:pic>
        <p:nvPicPr>
          <p:cNvPr descr="05_01_lecture_powerpoint_files/figure-pptx/unnamed-chunk-2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2025-08-28T21:50:22Z</dcterms:created>
  <dcterms:modified xsi:type="dcterms:W3CDTF">2025-08-28T21:50:22Z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