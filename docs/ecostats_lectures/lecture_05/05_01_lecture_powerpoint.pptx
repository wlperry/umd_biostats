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50" Type="http://schemas.openxmlformats.org/officeDocument/2006/relationships/viewProps" Target="viewProps.xml" /><Relationship Id="rId4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2" Type="http://schemas.openxmlformats.org/officeDocument/2006/relationships/tableStyles" Target="tableStyles.xml" /><Relationship Id="rId5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05: Probability and Statistical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Introduction to histograms or frequency distributions</a:t>
            </a:r>
          </a:p>
          <a:p>
            <a:pPr lvl="0"/>
            <a:r>
              <a:rPr/>
              <a:t>Probability Distribution Functions (PDF)</a:t>
            </a:r>
          </a:p>
          <a:p>
            <a:pPr lvl="0"/>
            <a:r>
              <a:rPr/>
              <a:t>Descriptive Statistics</a:t>
            </a:r>
          </a:p>
          <a:p>
            <a:pPr lvl="1"/>
            <a:r>
              <a:rPr/>
              <a:t>Center - mean, median, mode</a:t>
            </a:r>
          </a:p>
          <a:p>
            <a:pPr lvl="1"/>
            <a:r>
              <a:rPr/>
              <a:t>Spread - range, variance, standard deviation</a:t>
            </a:r>
          </a:p>
        </p:txBody>
      </p:sp>
      <p:pic>
        <p:nvPicPr>
          <p:cNvPr descr="images/clipboard-5365283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 Review - Statistical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Introduction to histograms or frequency distributions</a:t>
            </a:r>
          </a:p>
          <a:p>
            <a:pPr lvl="0"/>
            <a:r>
              <a:rPr/>
              <a:t>Probability Distribution Functions (PDF)</a:t>
            </a:r>
          </a:p>
          <a:p>
            <a:pPr lvl="0"/>
            <a:r>
              <a:rPr/>
              <a:t>Descriptive Statistics</a:t>
            </a:r>
          </a:p>
          <a:p>
            <a:pPr lvl="1"/>
            <a:r>
              <a:rPr/>
              <a:t>Center - mean, median, mode</a:t>
            </a:r>
          </a:p>
          <a:p>
            <a:pPr lvl="1"/>
            <a:r>
              <a:rPr/>
              <a:t>Spread - range, variance, standard deviation</a:t>
            </a:r>
          </a:p>
        </p:txBody>
      </p:sp>
      <p:pic>
        <p:nvPicPr>
          <p:cNvPr descr="images/clipboard-325723926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98700"/>
            <a:ext cx="2781300" cy="118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4: Review -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Introduction to histograms or frequency distributions</a:t>
            </a:r>
          </a:p>
          <a:p>
            <a:pPr lvl="0"/>
            <a:r>
              <a:rPr/>
              <a:t>Probability Distribution Functions (PDF)</a:t>
            </a:r>
          </a:p>
          <a:p>
            <a:pPr lvl="0"/>
            <a:r>
              <a:rPr/>
              <a:t>Descriptive Statistics</a:t>
            </a:r>
          </a:p>
          <a:p>
            <a:pPr lvl="1"/>
            <a:r>
              <a:rPr/>
              <a:t>Center - mean, median, mode</a:t>
            </a:r>
          </a:p>
          <a:p>
            <a:pPr lvl="1"/>
            <a:r>
              <a:rPr/>
              <a:t>Spread - range, variance, standard deviation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569973134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lake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mean_length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sd_length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se_length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count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265.6061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28.30378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3.483954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362.5980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52.33901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5.182334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Tests</a:t>
            </a:r>
          </a:p>
          <a:p>
            <a:pPr lvl="0"/>
            <a:r>
              <a:rPr/>
              <a:t>Two sample T Test</a:t>
            </a:r>
          </a:p>
        </p:txBody>
      </p:sp>
      <p:pic>
        <p:nvPicPr>
          <p:cNvPr descr="05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Confidence intervals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more typical case DON’T know the population σ or standard deviation</a:t>
            </a:r>
          </a:p>
          <a:p>
            <a:pPr lvl="0"/>
            <a:r>
              <a:rPr/>
              <a:t>estimate it from the samples</a:t>
            </a:r>
          </a:p>
          <a:p>
            <a:pPr lvl="0"/>
            <a:r>
              <a:rPr/>
              <a:t>and when sample size is &lt;~30)</a:t>
            </a:r>
          </a:p>
          <a:p>
            <a:pPr lvl="0"/>
            <a:r>
              <a:rPr/>
              <a:t>can’t use the standard normal (z) distribution</a:t>
            </a:r>
          </a:p>
          <a:p>
            <a:pPr lvl="0" indent="0" marL="0">
              <a:buNone/>
            </a:pPr>
            <a:r>
              <a:rPr i="1"/>
              <a:t>Instead, we use Student’s t distribution</a:t>
            </a:r>
          </a:p>
          <a:p>
            <a:pPr lvl="0" indent="0" marL="0">
              <a:buNone/>
            </a:pP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Understanding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sample sizes are small, the </a:t>
            </a:r>
            <a:r>
              <a:rPr b="1"/>
              <a:t>t-distribution</a:t>
            </a:r>
            <a:r>
              <a:rPr/>
              <a:t> is more appropriate than the normal distribution.</a:t>
            </a:r>
          </a:p>
          <a:p>
            <a:pPr lvl="0"/>
            <a:r>
              <a:rPr/>
              <a:t>Similar to normal distribution but with heavier tails</a:t>
            </a:r>
          </a:p>
          <a:p>
            <a:pPr lvl="0"/>
            <a:r>
              <a:rPr/>
              <a:t>Shape depends on </a:t>
            </a:r>
            <a:r>
              <a:rPr b="1"/>
              <a:t>degrees of freedom</a:t>
            </a:r>
            <a:r>
              <a:rPr/>
              <a:t> (df = n-1)</a:t>
            </a:r>
          </a:p>
          <a:p>
            <a:pPr lvl="0"/>
            <a:r>
              <a:rPr/>
              <a:t>With large df (&gt;30), approaches the normal distribution</a:t>
            </a:r>
          </a:p>
          <a:p>
            <a:pPr lvl="0"/>
            <a:r>
              <a:rPr/>
              <a:t>Used for:</a:t>
            </a:r>
          </a:p>
          <a:p>
            <a:pPr lvl="1"/>
            <a:r>
              <a:rPr/>
              <a:t>Small sample sizes</a:t>
            </a:r>
          </a:p>
          <a:p>
            <a:pPr lvl="1"/>
            <a:r>
              <a:rPr/>
              <a:t>When population standard deviation is unknown</a:t>
            </a:r>
          </a:p>
          <a:p>
            <a:pPr lvl="1"/>
            <a:r>
              <a:rPr/>
              <a:t>Calculating confidence intervals</a:t>
            </a:r>
          </a:p>
          <a:p>
            <a:pPr lvl="1"/>
            <a:r>
              <a:rPr/>
              <a:t>Conducting t-tests</a:t>
            </a:r>
          </a:p>
        </p:txBody>
      </p:sp>
      <p:pic>
        <p:nvPicPr>
          <p:cNvPr descr="05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38300"/>
            <a:ext cx="2781300" cy="250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t-distribution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sample sizes are small, the </a:t>
            </a:r>
            <a:r>
              <a:rPr b="1"/>
              <a:t>t-distribution</a:t>
            </a:r>
            <a:r>
              <a:rPr/>
              <a:t> is more appropriate than the normal distribution.</a:t>
            </a:r>
          </a:p>
          <a:p>
            <a:pPr lvl="0"/>
            <a:r>
              <a:rPr/>
              <a:t>Similar to normal distribution (1.96 = 2.5% tails) but with heavier tails</a:t>
            </a:r>
          </a:p>
          <a:p>
            <a:pPr lvl="0"/>
            <a:r>
              <a:rPr/>
              <a:t>Shape depends on </a:t>
            </a:r>
            <a:r>
              <a:rPr b="1"/>
              <a:t>degrees of freedom</a:t>
            </a:r>
            <a:r>
              <a:rPr/>
              <a:t> (df = n-1)</a:t>
            </a:r>
          </a:p>
          <a:p>
            <a:pPr lvl="0"/>
            <a:r>
              <a:rPr/>
              <a:t>With large df (&gt;30), approaches the normal distribution</a:t>
            </a:r>
          </a:p>
          <a:p>
            <a:pPr lvl="0"/>
            <a:r>
              <a:rPr/>
              <a:t>Used for:</a:t>
            </a:r>
          </a:p>
          <a:p>
            <a:pPr lvl="1"/>
            <a:r>
              <a:rPr/>
              <a:t>Small sample sizes</a:t>
            </a:r>
          </a:p>
          <a:p>
            <a:pPr lvl="1"/>
            <a:r>
              <a:rPr/>
              <a:t>When population standard deviation is unknown</a:t>
            </a:r>
          </a:p>
          <a:p>
            <a:pPr lvl="1"/>
            <a:r>
              <a:rPr/>
              <a:t>Calculating confidence intervals</a:t>
            </a:r>
          </a:p>
          <a:p>
            <a:pPr lvl="1"/>
            <a:r>
              <a:rPr/>
              <a:t>Conducting t-tests</a:t>
            </a:r>
          </a:p>
        </p:txBody>
      </p:sp>
      <p:pic>
        <p:nvPicPr>
          <p:cNvPr descr="images/clipboard-32038788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62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Using the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Using the t-distribution</a:t>
            </a:r>
          </a:p>
          <a:p>
            <a:pPr lvl="0" indent="0" marL="1270000">
              <a:buNone/>
            </a:pPr>
            <a:r>
              <a:rPr sz="2000"/>
              <a:t>Let’s compare confidence intervals using the normal approximation (z) versus the t-distribution for our fish data.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CI using both z and t distributions for a smaller subset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small_sample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slice_sample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(small_sample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sample_sd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(small_sample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sample_n &lt;-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(small_sample)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sample_se &lt;- sample_sd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(sample_n)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z_ci_lower &lt;- sample_mean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sample_se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z_ci_upper &lt;- sample_mean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sample_se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For t-distribution, get critical value for 95% CI with df = n-1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t_crit &lt;- </a:t>
            </a: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sample_n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t_ci_lower &lt;- sample_mean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t_crit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sample_se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t_ci_upper &lt;- sample_mean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t_crit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sample_se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(sample_mean,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276.2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deviation:"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(sample_sd,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Standard deviation: 17.22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error:"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(sample_se,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Standard error: 5.44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"95% CI using z:"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(z_ci_lower,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(z_ci_upper,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95% CI using z: 265.5 to 286.9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"95% CI using t:"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(t_ci_lower,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(t_ci_upper,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95% CI using t: 263.9 to 288.5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 critical value:"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(t_crit,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"vs z critical value: 1.96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t critical value: 2.262 vs z critical value: 1.96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Student’s t-distribution Formula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 calculate CI for sample from “unknown” population: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CI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ȳ is sample mean</a:t>
                </a:r>
              </a:p>
              <a:p>
                <a:pPr lvl="0"/>
                <a:r>
                  <a:rPr/>
                  <a:t>𝑛 is sample size</a:t>
                </a:r>
              </a:p>
              <a:p>
                <a:pPr lvl="0"/>
                <a:r>
                  <a:rPr/>
                  <a:t>s is sample standard deviation</a:t>
                </a:r>
              </a:p>
              <a:p>
                <a:pPr lvl="0"/>
                <a:r>
                  <a:rPr/>
                  <a:t>t t-value corresponding the probability of the CI</a:t>
                </a:r>
              </a:p>
              <a:p>
                <a:pPr lvl="0"/>
                <a:r>
                  <a:rPr/>
                  <a:t>t in t-table for different degrees of freedom (n-1)</a:t>
                </a:r>
              </a:p>
            </p:txBody>
          </p:sp>
        </mc:Choice>
      </mc:AlternateContent>
      <p:pic>
        <p:nvPicPr>
          <p:cNvPr descr="images/clipboard-32038788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62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Student’s t-distribution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Here is a t-table</a:t>
            </a:r>
          </a:p>
          <a:p>
            <a:pPr lvl="0"/>
            <a:r>
              <a:rPr/>
              <a:t>Values of t that correspond to probabilities</a:t>
            </a:r>
          </a:p>
          <a:p>
            <a:pPr lvl="0"/>
            <a:r>
              <a:rPr/>
              <a:t>Probabilities listed along top</a:t>
            </a:r>
          </a:p>
          <a:p>
            <a:pPr lvl="0"/>
            <a:r>
              <a:rPr/>
              <a:t>Sample dfs are listed in the left-most column</a:t>
            </a:r>
          </a:p>
          <a:p>
            <a:pPr lvl="0"/>
            <a:r>
              <a:rPr/>
              <a:t>Probabilities are given for one-tailed and two-tailed “questions”</a:t>
            </a:r>
          </a:p>
        </p:txBody>
      </p:sp>
      <p:pic>
        <p:nvPicPr>
          <p:cNvPr descr="images/clipboard-32038788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62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One-tailed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questions: area of distribution left or (right) of a certain value</a:t>
            </a:r>
          </a:p>
          <a:p>
            <a:pPr lvl="0"/>
            <a:r>
              <a:rPr/>
              <a:t>n=20 (df=19) - 90% of the observations found left</a:t>
            </a:r>
          </a:p>
          <a:p>
            <a:pPr lvl="0"/>
            <a:r>
              <a:rPr/>
              <a:t>t= 1.328 (10% are outside)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20900"/>
            <a:ext cx="2781300" cy="1536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Two-tailed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area between certain values</a:t>
            </a:r>
          </a:p>
          <a:p>
            <a:pPr lvl="0"/>
            <a:r>
              <a:rPr/>
              <a:t>n= 20 (df=19), 90% of the observations are between</a:t>
            </a:r>
          </a:p>
          <a:p>
            <a:pPr lvl="0"/>
            <a:r>
              <a:rPr/>
              <a:t>t=-1.729 and t=1.729 (10% are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95500"/>
            <a:ext cx="2781300" cy="160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Calculating CI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calculate CIs again:</a:t>
                </a:r>
              </a:p>
              <a:p>
                <a:pPr lvl="0" indent="0" marL="0">
                  <a:buNone/>
                </a:pPr>
                <a:r>
                  <a:rPr/>
                  <a:t>Use two-sided test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CI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95% CI Sample A: = 272.8 ± 2.262 * (37.81/(9^0.5)) = 1.650788</a:t>
                </a:r>
              </a:p>
              <a:p>
                <a:pPr lvl="0"/>
                <a:r>
                  <a:rPr/>
                  <a:t>The 95% CI is between 244.3 and 301.3</a:t>
                </a:r>
              </a:p>
              <a:p>
                <a:pPr lvl="0"/>
                <a:r>
                  <a:rPr/>
                  <a:t>“The 95% CI for the population mean from sample A is 272.8 ± 28.5”</a:t>
                </a:r>
              </a:p>
            </p:txBody>
          </p:sp>
        </mc:Choice>
      </mc:AlternateContent>
      <p:pic>
        <p:nvPicPr>
          <p:cNvPr descr="images/clipboard-32038788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62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Applications of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So:</a:t>
            </a:r>
          </a:p>
          <a:p>
            <a:pPr lvl="0"/>
            <a:r>
              <a:rPr/>
              <a:t>Can assess confidence that population mean is within a certain range</a:t>
            </a:r>
          </a:p>
          <a:p>
            <a:pPr lvl="0"/>
            <a:r>
              <a:rPr/>
              <a:t>Can use t distribution to ask questions like:</a:t>
            </a:r>
          </a:p>
          <a:p>
            <a:pPr lvl="1"/>
            <a:r>
              <a:rPr/>
              <a:t>“What is probability of getting sample with mean = ȳ from population with mean = µ?” (1 sample t-test)</a:t>
            </a:r>
          </a:p>
          <a:p>
            <a:pPr lvl="1"/>
            <a:r>
              <a:rPr/>
              <a:t>“What is the probability that two samples came from same population?” (2 sample t-test)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Single 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want to test if the mean fish length in I3 differs from 240mm.</a:t>
            </a:r>
          </a:p>
          <a:p>
            <a:pPr lvl="0" indent="0" marL="0">
              <a:buNone/>
            </a:pPr>
            <a:r>
              <a:rPr b="1"/>
              <a:t>Activity: Define hypotheses and identify assumptions</a:t>
            </a:r>
          </a:p>
          <a:p>
            <a:pPr lvl="0" indent="0" marL="0">
              <a:buNone/>
            </a:pPr>
            <a:r>
              <a:rPr/>
              <a:t>H₀: μ = 240 (The mean fish length in I3 is 240mm)</a:t>
            </a:r>
          </a:p>
          <a:p>
            <a:pPr lvl="0" indent="0" marL="0">
              <a:buNone/>
            </a:pPr>
            <a:r>
              <a:rPr/>
              <a:t>H₁: μ ≠ 240 (The mean fish length in I3 is not 240mm)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Assumptions for t-test:</a:t>
            </a:r>
          </a:p>
          <a:p>
            <a:pPr lvl="0" indent="-342900" marL="342900">
              <a:buAutoNum type="arabicPeriod"/>
            </a:pPr>
            <a:r>
              <a:rPr/>
              <a:t>Data is normally distributed</a:t>
            </a:r>
          </a:p>
          <a:p>
            <a:pPr lvl="0" indent="-342900" marL="342900">
              <a:buAutoNum type="arabicPeriod"/>
            </a:pPr>
            <a:r>
              <a:rPr/>
              <a:t>Observations are independent</a:t>
            </a:r>
          </a:p>
          <a:p>
            <a:pPr lvl="0" indent="-342900" marL="342900">
              <a:buAutoNum type="arabicPeriod"/>
            </a:pPr>
            <a:r>
              <a:rPr/>
              <a:t>No significant outliers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in R - qqplots from car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just windward side needles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Test normality of windward pine needle lengths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QQ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for length of Grayling"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5_01_lecture_powerpoint_files/figure-pptx/test_assumption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53 35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Statistical Test of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Shapiro-Wilk test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shapiro_test &lt;-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(shapiro_test)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i3_df$length_mm
W = 0.91051, p-value = 0.0001623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for Outliers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for outliers using 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(lake, length_mm))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5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One-Sample t-Test</a:t>
            </a:r>
          </a:p>
          <a:p>
            <a:pPr lvl="0" indent="0" marL="1270000">
              <a:buNone/>
            </a:pPr>
            <a:r>
              <a:rPr sz="2000"/>
              <a:t>Let’s perform a one-sample t-test to determine if the mean fish length in I3 Lake differs from 240 mm: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is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(i3_mean,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265.6 mm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a one-sample t-test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240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View the test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i3_df$length_mm
t = 7.3497, df = 65, p-value = 4.17e-10
alternative hypothesis: true mean is not equal to 240
95 percent confidence interval:
 258.6481 272.5640
sample estimates:
mean of x 
 265.6061 </a:t>
            </a:r>
          </a:p>
          <a:p>
            <a:pPr lvl="0" indent="0" marL="1270000">
              <a:buNone/>
            </a:pPr>
            <a:r>
              <a:rPr sz="2000"/>
              <a:t>Interpret this test result by answering these questions: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 at α = 0.05?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of this result for fish biologists?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(Ho)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(Ha)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Ho if p-value &lt; α == p &lt; 0.05</a:t>
            </a:r>
          </a:p>
        </p:txBody>
      </p:sp>
      <p:pic>
        <p:nvPicPr>
          <p:cNvPr descr="05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 - Original Scale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H₀ if p-value &lt; α</a:t>
            </a:r>
          </a:p>
        </p:txBody>
      </p:sp>
      <p:pic>
        <p:nvPicPr>
          <p:cNvPr descr="05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Interpreting One-Sample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Interpret the t-test results</a:t>
            </a:r>
          </a:p>
          <a:p>
            <a:pPr lvl="0"/>
            <a:r>
              <a:rPr/>
              <a:t>What does the p-value tell us?</a:t>
            </a:r>
          </a:p>
          <a:p>
            <a:pPr lvl="0"/>
            <a:r>
              <a:rPr/>
              <a:t>Should we reject or fail to reject the null hypothesis?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two-tailed, one-sample t-test at α=0.05 showed that the mean pine needle length on the windward side (… mm, SD = …) [was/was not] significantly different from the expected 55 mm, t(…) = …, p = …”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 Sample T-Tests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  <a:p>
            <a:pPr lvl="0" indent="0" marL="0">
              <a:buNone/>
            </a:pPr>
            <a:r>
              <a:rPr/>
              <a:t>This is what we will do with the pine needles…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Comparing Two Samples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Now create a boxplot to visualize the difference in fish lengths between these lakes: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a boxplot comparing the two lakes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pine_wind_plot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wind,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wind))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"Pine Needle Lengths by Wind Exposure"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"Position"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"Wind Position"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"lee"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"wind"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"skyblue"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657422"/>
                </a:solidFill>
                <a:latin typeface="Courier"/>
              </a:rPr>
              <a:t>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"lee"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"Leeward"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"wind"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"Windward"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pine_wind_plot</a:t>
            </a:r>
          </a:p>
        </p:txBody>
      </p:sp>
      <p:pic>
        <p:nvPicPr>
          <p:cNvPr descr="05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320800"/>
            <a:ext cx="40386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the t-test results and the 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what can you conclude about the fish populations in these two lakes?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Formulating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Formulating Hypotheses</a:t>
            </a:r>
          </a:p>
          <a:p>
            <a:pPr lvl="0" indent="0" marL="1270000">
              <a:buNone/>
            </a:pPr>
            <a:r>
              <a:rPr sz="2000"/>
              <a:t>For the following research questions about pine needles write the null and alternative hypotheses:</a:t>
            </a:r>
          </a:p>
          <a:p>
            <a:pPr lvl="0" indent="-342900" marL="342900">
              <a:buAutoNum type="arabicPeriod"/>
            </a:pPr>
            <a:r>
              <a:rPr sz="2000"/>
              <a:t>Are needles on the lee side longer than the needles on the windy side?</a:t>
            </a:r>
          </a:p>
          <a:p>
            <a:pPr lvl="0" indent="0" marL="1270000">
              <a:buNone/>
            </a:pPr>
            <a:r>
              <a:rPr sz="2000"/>
              <a:t>What are the hypotheses?</a:t>
            </a:r>
          </a:p>
          <a:p>
            <a:pPr lvl="0" indent="0" marL="1270000">
              <a:buNone/>
            </a:pPr>
            <a:r>
              <a:rPr sz="2000"/>
              <a:t>Ho =</a:t>
            </a:r>
          </a:p>
          <a:p>
            <a:pPr lvl="0" indent="0" marL="1270000">
              <a:buNone/>
            </a:pPr>
            <a:r>
              <a:rPr sz="2000"/>
              <a:t>Ha =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Two-Sample T-Test Framework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Now, let’s compare pine needle lengths between windward and leeward sides of trees.</a:t>
                </a:r>
              </a:p>
              <a:p>
                <a:pPr lvl="0" indent="0" marL="0">
                  <a:buNone/>
                </a:pPr>
                <a:r>
                  <a:rPr/>
                  <a:t>Question: </a:t>
                </a:r>
                <a:r>
                  <a:rPr b="1"/>
                  <a:t>Is there a significant difference in needle length between the windward and leeward sides?</a:t>
                </a:r>
              </a:p>
              <a:p>
                <a:pPr lvl="0" indent="0" marL="0">
                  <a:buNone/>
                </a:pPr>
                <a:r>
                  <a:rPr/>
                  <a:t>This requires a two-sample t-test.</a:t>
                </a:r>
              </a:p>
              <a:p>
                <a:pPr lvl="0" indent="0" marL="0">
                  <a:buNone/>
                </a:pPr>
                <a:r>
                  <a:rPr/>
                  <a:t>Two-sample t-test compares means from two independent groups.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2</m:t>
                            </m:r>
                          </m:sub>
                        </m:sSub>
                      </m:num>
                      <m:den>
                        <m:sSub>
                          <m:e>
                            <m:r>
                              <m:t>S</m:t>
                            </m:r>
                          </m:e>
                          <m:sub>
                            <m:r>
                              <m:t>p</m:t>
                            </m:r>
                          </m:sub>
                        </m:sSub>
                        <m:rad>
                          <m:radPr>
                            <m:degHide m:val="on"/>
                          </m:radPr>
                          <m:deg/>
                          <m:e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x̄₁ and x̄₂: These represent the sample means of the two groups you’re comparing</a:t>
                </a:r>
              </a:p>
              <a:p>
                <a:pPr lvl="0"/>
                <a:r>
                  <a:rPr/>
                  <a:t>s²ₚ: This is the pooled variance, calculated as: s²ₚ = [(n₁ - 1)s₁² + (n₂ - 1)s₂²] / (n₁ + n₂ - 2), where s₁² and s₂² are the sample variances of the two groups.</a:t>
                </a:r>
              </a:p>
              <a:p>
                <a:pPr lvl="0"/>
                <a:r>
                  <a:rPr b="1"/>
                  <a:t>n₁ and n₂:</a:t>
                </a:r>
                <a:r>
                  <a:rPr/>
                  <a:t> These are the sample sizes of the two groups.</a:t>
                </a:r>
              </a:p>
              <a:p>
                <a:pPr lvl="0"/>
                <a:r>
                  <a:rPr b="1"/>
                  <a:t>√(1/n₁ + 1/n₂):</a:t>
                </a:r>
                <a:r>
                  <a:rPr/>
                  <a:t> This represents the pooled standard error.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  <m:r>
                          <m:t>I</m:t>
                        </m:r>
                        <m:r>
                          <m:t>G</m:t>
                        </m:r>
                        <m:r>
                          <m:t>N</m:t>
                        </m:r>
                        <m:r>
                          <m:t>A</m:t>
                        </m:r>
                        <m:r>
                          <m:t>L</m:t>
                        </m:r>
                      </m:num>
                      <m:den>
                        <m:r>
                          <m:t>N</m:t>
                        </m:r>
                        <m:r>
                          <m:t>O</m:t>
                        </m:r>
                        <m:r>
                          <m:t>I</m:t>
                        </m:r>
                        <m:r>
                          <m:t>S</m:t>
                        </m:r>
                        <m:r>
                          <m:t>E</m:t>
                        </m:r>
                      </m:den>
                    </m:f>
                  </m:oMath>
                </a14:m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Calculate summary statistics grouped by wind exposure</a:t>
            </a:r>
          </a:p>
          <a:p>
            <a:pPr lvl="0" indent="0" marL="1270000">
              <a:buNone/>
            </a:pPr>
            <a:r>
              <a:rPr sz="2000"/>
              <a:t>Before conducting the test, we need to understand the data for each group.</a:t>
            </a:r>
          </a:p>
          <a:p>
            <a:pPr lvl="0" indent="-342900" marL="342900">
              <a:buAutoNum type="arabicPeriod"/>
            </a:pPr>
            <a:r>
              <a:rPr sz="2000"/>
              <a:t>You need this and the graph to see what is going on ….</a:t>
            </a:r>
          </a:p>
          <a:p>
            <a:pPr lvl="1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group_summary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(wind)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(group_summary)</a:t>
            </a:r>
          </a:p>
          <a:p>
            <a:pPr lvl="1" indent="0">
              <a:buNone/>
            </a:pPr>
            <a:r>
              <a:rPr sz="2000">
                <a:latin typeface="Courier"/>
              </a:rPr>
              <a:t># A tibble: 2 × 5
  wind  mean_length sd_length     n se_length
  &lt;chr&gt;       &lt;dbl&gt;     &lt;dbl&gt; &lt;int&gt;     &lt;dbl&gt;
1 lee          20.4      2.45    24     0.500
2 wind         14.9      1.91    24     0.390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Group Differences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boxplot comparing the two sides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pine_wind_plot</a:t>
            </a:r>
          </a:p>
        </p:txBody>
      </p:sp>
      <p:pic>
        <p:nvPicPr>
          <p:cNvPr descr="05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104900"/>
            <a:ext cx="52324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Effect size</a:t>
            </a:r>
          </a:p>
          <a:p>
            <a:pPr lvl="0" indent="0" marL="1270000">
              <a:buNone/>
            </a:pPr>
            <a:r>
              <a:rPr sz="2000"/>
              <a:t>We could also look at the difference in means… some cool code here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group_summary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difference =</a:t>
            </a:r>
            <a:r>
              <a:rPr>
                <a:solidFill>
                  <a:srgbClr val="003B4F"/>
                </a:solidFill>
                <a:latin typeface="Courier"/>
              </a:rPr>
              <a:t> mean_length[wind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"wind"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mean_length[wind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"lee"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1 × 1
  difference
       &lt;dbl&gt;
1       -5.5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ggplot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5: Using GGPLOT to get summary stats</a:t>
            </a:r>
          </a:p>
          <a:p>
            <a:pPr lvl="0" indent="0" marL="1270000">
              <a:buNone/>
            </a:pPr>
            <a:r>
              <a:rPr sz="2000"/>
              <a:t>GGplot also has code to make the mean and standard error plots we are interested in along whit a lot of others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wind,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wind))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Pine Needle Length by Wind Exposure"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"Wind Exposure"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"lee"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"wind"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"skyblue"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657422"/>
                </a:solidFill>
                <a:latin typeface="Courier"/>
              </a:rPr>
              <a:t>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"lee"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"Leeward"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"wind"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"Windward"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pine_mean_se_plot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Testing Assumptions for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two-sample t-test, we need to check:</a:t>
            </a:r>
          </a:p>
          <a:p>
            <a:pPr lvl="0" indent="-342900" marL="342900">
              <a:buAutoNum type="arabicPeriod"/>
            </a:pPr>
            <a:r>
              <a:rPr/>
              <a:t>Normality within each group</a:t>
            </a:r>
          </a:p>
          <a:p>
            <a:pPr lvl="0" indent="-342900" marL="342900">
              <a:buAutoNum type="arabicPeriod"/>
            </a:pPr>
            <a:r>
              <a:rPr/>
              <a:t>Equal variances between groups (for standard t-test)</a:t>
            </a:r>
          </a:p>
          <a:p>
            <a:pPr lvl="0" indent="-342900" marL="342900">
              <a:buAutoNum type="arabicPeriod"/>
            </a:pPr>
            <a:r>
              <a:rPr/>
              <a:t>Independent observations</a:t>
            </a:r>
          </a:p>
          <a:p>
            <a:pPr lvl="0" indent="0" marL="0">
              <a:buNone/>
            </a:pPr>
            <a:r>
              <a:rPr/>
              <a:t>If assumptions are violated:</a:t>
            </a:r>
          </a:p>
          <a:p>
            <a:pPr lvl="0"/>
            <a:r>
              <a:rPr/>
              <a:t>Welch’s t-test (unequal variances)</a:t>
            </a:r>
          </a:p>
          <a:p>
            <a:pPr lvl="0"/>
            <a:r>
              <a:rPr/>
              <a:t>Non-parametric alternatives (Mann-Whitney U test)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6: Creating Group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6: Test normality of windward pine needle lengths</a:t>
            </a:r>
          </a:p>
          <a:p>
            <a:pPr lvl="0" indent="0" marL="1270000">
              <a:buNone/>
            </a:pPr>
            <a:r>
              <a:rPr sz="2000"/>
              <a:t>qqplots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pine_mean_se_plot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7: Separate Group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7: Test normality of windward pine needle lengths</a:t>
            </a:r>
          </a:p>
          <a:p>
            <a:pPr lvl="0" indent="0" marL="1270000">
              <a:buNone/>
            </a:pPr>
            <a:r>
              <a:rPr sz="2000"/>
              <a:t>qqplots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do you make separate dataframes to do this on?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Separate data by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windward_data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(wind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"wind"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leeward_data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(wind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(leeward_data)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6
  date    group       n_s   wind  tree_no length_mm
  &lt;chr&gt;   &lt;chr&gt;       &lt;chr&gt; &lt;chr&gt;   &lt;dbl&gt;     &lt;dbl&gt;
1 3/20/25 cephalopods n     lee         1        20
2 3/20/25 cephalopods n     lee         1        21
3 3/20/25 cephalopods n     lee         1        23
4 3/20/25 cephalopods n     lee         1        25
5 3/20/25 cephalopods n     lee         1        21
6 3/20/25 cephalopods n     lee         1        16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8: QQ Plot for Windward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8: Test normality of windward pine needle lengths</a:t>
            </a:r>
          </a:p>
          <a:p>
            <a:pPr lvl="0" indent="0" marL="1270000">
              <a:buNone/>
            </a:pPr>
            <a:r>
              <a:rPr sz="2000"/>
              <a:t>qqplots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QQ Plot for windward group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(windward_data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for Windward Pine Needles"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</a:p>
          <a:p>
            <a:pPr lvl="0" indent="0">
              <a:buNone/>
            </a:pPr>
            <a:r>
              <a:rPr sz="2000">
                <a:latin typeface="Courier"/>
              </a:rPr>
              <a:t>[1] 21 22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9: Shapiro-Wilk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9: Test normality of windward pine needle lengths</a:t>
            </a:r>
          </a:p>
          <a:p>
            <a:pPr lvl="0" indent="0" marL="1270000">
              <a:buNone/>
            </a:pPr>
            <a:r>
              <a:rPr sz="2000"/>
              <a:t>Shapiro-Wilk test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for windward group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shapiro_windward &lt;-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(windward_data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"Shapiro-Wilk test for windward data:"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"Shapiro-Wilk test for windward data:"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(shapiro_windward)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Shapiro-Wilk normality test
data:  windward_data$length_mm
W = 0.96062, p-value = 0.451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10: QQ Plot for Leeward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10: Test normality of leeward pine needle lengths</a:t>
            </a:r>
          </a:p>
          <a:p>
            <a:pPr lvl="0" indent="0" marL="1270000">
              <a:buNone/>
            </a:pPr>
            <a:r>
              <a:rPr sz="2000"/>
              <a:t>qqplots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 can also test the leeward group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QQ Plot for leeward group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(leeward_data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for Leeward Pine Needles"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</a:p>
          <a:p>
            <a:pPr lvl="0" indent="0">
              <a:buNone/>
            </a:pPr>
            <a:r>
              <a:rPr sz="2000">
                <a:latin typeface="Courier"/>
              </a:rPr>
              <a:t>[1]  4 16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11: Shapiro-Wilk for Leeward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11: Test normality of leeward pine needle lengths</a:t>
            </a:r>
          </a:p>
          <a:p>
            <a:pPr lvl="0" indent="0" marL="1270000">
              <a:buNone/>
            </a:pPr>
            <a:r>
              <a:rPr sz="2000"/>
              <a:t>Shapiro-Wilk test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for leeward group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shapiro_lee &lt;-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(leeward_data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"Shapiro-Wilk test for leeward data:"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"Shapiro-Wilk test for leeward data:"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(shapiro_lee)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Shapiro-Wilk normality test
data:  leeward_data$length_mm
W = 0.95477, p-value = 0.3425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12: Combined Normality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12: Test Normality at one time</a:t>
            </a:r>
          </a:p>
          <a:p>
            <a:pPr lvl="0" indent="0" marL="1270000">
              <a:buNone/>
            </a:pPr>
            <a:r>
              <a:rPr sz="2000"/>
              <a:t>There are always a lot of ways to do this in R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there are always two ways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Test for normality using Shapiro-Wilk test for each wind group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All in one pipeline using tidyverse approach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(wind)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normal_distribution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(shapiro_p_value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"Normal"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"Non-normal"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Print the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(normality_results)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wind  shapiro_stat shapiro_p_value normal_distribution
  &lt;chr&gt;        &lt;dbl&gt;           &lt;dbl&gt; &lt;chr&gt;              
1 lee          0.955           0.343 Normal             
2 wind         0.961           0.451 Normal             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13: Test Equal Variances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13: Test equal variances</a:t>
            </a:r>
          </a:p>
          <a:p>
            <a:pPr lvl="0" indent="0" marL="1270000">
              <a:buNone/>
            </a:pPr>
            <a:r>
              <a:rPr sz="2000"/>
              <a:t>Levenes test can be done on the original dataframe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Method 1: Using car package's leveneTest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is often preferred as it's more robust to departures from normality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levene_result &lt;- </a:t>
            </a: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wind,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pine_df)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"Levene's Test for Homogeneity of Variance:"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"Levene's Test for Homogeneity of Variance:"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(levene_result)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Levene's Test for Homogeneity of Variance (center = median)
      Df F value Pr(&gt;F)
group  1  1.2004 0.2789
      46               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pine needle lengths between windward and leeward sides.</a:t>
            </a:r>
          </a:p>
          <a:p>
            <a:pPr lvl="0" indent="0" marL="0">
              <a:buNone/>
            </a:pPr>
            <a:r>
              <a:rPr/>
              <a:t>Ho: μ₁ = μ₂ (The mean needle lengths are equal)</a:t>
            </a:r>
          </a:p>
          <a:p>
            <a:pPr lvl="0" indent="0" marL="0">
              <a:buNone/>
            </a:pPr>
            <a:r>
              <a:rPr/>
              <a:t>Ha: μ₁ ≠ μ₂ (The mean needle lengths are different)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/>
              <a:t>Standard t-test (equal variances)</a:t>
            </a:r>
          </a:p>
          <a:p>
            <a:pPr lvl="0"/>
            <a:r>
              <a:rPr/>
              <a:t>Welch’s t-test (unequal variances)</a:t>
            </a:r>
          </a:p>
          <a:p>
            <a:pPr lvl="0" indent="0" marL="0">
              <a:buNone/>
            </a:pPr>
            <a:r>
              <a:rPr b="1"/>
              <a:t>Note the Levenes Test should be NOT SIGNIFICANT - What is the null hypothesis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Pr(&gt;F)
group  1  1.2004 0.2789
      46               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Running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do a two sample TTEST</a:t>
            </a:r>
          </a:p>
          <a:p>
            <a:pPr lvl="0" indent="0" marL="0">
              <a:buNone/>
            </a:pPr>
            <a:r>
              <a:rPr/>
              <a:t>Calculate t-statistic manually (optional)</a:t>
            </a:r>
          </a:p>
          <a:p>
            <a:pPr lvl="0" indent="0" marL="0">
              <a:buNone/>
            </a:pPr>
            <a:r>
              <a:rPr/>
              <a:t>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wind,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pine_df,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Two Sample t-test
data:  length_mm by wind
t = 8.6792, df = 46, p-value = 3.01e-11
alternative hypothesis: true difference in means between group lee and group wind is not equal to 0
95 percent confidence interval:
 4.224437 6.775563
sample estimates:
 mean in group lee mean in group wind 
          20.41667           14.91667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t-test (if variances are unequal)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Interpreting Two-Sample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Interpret the results of the two-sample t-test</a:t>
            </a:r>
          </a:p>
          <a:p>
            <a:pPr lvl="0" indent="0" marL="0">
              <a:buNone/>
            </a:pPr>
            <a:r>
              <a:rPr/>
              <a:t>What can we conclude about the needle lengths on windward vs. leeward sides?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two-tailed, two-sample t-test at α=0.05 showed [a significant/no significant] difference in needle length between windward (M = …, SD = …) and leeward (M = …, SD = …) sides of pine trees, t(…) = …, p = ….”</a:t>
            </a:r>
          </a:p>
        </p:txBody>
      </p:sp>
      <p:pic>
        <p:nvPicPr>
          <p:cNvPr descr="05_01_lecture_powerpoint_files/figure-pptx/unnamed-chunk-2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Visualizing the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Interpret the results of the two-sample t-test</a:t>
            </a:r>
          </a:p>
          <a:p>
            <a:pPr lvl="0" indent="0" marL="0">
              <a:buNone/>
            </a:pPr>
            <a:r>
              <a:rPr/>
              <a:t>What can we conclude about the needle lengths on windward vs. leeward sides?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two-tailed, two-sample t-test at α=0.05 showed [a significant/no significant] difference in needle length between windward (M = …, SD = …) and leeward (M = …, SD = …) sides of pine trees, t(…) = …, p = ….”</a:t>
            </a:r>
          </a:p>
        </p:txBody>
      </p:sp>
      <p:pic>
        <p:nvPicPr>
          <p:cNvPr descr="05_01_lecture_powerpoint_files/figure-pptx/unnamed-chunk-2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Assumptions of 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assumptions for t-tests:</a:t>
            </a:r>
          </a:p>
          <a:p>
            <a:pPr lvl="0" indent="-342900" marL="342900">
              <a:buAutoNum type="arabicPeriod"/>
            </a:pPr>
            <a:r>
              <a:rPr/>
              <a:t>Normality: Data comes from normally distributed populations</a:t>
            </a:r>
          </a:p>
          <a:p>
            <a:pPr lvl="0" indent="-342900" marL="342900">
              <a:buAutoNum type="arabicPeriod"/>
            </a:pPr>
            <a:r>
              <a:rPr/>
              <a:t>Equal variances (for two-sample tests)</a:t>
            </a:r>
          </a:p>
          <a:p>
            <a:pPr lvl="0" indent="-342900" marL="342900">
              <a:buAutoNum type="arabicPeriod"/>
            </a:pPr>
            <a:r>
              <a:rPr/>
              <a:t>Independence: Observations are independent</a:t>
            </a:r>
          </a:p>
          <a:p>
            <a:pPr lvl="0" indent="-342900" marL="342900">
              <a:buAutoNum type="arabicPeriod"/>
            </a:pPr>
            <a:r>
              <a:rPr/>
              <a:t>No outliers: Extreme values can influence results</a:t>
            </a:r>
          </a:p>
          <a:p>
            <a:pPr lvl="0" indent="0" marL="0">
              <a:buNone/>
            </a:pPr>
            <a:r>
              <a:rPr/>
              <a:t>What can we do if our data violates these assumptions?</a:t>
            </a:r>
          </a:p>
          <a:p>
            <a:pPr lvl="0" indent="0" marL="0">
              <a:buNone/>
            </a:pPr>
            <a:r>
              <a:rPr/>
              <a:t>Alternatives when assumptions are violated:</a:t>
            </a:r>
          </a:p>
          <a:p>
            <a:pPr lvl="0"/>
            <a:r>
              <a:rPr/>
              <a:t>Data transformation (log, square root, etc.)</a:t>
            </a:r>
          </a:p>
          <a:p>
            <a:pPr lvl="0"/>
            <a:r>
              <a:rPr/>
              <a:t>Non-parametric tests</a:t>
            </a:r>
          </a:p>
          <a:p>
            <a:pPr lvl="0"/>
            <a:r>
              <a:rPr/>
              <a:t>Robust statistical methods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activity, we’ve:</a:t>
            </a:r>
          </a:p>
          <a:p>
            <a:pPr lvl="0" indent="-342900" marL="342900">
              <a:buAutoNum type="arabicPeriod"/>
            </a:pPr>
            <a:r>
              <a:rPr/>
              <a:t>Formulated hypotheses about pine needle length</a:t>
            </a:r>
          </a:p>
          <a:p>
            <a:pPr lvl="0" indent="-342900" marL="342900">
              <a:buAutoNum type="arabicPeriod"/>
            </a:pPr>
            <a:r>
              <a:rPr/>
              <a:t>Tested assumptions for parametric tests</a:t>
            </a:r>
          </a:p>
          <a:p>
            <a:pPr lvl="0" indent="-342900" marL="342900">
              <a:buAutoNum type="arabicPeriod"/>
            </a:pPr>
            <a:r>
              <a:rPr/>
              <a:t>Conducted one-sample and two-sample t-tests</a:t>
            </a:r>
          </a:p>
          <a:p>
            <a:pPr lvl="0" indent="-342900" marL="342900">
              <a:buAutoNum type="arabicPeriod"/>
            </a:pPr>
            <a:r>
              <a:rPr/>
              <a:t>Visualized data using appropriate methods</a:t>
            </a:r>
          </a:p>
          <a:p>
            <a:pPr lvl="0" indent="-342900" marL="342900">
              <a:buAutoNum type="arabicPeriod"/>
            </a:pPr>
            <a:r>
              <a:rPr/>
              <a:t>Learned how to interpret and report t-test results</a:t>
            </a:r>
          </a:p>
          <a:p>
            <a:pPr lvl="0" indent="0" marL="0">
              <a:buNone/>
            </a:pPr>
            <a:r>
              <a:rPr b="1"/>
              <a:t>Key takeaways:</a:t>
            </a:r>
          </a:p>
          <a:p>
            <a:pPr lvl="0"/>
            <a:r>
              <a:rPr/>
              <a:t>Always check assumptions before conducting tests</a:t>
            </a:r>
          </a:p>
          <a:p>
            <a:pPr lvl="0"/>
            <a:r>
              <a:rPr/>
              <a:t>Visualize your data to understand patterns</a:t>
            </a:r>
          </a:p>
          <a:p>
            <a:pPr lvl="0"/>
            <a:r>
              <a:rPr/>
              <a:t>Report results comprehensively</a:t>
            </a:r>
          </a:p>
          <a:p>
            <a:pPr lvl="0"/>
            <a:r>
              <a:rPr/>
              <a:t>Consider alternatives when assumptions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05: Probability and Statistical Inference</dc:title>
  <dc:creator>Bill Perry</dc:creator>
  <cp:keywords/>
  <dcterms:created xsi:type="dcterms:W3CDTF">2025-08-14T19:36:56Z</dcterms:created>
  <dcterms:modified xsi:type="dcterms:W3CDTF">2025-08-14T19:36:56Z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