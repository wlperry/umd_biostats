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6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8.png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0"/>
            <a:r>
              <a:rPr/>
              <a:t>Descriptive Statistics</a:t>
            </a:r>
          </a:p>
          <a:p>
            <a:pPr lvl="1"/>
            <a:r>
              <a:rPr/>
              <a:t>Center - mean, median, mode</a:t>
            </a:r>
          </a:p>
          <a:p>
            <a:pPr lvl="1"/>
            <a:r>
              <a:rPr/>
              <a:t>Spread - range, variance, standard deviation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 - Statistical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0"/>
            <a:r>
              <a:rPr/>
              <a:t>Descriptive Statistics</a:t>
            </a:r>
          </a:p>
          <a:p>
            <a:pPr lvl="1"/>
            <a:r>
              <a:rPr/>
              <a:t>Center - mean, median, mode</a:t>
            </a:r>
          </a:p>
          <a:p>
            <a:pPr lvl="1"/>
            <a:r>
              <a:rPr/>
              <a:t>Spread - range, variance, standard deviation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325723926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98700"/>
            <a:ext cx="2781300" cy="118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4: Review -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0"/>
            <a:r>
              <a:rPr/>
              <a:t>Descriptive Statistics</a:t>
            </a:r>
          </a:p>
          <a:p>
            <a:pPr lvl="1"/>
            <a:r>
              <a:rPr/>
              <a:t>Center - mean, median, mode</a:t>
            </a:r>
          </a:p>
          <a:p>
            <a:pPr lvl="1"/>
            <a:r>
              <a:rPr/>
              <a:t>Spread - range, variance, standard deviation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se_length count
  &lt;chr&gt;       &lt;dbl&gt;     &lt;dbl&gt;     &lt;dbl&gt; &lt;int&gt;
1 I3           266.      28.3      3.48    66
2 I8           363.      52.3      5.18   102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Tests</a:t>
            </a:r>
          </a:p>
          <a:p>
            <a:pPr lvl="0"/>
            <a:r>
              <a:rPr/>
              <a:t>Two sample T Test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Student’s t-distribution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 is a t-table</a:t>
            </a:r>
          </a:p>
          <a:p>
            <a:pPr lvl="0"/>
            <a:r>
              <a:rPr/>
              <a:t>Values of t that correspond to probabilities</a:t>
            </a:r>
          </a:p>
          <a:p>
            <a:pPr lvl="0"/>
            <a:r>
              <a:rPr/>
              <a:t>Probabilities listed along top</a:t>
            </a:r>
          </a:p>
          <a:p>
            <a:pPr lvl="0"/>
            <a:r>
              <a:rPr/>
              <a:t>Sample dfs are listed in the left-most column</a:t>
            </a:r>
          </a:p>
          <a:p>
            <a:pPr lvl="0"/>
            <a:r>
              <a:rPr/>
              <a:t>Probabilities are given for one-tailed and two-tailed “questions”</a:t>
            </a:r>
          </a:p>
        </p:txBody>
      </p:sp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</a:t>
            </a:r>
          </a:p>
          <a:p>
            <a:pPr lvl="0"/>
            <a:r>
              <a:rPr/>
              <a:t>n=20 (df=19) - 90% of the observations found left</a:t>
            </a:r>
          </a:p>
          <a:p>
            <a:pPr lvl="0"/>
            <a:r>
              <a:rPr/>
              <a:t>t= 1.328 (10%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641796945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295400"/>
            <a:ext cx="3403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20 (df=19), 90% of the observations are between</a:t>
            </a:r>
          </a:p>
          <a:p>
            <a:pPr lvl="0"/>
            <a:r>
              <a:rPr/>
              <a:t>t=-1.729 and t=1.729 (10%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3480668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295400"/>
            <a:ext cx="3403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272.8 ± 2.262 * (37.81/(10^0.5)) = 27.05</a:t>
                </a:r>
              </a:p>
              <a:p>
                <a:pPr lvl="0"/>
                <a:r>
                  <a:rPr/>
                  <a:t>The 95% CI is between 245.8 and 299.8</a:t>
                </a:r>
              </a:p>
              <a:p>
                <a:pPr lvl="0"/>
                <a:r>
                  <a:rPr/>
                  <a:t>“The 95% CI for the population mean from sample A is 272.8 ± 27.05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 from population with mean = µ?” (1 sample t-test)</a:t>
            </a:r>
          </a:p>
          <a:p>
            <a:pPr lvl="1"/>
            <a:r>
              <a:rPr/>
              <a:t>“What is the probability that two samples came from same population?” (2 sample t-test)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Single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fish length in I3 differs from 240mm.</a:t>
            </a:r>
          </a:p>
          <a:p>
            <a:pPr lvl="0" indent="0" marL="0"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240 (The mean fish length in I3 is 240mm)</a:t>
            </a:r>
          </a:p>
          <a:p>
            <a:pPr lvl="0" indent="0" marL="0">
              <a:buNone/>
            </a:pPr>
            <a:r>
              <a:rPr/>
              <a:t>H₁: μ ≠ 240 (The mean fish length in I3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just windward side needles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windward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Grayling"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53 35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i3_df$length_mm
W = 0.91051, p-value = 0.0001623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length_mm))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5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fish length in I3 Lake differs from 240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(i3_mean,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265.6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240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i3_df$length_mm
t = 7.3497, df = 65, p-value = 4.17e-10
alternative hypothesis: true mean is not equal to 240
95 percent confidence interval:
 258.6481 272.5640
sample estimates:
mean of x 
 265.6061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fish biologists?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fish length (… mm, SD = …) [was/was not] significantly different from the expected 240 mm, t(…) = …, p = …”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  <a:p>
            <a:pPr lvl="0" indent="0" marL="0">
              <a:buNone/>
            </a:pPr>
            <a:r>
              <a:rPr/>
              <a:t>This is what we will do with the fish length again…</a:t>
            </a:r>
          </a:p>
        </p:txBody>
      </p:sp>
      <p:pic>
        <p:nvPicPr>
          <p:cNvPr descr="images/slimy_sculpin_cottus_cognatu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49500"/>
            <a:ext cx="2781300" cy="110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Now create a boxplot to visualize the difference in fish lengths between these lakes: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i3_i8_plot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i3_i8_plot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fish populations in these two lakes?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fish lenghts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fish lengths in lake I3 and I8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fish lengths from the two lakes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fish length between the lakes?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(group_summary)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lake  mean_length sd_length     n se_length
  &lt;chr&gt;       &lt;dbl&gt;     &lt;dbl&gt; &lt;int&gt;     &lt;dbl&gt;
1 I3           266.      28.3    66      3.48
2 I8           363.      52.3   102      5.18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Group Differences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boxplot comparing the two sides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i3_i8_plot</a:t>
            </a:r>
          </a:p>
        </p:txBody>
      </p:sp>
      <p:pic>
        <p:nvPicPr>
          <p:cNvPr descr="05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"I8"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97.0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stats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Creating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6: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7: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i8_data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"I8"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(i8_data)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118 I8    arctic grayling       345    375
2   118 I8    arctic grayling       376    485
3   118 I8    arctic grayling       417    600
4   118 I8    arctic grayling       369    445
5   118 I8    arctic grayling       419    625
6   118 I8    arctic grayling       365    430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QQ Plot for Windward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for windward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(i8_data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I8 fish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</a:p>
          <a:p>
            <a:pPr lvl="0" indent="0">
              <a:buNone/>
            </a:pPr>
            <a:r>
              <a:rPr sz="2000">
                <a:latin typeface="Courier"/>
              </a:rPr>
              <a:t>[1] 79 62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9: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9: Test normality of I8 lengths</a:t>
            </a:r>
          </a:p>
          <a:p>
            <a:pPr lvl="0" indent="0" marL="1270000">
              <a:buNone/>
            </a:pPr>
            <a:r>
              <a:rPr sz="2000"/>
              <a:t>Shapiro-Wilk test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windward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(i8_data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Shapiro-Wilk normality test
data:  i8_data$length_mm
W = 0.91962, p-value = 1.119e-05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10: QQ Plot for I3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10: Test normality of I3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 can also test the i3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 for leeward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</a:p>
          <a:p>
            <a:pPr lvl="0" indent="0">
              <a:buNone/>
            </a:pPr>
            <a:r>
              <a:rPr sz="2000">
                <a:latin typeface="Courier"/>
              </a:rPr>
              <a:t>[1] 53 35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11: Shapiro-Wilk for i3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11: Test normality of i3 lengths</a:t>
            </a:r>
          </a:p>
          <a:p>
            <a:pPr lvl="0" indent="0" marL="1270000">
              <a:buNone/>
            </a:pPr>
            <a:r>
              <a:rPr sz="2000"/>
              <a:t>Shapiro-Wilk test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leeward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Shapiro-Wilk normality test
data:  i3_data$length_mm
W = 0.91051, p-value = 0.0001623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12: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12: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Print the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(normality_results)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lake  shapiro_stat shapiro_p_value normal_distribution
  &lt;chr&gt;        &lt;dbl&gt;           &lt;dbl&gt; &lt;chr&gt;              
1 I3           0.911       0.000162  Non-normal         
2 I8           0.920       0.0000112 Non-normal         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grayling_df)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 Df F value    Pr(&gt;F)    
group   1  13.705 0.0002907 ***
      166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fish lengths between i3 and i8.</a:t>
            </a:r>
          </a:p>
          <a:p>
            <a:pPr lvl="0" indent="0" marL="0">
              <a:buNone/>
            </a:pPr>
            <a:r>
              <a:rPr/>
              <a:t>Ho: μ₁ = μ₂ (The fish lengths do not differ)</a:t>
            </a:r>
          </a:p>
          <a:p>
            <a:pPr lvl="0" indent="0" marL="0">
              <a:buNone/>
            </a:pPr>
            <a:r>
              <a:rPr/>
              <a:t>Ha: μ₁ ≠ μ₂ (The mean fish lengths differ - direction is not specified)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  <a:p>
            <a:pPr lvl="0" indent="0" marL="0">
              <a:buNone/>
            </a:pPr>
            <a:r>
              <a:rPr b="1"/>
              <a:t>Note the Levenes Test should be NOT SIGNIFICANT - What is the null hypothesis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 Pr(&gt;F)    
group   1  13.705 0.0002907 ***
      166                      
---
Signif. codes:  0 '***' 0.001 '**' 0.01 '*' 0.05 '.' 0.1 ' ' 1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Running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do a two sample TTEST</a:t>
            </a:r>
          </a:p>
          <a:p>
            <a:pPr lvl="0" indent="0" marL="0">
              <a:buNone/>
            </a:pPr>
            <a:r>
              <a:rPr/>
              <a:t>Calculate t-statistic manually (optional)</a:t>
            </a:r>
          </a:p>
          <a:p>
            <a:pPr lvl="0" indent="0" marL="0">
              <a:buNone/>
            </a:pPr>
            <a:r>
              <a:rPr/>
              <a:t>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grayling_summary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se_length count
  &lt;chr&gt;       &lt;dbl&gt;     &lt;dbl&gt;     &lt;dbl&gt; &lt;int&gt;
1 I3           266.      28.3      3.48    66
2 I8           363.      52.3      5.18   102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grayling_df,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Two Sample t-test
data:  length_mm by lake
t = -13.797, df = 166, p-value &lt; 2.2e-16
alternative hypothesis: true difference in means between group I3 and group I8 is not equal to 0
95 percent confidence interval:
 -110.87187  -83.11208
sample estimates:
mean in group I3 mean in group I8 
        265.6061         362.5980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(Welch-Satterthwaite equation)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windward vs. leeward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windward (M = …, SD = …) and leeward (M = …, SD = …) sides of pine trees, t(…) = …, p = ….”</a:t>
            </a:r>
          </a:p>
        </p:txBody>
      </p:sp>
      <p:pic>
        <p:nvPicPr>
          <p:cNvPr descr="05_01_lecture_powerpoint_files/figure-pptx/unnamed-chunk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Visualizing the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windward vs. leeward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windward (M = …, SD = …) and leeward (M = …, SD = …) sides of pine trees, t(…) = …, p = ….”</a:t>
            </a:r>
          </a:p>
        </p:txBody>
      </p:sp>
      <p:pic>
        <p:nvPicPr>
          <p:cNvPr descr="05_01_lecture_powerpoint_files/figure-pptx/unnamed-chunk-2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2025-09-10T16:43:13Z</dcterms:created>
  <dcterms:modified xsi:type="dcterms:W3CDTF">2025-09-10T16:43:13Z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