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7" Type="http://schemas.openxmlformats.org/officeDocument/2006/relationships/viewProps" Target="viewProps.xml" /><Relationship Id="rId36" Type="http://schemas.openxmlformats.org/officeDocument/2006/relationships/presProps" Target="presProps.xml" /><Relationship Id="rId1" Type="http://schemas.openxmlformats.org/officeDocument/2006/relationships/slideMaster" Target="slideMasters/slideMaster1.xml" /><Relationship Id="rId39" Type="http://schemas.openxmlformats.org/officeDocument/2006/relationships/tableStyles" Target="tableStyles.xml" /><Relationship Id="rId3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0.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14 - Generalized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Review of ANOVAs</a:t>
            </a:r>
          </a:p>
        </p:txBody>
      </p:sp>
      <p:sp>
        <p:nvSpPr>
          <p:cNvPr id="3" name="Content Placeholder 2"/>
          <p:cNvSpPr>
            <a:spLocks noGrp="1"/>
          </p:cNvSpPr>
          <p:nvPr>
            <p:ph idx="1"/>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Bartletts Test</a:t>
            </a:r>
          </a:p>
          <a:p>
            <a:pPr lvl="1"/>
            <a:r>
              <a:rPr/>
              <a:t>Normality of Residuals</a:t>
            </a:r>
          </a:p>
          <a:p>
            <a:pPr lvl="1"/>
            <a:r>
              <a:rPr/>
              <a:t>Independence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indent="0" marL="0">
              <a:buNone/>
            </a:pPr>
            <a:r>
              <a:rPr/>
              <a:t>Logistic Regression</a:t>
            </a:r>
          </a:p>
          <a:p>
            <a:pPr lvl="0"/>
            <a:r>
              <a:rPr/>
              <a:t>when the outcome is yes or no or categorical</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 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p:txBody>
      </p:sp>
      <p:pic>
        <p:nvPicPr>
          <p:cNvPr descr="14_01_lecture_powerpoint_files/figure-pptx/glm-distributions-1.png" id="0" name="Picture 1"/>
          <p:cNvPicPr>
            <a:picLocks noGrp="1" noChangeAspect="1"/>
          </p:cNvPicPr>
          <p:nvPr/>
        </p:nvPicPr>
        <p:blipFill>
          <a:blip r:embed="rId2"/>
          <a:stretch>
            <a:fillRect/>
          </a:stretch>
        </p:blipFill>
        <p:spPr bwMode="auto">
          <a:xfrm>
            <a:off x="6121400" y="1790700"/>
            <a:ext cx="2781300" cy="1714500"/>
          </a:xfrm>
          <a:prstGeom prst="rect">
            <a:avLst/>
          </a:prstGeom>
          <a:noFill/>
          <a:ln w="9525">
            <a:noFill/>
            <a:headEnd/>
            <a:tailEnd/>
          </a:ln>
        </p:spPr>
      </p:pic>
      <p:sp>
        <p:nvSpPr>
          <p:cNvPr id="1" name="TextBox 3"/>
          <p:cNvSpPr txBo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GLMs consist of three components:</a:t>
                </a:r>
              </a:p>
              <a:p>
                <a:pPr lvl="0" indent="-342900" marL="342900">
                  <a:buAutoNum type="arabicPeriod"/>
                </a:pPr>
                <a:r>
                  <a:rPr b="1"/>
                  <a:t>Random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d>
                        <m:dPr>
                          <m:begChr m:val="("/>
                          <m:sepChr m:val=""/>
                          <m:endChr m:val=")"/>
                          <m:grow/>
                        </m:dPr>
                        <m:e>
                          <m:r>
                            <m:t>μ</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a:t>
            </a:r>
            <a:r>
              <a:rPr>
                <a:latin typeface="Courier"/>
              </a:rPr>
              <a:t>mtcars</a:t>
            </a:r>
            <a:r>
              <a:rPr/>
              <a:t> dataset, modeling miles per gallon (mpg) by the number of cylinders (cyl).</a:t>
            </a:r>
          </a:p>
          <a:p>
            <a:pPr lvl="0" indent="0">
              <a:buNone/>
            </a:pPr>
            <a:r>
              <a:rPr>
                <a:latin typeface="Courier"/>
              </a:rPr>
              <a:t>                   mpg cyl disp  hp drat    wt  qsec vs am gear carb
Mazda RX4         21.0   6  160 110 3.90 2.620 16.46  0  1    4    4
Mazda RX4 Wag     21.0   6  160 110 3.90 2.875 17.02  0  1    4    4
Datsun 710        22.8   4  108  93 3.85 2.320 18.61  1  1    4    1
Hornet 4 Drive    21.4   6  258 110 3.08 3.215 19.44  1  0    3    1
Hornet Sportabout 18.7   8  360 175 3.15 3.440 17.02  0  0    3    2
Valiant           18.1   6  225 105 2.76 3.460 20.22  1  0    3    1</a:t>
            </a:r>
          </a:p>
        </p:txBody>
      </p:sp>
      <p:sp>
        <p:nvSpPr>
          <p:cNvPr id="5" name="Text Placeholder 4"/>
          <p:cNvSpPr>
            <a:spLocks noGrp="1"/>
          </p:cNvSpPr>
          <p:nvPr>
            <p:ph idx="3" sz="quarter" type="body"/>
          </p:nvPr>
        </p:nvSpPr>
        <p:spPr/>
        <p:txBody>
          <a:bodyPr/>
          <a:lstStyle/>
          <a:p>
            <a:pPr lvl="0" indent="0" marL="0">
              <a:buNone/>
            </a:pPr>
            <a:r>
              <a:rPr/>
              <a:t>Let’s look at the summary of our Gaussian GLM:</a:t>
            </a:r>
          </a:p>
        </p:txBody>
      </p:sp>
      <p:pic>
        <p:nvPicPr>
          <p:cNvPr descr="14_01_lecture_powerpoint_files/figure-pptx/summary-gaussian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a:t>
            </a:r>
            <a:r>
              <a:rPr>
                <a:latin typeface="Courier"/>
              </a:rPr>
              <a:t>mtcars</a:t>
            </a:r>
            <a:r>
              <a:rPr/>
              <a:t> dataset, modeling miles per gallon (mpg) by the number of cylinders (cyl).</a:t>
            </a:r>
          </a:p>
          <a:p>
            <a:pPr lvl="0" indent="0">
              <a:buNone/>
            </a:pPr>
            <a:r>
              <a:rPr>
                <a:solidFill>
                  <a:srgbClr val="5E5E5E"/>
                </a:solidFill>
                <a:latin typeface="Courier"/>
              </a:rPr>
              <a:t># Fit a standard linear model</a:t>
            </a:r>
            <a:br/>
            <a:r>
              <a:rPr>
                <a:solidFill>
                  <a:srgbClr val="003B4F"/>
                </a:solidFill>
                <a:latin typeface="Courier"/>
              </a:rPr>
              <a:t>model_lm &lt;- </a:t>
            </a:r>
            <a:r>
              <a:rPr>
                <a:solidFill>
                  <a:srgbClr val="4758AB"/>
                </a:solidFill>
                <a:latin typeface="Courier"/>
              </a:rPr>
              <a:t>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Fit a Gaussian GLM</a:t>
            </a:r>
            <a:br/>
            <a:r>
              <a:rPr>
                <a:solidFill>
                  <a:srgbClr val="003B4F"/>
                </a:solidFill>
                <a:latin typeface="Courier"/>
              </a:rPr>
              <a:t>model_gaussian &lt;- </a:t>
            </a:r>
            <a:r>
              <a:rPr>
                <a:solidFill>
                  <a:srgbClr val="4758AB"/>
                </a:solidFill>
                <a:latin typeface="Courier"/>
              </a:rPr>
              <a:t>glm</a:t>
            </a:r>
            <a:r>
              <a:rPr>
                <a:solidFill>
                  <a:srgbClr val="003B4F"/>
                </a:solidFill>
                <a:latin typeface="Courier"/>
              </a:rPr>
              <a:t>(mpg </a:t>
            </a:r>
            <a:r>
              <a:rPr>
                <a:solidFill>
                  <a:srgbClr val="5E5E5E"/>
                </a:solidFill>
                <a:latin typeface="Courier"/>
              </a:rPr>
              <a:t>~</a:t>
            </a:r>
            <a:r>
              <a:rPr>
                <a:solidFill>
                  <a:srgbClr val="003B4F"/>
                </a:solidFill>
                <a:latin typeface="Courier"/>
              </a:rPr>
              <a:t> cyl, </a:t>
            </a:r>
            <a:br/>
            <a:r>
              <a:rPr>
                <a:solidFill>
                  <a:srgbClr val="003B4F"/>
                </a:solidFill>
                <a:latin typeface="Courier"/>
              </a:rPr>
              <a:t>                       </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gaussian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"identity"</a:t>
            </a:r>
            <a:r>
              <a:rPr>
                <a:solidFill>
                  <a:srgbClr val="003B4F"/>
                </a:solidFill>
                <a:latin typeface="Courier"/>
              </a:rPr>
              <a:t>))</a:t>
            </a:r>
            <a:br/>
            <a:br/>
            <a:r>
              <a:rPr>
                <a:solidFill>
                  <a:srgbClr val="5E5E5E"/>
                </a:solidFill>
                <a:latin typeface="Courier"/>
              </a:rPr>
              <a:t># Compare the coefficients</a:t>
            </a:r>
            <a:br/>
            <a:r>
              <a:rPr>
                <a:solidFill>
                  <a:srgbClr val="003B4F"/>
                </a:solidFill>
                <a:latin typeface="Courier"/>
              </a:rPr>
              <a:t>coef_lm &lt;- </a:t>
            </a:r>
            <a:r>
              <a:rPr>
                <a:solidFill>
                  <a:srgbClr val="4758AB"/>
                </a:solidFill>
                <a:latin typeface="Courier"/>
              </a:rPr>
              <a:t>coefficients</a:t>
            </a:r>
            <a:r>
              <a:rPr>
                <a:solidFill>
                  <a:srgbClr val="003B4F"/>
                </a:solidFill>
                <a:latin typeface="Courier"/>
              </a:rPr>
              <a:t>(model_lm)</a:t>
            </a:r>
            <a:br/>
            <a:r>
              <a:rPr>
                <a:solidFill>
                  <a:srgbClr val="003B4F"/>
                </a:solidFill>
                <a:latin typeface="Courier"/>
              </a:rPr>
              <a:t>coef_glm &lt;- </a:t>
            </a:r>
            <a:r>
              <a:rPr>
                <a:solidFill>
                  <a:srgbClr val="4758AB"/>
                </a:solidFill>
                <a:latin typeface="Courier"/>
              </a:rPr>
              <a:t>coefficients</a:t>
            </a:r>
            <a:r>
              <a:rPr>
                <a:solidFill>
                  <a:srgbClr val="003B4F"/>
                </a:solidFill>
                <a:latin typeface="Courier"/>
              </a:rPr>
              <a:t>(model_gaussian)</a:t>
            </a:r>
            <a:br/>
            <a:br/>
            <a:r>
              <a:rPr>
                <a:solidFill>
                  <a:srgbClr val="5E5E5E"/>
                </a:solidFill>
                <a:latin typeface="Courier"/>
              </a:rPr>
              <a:t># # Check if they're the same</a:t>
            </a:r>
            <a:br/>
            <a:r>
              <a:rPr>
                <a:solidFill>
                  <a:srgbClr val="5E5E5E"/>
                </a:solidFill>
                <a:latin typeface="Courier"/>
              </a:rPr>
              <a:t># all.equal(coef_lm, coef_glm)</a:t>
            </a:r>
            <a:br/>
            <a:r>
              <a:rPr>
                <a:solidFill>
                  <a:srgbClr val="4758AB"/>
                </a:solidFill>
                <a:latin typeface="Courier"/>
              </a:rPr>
              <a:t>summary</a:t>
            </a:r>
            <a:r>
              <a:rPr>
                <a:solidFill>
                  <a:srgbClr val="003B4F"/>
                </a:solidFill>
                <a:latin typeface="Courier"/>
              </a:rPr>
              <a:t>(model_lm)</a:t>
            </a:r>
          </a:p>
          <a:p>
            <a:pPr lvl="0" indent="0">
              <a:buNone/>
            </a:pPr>
            <a:r>
              <a:rPr>
                <a:latin typeface="Courier"/>
              </a:rPr>
              <a:t>
Call:
lm(formula = mpg ~ cyl, data = mtcars)
Residuals:
    Min      1Q  Median      3Q     Max 
-5.2636 -1.8357  0.0286  1.3893  7.2364 
Coefficients:
            Estimate Std. Error t value Pr(&gt;|t|)    
(Intercept)  26.6636     0.9718  27.437  &lt; 2e-16 ***
cyl6         -6.9208     1.5583  -4.441 0.000119 ***
cyl8        -11.5636     1.2986  -8.905 8.57e-10 ***
---
Signif. codes:  0 '***' 0.001 '**' 0.01 '*' 0.05 '.' 0.1 ' ' 1
Residual standard error: 3.223 on 29 degrees of freedom
Multiple R-squared:  0.7325,    Adjusted R-squared:  0.714 
F-statistic:  39.7 on 2 and 29 DF,  p-value: 4.979e-09</a:t>
            </a:r>
          </a:p>
        </p:txBody>
      </p:sp>
      <p:sp>
        <p:nvSpPr>
          <p:cNvPr id="4" name="Content Placeholder 3"/>
          <p:cNvSpPr>
            <a:spLocks noGrp="1"/>
          </p:cNvSpPr>
          <p:nvPr>
            <p:ph idx="2" sz="half"/>
          </p:nvPr>
        </p:nvSpPr>
        <p:spPr/>
        <p:txBody>
          <a:bodyPr/>
          <a:lstStyle/>
          <a:p>
            <a:pPr lvl="0" indent="0" marL="0">
              <a:buNone/>
            </a:pPr>
            <a:r>
              <a:rPr/>
              <a:t>Let’s look at the summary of our Gaussian GLM:</a:t>
            </a:r>
          </a:p>
          <a:p>
            <a:pPr lvl="0" indent="0">
              <a:buNone/>
            </a:pPr>
            <a:r>
              <a:rPr>
                <a:solidFill>
                  <a:srgbClr val="4758AB"/>
                </a:solidFill>
                <a:latin typeface="Courier"/>
              </a:rPr>
              <a:t>summary</a:t>
            </a:r>
            <a:r>
              <a:rPr>
                <a:solidFill>
                  <a:srgbClr val="003B4F"/>
                </a:solidFill>
                <a:latin typeface="Courier"/>
              </a:rPr>
              <a:t>(model_gaussian)</a:t>
            </a:r>
          </a:p>
          <a:p>
            <a:pPr lvl="0" indent="0">
              <a:buNone/>
            </a:pPr>
            <a:r>
              <a:rPr>
                <a:latin typeface="Courier"/>
              </a:rPr>
              <a:t>
Call:
glm(formula = mpg ~ cyl, family = gaussian(link = "identity"), 
    data = mtcars)
Coefficients:
            Estimate Std. Error t value Pr(&gt;|t|)    
(Intercept)  26.6636     0.9718  27.437  &lt; 2e-16 ***
cyl6         -6.9208     1.5583  -4.441 0.000119 ***
cyl8        -11.5636     1.2986  -8.905 8.57e-10 ***
---
Signif. codes:  0 '***' 0.001 '**' 0.01 '*' 0.05 '.' 0.1 ' ' 1
(Dispersion parameter for gaussian family taken to be 10.38837)
    Null deviance: 1126.05  on 31  degrees of freedom
Residual deviance:  301.26  on 29  degrees of freedom
AIC: 170.56
Number of Fisher Scoring iterations: 2</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p:sp>
        <p:nvSpPr>
          <p:cNvPr id="3" name="Text Placeholder 2"/>
          <p:cNvSpPr>
            <a:spLocks noGrp="1"/>
          </p:cNvSpPr>
          <p:nvPr>
            <p:ph idx="1" type="body"/>
          </p:nvPr>
        </p:nvSpPr>
        <p:spPr/>
        <p:txBody>
          <a:bodyPr/>
          <a:lstStyle/>
          <a:p>
            <a:pPr lvl="0" indent="0" marL="0">
              <a:buNone/>
            </a:pPr>
            <a:r>
              <a:rPr/>
              <a:t>Now let’s perform an ANOVA on our GLM model using the </a:t>
            </a:r>
            <a:r>
              <a:rPr>
                <a:latin typeface="Courier"/>
              </a:rPr>
              <a:t>car</a:t>
            </a:r>
            <a:r>
              <a:rPr/>
              <a:t> package:</a:t>
            </a:r>
          </a:p>
          <a:p>
            <a:pPr lvl="0" indent="0">
              <a:buNone/>
            </a:pPr>
            <a:r>
              <a:rPr>
                <a:solidFill>
                  <a:srgbClr val="4758AB"/>
                </a:solidFill>
                <a:latin typeface="Courier"/>
              </a:rPr>
              <a:t>Anova</a:t>
            </a:r>
            <a:r>
              <a:rPr>
                <a:solidFill>
                  <a:srgbClr val="003B4F"/>
                </a:solidFill>
                <a:latin typeface="Courier"/>
              </a:rPr>
              <a:t>(model_gaussian,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"F"</a:t>
            </a:r>
            <a:r>
              <a:rPr>
                <a:solidFill>
                  <a:srgbClr val="003B4F"/>
                </a:solidFill>
                <a:latin typeface="Courier"/>
              </a:rPr>
              <a:t>)</a:t>
            </a:r>
          </a:p>
          <a:p>
            <a:pPr lvl="0" indent="0">
              <a:buNone/>
            </a:pPr>
            <a:r>
              <a:rPr>
                <a:latin typeface="Courier"/>
              </a:rPr>
              <a:t>Analysis of Deviance Table (Type III tests)
Response: mpg
Error estimate based on Pearson residuals 
          Sum Sq Df F values    Pr(&gt;F)    
cyl       824.78  2   39.697 4.979e-09 ***
Residuals 301.26 29                       
---
Signif. codes:  0 '***' 0.001 '**' 0.01 '*' 0.05 '.' 0.1 ' ' 1</a:t>
            </a:r>
          </a:p>
        </p:txBody>
      </p:sp>
      <p:sp>
        <p:nvSpPr>
          <p:cNvPr id="5" name="Text Placeholder 4"/>
          <p:cNvSpPr>
            <a:spLocks noGrp="1"/>
          </p:cNvSpPr>
          <p:nvPr>
            <p:ph idx="3" sz="quarter" type="body"/>
          </p:nvPr>
        </p:nvSpPr>
        <p:spPr/>
        <p:txBody>
          <a:bodyPr/>
          <a:lstStyle/>
          <a:p>
            <a:pPr lvl="0" indent="0" marL="0">
              <a:buNone/>
            </a:pPr>
            <a:r>
              <a:rPr/>
              <a:t>Visualizing the results:</a:t>
            </a:r>
          </a:p>
        </p:txBody>
      </p:sp>
      <p:pic>
        <p:nvPicPr>
          <p:cNvPr descr="14_01_lecture_powerpoint_files/figure-pptx/gaussian-plot-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0">
              <a:spcBef>
                <a:spcPts val="3000"/>
              </a:spcBef>
              <a:buNone/>
            </a:pPr>
            <a:r>
              <a:rPr b="1"/>
              <a:t>Equivalence of Linear Models and Gaussian GLMs</a:t>
            </a:r>
          </a:p>
          <a:p>
            <a:pPr lvl="0" indent="0" marL="0">
              <a:buNone/>
            </a:pPr>
            <a:r>
              <a:rPr/>
              <a:t>When we use a </a:t>
            </a:r>
            <a:r>
              <a:rPr b="1"/>
              <a:t>Gaussian distribution</a:t>
            </a:r>
            <a:r>
              <a:rPr/>
              <a:t> with an </a:t>
            </a:r>
            <a:r>
              <a:rPr b="1"/>
              <a:t>identity link</a:t>
            </a:r>
            <a:r>
              <a:rPr/>
              <a:t>, GLM gives identical results to standard linear regression. This can be seen in the coefficient values and overall model statistics.</a:t>
            </a:r>
          </a:p>
          <a:p>
            <a:pPr lvl="0" indent="0" marL="0">
              <a:buNone/>
            </a:pPr>
            <a:r>
              <a:rPr/>
              <a:t>The key difference is that GLMs provide a framework that extends to non-normal distributions.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b="1"/>
              <a:t>Poisson GLMs</a:t>
            </a:r>
            <a:r>
              <a:rPr/>
              <a:t> are appropriate for </a:t>
            </a:r>
            <a:r>
              <a:rPr b="1"/>
              <a:t>count data</a:t>
            </a:r>
            <a:r>
              <a:rPr/>
              <a:t>. The Poisson distribution assumes that the variance equals the mean.</a:t>
            </a:r>
          </a:p>
          <a:p>
            <a:pPr lvl="0" indent="0" marL="0">
              <a:buNone/>
            </a:pPr>
            <a:r>
              <a:rPr/>
              <a:t>For this example, we’ll use the quarter-mile time (</a:t>
            </a:r>
            <a:r>
              <a:rPr>
                <a:latin typeface="Courier"/>
              </a:rPr>
              <a:t>qsec</a:t>
            </a:r>
            <a:r>
              <a:rPr/>
              <a:t>) from the </a:t>
            </a:r>
            <a:r>
              <a:rPr>
                <a:latin typeface="Courier"/>
              </a:rPr>
              <a:t>mtcars</a:t>
            </a:r>
            <a:r>
              <a:rPr/>
              <a:t> dataset, rounded to create a count-like variable.</a:t>
            </a:r>
          </a:p>
          <a:p>
            <a:pPr lvl="0" indent="0">
              <a:buNone/>
            </a:pPr>
            <a:r>
              <a:rPr>
                <a:latin typeface="Courier"/>
              </a:rPr>
              <a:t>                   cyl  qsec qsec_round
Mazda RX4            6 16.46         16
Mazda RX4 Wag        6 17.02         17
Datsun 710           4 18.61         19
Hornet 4 Drive       6 19.44         19
Hornet Sportabout    8 17.02         17
Valiant              6 20.22         20
Duster 360           8 15.84         16
Merc 240D            4 20.00         20
Merc 230             4 22.90         23
Merc 280             6 18.30         18
Merc 280C            6 18.90         19
Merc 450SE           8 17.40         17
Merc 450SL           8 17.60         18
Merc 450SLC          8 18.00         18
Cadillac Fleetwood   8 17.98         18</a:t>
            </a:r>
          </a:p>
          <a:p>
            <a:pPr lvl="0" indent="0" marL="0">
              <a:buNone/>
            </a:pPr>
            <a:r>
              <a:rPr/>
              <a:t>Now let’s fit a Poisson GLM to model the relationship between the rounded quarter-mile time and the number of cylinders:</a:t>
            </a:r>
          </a:p>
        </p:txBody>
      </p:sp>
      <p:pic>
        <p:nvPicPr>
          <p:cNvPr descr="14_01_lecture_powerpoint_files/figure-pptx/unnamed-chunk-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b="1"/>
              <a:t>Poisson GLMs</a:t>
            </a:r>
            <a:r>
              <a:rPr/>
              <a:t> are appropriate for </a:t>
            </a:r>
            <a:r>
              <a:rPr b="1"/>
              <a:t>count data</a:t>
            </a:r>
            <a:r>
              <a:rPr/>
              <a:t>. The Poisson distribution assumes that the variance equals the mean.</a:t>
            </a:r>
            <a:br/>
            <a:r>
              <a:rPr/>
              <a:t>- Use the quarter-mile time (</a:t>
            </a:r>
            <a:r>
              <a:rPr>
                <a:latin typeface="Courier"/>
              </a:rPr>
              <a:t>qsec</a:t>
            </a:r>
            <a:r>
              <a:rPr/>
              <a:t>) from the </a:t>
            </a:r>
            <a:r>
              <a:rPr>
                <a:latin typeface="Courier"/>
              </a:rPr>
              <a:t>mtcars</a:t>
            </a:r>
            <a:r>
              <a:rPr/>
              <a:t> dataset, rounded to create a count-like variable. - With the natural log link, coefficients represent </a:t>
            </a:r>
            <a:r>
              <a:rPr b="1"/>
              <a:t>multiplicative effects</a:t>
            </a:r>
            <a:r>
              <a:rPr/>
              <a:t>:</a:t>
            </a:r>
            <a:br/>
            <a:r>
              <a:rPr/>
              <a:t>- A coefficient of β means: for each 1-unit increase in X, the response is multiplied by exp(β)</a:t>
            </a:r>
            <a:br/>
            <a:r>
              <a:rPr/>
              <a:t>- For small β, exp(β) ≈ 1 + β, so β × 100% gives approximate percentage change</a:t>
            </a:r>
            <a:br/>
            <a:r>
              <a:rPr/>
              <a:t>Now let’s fit a Poisson GLM to model the relationship between the rounded quarter-mile time and the number of cylinders: </a:t>
            </a:r>
            <a:r>
              <a:rPr>
                <a:latin typeface="Courier"/>
              </a:rPr>
              <a:t>model_poisson &lt;- glm(qsec_round ~ cyl, family = poisson(link = "log"), data = mtcars_count)</a:t>
            </a:r>
          </a:p>
          <a:p>
            <a:pPr lvl="0" indent="0">
              <a:buNone/>
            </a:pPr>
            <a:r>
              <a:rPr>
                <a:latin typeface="Courier"/>
              </a:rPr>
              <a:t>
Call:
glm(formula = qsec_round ~ cyl, family = poisson(link = "log"), 
    data = mtcars_count)
Coefficients:
            Estimate Std. Error z value Pr(&gt;|z|)    
(Intercept)  2.95869    0.06868  43.079   &lt;2e-16 ***
cyl6        -0.07629    0.11277  -0.676    0.499    
cyl8        -0.14243    0.09482  -1.502    0.133    
---
Signif. codes:  0 '***' 0.001 '**' 0.01 '*' 0.05 '.' 0.1 ' ' 1
(Dispersion parameter for poisson family taken to be 1)
    Null deviance: 5.6979  on 31  degrees of freedom
Residual deviance: 3.4487  on 29  degrees of freedom
AIC: 160.62
Number of Fisher Scoring iterations: 3</a:t>
            </a:r>
          </a:p>
        </p:txBody>
      </p:sp>
      <p:sp>
        <p:nvSpPr>
          <p:cNvPr id="4" name="Content Placeholder 3"/>
          <p:cNvSpPr>
            <a:spLocks noGrp="1"/>
          </p:cNvSpPr>
          <p:nvPr>
            <p:ph idx="2" sz="half"/>
          </p:nvPr>
        </p:nvSpPr>
        <p:spPr/>
        <p:txBody>
          <a:bodyPr/>
          <a:lstStyle/>
          <a:p>
            <a:pPr lvl="0" indent="0" marL="0">
              <a:buNone/>
            </a:pPr>
            <a:r>
              <a:rPr/>
              <a:t>Let’s check for overdispersion, which is common in count data:</a:t>
            </a:r>
          </a:p>
          <a:p>
            <a:pPr lvl="0"/>
            <a:r>
              <a:rPr/>
              <a:t>Should be close to 1 for a well-fitting Poisson model</a:t>
            </a:r>
          </a:p>
          <a:p>
            <a:pPr lvl="0"/>
            <a:r>
              <a:rPr/>
              <a:t>If &gt; 1.5, may indicate overdispersion</a:t>
            </a:r>
          </a:p>
          <a:p>
            <a:pPr lvl="1"/>
            <a:r>
              <a:rPr b="1"/>
              <a:t>What is Underdispersion?</a:t>
            </a:r>
          </a:p>
          <a:p>
            <a:pPr lvl="2"/>
            <a:r>
              <a:rPr/>
              <a:t>In a Poisson model, we expect the variance to equal the mean. The dispersion parameter measures the ratio of observed variance to expected variance:</a:t>
            </a:r>
          </a:p>
          <a:p>
            <a:pPr lvl="3"/>
            <a:r>
              <a:rPr b="1"/>
              <a:t>Dispersion ≈ 1</a:t>
            </a:r>
            <a:r>
              <a:rPr/>
              <a:t>: Good fit (variance = mean, as Poisson assumes)</a:t>
            </a:r>
          </a:p>
          <a:p>
            <a:pPr lvl="3"/>
            <a:r>
              <a:rPr b="1"/>
              <a:t>Dispersion &gt; 1</a:t>
            </a:r>
            <a:r>
              <a:rPr/>
              <a:t>: Overdispersion (variance &gt; mean)</a:t>
            </a:r>
          </a:p>
          <a:p>
            <a:pPr lvl="3"/>
            <a:r>
              <a:rPr b="1"/>
              <a:t>Dispersion &lt; 1</a:t>
            </a:r>
            <a:r>
              <a:rPr/>
              <a:t>: </a:t>
            </a:r>
            <a:r>
              <a:rPr b="1"/>
              <a:t>Underdispersion</a:t>
            </a:r>
            <a:r>
              <a:rPr/>
              <a:t> (variance &lt; mean)</a:t>
            </a:r>
          </a:p>
          <a:p>
            <a:pPr lvl="0" indent="0">
              <a:buNone/>
            </a:pPr>
            <a:r>
              <a:rPr>
                <a:latin typeface="Courier"/>
              </a:rPr>
              <a:t>Dispersion parameter: 0.12 </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a:r>
              <a:rPr b="1"/>
              <a:t>Poisson GLMs</a:t>
            </a:r>
            <a:r>
              <a:rPr/>
              <a:t> are appropriate for </a:t>
            </a:r>
            <a:r>
              <a:rPr b="1"/>
              <a:t>count data</a:t>
            </a:r>
            <a:r>
              <a:rPr/>
              <a:t>. The Poisson distribution assumes that the variance equals the mean.</a:t>
            </a:r>
          </a:p>
          <a:p>
            <a:pPr lvl="0"/>
            <a:r>
              <a:rPr/>
              <a:t>For this example, we’ll use the quarter-mile time (</a:t>
            </a:r>
            <a:r>
              <a:rPr>
                <a:latin typeface="Courier"/>
              </a:rPr>
              <a:t>qsec</a:t>
            </a:r>
            <a:r>
              <a:rPr/>
              <a:t>) from the </a:t>
            </a:r>
            <a:r>
              <a:rPr>
                <a:latin typeface="Courier"/>
              </a:rPr>
              <a:t>mtcars</a:t>
            </a:r>
            <a:r>
              <a:rPr/>
              <a:t> dataset, rounded to create a count-like variable.</a:t>
            </a:r>
          </a:p>
          <a:p>
            <a:pPr lvl="0"/>
            <a:r>
              <a:rPr/>
              <a:t>Now let’s fit a Poisson GLM to model the relationship between the rounded quarter-mile time and the number of cylinders:</a:t>
            </a:r>
          </a:p>
          <a:p>
            <a:pPr lvl="0" indent="0">
              <a:buNone/>
            </a:pPr>
            <a:r>
              <a:rPr>
                <a:solidFill>
                  <a:srgbClr val="5E5E5E"/>
                </a:solidFill>
                <a:latin typeface="Courier"/>
              </a:rPr>
              <a:t># Fit a Poisson GLM</a:t>
            </a:r>
            <a:br/>
            <a:r>
              <a:rPr>
                <a:solidFill>
                  <a:srgbClr val="4758AB"/>
                </a:solidFill>
                <a:latin typeface="Courier"/>
              </a:rPr>
              <a:t>Anova</a:t>
            </a:r>
            <a:r>
              <a:rPr>
                <a:solidFill>
                  <a:srgbClr val="003B4F"/>
                </a:solidFill>
                <a:latin typeface="Courier"/>
              </a:rPr>
              <a:t>(model_poisson,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"F"</a:t>
            </a:r>
            <a:r>
              <a:rPr>
                <a:solidFill>
                  <a:srgbClr val="003B4F"/>
                </a:solidFill>
                <a:latin typeface="Courier"/>
              </a:rPr>
              <a:t>)</a:t>
            </a:r>
          </a:p>
          <a:p>
            <a:pPr lvl="0" indent="0">
              <a:buNone/>
            </a:pPr>
            <a:r>
              <a:rPr>
                <a:latin typeface="Courier"/>
              </a:rPr>
              <a:t>Analysis of Deviance Table (Type III tests)
Response: qsec_round
Error estimate based on Pearson residuals 
          Sum Sq Df F values   Pr(&gt;F)    
cyl       2.2493  2   9.4854 0.000677 ***
Residuals 3.4384 29                      
---
Signif. codes:  0 '***' 0.001 '**' 0.01 '*' 0.05 '.' 0.1 ' ' 1</a:t>
            </a:r>
          </a:p>
        </p:txBody>
      </p:sp>
      <p:sp>
        <p:nvSpPr>
          <p:cNvPr id="4" name="Content Placeholder 3"/>
          <p:cNvSpPr>
            <a:spLocks noGrp="1"/>
          </p:cNvSpPr>
          <p:nvPr>
            <p:ph idx="2" sz="half"/>
          </p:nvPr>
        </p:nvSpPr>
        <p:spPr/>
        <p:txBody>
          <a:bodyPr/>
          <a:lstStyle/>
          <a:p>
            <a:pPr lvl="0" indent="0" marL="0">
              <a:buNone/>
            </a:pPr>
            <a:r>
              <a:rPr/>
              <a:t>Let’s check the emmeans and pairwise comparisons</a:t>
            </a:r>
          </a:p>
          <a:p>
            <a:pPr lvl="0" indent="0">
              <a:buNone/>
            </a:pPr>
            <a:r>
              <a:rPr>
                <a:latin typeface="Courier"/>
              </a:rPr>
              <a:t> cyl rate   SE  df asymp.LCL asymp.UCL
 4   19.3 1.32 Inf      16.8      22.0
 6   17.9 1.60 Inf      15.0      21.3
 8   16.7 1.09 Inf      14.7      19.0
Confidence level used: 0.95 
Intervals are back-transformed from the log scale </a:t>
            </a:r>
          </a:p>
          <a:p>
            <a:pPr lvl="0" indent="0">
              <a:buNone/>
            </a:pPr>
            <a:r>
              <a:rPr>
                <a:latin typeface="Courier"/>
              </a:rPr>
              <a:t> contrast    ratio     SE  df null z.ratio p.value
 cyl6 / cyl4 0.927 0.1040 Inf    1  -0.676  0.8740
 cyl8 / cyl4 0.867 0.0822 Inf    1  -1.502  0.3484
 cyl8 / cyl6 0.936 0.1040 Inf    1  -0.597  0.9092
P value adjustment: sidak method for 3 tests 
Tests are performed on the log scale </a:t>
            </a:r>
          </a:p>
          <a:p>
            <a:pPr lvl="0" indent="0">
              <a:buNone/>
            </a:pPr>
            <a:r>
              <a:rPr>
                <a:latin typeface="Courier"/>
              </a:rPr>
              <a:t> cyl rate   SE  df asymp.LCL asymp.UCL .group
 8   16.7 1.09 Inf      14.3      19.5  a    
 6   17.9 1.60 Inf      14.4      22.1  a    
 4   19.3 1.32 Inf      16.4      22.7  a    
Confidence level used: 0.95 
Conf-level adjustment: sidak method for 3 estimates 
Intervals are back-transformed from the log scale 
P value adjustment: sidak method for 3 tests 
Tests are performed on the log scale 
significance level used: alpha = 0.05 
NOTE: If two or more means share the same grouping symbol,
      then we cannot show them to be different.
      But we also did not show them to be the same. </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Visualization and Interpretation</a:t>
            </a:r>
          </a:p>
        </p:txBody>
      </p:sp>
      <p:pic>
        <p:nvPicPr>
          <p:cNvPr descr="14_01_lecture_powerpoint_files/figure-pptx/poisson-plot-1.png" id="0" name="Picture 1"/>
          <p:cNvPicPr>
            <a:picLocks noGrp="1" noChangeAspect="1"/>
          </p:cNvPicPr>
          <p:nvPr/>
        </p:nvPicPr>
        <p:blipFill>
          <a:blip r:embed="rId2"/>
          <a:stretch>
            <a:fillRect/>
          </a:stretch>
        </p:blipFill>
        <p:spPr bwMode="auto">
          <a:xfrm>
            <a:off x="0" y="1041400"/>
            <a:ext cx="6007100" cy="36957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spcBef>
                <a:spcPts val="3000"/>
              </a:spcBef>
              <a:buNone/>
            </a:pPr>
            <a:r>
              <a:rPr b="1"/>
              <a:t>Interpreting Poisson GLM Coefficients</a:t>
            </a:r>
          </a:p>
          <a:p>
            <a:pPr lvl="0"/>
            <a:r>
              <a:rPr/>
              <a:t>In a Poisson GLM with a log link function:</a:t>
            </a:r>
          </a:p>
          <a:p>
            <a:pPr lvl="1"/>
            <a:r>
              <a:rPr/>
              <a:t>The coefficients represent changes in the </a:t>
            </a:r>
            <a:r>
              <a:rPr b="1"/>
              <a:t>log</a:t>
            </a:r>
            <a:r>
              <a:rPr/>
              <a:t> of the expected count</a:t>
            </a:r>
          </a:p>
          <a:p>
            <a:pPr lvl="1"/>
            <a:r>
              <a:rPr/>
              <a:t>When exponentiated (</a:t>
            </a:r>
            <a:r>
              <a:rPr>
                <a:latin typeface="Courier"/>
              </a:rPr>
              <a:t>exp(coef)</a:t>
            </a:r>
            <a:r>
              <a:rPr/>
              <a:t>), they represent multiplicative effects</a:t>
            </a:r>
          </a:p>
          <a:p>
            <a:pPr lvl="1"/>
            <a:r>
              <a:rPr/>
              <a:t>For example, </a:t>
            </a:r>
            <a:r>
              <a:rPr>
                <a:latin typeface="Courier"/>
              </a:rPr>
              <a:t>exp(coef)</a:t>
            </a:r>
            <a:r>
              <a:rPr/>
              <a:t> = 0.90 means the expected count is 90% of the reference level</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Checking Model Assumptions with DHARMa</a:t>
            </a:r>
          </a:p>
        </p:txBody>
      </p:sp>
      <p:sp>
        <p:nvSpPr>
          <p:cNvPr id="3" name="Content Placeholder 2"/>
          <p:cNvSpPr>
            <a:spLocks noGrp="1"/>
          </p:cNvSpPr>
          <p:nvPr>
            <p:ph idx="1"/>
          </p:nvPr>
        </p:nvSpPr>
        <p:spPr/>
        <p:txBody>
          <a:bodyPr/>
          <a:lstStyle/>
          <a:p>
            <a:pPr lvl="0" indent="0" marL="0">
              <a:buNone/>
            </a:pP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count data shows more variability than expected under a Poisson distribution (variance &gt; mean), we may need to use a negative binomial model instead. </a:t>
            </a:r>
            <a:r>
              <a:rPr>
                <a:latin typeface="Courier"/>
              </a:rPr>
              <a:t>model_nb &lt;- glm.nb(qsec_round ~ cyl, data = mtcars_count)</a:t>
            </a:r>
          </a:p>
          <a:p>
            <a:pPr lvl="0" indent="0">
              <a:buNone/>
            </a:pPr>
            <a:r>
              <a:rPr>
                <a:latin typeface="Courier"/>
              </a:rPr>
              <a:t>
Call:
glm.nb(formula = qsec_round ~ cyl, data = mtcars_count, init.theta = 2935507.581, 
    link = log)
Coefficients:
            Estimate Std. Error z value Pr(&gt;|z|)    
(Intercept)  2.95869    0.06868  43.079   &lt;2e-16 ***
cyl6        -0.07629    0.11277  -0.676    0.499    
cyl8        -0.14243    0.09482  -1.502    0.133    
---
Signif. codes:  0 '***' 0.001 '**' 0.01 '*' 0.05 '.' 0.1 ' ' 1
(Dispersion parameter for Negative Binomial(2935508) family taken to be 1)
    Null deviance: 5.6979  on 31  degrees of freedom
Residual deviance: 3.4486  on 29  degrees of freedom
AIC: 162.62
Number of Fisher Scoring iterations: 1
              Theta:  2935508 
          Std. Err.:  121363169 
Warning while fitting theta: iteration limit reached 
 2 x log-likelihood:  -154.616 </a:t>
            </a:r>
          </a:p>
          <a:p>
            <a:pPr lvl="0" indent="0" marL="0">
              <a:buNone/>
            </a:pPr>
            <a:r>
              <a:rPr/>
              <a:t>The negative binomial model includes an additional dispersion parameter (theta) that allows the variance to be larger than the mean.</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p:txBody>
      </p:sp>
      <p:pic>
        <p:nvPicPr>
          <p:cNvPr descr="14_01_lecture_powerpoint_files/figure-pptx/compare-models-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indent="0" marL="0">
                  <a:buNone/>
                </a:pPr>
                <a:r>
                  <a:rPr/>
                  <a:t>Let’s examine the simple logistic regression model:</a:t>
                </a:r>
              </a:p>
              <a:p>
                <a:pPr lvl="0" indent="0" marL="0">
                  <a:buNone/>
                </a:pPr>
                <a14:m>
                  <m:oMathPara xmlns:m="http://schemas.openxmlformats.org/officeDocument/2006/math">
                    <m:oMathParaPr>
                      <m:jc m:val="center"/>
                    </m:oMathParaPr>
                    <m:oMath>
                      <m:r>
                        <m:t>π</m:t>
                      </m:r>
                      <m:d>
                        <m:dPr>
                          <m:begChr m:val="("/>
                          <m:sepChr m:val=""/>
                          <m:endChr m:val=")"/>
                          <m:grow/>
                        </m:dPr>
                        <m:e>
                          <m:r>
                            <m:t>x</m:t>
                          </m:r>
                        </m:e>
                      </m:d>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m:oMathPara>
                </a14:m>
              </a:p>
              <a:p>
                <a:pPr lvl="0"/>
                <a:r>
                  <a:rPr/>
                  <a:t>Where:</a:t>
                </a:r>
              </a:p>
              <a:p>
                <a:pPr lvl="1"/>
                <a14:m>
                  <m:oMath xmlns:m="http://schemas.openxmlformats.org/officeDocument/2006/math">
                    <m:r>
                      <m:t>π</m:t>
                    </m:r>
                    <m:d>
                      <m:dPr>
                        <m:begChr m:val="("/>
                        <m:sepChr m:val=""/>
                        <m:endChr m:val=")"/>
                        <m:grow/>
                      </m:dPr>
                      <m:e>
                        <m:r>
                          <m:t>x</m:t>
                        </m:r>
                      </m:e>
                    </m:d>
                  </m:oMath>
                </a14:m>
                <a:r>
                  <a:rPr/>
                  <a:t> is the probability that Y = 1 given X = x</a:t>
                </a:r>
              </a:p>
              <a:p>
                <a:pPr lvl="1"/>
                <a14:m>
                  <m:oMath xmlns:m="http://schemas.openxmlformats.org/officeDocument/2006/math">
                    <m:sSub>
                      <m:e>
                        <m:r>
                          <m:t>β</m:t>
                        </m:r>
                      </m:e>
                      <m:sub>
                        <m:r>
                          <m:t>0</m:t>
                        </m:r>
                      </m:sub>
                    </m:sSub>
                  </m:oMath>
                </a14:m>
                <a:r>
                  <a:rPr/>
                  <a:t> is the intercept</a:t>
                </a:r>
              </a:p>
              <a:p>
                <a:pPr lvl="1"/>
                <a14:m>
                  <m:oMath xmlns:m="http://schemas.openxmlformats.org/officeDocument/2006/math">
                    <m:sSub>
                      <m:e>
                        <m:r>
                          <m:t>β</m:t>
                        </m:r>
                      </m:e>
                      <m:sub>
                        <m:r>
                          <m:t>1</m:t>
                        </m:r>
                      </m:sub>
                    </m:sSub>
                  </m:oMath>
                </a14:m>
                <a:r>
                  <a:rPr/>
                  <a:t> is the slope (rate of change in </a:t>
                </a:r>
                <a14:m>
                  <m:oMath xmlns:m="http://schemas.openxmlformats.org/officeDocument/2006/math">
                    <m:r>
                      <m:t>π</m:t>
                    </m:r>
                    <m:d>
                      <m:dPr>
                        <m:begChr m:val="("/>
                        <m:sepChr m:val=""/>
                        <m:endChr m:val=")"/>
                        <m:grow/>
                      </m:dPr>
                      <m:e>
                        <m:r>
                          <m:t>x</m:t>
                        </m:r>
                      </m:e>
                    </m:d>
                  </m:oMath>
                </a14:m>
                <a:r>
                  <a:rPr/>
                  <a:t> for a unit change in X)</a:t>
                </a:r>
              </a:p>
              <a:p>
                <a:pPr lvl="0" indent="0" marL="0">
                  <a:buNone/>
                </a:pPr>
                <a:r>
                  <a:rPr/>
                  <a:t>To linearize this relationship, we use the logit link function:</a:t>
                </a:r>
              </a:p>
              <a:p>
                <a:pPr lvl="0" indent="0" marL="0">
                  <a:buNone/>
                </a:pPr>
                <a14:m>
                  <m:oMathPara xmlns:m="http://schemas.openxmlformats.org/officeDocument/2006/math">
                    <m:oMathParaPr>
                      <m:jc m:val="center"/>
                    </m:oMathParaPr>
                    <m:oMath>
                      <m:r>
                        <m:t>g</m:t>
                      </m:r>
                      <m:d>
                        <m:dPr>
                          <m:begChr m:val="("/>
                          <m:sepChr m:val=""/>
                          <m:endChr m:val=")"/>
                          <m:grow/>
                        </m:dPr>
                        <m:e>
                          <m:r>
                            <m:t>x</m:t>
                          </m:r>
                        </m:e>
                      </m:d>
                      <m:r>
                        <m:rPr>
                          <m:sty m:val="p"/>
                        </m:rPr>
                        <m:t>=</m:t>
                      </m:r>
                      <m:r>
                        <m:rPr>
                          <m:sty m:val="p"/>
                        </m:rPr>
                        <m:t>log</m:t>
                      </m:r>
                      <m:d>
                        <m:dPr>
                          <m:begChr m:val="("/>
                          <m:sepChr m:val=""/>
                          <m:endChr m:val=")"/>
                          <m:grow/>
                        </m:dPr>
                        <m:e>
                          <m:f>
                            <m:fPr>
                              <m:type m:val="bar"/>
                            </m:fPr>
                            <m:num>
                              <m:r>
                                <m:t>π</m:t>
                              </m:r>
                              <m:d>
                                <m:dPr>
                                  <m:begChr m:val="("/>
                                  <m:sepChr m:val=""/>
                                  <m:endChr m:val=")"/>
                                  <m:grow/>
                                </m:dPr>
                                <m:e>
                                  <m:r>
                                    <m:t>x</m:t>
                                  </m:r>
                                </m:e>
                              </m:d>
                            </m:num>
                            <m:den>
                              <m:r>
                                <m:t>1</m:t>
                              </m:r>
                              <m:r>
                                <m:rPr>
                                  <m:sty m:val="p"/>
                                </m:rPr>
                                <m:t>−</m:t>
                              </m:r>
                              <m:r>
                                <m:t>π</m:t>
                              </m:r>
                              <m:d>
                                <m:dPr>
                                  <m:begChr m:val="("/>
                                  <m:sepChr m:val=""/>
                                  <m:endChr m:val=")"/>
                                  <m:grow/>
                                </m:dPr>
                                <m:e>
                                  <m:r>
                                    <m:t>x</m:t>
                                  </m:r>
                                </m:e>
                              </m:d>
                            </m:den>
                          </m:f>
                        </m:e>
                      </m:d>
                      <m:r>
                        <m:rPr>
                          <m:sty m:val="p"/>
                        </m:rPr>
                        <m:t>=</m:t>
                      </m:r>
                      <m:sSub>
                        <m:e>
                          <m:r>
                            <m:t>β</m:t>
                          </m:r>
                        </m:e>
                        <m:sub>
                          <m:r>
                            <m:t>0</m:t>
                          </m:r>
                        </m:sub>
                      </m:sSub>
                      <m:r>
                        <m:rPr>
                          <m:sty m:val="p"/>
                        </m:rPr>
                        <m:t>+</m:t>
                      </m:r>
                      <m:sSub>
                        <m:e>
                          <m:r>
                            <m:t>β</m:t>
                          </m:r>
                        </m:e>
                        <m:sub>
                          <m:r>
                            <m:t>1</m:t>
                          </m:r>
                        </m:sub>
                      </m:sSub>
                      <m:r>
                        <m:t>x</m:t>
                      </m:r>
                    </m:oMath>
                  </m:oMathPara>
                </a14:m>
              </a:p>
              <a:p>
                <a:pPr lvl="0" indent="0" marL="0">
                  <a:buNone/>
                </a:pPr>
                <a:r>
                  <a:rPr/>
                  <a:t>This transforms the probability (which is bounded between 0 and 1) to a linear function that can range from -∞ to +∞.</a:t>
                </a:r>
              </a:p>
            </p:txBody>
          </p:sp>
        </mc:Choice>
      </mc:AlternateContent>
      <p:pic>
        <p:nvPicPr>
          <p:cNvPr descr="14_01_lecture_powerpoint_files/figure-pptx/logistic-curve-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we’ll model the presence/absence of lizards (</a:t>
            </a:r>
            <a:r>
              <a:rPr i="1"/>
              <a:t>Uta</a:t>
            </a:r>
            <a:r>
              <a:rPr/>
              <a:t>) on islands in the Gulf of California based on perimeter/area ratio.</a:t>
            </a:r>
          </a:p>
          <a:p>
            <a:pPr lvl="0" indent="0" marL="0">
              <a:buNone/>
            </a:pP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we’ll model the presence/absence of lizards (</a:t>
            </a:r>
            <a:r>
              <a:rPr i="1"/>
              <a:t>Uta</a:t>
            </a:r>
            <a:r>
              <a:rPr/>
              <a:t>) on islands in the Gulf of California based on perimeter/area ratio.</a:t>
            </a:r>
          </a:p>
          <a:p>
            <a:pPr lvl="0" indent="0">
              <a:buNone/>
            </a:pP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p>
          <a:p>
            <a:pPr lvl="0" indent="0">
              <a:buNone/>
            </a:pPr>
            <a:r>
              <a:rPr>
                <a:latin typeface="Courier"/>
              </a:rPr>
              <a:t>
Call:
glm(formula = uta_present ~ pa_ratio, family = binomial(link = "logit"), 
    data = island_data)
Coefficients:
            Estimate Std. Error z value Pr(&gt;|z|)   
(Intercept)   5.9374     2.1297   2.788  0.00530 **
pa_ratio     -0.1493     0.0517  -2.887  0.00388 **
---
Signif. codes:  0 '***' 0.001 '**' 0.01 '*' 0.05 '.' 0.1 ' ' 1
(Dispersion parameter for binomial family taken to be 1)
    Null deviance: 41.455  on 29  degrees of freedom
Residual deviance: 19.090  on 28  degrees of freedom
AIC: 23.09
Number of Fisher Scoring iterations: 6</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p:txBody>
      </p:sp>
      <p:pic>
        <p:nvPicPr>
          <p:cNvPr descr="14_01_lecture_powerpoint_files/figure-pptx/lizard-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We want to test the null hypothesis that β₁ = 0, meaning there’s no relationship between P/A ratio and lizard presence.</a:t>
            </a:r>
          </a:p>
          <a:p>
            <a:pPr lvl="0" indent="0" marL="0">
              <a:buNone/>
            </a:pPr>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5E5E5E"/>
                </a:solidFill>
                <a:latin typeface="Courier"/>
              </a:rPr>
              <a:t># Reduced model (intercept only)</a:t>
            </a:r>
            <a:b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Likelihood ratio test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uta_present ~ 1
Model 2: uta_present ~ pa_ratio
  Resid. Df Resid. Dev Df Deviance  Pr(&gt;Chi)    
1        18     26.287                          
2        17      0.000  1   26.287 2.943e-07 ***
---
Signif. codes:  0 '***' 0.001 '**' 0.01 '*' 0.05 '.' 0.1 ' ' 1</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0">
              <a:spcBef>
                <a:spcPts val="3000"/>
              </a:spcBef>
              <a:buNone/>
            </a:pPr>
            <a:r>
              <a:rPr b="1"/>
              <a:t>Working with Odds Ratios</a:t>
            </a:r>
          </a:p>
          <a:p>
            <a:pPr lvl="0" indent="0" marL="0">
              <a:buNone/>
            </a:pPr>
            <a:r>
              <a:rPr/>
              <a:t>The odds ratio represents how the odds of the event (e.g., lizard presence) change with a unit increase in the predictor.</a:t>
            </a:r>
          </a:p>
          <a:p>
            <a:pPr lvl="0"/>
            <a:r>
              <a:rPr b="1"/>
              <a:t>Odds ratio = exp(β₁)</a:t>
            </a:r>
          </a:p>
          <a:p>
            <a:pPr lvl="0"/>
            <a:r>
              <a:rPr/>
              <a:t>If odds ratio &gt; 1: Increasing the predictor increases the odds of event</a:t>
            </a:r>
          </a:p>
          <a:p>
            <a:pPr lvl="0"/>
            <a:r>
              <a:rPr/>
              <a:t>If odds ratio &lt; 1: Increasing the predictor decreases the odds of event</a:t>
            </a:r>
          </a:p>
          <a:p>
            <a:pPr lvl="0"/>
            <a:r>
              <a:rPr/>
              <a:t>If odds ratio = 1: No effect of predictor on odds of event</a:t>
            </a:r>
          </a:p>
          <a:p>
            <a:pPr lvl="0" indent="0">
              <a:buNone/>
            </a:pPr>
            <a:r>
              <a:rPr>
                <a:solidFill>
                  <a:srgbClr val="5E5E5E"/>
                </a:solidFill>
                <a:latin typeface="Courier"/>
              </a:rPr>
              <a:t># Calculate odds ratio and confidence interval</a:t>
            </a:r>
            <a:b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b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Odds Ratio: 0.861 
 95% CI: 0.753 to 0.932 </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solidFill>
                  <a:srgbClr val="5E5E5E"/>
                </a:solidFill>
                <a:latin typeface="Courier"/>
              </a:rPr>
              <a:t># Calculate Hosmer-Lemeshow statistic</a:t>
            </a:r>
            <a:br/>
            <a:r>
              <a:rPr>
                <a:solidFill>
                  <a:srgbClr val="5E5E5E"/>
                </a:solidFill>
                <a:latin typeface="Courier"/>
              </a:rPr>
              <a:t># This would normally require an additional package like 'ResourceSelection'</a:t>
            </a:r>
            <a:br/>
            <a:r>
              <a:rPr>
                <a:solidFill>
                  <a:srgbClr val="5E5E5E"/>
                </a:solidFill>
                <a:latin typeface="Courier"/>
              </a:rPr>
              <a:t># Instead, we'll use a simpler approximation and other diagnostics</a:t>
            </a:r>
            <a:br/>
            <a:br/>
            <a:r>
              <a:rPr>
                <a:solidFill>
                  <a:srgbClr val="5E5E5E"/>
                </a:solidFill>
                <a:latin typeface="Courier"/>
              </a:rPr>
              <a:t># Calculate Pearson residuals</a:t>
            </a:r>
            <a:br/>
            <a:r>
              <a:rPr>
                <a:solidFill>
                  <a:srgbClr val="003B4F"/>
                </a:solidFill>
                <a:latin typeface="Courier"/>
              </a:rPr>
              <a:t>pearson_resid &lt;- </a:t>
            </a:r>
            <a:r>
              <a:rPr>
                <a:solidFill>
                  <a:srgbClr val="4758AB"/>
                </a:solidFill>
                <a:latin typeface="Courier"/>
              </a:rPr>
              <a:t>residuals</a:t>
            </a:r>
            <a:r>
              <a:rPr>
                <a:solidFill>
                  <a:srgbClr val="003B4F"/>
                </a:solidFill>
                <a:latin typeface="Courier"/>
              </a:rPr>
              <a:t>(lizard_model,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pearson_chi2 &lt;- </a:t>
            </a:r>
            <a:r>
              <a:rPr>
                <a:solidFill>
                  <a:srgbClr val="4758AB"/>
                </a:solidFill>
                <a:latin typeface="Courier"/>
              </a:rPr>
              <a:t>sum</a:t>
            </a:r>
            <a:r>
              <a:rPr>
                <a:solidFill>
                  <a:srgbClr val="003B4F"/>
                </a:solidFill>
                <a:latin typeface="Courier"/>
              </a:rPr>
              <a:t>(pearson_resid</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df_resid &lt;- lizard_model</a:t>
            </a:r>
            <a:r>
              <a:rPr>
                <a:solidFill>
                  <a:srgbClr val="5E5E5E"/>
                </a:solidFill>
                <a:latin typeface="Courier"/>
              </a:rPr>
              <a:t>$</a:t>
            </a:r>
            <a:r>
              <a:rPr>
                <a:solidFill>
                  <a:srgbClr val="003B4F"/>
                </a:solidFill>
                <a:latin typeface="Courier"/>
              </a:rPr>
              <a:t>df.residual</a:t>
            </a:r>
            <a:br/>
            <a:r>
              <a:rPr>
                <a:solidFill>
                  <a:srgbClr val="5E5E5E"/>
                </a:solidFill>
                <a:latin typeface="Courier"/>
              </a:rPr>
              <a:t># Calculate deviance</a:t>
            </a:r>
            <a:br/>
            <a:r>
              <a:rPr>
                <a:solidFill>
                  <a:srgbClr val="003B4F"/>
                </a:solidFill>
                <a:latin typeface="Courier"/>
              </a:rPr>
              <a:t>deviance_g2 &lt;- lizard_model</a:t>
            </a:r>
            <a:r>
              <a:rPr>
                <a:solidFill>
                  <a:srgbClr val="5E5E5E"/>
                </a:solidFill>
                <a:latin typeface="Courier"/>
              </a:rPr>
              <a:t>$</a:t>
            </a:r>
            <a:r>
              <a:rPr>
                <a:solidFill>
                  <a:srgbClr val="003B4F"/>
                </a:solidFill>
                <a:latin typeface="Courier"/>
              </a:rPr>
              <a:t>deviance</a:t>
            </a:r>
            <a:br/>
            <a:r>
              <a:rPr>
                <a:solidFill>
                  <a:srgbClr val="003B4F"/>
                </a:solidFill>
                <a:latin typeface="Courier"/>
              </a:rPr>
              <a:t>null_deviance &lt;- lizard_model</a:t>
            </a:r>
            <a:r>
              <a:rPr>
                <a:solidFill>
                  <a:srgbClr val="5E5E5E"/>
                </a:solidFill>
                <a:latin typeface="Courier"/>
              </a:rPr>
              <a:t>$</a:t>
            </a:r>
            <a:r>
              <a:rPr>
                <a:solidFill>
                  <a:srgbClr val="003B4F"/>
                </a:solidFill>
                <a:latin typeface="Courier"/>
              </a:rPr>
              <a:t>null.deviance</a:t>
            </a:r>
            <a:br/>
            <a:r>
              <a:rPr>
                <a:solidFill>
                  <a:srgbClr val="5E5E5E"/>
                </a:solidFill>
                <a:latin typeface="Courier"/>
              </a:rPr>
              <a:t># Calculate McFadden's pseudo-R²</a:t>
            </a:r>
            <a:br/>
            <a:r>
              <a:rPr>
                <a:solidFill>
                  <a:srgbClr val="003B4F"/>
                </a:solidFill>
                <a:latin typeface="Courier"/>
              </a:rPr>
              <a:t>r2_mcfadden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(deviance_g2 </a:t>
            </a:r>
            <a:r>
              <a:rPr>
                <a:solidFill>
                  <a:srgbClr val="5E5E5E"/>
                </a:solidFill>
                <a:latin typeface="Courier"/>
              </a:rPr>
              <a:t>/</a:t>
            </a:r>
            <a:r>
              <a:rPr>
                <a:solidFill>
                  <a:srgbClr val="003B4F"/>
                </a:solidFill>
                <a:latin typeface="Courier"/>
              </a:rPr>
              <a:t> null_deviance)</a:t>
            </a:r>
            <a:b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"Pearson χ²:"</a:t>
            </a:r>
            <a:r>
              <a:rPr>
                <a:solidFill>
                  <a:srgbClr val="003B4F"/>
                </a:solidFill>
                <a:latin typeface="Courier"/>
              </a:rPr>
              <a:t>, </a:t>
            </a:r>
            <a:r>
              <a:rPr>
                <a:solidFill>
                  <a:srgbClr val="4758AB"/>
                </a:solidFill>
                <a:latin typeface="Courier"/>
              </a:rPr>
              <a:t>round</a:t>
            </a:r>
            <a:r>
              <a:rPr>
                <a:solidFill>
                  <a:srgbClr val="003B4F"/>
                </a:solidFill>
                <a:latin typeface="Courier"/>
              </a:rPr>
              <a:t>(pearson_chi2, </a:t>
            </a:r>
            <a:r>
              <a:rPr>
                <a:solidFill>
                  <a:srgbClr val="AD0000"/>
                </a:solidFill>
                <a:latin typeface="Courier"/>
              </a:rPr>
              <a:t>3</a:t>
            </a:r>
            <a:r>
              <a:rPr>
                <a:solidFill>
                  <a:srgbClr val="003B4F"/>
                </a:solidFill>
                <a:latin typeface="Courier"/>
              </a:rPr>
              <a:t>), </a:t>
            </a:r>
            <a:r>
              <a:rPr>
                <a:solidFill>
                  <a:srgbClr val="20794D"/>
                </a:solidFill>
                <a:latin typeface="Courier"/>
              </a:rPr>
              <a:t>"on"</a:t>
            </a:r>
            <a:r>
              <a:rPr>
                <a:solidFill>
                  <a:srgbClr val="003B4F"/>
                </a:solidFill>
                <a:latin typeface="Courier"/>
              </a:rPr>
              <a:t>, df_resid, </a:t>
            </a:r>
            <a:r>
              <a:rPr>
                <a:solidFill>
                  <a:srgbClr val="20794D"/>
                </a:solidFill>
                <a:latin typeface="Courier"/>
              </a:rPr>
              <a:t>"df, p ="</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pchisq</a:t>
            </a:r>
            <a:r>
              <a:rPr>
                <a:solidFill>
                  <a:srgbClr val="003B4F"/>
                </a:solidFill>
                <a:latin typeface="Courier"/>
              </a:rPr>
              <a:t>(pearson_chi2, df_resid),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Pearson χ²: 18.58 on 28 df, p = 0.911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"Deviance G²:"</a:t>
            </a:r>
            <a:r>
              <a:rPr>
                <a:solidFill>
                  <a:srgbClr val="003B4F"/>
                </a:solidFill>
                <a:latin typeface="Courier"/>
              </a:rPr>
              <a:t>, </a:t>
            </a:r>
            <a:r>
              <a:rPr>
                <a:solidFill>
                  <a:srgbClr val="4758AB"/>
                </a:solidFill>
                <a:latin typeface="Courier"/>
              </a:rPr>
              <a:t>round</a:t>
            </a:r>
            <a:r>
              <a:rPr>
                <a:solidFill>
                  <a:srgbClr val="003B4F"/>
                </a:solidFill>
                <a:latin typeface="Courier"/>
              </a:rPr>
              <a:t>(deviance_g2, </a:t>
            </a:r>
            <a:r>
              <a:rPr>
                <a:solidFill>
                  <a:srgbClr val="AD0000"/>
                </a:solidFill>
                <a:latin typeface="Courier"/>
              </a:rPr>
              <a:t>3</a:t>
            </a:r>
            <a:r>
              <a:rPr>
                <a:solidFill>
                  <a:srgbClr val="003B4F"/>
                </a:solidFill>
                <a:latin typeface="Courier"/>
              </a:rPr>
              <a:t>), </a:t>
            </a:r>
            <a:r>
              <a:rPr>
                <a:solidFill>
                  <a:srgbClr val="20794D"/>
                </a:solidFill>
                <a:latin typeface="Courier"/>
              </a:rPr>
              <a:t>"on"</a:t>
            </a:r>
            <a:r>
              <a:rPr>
                <a:solidFill>
                  <a:srgbClr val="003B4F"/>
                </a:solidFill>
                <a:latin typeface="Courier"/>
              </a:rPr>
              <a:t>, df_resid, </a:t>
            </a:r>
            <a:r>
              <a:rPr>
                <a:solidFill>
                  <a:srgbClr val="20794D"/>
                </a:solidFill>
                <a:latin typeface="Courier"/>
              </a:rPr>
              <a:t>"df, p ="</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pchisq</a:t>
            </a:r>
            <a:r>
              <a:rPr>
                <a:solidFill>
                  <a:srgbClr val="003B4F"/>
                </a:solidFill>
                <a:latin typeface="Courier"/>
              </a:rPr>
              <a:t>(deviance_g2, df_resid),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Deviance G²: 19.09 on 28 df, p = 0.895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"McFadden's R²:"</a:t>
            </a:r>
            <a:r>
              <a:rPr>
                <a:solidFill>
                  <a:srgbClr val="003B4F"/>
                </a:solidFill>
                <a:latin typeface="Courier"/>
              </a:rPr>
              <a:t>, </a:t>
            </a:r>
            <a:r>
              <a:rPr>
                <a:solidFill>
                  <a:srgbClr val="4758AB"/>
                </a:solidFill>
                <a:latin typeface="Courier"/>
              </a:rPr>
              <a:t>round</a:t>
            </a:r>
            <a:r>
              <a:rPr>
                <a:solidFill>
                  <a:srgbClr val="003B4F"/>
                </a:solidFill>
                <a:latin typeface="Courier"/>
              </a:rPr>
              <a:t>(r2_mcfadden,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McFadden's R²: 0.54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d>
                        <m:dPr>
                          <m:begChr m:val="("/>
                          <m:sepChr m:val=""/>
                          <m:endChr m:val=")"/>
                          <m:grow/>
                        </m:dPr>
                        <m:e>
                          <m:r>
                            <m:t>x</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latin typeface="Courier"/>
                  </a:rPr>
                  <a:t>
Call:
glm(formula = rodent_present ~ distance + age + shrub_cover, 
    family = binomial(link = "logit"), data = fragment_data)
Coefficients:
              Estimate Std. Error z value Pr(&gt;|z|)  
(Intercept) -12.278261   7.911491  -1.552   0.1207  
distance      0.002062   0.001716   1.202   0.2294  
age           0.068744   0.059665   1.152   0.2493  
shrub_cover   0.193001   0.116035   1.663   0.0963 .
---
Signif. codes:  0 '***' 0.001 '**' 0.01 '*' 0.05 '.' 0.1 ' ' 1
(Dispersion parameter for binomial family taken to be 1)
    Null deviance: 27.5540  on 24  degrees of freedom
Residual deviance:  9.2737  on 21  degrees of freedom
AIC: 17.274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latin typeface="Courier"/>
              </a:rPr>
              <a:t>Analysis of Deviance Table
Model 1: rodent_present ~ age + shrub_cover
Model 2: rodent_present ~ distance + age + shrub_cover
  Resid. Df Resid. Dev Df Deviance Pr(&gt;Chi)
1        22    11.3831                     
2        21     9.2737  1   2.1094   0.1464</a:t>
            </a:r>
          </a:p>
          <a:p>
            <a:pPr lvl="0" indent="0">
              <a:buNone/>
            </a:pPr>
            <a:r>
              <a:rPr>
                <a:latin typeface="Courier"/>
              </a:rPr>
              <a:t>Analysis of Deviance Table
Model 1: rodent_present ~ distance + shrub_cover
Model 2: rodent_present ~ distance + age + shrub_cover
  Resid. Df Resid. Dev Df Deviance Pr(&gt;Chi)
1        22    11.0533                     
2        21     9.2737  1   1.7796   0.1822</a:t>
            </a:r>
          </a:p>
          <a:p>
            <a:pPr lvl="0" indent="0">
              <a:buNone/>
            </a:pPr>
            <a:r>
              <a:rPr>
                <a:latin typeface="Courier"/>
              </a:rPr>
              <a:t>Analysis of Deviance Table
Model 1: rodent_present ~ distance + age
Model 2: rodent_present ~ distance + age + shrub_cover
  Resid. Df Resid. Dev Df Deviance  Pr(&gt;Chi)    
1        22    26.7315                          
2        21     9.2737  1   17.458 2.938e-05 ***
---
Signif. codes:  0 '***' 0.001 '**' 0.01 '*' 0.05 '.' 0.1 ' ' 1</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 ::: {.panel column=“screen”}</a:t>
            </a:r>
          </a:p>
          <a:p>
            <a:pPr lvl="0" indent="0">
              <a:buNone/>
            </a:pPr>
            <a:r>
              <a:rPr>
                <a:latin typeface="Courier"/>
              </a:rPr>
              <a:t>              Predictor OddsRatio               CI
distance       distance    1.0021 (0.9994, 1.0069)
age                 age    1.0712 (0.9721, 1.2577)
shrub_cover shrub_cover    1.2129 (1.0645, 1.7909)</a:t>
            </a:r>
          </a:p>
          <a:p>
            <a:pPr lvl="0" indent="0" marL="0">
              <a:buNone/>
            </a:pPr>
            <a:r>
              <a:rPr/>
              <a: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Visualizing Multiple Logistic Regression</a:t>
            </a:r>
          </a:p>
        </p:txBody>
      </p:sp>
      <p:sp>
        <p:nvSpPr>
          <p:cNvPr id="3" name="Content Placeholder 2"/>
          <p:cNvSpPr>
            <a:spLocks noGrp="1"/>
          </p:cNvSpPr>
          <p:nvPr>
            <p:ph idx="1"/>
          </p:nvPr>
        </p:nvSpPr>
        <p:spPr/>
        <p:txBody>
          <a:bodyPr/>
          <a:lstStyle/>
          <a:p>
            <a:pPr lvl="0" indent="0" marL="0">
              <a:buNone/>
            </a:pPr>
            <a:r>
              <a:rPr/>
              <a:t>For multiple predictors, we can visualize the effect of each predictor while holding others constant at their mean or median values.</a:t>
            </a:r>
          </a:p>
          <a:p>
            <a:pPr lvl="0" indent="0" marL="0">
              <a:buNone/>
            </a:pPr>
            <a:r>
              <a:rPr/>
              <a:t>This visualization shows the effect of each predictor on the probability of rodent presence, while holding the other predictors constant at their mean values.</a:t>
            </a:r>
          </a:p>
          <a:p>
            <a:pPr lvl="0" indent="0" marL="0">
              <a:buNone/>
            </a:pP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Assumptions and Diagnostics of Logistic Regression</a:t>
            </a:r>
          </a:p>
        </p:txBody>
      </p:sp>
      <p:sp>
        <p:nvSpPr>
          <p:cNvPr id="4" name="Text Placeholder 3"/>
          <p:cNvSpPr>
            <a:spLocks noGrp="1"/>
          </p:cNvSpPr>
          <p:nvPr>
            <p:ph idx="2" sz="half" type="body"/>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Let’s check the diagnostics for our multiple logistic regression model: ::: {.panel column=“screen”}</a:t>
            </a:r>
          </a:p>
        </p:txBody>
      </p:sp>
      <p:pic>
        <p:nvPicPr>
          <p:cNvPr descr="14_01_lecture_powerpoint_files/figure-pptx/diagnostic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we often want to find the most parsimonious model. We can use:</a:t>
            </a:r>
          </a:p>
          <a:p>
            <a:pPr lvl="0" indent="-342900" marL="342900">
              <a:buAutoNum type="arabicPeriod"/>
            </a:pPr>
            <a:r>
              <a:rPr/>
              <a:t>Likelihood ratio tests for nested models</a:t>
            </a:r>
          </a:p>
          <a:p>
            <a:pPr lvl="0" indent="-342900" marL="342900">
              <a:buAutoNum type="arabicPeriod"/>
            </a:pPr>
            <a:r>
              <a:rPr/>
              <a:t>Information criteria (AIC, BIC) for non-nested models</a:t>
            </a:r>
          </a:p>
          <a:p>
            <a:pPr lvl="0" indent="-342900" marL="342900">
              <a:buAutoNum type="arabicPeriod"/>
            </a:pPr>
            <a:r>
              <a:rPr/>
              <a:t>Classification metrics like accuracy, sensitivity, and specificity</a:t>
            </a:r>
          </a:p>
          <a:p>
            <a:pPr lvl="0" indent="0" marL="0">
              <a:buNone/>
            </a:pPr>
            <a:r>
              <a:rPr/>
              <a:t>Let’s compare models and calculate AIC values:</a:t>
            </a:r>
          </a:p>
          <a:p>
            <a:pPr lvl="0" indent="0">
              <a:buNone/>
            </a:pPr>
            <a:r>
              <a:rPr>
                <a:latin typeface="Courier"/>
              </a:rPr>
              <a:t>                        Model Parameters   AIC   BIC Deviance
No Age                 No Age          3 17.05 20.71    11.05
Full                     Full          4 17.27 22.15     9.27
No Distance       No Distance          3 17.38 21.04    11.38
Intercept Only Intercept Only          1 29.55 30.77    27.55
No Shrub             No Shrub          3 32.73 36.39    26.73</a:t>
            </a:r>
          </a:p>
        </p:txBody>
      </p:sp>
      <p:sp>
        <p:nvSpPr>
          <p:cNvPr id="4" name="Content Placeholder 3"/>
          <p:cNvSpPr>
            <a:spLocks noGrp="1"/>
          </p:cNvSpPr>
          <p:nvPr>
            <p:ph idx="2" sz="half"/>
          </p:nvPr>
        </p:nvSpPr>
        <p:spPr/>
        <p:txBody>
          <a:bodyPr/>
          <a:lstStyle/>
          <a:p>
            <a:pPr lvl="0" indent="0" marL="0">
              <a:buNone/>
            </a:pPr>
            <a:r>
              <a:rPr/>
              <a:t>We can also evaluate the predictive performance of our model:</a:t>
            </a:r>
          </a:p>
          <a:p>
            <a:pPr lvl="0" indent="0">
              <a:buNone/>
            </a:pPr>
            <a:r>
              <a:rPr>
                <a:latin typeface="Courier"/>
              </a:rPr>
              <a:t>         Actual
Predicted Absent Present
  Absent       5       2
  Present      1      17</a:t>
            </a:r>
          </a:p>
          <a:p>
            <a:pPr lvl="0" indent="0">
              <a:buNone/>
            </a:pPr>
            <a:r>
              <a:rPr>
                <a:latin typeface="Courier"/>
              </a:rPr>
              <a:t>
Accuracy: 0.88 </a:t>
            </a:r>
          </a:p>
          <a:p>
            <a:pPr lvl="0" indent="0">
              <a:buNone/>
            </a:pPr>
            <a:r>
              <a:rPr>
                <a:latin typeface="Courier"/>
              </a:rPr>
              <a:t>Sensitivity: 0.895 </a:t>
            </a:r>
          </a:p>
          <a:p>
            <a:pPr lvl="0" indent="0">
              <a:buNone/>
            </a:pPr>
            <a:r>
              <a:rPr>
                <a:latin typeface="Courier"/>
              </a:rPr>
              <a:t>Specificity: 0.833 </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Publication-Quality Figure</a:t>
            </a:r>
          </a:p>
        </p:txBody>
      </p:sp>
      <p:sp>
        <p:nvSpPr>
          <p:cNvPr id="3" name="Content Placeholder 2"/>
          <p:cNvSpPr>
            <a:spLocks noGrp="1"/>
          </p:cNvSpPr>
          <p:nvPr>
            <p:ph idx="1"/>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marL="0">
              <a:buNone/>
            </a:pP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0">
              <a:spcBef>
                <a:spcPts val="3000"/>
              </a:spcBef>
              <a:buNone/>
            </a:pPr>
            <a:r>
              <a:rPr b="1"/>
              <a:t>GLMs and ANOVAs: The Connection</a:t>
            </a:r>
          </a:p>
          <a:p>
            <a:pPr lvl="0" indent="0" marL="0">
              <a:buNone/>
            </a:pPr>
            <a:r>
              <a:rPr/>
              <a:t>General linear models (including ANOVAs and standard regression) are special cases of Generalized Linear Models where:</a:t>
            </a:r>
          </a:p>
          <a:p>
            <a:pPr lvl="0" indent="-342900" marL="342900">
              <a:buAutoNum type="arabicPeriod"/>
            </a:pPr>
            <a:r>
              <a:rPr/>
              <a:t>The response variable follows a normal distribution</a:t>
            </a:r>
          </a:p>
          <a:p>
            <a:pPr lvl="0" indent="-342900" marL="342900">
              <a:buAutoNum type="arabicPeriod"/>
            </a:pPr>
            <a:r>
              <a:rPr/>
              <a:t>The link function is the identity function</a:t>
            </a:r>
          </a:p>
          <a:p>
            <a:pPr lvl="0"/>
            <a:r>
              <a:rPr/>
              <a:t>Therefore, a one-way ANOVA is equivalent to:</a:t>
            </a:r>
          </a:p>
          <a:p>
            <a:pPr lvl="1"/>
            <a:r>
              <a:rPr/>
              <a:t>A linear regression with a categorical predictor</a:t>
            </a:r>
          </a:p>
          <a:p>
            <a:pPr lvl="1"/>
            <a:r>
              <a:rPr/>
              <a:t>A Gaussian GLM with an identity link and a categorical predictor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Demonstrating ANOVA-GLM Equivalence</a:t>
            </a:r>
          </a:p>
        </p:txBody>
      </p:sp>
      <p:sp>
        <p:nvSpPr>
          <p:cNvPr id="3" name="Content Placeholder 2"/>
          <p:cNvSpPr>
            <a:spLocks noGrp="1"/>
          </p:cNvSpPr>
          <p:nvPr>
            <p:ph idx="1"/>
          </p:nvPr>
        </p:nvSpPr>
        <p:spPr/>
        <p:txBody>
          <a:bodyPr/>
          <a:lstStyle/>
          <a:p>
            <a:pPr lvl="0" indent="0" marL="0">
              <a:buNone/>
            </a:pPr>
            <a:r>
              <a:rPr/>
              <a:t>Let’s demonstrate this equivalence:</a:t>
            </a:r>
          </a:p>
          <a:p>
            <a:pPr lvl="0" indent="0" marL="0">
              <a:buNone/>
            </a:pP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indent="0" marL="0">
              <a:spcBef>
                <a:spcPts val="3000"/>
              </a:spcBef>
              <a:buNone/>
            </a:pPr>
            <a:r>
              <a:rPr b="1"/>
              <a:t>Generalized Linear Models have different assumptions depending on the specific distribution and link function used:</a:t>
            </a:r>
          </a:p>
          <a:p>
            <a:pPr lvl="0"/>
            <a:r>
              <a:rPr b="1"/>
              <a:t>All GLMs:</a:t>
            </a:r>
          </a:p>
          <a:p>
            <a:pPr lvl="1"/>
            <a:r>
              <a:rPr/>
              <a:t>Independence of observations</a:t>
            </a:r>
          </a:p>
          <a:p>
            <a:pPr lvl="1"/>
            <a:r>
              <a:rPr/>
              <a:t>Correct specification of the link function</a:t>
            </a:r>
          </a:p>
          <a:p>
            <a:pPr lvl="1"/>
            <a:r>
              <a:rPr/>
              <a:t>Correct specification of the variance structure</a:t>
            </a:r>
          </a:p>
          <a:p>
            <a:pPr lvl="1"/>
            <a:r>
              <a:rPr/>
              <a:t>No influential outliers</a:t>
            </a:r>
          </a:p>
          <a:p>
            <a:pPr lvl="1"/>
            <a:r>
              <a:rPr/>
              <a:t>No multicollinearity among predictors</a:t>
            </a:r>
          </a:p>
          <a:p>
            <a:pPr lvl="0"/>
            <a:r>
              <a:rPr b="1"/>
              <a:t>Gaussian GLMs (including linear regression):</a:t>
            </a:r>
          </a:p>
          <a:p>
            <a:pPr lvl="1"/>
            <a:r>
              <a:rPr/>
              <a:t>Normality of residuals</a:t>
            </a:r>
          </a:p>
          <a:p>
            <a:pPr lvl="1"/>
            <a:r>
              <a:rPr/>
              <a:t>Homogeneity of variance</a:t>
            </a:r>
          </a:p>
          <a:p>
            <a:pPr lvl="0"/>
            <a:r>
              <a:rPr b="1"/>
              <a:t>Poisson GLMs:</a:t>
            </a:r>
          </a:p>
          <a:p>
            <a:pPr lvl="1"/>
            <a:r>
              <a:rPr/>
              <a:t>Count data (non-negative integers)</a:t>
            </a:r>
          </a:p>
          <a:p>
            <a:pPr lvl="1"/>
            <a:r>
              <a:rPr/>
              <a:t>Mean equals variance (if overdispersed, consider negative binomial)</a:t>
            </a:r>
          </a:p>
          <a:p>
            <a:pPr lvl="0"/>
            <a:r>
              <a:rPr b="1"/>
              <a:t>Logistic GLMs:</a:t>
            </a:r>
          </a:p>
          <a:p>
            <a:pPr lvl="1"/>
            <a:r>
              <a:rPr/>
              <a:t>Binary response variable</a:t>
            </a:r>
          </a:p>
          <a:p>
            <a:pPr lvl="1"/>
            <a:r>
              <a:rPr/>
              <a:t>Linear relationship between predictors and log odds</a:t>
            </a:r>
          </a:p>
          <a:p>
            <a:pPr lvl="1"/>
            <a:r>
              <a:rPr/>
              <a:t>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The following R code checks some common diagnostics for our logistic model:</a:t>
            </a:r>
          </a:p>
        </p:txBody>
      </p:sp>
      <p:pic>
        <p:nvPicPr>
          <p:cNvPr descr="14_01_lecture_powerpoint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with identity link function are equivalent to standard linear models and ANOVAs, suitable for normally distributed continuous responses.</a:t>
            </a:r>
          </a:p>
          <a:p>
            <a:pPr lvl="0" indent="-342900" marL="342900">
              <a:buAutoNum type="arabicPeriod"/>
            </a:pPr>
            <a:r>
              <a:rPr b="1"/>
              <a:t>Poisson GLMs</a:t>
            </a:r>
            <a:r>
              <a:rPr/>
              <a:t> with log link function are appropriate for count data, but be cautious of overdispersion.</a:t>
            </a:r>
          </a:p>
          <a:p>
            <a:pPr lvl="0" indent="-342900" marL="342900">
              <a:buAutoNum type="arabicPeriod"/>
            </a:pPr>
            <a:r>
              <a:rPr b="1"/>
              <a:t>Logistic GLMs</a:t>
            </a:r>
            <a:r>
              <a:rPr/>
              <a:t> with logit link function are useful for binary responses, modeling the probability of success or presence.</a:t>
            </a:r>
          </a:p>
          <a:p>
            <a:pPr lvl="0" indent="0" marL="0">
              <a:buNone/>
            </a:pPr>
            <a:r>
              <a:rPr/>
              <a:t>Key advantages of GLMs include:</a:t>
            </a:r>
          </a:p>
          <a:p>
            <a:pPr lvl="0"/>
            <a:r>
              <a:rPr/>
              <a:t>Ability to handle various types of response variables beyond normal distributions</a:t>
            </a:r>
          </a:p>
          <a:p>
            <a:pPr lvl="0"/>
            <a:r>
              <a:rPr/>
              <a:t>Unified framework for linear modeling</a:t>
            </a:r>
          </a:p>
          <a:p>
            <a:pPr lvl="0"/>
            <a:r>
              <a:rPr/>
              <a:t>Flexibility in specifying the link function to match the data structure</a:t>
            </a:r>
          </a:p>
          <a:p>
            <a:pPr lvl="0"/>
            <a:r>
              <a:rPr/>
              <a:t>Interpretable parameters, though interpretation differs by model type</a:t>
            </a:r>
          </a:p>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a:t>
            </a:r>
          </a:p>
          <a:p>
            <a:pPr lvl="0" indent="0" marL="0">
              <a:buNone/>
            </a:pPr>
            <a:r>
              <a:rPr/>
              <a:t>Bolger, D. T., Alberts, A. C., Sauvajot, R. M., Potenza, P., McCalvin, C., Tran, D., Mazzoni, S., &amp; Soulé, M. E. (1997). Response of rodents to habitat fragmentation in coastal southern California. Ecological Applications, 7(2), 552-563.</a:t>
            </a:r>
          </a:p>
          <a:p>
            <a:pPr lvl="0" indent="0" marL="0">
              <a:buNone/>
            </a:pPr>
            <a:r>
              <a:rPr/>
              <a:t>Christensen, R. (1997). Log-linear Models and Logistic Regression. Springer, New York.</a:t>
            </a:r>
          </a:p>
          <a:p>
            <a:pPr lvl="0" indent="0" marL="0">
              <a:buNone/>
            </a:pPr>
            <a:r>
              <a:rPr/>
              <a:t>Hosmer, D. W., &amp; Lemeshow, S. (1989). Applied Logistic Regression. Wiley, New York.</a:t>
            </a:r>
          </a:p>
          <a:p>
            <a:pPr lvl="0" indent="0" marL="0">
              <a:buNone/>
            </a:pPr>
            <a:r>
              <a:rPr/>
              <a:t>McCullagh, P., &amp; Nelder, J. A. (1989). Generalized Linear Models. Chapman and Hall, London.</a:t>
            </a:r>
          </a:p>
          <a:p>
            <a:pPr lvl="0" indent="0" marL="0">
              <a:buNone/>
            </a:pPr>
            <a:r>
              <a:rPr/>
              <a:t>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14 - Generalized Linear Models</dc:title>
  <dc:creator>Bill Perry</dc:creator>
  <cp:keywords/>
  <dcterms:created xsi:type="dcterms:W3CDTF">2025-11-05T17:25:56Z</dcterms:created>
  <dcterms:modified xsi:type="dcterms:W3CDTF">2025-11-05T17:25:56Z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