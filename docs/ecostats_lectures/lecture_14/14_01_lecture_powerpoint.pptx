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2" Type="http://schemas.openxmlformats.org/officeDocument/2006/relationships/viewProps" Target="viewProps.xml" /><Relationship Id="rId41" Type="http://schemas.openxmlformats.org/officeDocument/2006/relationships/presProps" Target="presProps.xml" /><Relationship Id="rId1" Type="http://schemas.openxmlformats.org/officeDocument/2006/relationships/slideMaster" Target="slideMasters/slideMaster1.xml" /><Relationship Id="rId44" Type="http://schemas.openxmlformats.org/officeDocument/2006/relationships/tableStyles" Target="tableStyles.xml" /><Relationship Id="rId4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6.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8.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01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d>
                        <m:dPr>
                          <m:begChr m:val="("/>
                          <m:sepChr m:val=""/>
                          <m:endChr m:val=")"/>
                          <m:grow/>
                        </m:dPr>
                        <m:e>
                          <m:r>
                            <m:t>μ</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indent="0" marL="0">
              <a:buNone/>
            </a:pPr>
            <a:r>
              <a:rPr/>
              <a:t>Let’s compare a standard linear model and a Gaussian GLM ### Island Biogeography Data</a:t>
            </a:r>
          </a:p>
          <a:p>
            <a:pPr lvl="0" indent="0" marL="0">
              <a:buNone/>
            </a:pPr>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p>
          <a:p>
            <a:pPr lvl="1"/>
            <a:r>
              <a:rPr/>
              <a:t>Number of plant species (count data)</a:t>
            </a:r>
          </a:p>
          <a:p>
            <a:pPr lvl="1"/>
            <a:r>
              <a:rPr>
                <a:latin typeface="Courier"/>
              </a:rPr>
              <a:t>Endemics</a:t>
            </a:r>
          </a:p>
          <a:p>
            <a:pPr lvl="1"/>
            <a:r>
              <a:rPr/>
              <a:t>Number of endemic species (count data)</a:t>
            </a:r>
          </a:p>
          <a:p>
            <a:pPr lvl="1"/>
            <a:r>
              <a:rPr>
                <a:latin typeface="Courier"/>
              </a:rPr>
              <a:t>Area</a:t>
            </a:r>
          </a:p>
          <a:p>
            <a:pPr lvl="1"/>
            <a:r>
              <a:rPr/>
              <a:t>Island area (km²)</a:t>
            </a:r>
          </a:p>
          <a:p>
            <a:pPr lvl="1"/>
            <a:r>
              <a:rPr>
                <a:latin typeface="Courier"/>
              </a:rPr>
              <a:t>Elevation</a:t>
            </a:r>
          </a:p>
          <a:p>
            <a:pPr lvl="1"/>
            <a:r>
              <a:rPr/>
              <a:t>Maximum elevation (m)</a:t>
            </a:r>
          </a:p>
          <a:p>
            <a:pPr lvl="1"/>
            <a:r>
              <a:rPr>
                <a:latin typeface="Courier"/>
              </a:rPr>
              <a:t>Nearest</a:t>
            </a:r>
          </a:p>
          <a:p>
            <a:pPr lvl="1"/>
            <a:r>
              <a:rPr/>
              <a:t>Distance to nearest island (km)</a:t>
            </a:r>
          </a:p>
          <a:p>
            <a:pPr lvl="1"/>
            <a:r>
              <a:rPr>
                <a:latin typeface="Courier"/>
              </a:rPr>
              <a:t>Scruz</a:t>
            </a:r>
            <a:r>
              <a:rPr/>
              <a:t> - Distance to Santa Cruz island (km)</a:t>
            </a:r>
          </a:p>
          <a:p>
            <a:pPr lvl="1"/>
            <a:r>
              <a:rPr>
                <a:latin typeface="Courier"/>
              </a:rPr>
              <a:t>Adjacent</a:t>
            </a:r>
            <a:r>
              <a:rPr/>
              <a:t> - Area of adjacent island (km²)</a:t>
            </a:r>
          </a:p>
          <a:p>
            <a:pPr lvl="0" indent="0" marL="0">
              <a:buNone/>
            </a:pPr>
            <a:r>
              <a:rPr/>
              <a:t>We’ll use this dataset throughout to demonstrate different GLM types with biologically meaningful examples.</a:t>
            </a:r>
          </a:p>
          <a:p>
            <a:pPr lvl="0" indent="0">
              <a:buNone/>
            </a:pPr>
            <a:r>
              <a:rPr>
                <a:latin typeface="Courier"/>
              </a:rPr>
              <a:t>##              Species Endemics  Area Elevation Nearest size_category
## Baltra            58       23 25.09       346     0.6        Medium
## Bartolome         31       21  1.24       109     0.6        Medium
## Caldwell           3        3  0.21       114     2.8         Small
## Champion          25        9  0.10        46     1.9         Small
## Coamano            2        1  0.05        77     1.9         Small
## Daphne.Major      18       11  0.34       119     8.0         Small
## Daphne.Minor      24        0  0.08        93     6.0         Small
## Darwin            10        7  2.33       168    34.1        Medium
## Eden               8        4  0.03        71     0.4         Small
## Enderby            2        2  0.18       112     2.6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01_lecture_powerpoint_files/figure-pptx/summary-gaussian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species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species by island size:</a:t>
            </a:r>
          </a:p>
        </p:txBody>
      </p:sp>
      <p:pic>
        <p:nvPicPr>
          <p:cNvPr descr="14_01_lecture_powerpoint_files/figure-pptx/summarygaussian_2a-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species richness by island size category.</a:t>
                </a:r>
              </a:p>
              <a:p>
                <a:pPr lvl="0"/>
                <a:r>
                  <a:rPr/>
                  <a:t>Fit a standard linear model</a:t>
                </a:r>
              </a:p>
              <a:p>
                <a:pPr lvl="1"/>
                <a:r>
                  <a:rPr/>
                  <a:t>model_lm &lt;- lm(Endemics ~ size_category,</a:t>
                </a:r>
                <a:br/>
                <a:r>
                  <a:rPr/>
                  <a:t>data = gala)</a:t>
                </a:r>
              </a:p>
              <a:p>
                <a:pPr lvl="0"/>
                <a:r>
                  <a:rPr/>
                  <a:t>Fit a Gaussian GLM</a:t>
                </a:r>
              </a:p>
              <a:p>
                <a:pPr lvl="1"/>
                <a:r>
                  <a:rPr/>
                  <a:t>model_gaussian &lt;- glm(Endemics ~ size_category,</a:t>
                </a:r>
                <a:br/>
                <a:r>
                  <a:rPr/>
                  <a:t>data = gala,</a:t>
                </a:r>
                <a:br/>
                <a:r>
                  <a:rPr/>
                  <a:t>family = gaussian(link = “identity”))</a:t>
                </a:r>
              </a:p>
              <a:p>
                <a:pPr lvl="0" indent="0" marL="0">
                  <a:buNone/>
                </a:pPr>
                <a:r>
                  <a:rPr b="1"/>
                  <a:t>Residual Standard Error</a:t>
                </a:r>
                <a:r>
                  <a:rPr/>
                  <a:t>. This is the standard deviation of the residuals (</a:t>
                </a:r>
                <a14:m>
                  <m:oMath xmlns:m="http://schemas.openxmlformats.org/officeDocument/2006/math">
                    <m:r>
                      <m:t>σ</m:t>
                    </m:r>
                  </m:oMath>
                </a14:m>
                <a:r>
                  <a:rPr/>
                  <a:t>)</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mc:Choice>
      </mc:AlternateContent>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our LM and GLM model using the </a:t>
                </a:r>
                <a:r>
                  <a:rPr>
                    <a:latin typeface="Courier"/>
                  </a:rPr>
                  <a:t>car</a:t>
                </a:r>
                <a:r>
                  <a:rPr/>
                  <a:t> package:</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 divided by its degrees of freedom</a:t>
                </a:r>
                <a:r>
                  <a:rPr/>
                  <a:t>: 5756.1 / 27 = 213.1878</a:t>
                </a:r>
              </a:p>
              <a:p>
                <a:pPr lvl="1"/>
                <a:r>
                  <a:rPr/>
                  <a:t>In this context, “Sum Sq” (Sum of Squares) and “Deviance” are the same thing.</a:t>
                </a:r>
              </a:p>
              <a:p>
                <a:pPr lvl="1"/>
                <a:r>
                  <a:rPr b="1"/>
                  <a:t>“Pearson residuals” are essentially the same as the regular residuals</a:t>
                </a:r>
                <a:r>
                  <a:rPr/>
                  <a:t> (observed - predicted) that you get from a standard </a:t>
                </a:r>
                <a:r>
                  <a:rPr>
                    <a:latin typeface="Courier"/>
                  </a:rPr>
                  <a:t>lm()</a:t>
                </a:r>
              </a:p>
              <a:p>
                <a:pPr lvl="0" indent="0">
                  <a:buNone/>
                </a:pPr>
                <a:r>
                  <a:rPr>
                    <a:solidFill>
                      <a:srgbClr val="4758AB"/>
                    </a:solidFill>
                    <a:latin typeface="Courier"/>
                  </a:rPr>
                  <a:t>Anova</a:t>
                </a:r>
                <a:r>
                  <a:rPr>
                    <a:solidFill>
                      <a:srgbClr val="003B4F"/>
                    </a:solidFill>
                    <a:latin typeface="Courier"/>
                  </a:rPr>
                  <a:t>(model_lm,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br/>
                <a:r>
                  <a:rPr i="1">
                    <a:solidFill>
                      <a:srgbClr val="5E5E5E"/>
                    </a:solidFill>
                    <a:latin typeface="Courier"/>
                  </a:rPr>
                  <a:t>## Anova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Sum Sq Df F value    Pr(&gt;F)    </a:t>
                </a:r>
                <a:br/>
                <a:r>
                  <a:rPr i="1">
                    <a:solidFill>
                      <a:srgbClr val="5E5E5E"/>
                    </a:solidFill>
                    <a:latin typeface="Courier"/>
                  </a:rPr>
                  <a:t>## (Intercept)     349.5  1  1.6392    0.2113    </a:t>
                </a:r>
                <a:br/>
                <a:r>
                  <a:rPr i="1">
                    <a:solidFill>
                      <a:srgbClr val="5E5E5E"/>
                    </a:solidFill>
                    <a:latin typeface="Courier"/>
                  </a:rPr>
                  <a:t>## size_category 15906.6  2 37.3066 1.697e-08 ***</a:t>
                </a:r>
                <a:br/>
                <a:r>
                  <a:rPr i="1">
                    <a:solidFill>
                      <a:srgbClr val="5E5E5E"/>
                    </a:solidFill>
                    <a:latin typeface="Courier"/>
                  </a:rPr>
                  <a:t>## Residuals      5756.1 27                      </a:t>
                </a:r>
                <a:br/>
                <a:r>
                  <a:rPr i="1">
                    <a:solidFill>
                      <a:srgbClr val="5E5E5E"/>
                    </a:solidFill>
                    <a:latin typeface="Courier"/>
                  </a:rPr>
                  <a:t>## ---</a:t>
                </a:r>
                <a:br/>
                <a:r>
                  <a:rPr i="1">
                    <a:solidFill>
                      <a:srgbClr val="5E5E5E"/>
                    </a:solidFill>
                    <a:latin typeface="Courier"/>
                  </a:rPr>
                  <a:t>## Signif. codes:  0 '***' 0.001 '**' 0.01 '*' 0.05 '.' 0.1 ' ' 1</a:t>
                </a:r>
                <a:br/>
                <a:r>
                  <a:rPr>
                    <a:solidFill>
                      <a:srgbClr val="4758AB"/>
                    </a:solidFill>
                    <a:latin typeface="Courier"/>
                  </a:rPr>
                  <a:t>Anova</a:t>
                </a:r>
                <a:r>
                  <a:rPr>
                    <a:solidFill>
                      <a:srgbClr val="003B4F"/>
                    </a:solidFill>
                    <a:latin typeface="Courier"/>
                  </a:rPr>
                  <a:t>(model_gaussian,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"F"</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Error estimate based on Pearson residuals </a:t>
                </a:r>
                <a:br/>
                <a:r>
                  <a:rPr i="1">
                    <a:solidFill>
                      <a:srgbClr val="5E5E5E"/>
                    </a:solidFill>
                    <a:latin typeface="Courier"/>
                  </a:rPr>
                  <a:t>## </a:t>
                </a:r>
                <a:br/>
                <a:r>
                  <a:rPr i="1">
                    <a:solidFill>
                      <a:srgbClr val="5E5E5E"/>
                    </a:solidFill>
                    <a:latin typeface="Courier"/>
                  </a:rPr>
                  <a:t>##                Sum Sq Df F values    Pr(&gt;F)    </a:t>
                </a:r>
                <a:br/>
                <a:r>
                  <a:rPr i="1">
                    <a:solidFill>
                      <a:srgbClr val="5E5E5E"/>
                    </a:solidFill>
                    <a:latin typeface="Courier"/>
                  </a:rPr>
                  <a:t>## size_category 15906.6  2   37.307 1.697e-08 ***</a:t>
                </a:r>
                <a:br/>
                <a:r>
                  <a:rPr i="1">
                    <a:solidFill>
                      <a:srgbClr val="5E5E5E"/>
                    </a:solidFill>
                    <a:latin typeface="Courier"/>
                  </a:rPr>
                  <a:t>## Residuals      5756.1 27                       </a:t>
                </a:r>
                <a:br/>
                <a:r>
                  <a:rPr i="1">
                    <a:solidFill>
                      <a:srgbClr val="5E5E5E"/>
                    </a:solidFill>
                    <a:latin typeface="Courier"/>
                  </a:rPr>
                  <a:t>## ---</a:t>
                </a:r>
                <a:br/>
                <a:r>
                  <a:rPr i="1">
                    <a:solidFill>
                      <a:srgbClr val="5E5E5E"/>
                    </a:solidFill>
                    <a:latin typeface="Courier"/>
                  </a:rPr>
                  <a:t>##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01_lecture_powerpoint_files/figure-pptx/gaussian-plot-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a:p>
            <a:pPr lvl="0" indent="0" marL="0">
              <a:spcBef>
                <a:spcPts val="3000"/>
              </a:spcBef>
              <a:buNone/>
            </a:pPr>
            <a:r>
              <a:rPr b="1"/>
              <a:t>Fit Poisson GLM with size_category as predictor</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(Species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Species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2.67101    0.07930   33.68   &lt;2e-16 ***</a:t>
            </a:r>
            <a:br/>
            <a:r>
              <a:rPr i="1">
                <a:solidFill>
                  <a:srgbClr val="5E5E5E"/>
                </a:solidFill>
                <a:latin typeface="Courier"/>
              </a:rPr>
              <a:t>## size_categoryMedium  1.33784    0.08833   15.15   &lt;2e-16 ***</a:t>
            </a:r>
            <a:br/>
            <a:r>
              <a:rPr i="1">
                <a:solidFill>
                  <a:srgbClr val="5E5E5E"/>
                </a:solidFill>
                <a:latin typeface="Courier"/>
              </a:rPr>
              <a:t>## size_categoryLarge   2.84300    0.08285   34.31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3510.73  on 29  degrees of freedom</a:t>
            </a:r>
            <a:br/>
            <a:r>
              <a:rPr i="1">
                <a:solidFill>
                  <a:srgbClr val="5E5E5E"/>
                </a:solidFill>
                <a:latin typeface="Courier"/>
              </a:rPr>
              <a:t>## Residual deviance:  939.74  on 27  degrees of freedom</a:t>
            </a:r>
            <a:br/>
            <a:r>
              <a:rPr i="1">
                <a:solidFill>
                  <a:srgbClr val="5E5E5E"/>
                </a:solidFill>
                <a:latin typeface="Courier"/>
              </a:rPr>
              <a:t>## AIC: 1106.6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Species</a:t>
            </a:r>
            <a:br/>
            <a:r>
              <a:rPr i="1">
                <a:solidFill>
                  <a:srgbClr val="5E5E5E"/>
                </a:solidFill>
                <a:latin typeface="Courier"/>
              </a:rPr>
              <a:t>##               LR Chisq Df Pr(&gt;Chisq)    </a:t>
            </a:r>
            <a:br/>
            <a:r>
              <a:rPr i="1">
                <a:solidFill>
                  <a:srgbClr val="5E5E5E"/>
                </a:solidFill>
                <a:latin typeface="Courier"/>
              </a:rPr>
              <a:t>## size_category     2571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are appropriate for </a:t>
            </a:r>
            <a:r>
              <a:rPr b="1"/>
              <a:t>count data</a:t>
            </a:r>
            <a:r>
              <a:rPr/>
              <a:t>. The Poisson distribution assumes that the variance equals the mean.</a:t>
            </a:r>
          </a:p>
          <a:p>
            <a:pPr lvl="0"/>
            <a:r>
              <a:rPr/>
              <a:t>Use the quarter-mile time (</a:t>
            </a:r>
            <a:r>
              <a:rPr>
                <a:latin typeface="Courier"/>
              </a:rPr>
              <a:t>qsec</a:t>
            </a:r>
            <a:r>
              <a:rPr/>
              <a:t>) from the </a:t>
            </a:r>
            <a:r>
              <a:rPr>
                <a:latin typeface="Courier"/>
              </a:rPr>
              <a:t>mtcars</a:t>
            </a:r>
            <a:r>
              <a:rPr/>
              <a:t> dataset, rounded to create a count-like variable.</a:t>
            </a:r>
          </a:p>
          <a:p>
            <a:pPr lvl="0"/>
            <a:r>
              <a:rPr/>
              <a:t>With the natural log link, coefficients represent </a:t>
            </a:r>
            <a:r>
              <a:rPr b="1"/>
              <a:t>multiplicative effects</a:t>
            </a:r>
            <a:r>
              <a:rPr/>
              <a:t>:</a:t>
            </a:r>
          </a:p>
          <a:p>
            <a:pPr lvl="0"/>
            <a:r>
              <a:rPr/>
              <a:t>A coefficient of β means: for each 1-unit increase in X, the response is multiplied by exp(β)</a:t>
            </a:r>
          </a:p>
          <a:p>
            <a:pPr lvl="0"/>
            <a:r>
              <a:rPr/>
              <a:t>For small β, exp(β) ≈ 1 + β, so β × 100% gives approximate percentage change</a:t>
            </a:r>
          </a:p>
          <a:p>
            <a:pPr lvl="0" indent="0">
              <a:buNone/>
            </a:pPr>
            <a:r>
              <a:rPr>
                <a:latin typeface="Courier"/>
              </a:rPr>
              <a:t>## 
## Call:
## glm(formula = Species ~ size_category, family = poisson(link = "log"), 
##     data = gala)
## 
## Coefficients:
##                     Estimate Std. Error z value Pr(&gt;|z|)    
## (Intercept)          2.67101    0.07930   33.68   &lt;2e-16 ***
## size_categoryMedium  1.33784    0.08833   15.15   &lt;2e-16 ***
## size_categoryLarge   2.84300    0.08285   34.31   &lt;2e-16 ***
## ---
## Signif. codes:  0 '***' 0.001 '**' 0.01 '*' 0.05 '.' 0.1 ' ' 1
## 
## (Dispersion parameter for poisson family taken to be 1)
## 
##     Null deviance: 3510.73  on 29  degrees of freedom
## Residual deviance:  939.74  on 27  degrees of freedom
## AIC: 1106.6
## 
## Number of Fisher Scoring iterations: 5</a:t>
            </a:r>
          </a:p>
        </p:txBody>
      </p:sp>
      <p:sp>
        <p:nvSpPr>
          <p:cNvPr id="4" name="Content Placeholder 3"/>
          <p:cNvSpPr>
            <a:spLocks noGrp="1"/>
          </p:cNvSpPr>
          <p:nvPr>
            <p:ph idx="2" sz="half"/>
          </p:nvPr>
        </p:nvSpPr>
        <p:spPr/>
        <p:txBody>
          <a:bodyPr/>
          <a:lstStyle/>
          <a:p>
            <a:pPr lvl="0"/>
            <a:r>
              <a:rPr/>
              <a:t>Let’s check for overdispersion, which is common in count data:</a:t>
            </a:r>
          </a:p>
          <a:p>
            <a:pPr lvl="0"/>
            <a:r>
              <a:rPr/>
              <a:t>Should be close to 1 for a well-fitting Poisson model</a:t>
            </a:r>
          </a:p>
          <a:p>
            <a:pPr lvl="0"/>
            <a:r>
              <a:rPr/>
              <a:t>If &gt; 1.5, may indicate overdispersion</a:t>
            </a:r>
          </a:p>
          <a:p>
            <a:pPr lvl="1"/>
            <a:r>
              <a:rPr b="1"/>
              <a:t>What is Underdispersion?</a:t>
            </a:r>
          </a:p>
          <a:p>
            <a:pPr lvl="2"/>
            <a:r>
              <a:rPr/>
              <a:t>In a Poisson model, we expect the variance to equal the mean. The dispersion parameter measures the ratio of observed variance to expected variance:</a:t>
            </a:r>
          </a:p>
          <a:p>
            <a:pPr lvl="3"/>
            <a:r>
              <a:rPr b="1"/>
              <a:t>Dispersion ≈ 1</a:t>
            </a:r>
            <a:r>
              <a:rPr/>
              <a:t>: Good fit (variance = mean, as Poisson assumes)</a:t>
            </a:r>
          </a:p>
          <a:p>
            <a:pPr lvl="3"/>
            <a:r>
              <a:rPr b="1"/>
              <a:t>Dispersion &gt; 1</a:t>
            </a:r>
            <a:r>
              <a:rPr/>
              <a:t>: Overdispersion (variance &gt; mean)</a:t>
            </a:r>
          </a:p>
          <a:p>
            <a:pPr lvl="3"/>
            <a:r>
              <a:rPr b="1"/>
              <a:t>Dispersion &lt; 1</a:t>
            </a:r>
            <a:r>
              <a:rPr/>
              <a:t>: </a:t>
            </a:r>
            <a:r>
              <a:rPr b="1"/>
              <a:t>Underdispersion</a:t>
            </a:r>
            <a:r>
              <a:rPr/>
              <a:t> (variance &lt; mean)</a:t>
            </a:r>
          </a:p>
          <a:p>
            <a:pPr lvl="1"/>
            <a:r>
              <a:rPr/>
              <a:t>a dispersion parameter this large is a warning</a:t>
            </a:r>
          </a:p>
          <a:p>
            <a:pPr lvl="1"/>
            <a:r>
              <a:rPr/>
              <a:t>our data more variable than a Poisson model expects</a:t>
            </a:r>
          </a:p>
          <a:p>
            <a:pPr lvl="1"/>
            <a:r>
              <a:rPr/>
              <a:t>use a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32.9</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r>
              <a:rPr/>
              <a:t>. The Poisson distribution 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"Species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14.5 1.15 Inf      12.4      16.9</a:t>
            </a:r>
            <a:br/>
            <a:r>
              <a:rPr i="1">
                <a:solidFill>
                  <a:srgbClr val="5E5E5E"/>
                </a:solidFill>
                <a:latin typeface="Courier"/>
              </a:rPr>
              <a:t>##  Medium         55.1 2.14 Inf      51.0      59.4</a:t>
            </a:r>
            <a:br/>
            <a:r>
              <a:rPr i="1">
                <a:solidFill>
                  <a:srgbClr val="5E5E5E"/>
                </a:solidFill>
                <a:latin typeface="Courier"/>
              </a:rPr>
              <a:t>##  Large         248.1 5.95 Inf     236.7     260.1</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0.2624 0.02320 Inf    1 -15.146  &lt;.0001
##  Small / Large  0.0583 0.00483 Inf    1 -34.313  &lt;.0001
##  Medium / Large 0.2220 0.01010 Inf    1 -32.935  &lt;.0001
## 
## P value adjustment: tukey method for comparing a family of 3 estimates 
## Tests are performed on the log scale
##  size_category  rate   SE  df asymp.LCL asymp.UCL .group
##  Small          14.5 1.15 Inf      12.4      16.9  a    
##  Medium         55.1 2.14 Inf      51.0      59.4   b   
##  Large         248.1 5.95 Inf     236.7     260.1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Poisson GLM: Visualization and Interpretation</a:t>
            </a:r>
          </a:p>
        </p:txBody>
      </p:sp>
      <p:sp>
        <p:nvSpPr>
          <p:cNvPr id="3" name="Text Placeholder 2"/>
          <p:cNvSpPr>
            <a:spLocks noGrp="1"/>
          </p:cNvSpPr>
          <p:nvPr>
            <p:ph idx="1" type="body"/>
          </p:nvPr>
        </p:nvSpPr>
        <p:spPr/>
        <p:txBody>
          <a:bodyPr/>
          <a:lstStyle/>
          <a:p>
            <a:pPr lvl="0"/>
            <a:r>
              <a:rPr/>
              <a:t>Plot raw data and our emmeans results</a:t>
            </a:r>
          </a:p>
          <a:p>
            <a:pPr lvl="1"/>
            <a:r>
              <a:rPr/>
              <a:t>shows the model’s predictions on top of the real data</a:t>
            </a:r>
          </a:p>
        </p:txBody>
      </p:sp>
      <p:pic>
        <p:nvPicPr>
          <p:cNvPr descr="14_01_lecture_powerpoint_files/figure-pptx/poisson-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spcBef>
                <a:spcPts val="3000"/>
              </a:spcBef>
              <a:buNone/>
            </a:pPr>
            <a:r>
              <a:rPr b="1"/>
              <a:t>Interpreting Poisson GLM Coefficients</a:t>
            </a:r>
          </a:p>
          <a:p>
            <a:pPr lvl="0"/>
            <a:r>
              <a:rPr/>
              <a:t>In a Poisson GLM with a log link function:</a:t>
            </a:r>
          </a:p>
          <a:p>
            <a:pPr lvl="1"/>
            <a:r>
              <a:rPr/>
              <a:t>The coefficients represent changes in the </a:t>
            </a:r>
            <a:r>
              <a:rPr b="1"/>
              <a:t>log</a:t>
            </a:r>
            <a:r>
              <a:rPr/>
              <a:t> of the expected count</a:t>
            </a:r>
          </a:p>
          <a:p>
            <a:pPr lvl="1"/>
            <a:r>
              <a:rPr/>
              <a:t>When exponentiated (</a:t>
            </a:r>
            <a:r>
              <a:rPr>
                <a:latin typeface="Courier"/>
              </a:rPr>
              <a:t>exp(coef)</a:t>
            </a:r>
            <a:r>
              <a:rPr/>
              <a:t>), they represent multiplicative effects</a:t>
            </a:r>
          </a:p>
          <a:p>
            <a:pPr lvl="1"/>
            <a:r>
              <a:rPr/>
              <a:t>For example, </a:t>
            </a:r>
            <a:r>
              <a:rPr>
                <a:latin typeface="Courier"/>
              </a:rPr>
              <a:t>exp(coef)</a:t>
            </a:r>
            <a:r>
              <a:rPr/>
              <a:t> = 0.90 means the expected count is 90% of the reference level</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indent="0" marL="0">
              <a:buNone/>
            </a:pPr>
            <a:r>
              <a:rPr/>
              <a:t>Model Type R Code (Example) Interpretation of β₁ GLM (Log-Link) glm(Y ~ X, family = poisson) A 1-unit change in X multiplies the mean of Y by exp(β₁). lm (Log-Response) lm(log(Y) ~ X) A 1-unit change in X multiplies the median of Y by exp(β₁). lm (Log-Log) lm(log(Y) ~ log(X)) A 1% change in</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308100"/>
                <a:gridCol w="1816100"/>
                <a:gridCol w="21082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count data shows more variability than expected under a Poisson distribution (variance &gt; mean), may need to use negative binomial model </a:t>
            </a:r>
            <a:r>
              <a:rPr>
                <a:latin typeface="Courier"/>
              </a:rPr>
              <a:t>model_nb &lt;- glm.nb(qsec_round ~ cyl, data = mtcars_count)</a:t>
            </a:r>
          </a:p>
          <a:p>
            <a:pPr lvl="0" indent="0">
              <a:buNone/>
            </a:pPr>
            <a:r>
              <a:rPr>
                <a:latin typeface="Courier"/>
              </a:rPr>
              <a:t>## 
## Call:
## glm.nb(formula = Species ~ size_category, data = gala, init.theta = 1.709503171, 
##     link = log)
## 
## Coefficients:
##                     Estimate Std. Error z value Pr(&gt;|z|)    
## (Intercept)           2.6710     0.2439  10.953  &lt; 2e-16 ***
## size_categoryMedium   1.3378     0.3313   4.039 5.37e-05 ***
## size_categoryLarge    2.8430     0.3790   7.502 6.28e-14 ***
## ---
## Signif. codes:  0 '***' 0.001 '**' 0.01 '*' 0.05 '.' 0.1 ' ' 1
## 
## (Dispersion parameter for Negative Binomial(1.7095) family taken to be 1)
## 
##     Null deviance: 90.168  on 29  degrees of freedom
## Residual deviance: 32.932  on 27  degrees of freedom
## AIC: 297.35
## 
## Number of Fisher Scoring iterations: 1
## 
## 
##               Theta:  1.710 
##           Std. Err.:  0.449 
## 
##  2 x log-likelihood:  -289.348</a:t>
            </a:r>
          </a:p>
          <a:p>
            <a:pPr lvl="0"/>
            <a:r>
              <a:rPr/>
              <a:t>negative binomial model includes a dispersion parameter (theta)</a:t>
            </a:r>
          </a:p>
          <a:p>
            <a:pPr lvl="1"/>
            <a:r>
              <a:rPr/>
              <a:t>allows the variance to be larger than the mean</a:t>
            </a:r>
          </a:p>
          <a:p>
            <a:pPr lvl="1"/>
            <a:r>
              <a:rPr/>
              <a:t>standard errors bigger because NB model accounts for high variability (overdispersion)</a:t>
            </a:r>
          </a:p>
          <a:p>
            <a:pPr lvl="1"/>
            <a:r>
              <a:rPr/>
              <a:t>estimates dispersion parameter ‘Theta’ (or 1/theta)</a:t>
            </a:r>
          </a:p>
          <a:p>
            <a:pPr lvl="1"/>
            <a:r>
              <a:rPr/>
              <a:t>how it models the overdispersion.</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01_lecture_powerpoint_files/figure-pptx/gala-compare-models-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comparison of logged response variable and GLM</a:t>
            </a:r>
          </a:p>
        </p:txBody>
      </p:sp>
      <p:sp>
        <p:nvSpPr>
          <p:cNvPr id="3" name="Content Placeholder 2"/>
          <p:cNvSpPr>
            <a:spLocks noGrp="1"/>
          </p:cNvSpPr>
          <p:nvPr>
            <p:ph idx="1"/>
          </p:nvPr>
        </p:nvSpPr>
        <p:spPr/>
        <p:txBody>
          <a:bodyPr/>
          <a:lstStyle/>
          <a:p>
            <a:pPr lvl="0" indent="0" marL="1270000">
              <a:buNone/>
            </a:pPr>
            <a:r>
              <a:rPr sz="2000" b="1"/>
              <a:t>Important</a:t>
            </a:r>
          </a:p>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a:t>
            </a:r>
            <a:b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br/>
            <a:r>
              <a:rPr>
                <a:solidFill>
                  <a:srgbClr val="5E5E5E"/>
                </a:solidFill>
                <a:latin typeface="Courier"/>
              </a:rPr>
              <a:t># Show how the interpretation differs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indent="0" marL="0">
                  <a:buNone/>
                </a:pPr>
                <a:r>
                  <a:rPr/>
                  <a:t>Let’s examine the simple logistic regression model:</a:t>
                </a:r>
              </a:p>
              <a:p>
                <a:pPr lvl="0" indent="0" marL="0">
                  <a:buNone/>
                </a:pPr>
                <a14:m>
                  <m:oMathPara xmlns:m="http://schemas.openxmlformats.org/officeDocument/2006/math">
                    <m:oMathParaPr>
                      <m:jc m:val="center"/>
                    </m:oMathParaPr>
                    <m:oMath>
                      <m:r>
                        <m:t>π</m:t>
                      </m:r>
                      <m:d>
                        <m:dPr>
                          <m:begChr m:val="("/>
                          <m:sepChr m:val=""/>
                          <m:endChr m:val=")"/>
                          <m:grow/>
                        </m:dPr>
                        <m:e>
                          <m:r>
                            <m:t>x</m:t>
                          </m:r>
                        </m:e>
                      </m:d>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m:oMathPara>
                </a14:m>
              </a:p>
              <a:p>
                <a:pPr lvl="0"/>
                <a:r>
                  <a:rPr/>
                  <a:t>Where:</a:t>
                </a:r>
              </a:p>
              <a:p>
                <a:pPr lvl="1"/>
                <a14:m>
                  <m:oMath xmlns:m="http://schemas.openxmlformats.org/officeDocument/2006/math">
                    <m:r>
                      <m:t>π</m:t>
                    </m:r>
                    <m:d>
                      <m:dPr>
                        <m:begChr m:val="("/>
                        <m:sepChr m:val=""/>
                        <m:endChr m:val=")"/>
                        <m:grow/>
                      </m:dPr>
                      <m:e>
                        <m:r>
                          <m:t>x</m:t>
                        </m:r>
                      </m:e>
                    </m:d>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d>
                      <m:dPr>
                        <m:begChr m:val="("/>
                        <m:sepChr m:val=""/>
                        <m:endChr m:val=")"/>
                        <m:grow/>
                      </m:dPr>
                      <m:e>
                        <m:r>
                          <m:t>x</m:t>
                        </m:r>
                      </m:e>
                    </m:d>
                  </m:oMath>
                </a14:m>
                <a:r>
                  <a:rPr/>
                  <a:t> for a unit change in X)</a:t>
                </a:r>
              </a:p>
              <a:p>
                <a:pPr lvl="0" indent="0" marL="0">
                  <a:buNone/>
                </a:pPr>
                <a:r>
                  <a:rPr/>
                  <a:t>To linearize this relationship, we use the logit link function:</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r>
                        <m:rPr>
                          <m:sty m:val="p"/>
                        </m:rPr>
                        <m:t>log</m:t>
                      </m:r>
                      <m:d>
                        <m:dPr>
                          <m:begChr m:val="("/>
                          <m:sepChr m:val=""/>
                          <m:endChr m:val=")"/>
                          <m:grow/>
                        </m:dPr>
                        <m:e>
                          <m:f>
                            <m:fPr>
                              <m:type m:val="bar"/>
                            </m:fPr>
                            <m:num>
                              <m:r>
                                <m:t>π</m:t>
                              </m:r>
                              <m:d>
                                <m:dPr>
                                  <m:begChr m:val="("/>
                                  <m:sepChr m:val=""/>
                                  <m:endChr m:val=")"/>
                                  <m:grow/>
                                </m:dPr>
                                <m:e>
                                  <m:r>
                                    <m:t>x</m:t>
                                  </m:r>
                                </m:e>
                              </m:d>
                            </m:num>
                            <m:den>
                              <m:r>
                                <m:t>1</m:t>
                              </m:r>
                              <m:r>
                                <m:rPr>
                                  <m:sty m:val="p"/>
                                </m:rPr>
                                <m:t>−</m:t>
                              </m:r>
                              <m:r>
                                <m:t>π</m:t>
                              </m:r>
                              <m:d>
                                <m:dPr>
                                  <m:begChr m:val="("/>
                                  <m:sepChr m:val=""/>
                                  <m:endChr m:val=")"/>
                                  <m:grow/>
                                </m:dPr>
                                <m:e>
                                  <m:r>
                                    <m:t>x</m:t>
                                  </m:r>
                                </m:e>
                              </m:d>
                            </m:den>
                          </m:f>
                        </m:e>
                      </m:d>
                      <m:r>
                        <m:rPr>
                          <m:sty m:val="p"/>
                        </m:rPr>
                        <m:t>=</m:t>
                      </m:r>
                      <m:sSub>
                        <m:e>
                          <m:r>
                            <m:t>β</m:t>
                          </m:r>
                        </m:e>
                        <m:sub>
                          <m:r>
                            <m:t>0</m:t>
                          </m:r>
                        </m:sub>
                      </m:sSub>
                      <m:r>
                        <m:rPr>
                          <m:sty m:val="p"/>
                        </m:rPr>
                        <m:t>+</m:t>
                      </m:r>
                      <m:sSub>
                        <m:e>
                          <m:r>
                            <m:t>β</m:t>
                          </m:r>
                        </m:e>
                        <m:sub>
                          <m:r>
                            <m:t>1</m:t>
                          </m:r>
                        </m:sub>
                      </m:sSub>
                      <m:r>
                        <m:t>x</m:t>
                      </m:r>
                    </m:oMath>
                  </m:oMathPara>
                </a14:m>
              </a:p>
              <a:p>
                <a:pPr lvl="0" indent="0" marL="0">
                  <a:buNone/>
                </a:pPr>
                <a:r>
                  <a:rPr/>
                  <a:t>This transforms the probability (which is bounded between 0 and 1) to a linear function that can range from -∞ to +∞.</a:t>
                </a:r>
              </a:p>
            </p:txBody>
          </p:sp>
        </mc:Choice>
      </mc:AlternateContent>
      <p:pic>
        <p:nvPicPr>
          <p:cNvPr descr="14_01_lecture_powerpoint_files/figure-pptx/logistic-curve-1.png" id="0" name="Picture 1"/>
          <p:cNvPicPr>
            <a:picLocks noGrp="1" noChangeAspect="1"/>
          </p:cNvPicPr>
          <p:nvPr/>
        </p:nvPicPr>
        <p:blipFill>
          <a:blip r:embed="rId2"/>
          <a:stretch>
            <a:fillRect/>
          </a:stretch>
        </p:blipFill>
        <p:spPr bwMode="auto">
          <a:xfrm>
            <a:off x="6121400" y="2044700"/>
            <a:ext cx="2781300" cy="17145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marL="0">
              <a:buNone/>
            </a:pP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we’ll model the presence/absence of lizards (</a:t>
            </a:r>
            <a:r>
              <a:rPr i="1"/>
              <a:t>Uta</a:t>
            </a:r>
            <a:r>
              <a:rPr/>
              <a:t>) on islands in the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01_lecture_powerpoint_files/figure-pptx/lizard-plot-1.png" id="0" name="Picture 1"/>
          <p:cNvPicPr>
            <a:picLocks noGrp="1" noChangeAspect="1"/>
          </p:cNvPicPr>
          <p:nvPr/>
        </p:nvPicPr>
        <p:blipFill>
          <a:blip r:embed="rId2"/>
          <a:stretch>
            <a:fillRect/>
          </a:stretch>
        </p:blipFill>
        <p:spPr bwMode="auto">
          <a:xfrm>
            <a:off x="127000" y="1562100"/>
            <a:ext cx="4432300" cy="2730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We want to test the null hypothesis that β₁ = 0, meaning there’s no relationship between P/A ratio and lizard presence.</a:t>
            </a:r>
          </a:p>
          <a:p>
            <a:pPr lvl="0" indent="0" marL="0">
              <a:buNone/>
            </a:pPr>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The odds ratio represents how the odds of the event (e.g., lizard presence) change with a unit increase in the predictor.</a:t>
            </a:r>
          </a:p>
          <a:p>
            <a:pPr lvl="0"/>
            <a:r>
              <a:rPr b="1"/>
              <a:t>Odds ratio = exp(β₁)</a:t>
            </a:r>
          </a:p>
          <a:p>
            <a:pPr lvl="0"/>
            <a:r>
              <a:rPr/>
              <a:t>If odds ratio &gt; 1: Increasing the predictor increases the odds of event</a:t>
            </a:r>
          </a:p>
          <a:p>
            <a:pPr lvl="0"/>
            <a:r>
              <a:rPr/>
              <a:t>If odds ratio &lt; 1: Increasing the predictor decreases the odds of event</a:t>
            </a:r>
          </a:p>
          <a:p>
            <a:pPr lvl="0"/>
            <a:r>
              <a:rPr/>
              <a:t>If odds ratio = 1: No effect of predictor on odds of event</a:t>
            </a:r>
          </a:p>
          <a:p>
            <a:pPr lvl="0"/>
            <a:r>
              <a:rPr/>
              <a:t>For every one-unit increase in island’s Perimeter/Area Ratio - odds of finding a lizard present multiplied by 0.898</a:t>
            </a:r>
          </a:p>
          <a:p>
            <a:pPr lvl="0"/>
            <a:r>
              <a:rPr/>
              <a:t>the odds decrease by 10.2% (which is 1 - 0.898) for every one-unit increase in the P/A ratio</a:t>
            </a:r>
          </a:p>
          <a:p>
            <a:pPr lvl="0"/>
            <a:r>
              <a:rPr/>
              <a:t>entire interval is below 1.0, you can be confident the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d>
                        <m:dPr>
                          <m:begChr m:val="("/>
                          <m:sepChr m:val=""/>
                          <m:endChr m:val=")"/>
                          <m:grow/>
                        </m:dPr>
                        <m:e>
                          <m:r>
                            <m:t>x</m:t>
                          </m:r>
                        </m:e>
                      </m:d>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Let’s check the diagnostics for our multiple logistic regression model:</a:t>
            </a:r>
          </a:p>
        </p:txBody>
      </p:sp>
      <p:pic>
        <p:nvPicPr>
          <p:cNvPr descr="14_01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we often want to find the most parsimonious model. We can use:</a:t>
            </a:r>
          </a:p>
          <a:p>
            <a:pPr lvl="0" indent="-342900" marL="342900">
              <a:buAutoNum type="arabicPeriod"/>
            </a:pPr>
            <a:r>
              <a:rPr/>
              <a:t>Likelihood ratio tests for nested models</a:t>
            </a:r>
          </a:p>
          <a:p>
            <a:pPr lvl="0" indent="-342900" marL="342900">
              <a:buAutoNum type="arabicPeriod"/>
            </a:pPr>
            <a:r>
              <a:rPr/>
              <a:t>Information criteria (AIC, BIC) for non-nested models</a:t>
            </a:r>
          </a:p>
          <a:p>
            <a:pPr lvl="0" indent="-342900" marL="342900">
              <a:buAutoNum type="arabicPeriod"/>
            </a:pPr>
            <a:r>
              <a:rPr/>
              <a:t>Classification metrics like accuracy, sensitivity, and specificity</a:t>
            </a:r>
          </a:p>
          <a:p>
            <a:pPr lvl="0" indent="0" marL="0">
              <a:buNone/>
            </a:pPr>
            <a:r>
              <a:rPr/>
              <a:t>Let’s compare models and calculate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We can also evaluate the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The following R code checks some common diagnostics for our logistic model:</a:t>
            </a:r>
          </a:p>
        </p:txBody>
      </p:sp>
      <p:pic>
        <p:nvPicPr>
          <p:cNvPr descr="14_01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with identity link function equivalent to standard linear models and ANOVAs</a:t>
            </a:r>
          </a:p>
          <a:p>
            <a:pPr lvl="0" indent="-342900" marL="342900">
              <a:buAutoNum type="arabicPeriod"/>
            </a:pPr>
            <a:r>
              <a:rPr b="1"/>
              <a:t>Poisson GLMs</a:t>
            </a:r>
            <a:r>
              <a:rPr/>
              <a:t> with log link function are appropriate for count data, but be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are useful for binary responses - 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a:t>
            </a:r>
          </a:p>
          <a:p>
            <a:pPr lvl="0" indent="0" marL="0">
              <a:buNone/>
            </a:pPr>
            <a:r>
              <a:rPr/>
              <a:t>Bolger, D. T., Alberts, A. C., Sauvajot, R. M., Potenza, P., McCalvin, C., Tran, D., Mazzoni, S., &amp; Soulé, M. E. (1997). Response of rodents to habitat fragmentation in coastal southern California. Ecological Applications, 7(2), 552-563.</a:t>
            </a:r>
          </a:p>
          <a:p>
            <a:pPr lvl="0" indent="0" marL="0">
              <a:buNone/>
            </a:pPr>
            <a:r>
              <a:rPr/>
              <a:t>Christensen, R. (1997). Log-linear Models and Logistic Regression. Springer, New York.</a:t>
            </a:r>
          </a:p>
          <a:p>
            <a:pPr lvl="0" indent="0" marL="0">
              <a:buNone/>
            </a:pPr>
            <a:r>
              <a:rPr/>
              <a:t>Hosmer, D. W., &amp; Lemeshow, S. (1989). Applied Logistic Regression. Wiley, New York.</a:t>
            </a:r>
          </a:p>
          <a:p>
            <a:pPr lvl="0" indent="0" marL="0">
              <a:buNone/>
            </a:pPr>
            <a:r>
              <a:rPr/>
              <a:t>McCullagh, P., &amp; Nelder, J. A. (1989). Generalized Linear Models. Chapman and Hall, London.</a:t>
            </a:r>
          </a:p>
          <a:p>
            <a:pPr lvl="0" indent="0" marL="0">
              <a:buNone/>
            </a:pPr>
            <a:r>
              <a:rPr/>
              <a:t>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2025-11-09T21:27:21Z</dcterms:created>
  <dcterms:modified xsi:type="dcterms:W3CDTF">2025-11-09T21:27:21Z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