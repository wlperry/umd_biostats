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40" Type="http://schemas.openxmlformats.org/officeDocument/2006/relationships/viewProps" Target="viewProps.xml" /><Relationship Id="rId39" Type="http://schemas.openxmlformats.org/officeDocument/2006/relationships/presProps" Target="presProps.xml" /><Relationship Id="rId1" Type="http://schemas.openxmlformats.org/officeDocument/2006/relationships/slideMaster" Target="slideMasters/slideMaster1.xml" /><Relationship Id="rId42" Type="http://schemas.openxmlformats.org/officeDocument/2006/relationships/tableStyles" Target="tableStyles.xml" /><Relationship Id="rId4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 ### Island Biogeography Data</a:t>
            </a:r>
          </a:p>
          <a:p>
            <a:pPr lvl="0" indent="0" marL="0">
              <a:buNone/>
            </a:pPr>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p>
          <a:p>
            <a:pPr lvl="1"/>
            <a:r>
              <a:rPr/>
              <a:t>Number of plant species (count data)</a:t>
            </a:r>
          </a:p>
          <a:p>
            <a:pPr lvl="1"/>
            <a:r>
              <a:rPr>
                <a:latin typeface="Courier"/>
              </a:rPr>
              <a:t>Endemics</a:t>
            </a:r>
          </a:p>
          <a:p>
            <a:pPr lvl="1"/>
            <a:r>
              <a:rPr/>
              <a:t>Number of endemic species (count data)</a:t>
            </a:r>
          </a:p>
          <a:p>
            <a:pPr lvl="1"/>
            <a:r>
              <a:rPr>
                <a:latin typeface="Courier"/>
              </a:rPr>
              <a:t>Area</a:t>
            </a:r>
          </a:p>
          <a:p>
            <a:pPr lvl="1"/>
            <a:r>
              <a:rPr/>
              <a:t>Island area (km²)</a:t>
            </a:r>
          </a:p>
          <a:p>
            <a:pPr lvl="1"/>
            <a:r>
              <a:rPr>
                <a:latin typeface="Courier"/>
              </a:rPr>
              <a:t>Elevation</a:t>
            </a:r>
          </a:p>
          <a:p>
            <a:pPr lvl="1"/>
            <a:r>
              <a:rPr/>
              <a:t>Maximum elevation (m)</a:t>
            </a:r>
          </a:p>
          <a:p>
            <a:pPr lvl="1"/>
            <a:r>
              <a:rPr>
                <a:latin typeface="Courier"/>
              </a:rPr>
              <a:t>Nearest</a:t>
            </a:r>
          </a:p>
          <a:p>
            <a:pPr lvl="1"/>
            <a:r>
              <a:rPr/>
              <a:t>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buNone/>
            </a:pPr>
            <a:r>
              <a:rPr/>
              <a:t>We’ll use this dataset throughout to demonstrate different GLM types with biologically meaningful examples.</a:t>
            </a:r>
          </a:p>
          <a:p>
            <a:pPr lvl="0" indent="0">
              <a:buNone/>
            </a:pPr>
            <a:r>
              <a:rPr>
                <a:latin typeface="Courier"/>
              </a:rPr>
              <a:t>##              Species Endemics  Area Elevation Nearest size_category
## Baltra            58       23 25.09       346     0.6        Medium
## Bartolome         31       21  1.24       109     0.6        Medium
## Caldwell           3        3  0.21       114     2.8         Small
## Champion          25        9  0.10        46     1.9         Small
## Coamano            2        1  0.05        77     1.9         Small
## Daphne.Major      18       11  0.34       119     8.0         Small
## Daphne.Minor      24        0  0.08        93     6.0         Small
## Darwin            10        7  2.33       168    34.1        Medium
## Eden               8        4  0.03        71     0.4         Small
## Enderby            2        2  0.18       112     2.6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041400"/>
                <a:gridCol w="749300"/>
                <a:gridCol w="1511300"/>
                <a:gridCol w="11303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23</a:t>
                      </a:r>
                    </a:p>
                  </a:txBody>
                </a:tc>
                <a:tc>
                  <a:txBody>
                    <a:bodyPr/>
                    <a:lstStyle/>
                    <a:p>
                      <a:pPr lvl="0" indent="0" marL="0">
                        <a:buNone/>
                      </a:pPr>
                      <a:r>
                        <a:rPr/>
                        <a:t>25.09</a:t>
                      </a:r>
                    </a:p>
                  </a:txBody>
                </a:tc>
                <a:tc>
                  <a:txBody>
                    <a:bodyPr/>
                    <a:lstStyle/>
                    <a:p>
                      <a:pPr lvl="0" indent="0" marL="0">
                        <a:buNone/>
                      </a:pPr>
                      <a:r>
                        <a:rPr/>
                        <a:t>Medium</a:t>
                      </a:r>
                    </a:p>
                  </a:txBody>
                </a:tc>
                <a:tc>
                  <a:txBody>
                    <a:bodyPr/>
                    <a:lstStyle/>
                    <a:p>
                      <a:pPr lvl="0" indent="0" marL="0">
                        <a:buNone/>
                      </a:pPr>
                      <a:r>
                        <a:rPr/>
                        <a:t>346</a:t>
                      </a:r>
                    </a:p>
                  </a:txBody>
                </a:tc>
              </a:tr>
              <a:tr h="0">
                <a:tc>
                  <a:txBody>
                    <a:bodyPr/>
                    <a:lstStyle/>
                    <a:p>
                      <a:pPr lvl="0" indent="0" marL="0">
                        <a:buNone/>
                      </a:pPr>
                      <a:r>
                        <a:rPr/>
                        <a:t>21</a:t>
                      </a:r>
                    </a:p>
                  </a:txBody>
                </a:tc>
                <a:tc>
                  <a:txBody>
                    <a:bodyPr/>
                    <a:lstStyle/>
                    <a:p>
                      <a:pPr lvl="0" indent="0" marL="0">
                        <a:buNone/>
                      </a:pPr>
                      <a:r>
                        <a:rPr/>
                        <a:t>1.24</a:t>
                      </a:r>
                    </a:p>
                  </a:txBody>
                </a:tc>
                <a:tc>
                  <a:txBody>
                    <a:bodyPr/>
                    <a:lstStyle/>
                    <a:p>
                      <a:pPr lvl="0" indent="0" marL="0">
                        <a:buNone/>
                      </a:pPr>
                      <a:r>
                        <a:rPr/>
                        <a:t>Medium</a:t>
                      </a:r>
                    </a:p>
                  </a:txBody>
                </a:tc>
                <a:tc>
                  <a:txBody>
                    <a:bodyPr/>
                    <a:lstStyle/>
                    <a:p>
                      <a:pPr lvl="0" indent="0" marL="0">
                        <a:buNone/>
                      </a:pPr>
                      <a:r>
                        <a:rPr/>
                        <a:t>109</a:t>
                      </a:r>
                    </a:p>
                  </a:txBody>
                </a:tc>
              </a:tr>
              <a:tr h="0">
                <a:tc>
                  <a:txBody>
                    <a:bodyPr/>
                    <a:lstStyle/>
                    <a:p>
                      <a:pPr lvl="0" indent="0" marL="0">
                        <a:buNone/>
                      </a:pPr>
                      <a:r>
                        <a:rPr/>
                        <a:t>3</a:t>
                      </a:r>
                    </a:p>
                  </a:txBody>
                </a:tc>
                <a:tc>
                  <a:txBody>
                    <a:bodyPr/>
                    <a:lstStyle/>
                    <a:p>
                      <a:pPr lvl="0" indent="0" marL="0">
                        <a:buNone/>
                      </a:pPr>
                      <a:r>
                        <a:rPr/>
                        <a:t>0.21</a:t>
                      </a:r>
                    </a:p>
                  </a:txBody>
                </a:tc>
                <a:tc>
                  <a:txBody>
                    <a:bodyPr/>
                    <a:lstStyle/>
                    <a:p>
                      <a:pPr lvl="0" indent="0" marL="0">
                        <a:buNone/>
                      </a:pPr>
                      <a:r>
                        <a:rPr/>
                        <a:t>Small</a:t>
                      </a:r>
                    </a:p>
                  </a:txBody>
                </a:tc>
                <a:tc>
                  <a:txBody>
                    <a:bodyPr/>
                    <a:lstStyle/>
                    <a:p>
                      <a:pPr lvl="0" indent="0" marL="0">
                        <a:buNone/>
                      </a:pPr>
                      <a:r>
                        <a:rPr/>
                        <a:t>114</a:t>
                      </a:r>
                    </a:p>
                  </a:txBody>
                </a:tc>
              </a:tr>
              <a:tr h="0">
                <a:tc>
                  <a:txBody>
                    <a:bodyPr/>
                    <a:lstStyle/>
                    <a:p>
                      <a:pPr lvl="0" indent="0" marL="0">
                        <a:buNone/>
                      </a:pPr>
                      <a:r>
                        <a:rPr/>
                        <a:t>9</a:t>
                      </a:r>
                    </a:p>
                  </a:txBody>
                </a:tc>
                <a:tc>
                  <a:txBody>
                    <a:bodyPr/>
                    <a:lstStyle/>
                    <a:p>
                      <a:pPr lvl="0" indent="0" marL="0">
                        <a:buNone/>
                      </a:pPr>
                      <a:r>
                        <a:rPr/>
                        <a:t>0.10</a:t>
                      </a:r>
                    </a:p>
                  </a:txBody>
                </a:tc>
                <a:tc>
                  <a:txBody>
                    <a:bodyPr/>
                    <a:lstStyle/>
                    <a:p>
                      <a:pPr lvl="0" indent="0" marL="0">
                        <a:buNone/>
                      </a:pPr>
                      <a:r>
                        <a:rPr/>
                        <a:t>Small</a:t>
                      </a:r>
                    </a:p>
                  </a:txBody>
                </a:tc>
                <a:tc>
                  <a:txBody>
                    <a:bodyPr/>
                    <a:lstStyle/>
                    <a:p>
                      <a:pPr lvl="0" indent="0" marL="0">
                        <a:buNone/>
                      </a:pPr>
                      <a:r>
                        <a:rPr/>
                        <a:t>46</a:t>
                      </a:r>
                    </a:p>
                  </a:txBody>
                </a:tc>
              </a:tr>
              <a:tr h="0">
                <a:tc>
                  <a:txBody>
                    <a:bodyPr/>
                    <a:lstStyle/>
                    <a:p>
                      <a:pPr lvl="0" indent="0" marL="0">
                        <a:buNone/>
                      </a:pPr>
                      <a:r>
                        <a:rPr/>
                        <a:t>1</a:t>
                      </a:r>
                    </a:p>
                  </a:txBody>
                </a:tc>
                <a:tc>
                  <a:txBody>
                    <a:bodyPr/>
                    <a:lstStyle/>
                    <a:p>
                      <a:pPr lvl="0" indent="0" marL="0">
                        <a:buNone/>
                      </a:pPr>
                      <a:r>
                        <a:rPr/>
                        <a:t>0.05</a:t>
                      </a:r>
                    </a:p>
                  </a:txBody>
                </a:tc>
                <a:tc>
                  <a:txBody>
                    <a:bodyPr/>
                    <a:lstStyle/>
                    <a:p>
                      <a:pPr lvl="0" indent="0" marL="0">
                        <a:buNone/>
                      </a:pPr>
                      <a:r>
                        <a:rPr/>
                        <a:t>Small</a:t>
                      </a:r>
                    </a:p>
                  </a:txBody>
                </a:tc>
                <a:tc>
                  <a:txBody>
                    <a:bodyPr/>
                    <a:lstStyle/>
                    <a:p>
                      <a:pPr lvl="0" indent="0" marL="0">
                        <a:buNone/>
                      </a:pPr>
                      <a:r>
                        <a:rPr/>
                        <a:t>77</a:t>
                      </a:r>
                    </a:p>
                  </a:txBody>
                </a:tc>
              </a:tr>
              <a:tr h="0">
                <a:tc>
                  <a:txBody>
                    <a:bodyPr/>
                    <a:lstStyle/>
                    <a:p>
                      <a:pPr lvl="0" indent="0" marL="0">
                        <a:buNone/>
                      </a:pPr>
                      <a:r>
                        <a:rPr/>
                        <a:t>11</a:t>
                      </a:r>
                    </a:p>
                  </a:txBody>
                </a:tc>
                <a:tc>
                  <a:txBody>
                    <a:bodyPr/>
                    <a:lstStyle/>
                    <a:p>
                      <a:pPr lvl="0" indent="0" marL="0">
                        <a:buNone/>
                      </a:pPr>
                      <a:r>
                        <a:rPr/>
                        <a:t>0.34</a:t>
                      </a:r>
                    </a:p>
                  </a:txBody>
                </a:tc>
                <a:tc>
                  <a:txBody>
                    <a:bodyPr/>
                    <a:lstStyle/>
                    <a:p>
                      <a:pPr lvl="0" indent="0" marL="0">
                        <a:buNone/>
                      </a:pPr>
                      <a:r>
                        <a:rPr/>
                        <a:t>Small</a:t>
                      </a:r>
                    </a:p>
                  </a:txBody>
                </a:tc>
                <a:tc>
                  <a:txBody>
                    <a:bodyPr/>
                    <a:lstStyle/>
                    <a:p>
                      <a:pPr lvl="0" indent="0" marL="0">
                        <a:buNone/>
                      </a:pPr>
                      <a:r>
                        <a:rPr/>
                        <a:t>119</a:t>
                      </a:r>
                    </a:p>
                  </a:txBody>
                </a:tc>
              </a:tr>
              <a:tr h="0">
                <a:tc>
                  <a:txBody>
                    <a:bodyPr/>
                    <a:lstStyle/>
                    <a:p>
                      <a:pPr lvl="0" indent="0" marL="0">
                        <a:buNone/>
                      </a:pPr>
                      <a:r>
                        <a:rPr/>
                        <a:t>0</a:t>
                      </a:r>
                    </a:p>
                  </a:txBody>
                </a:tc>
                <a:tc>
                  <a:txBody>
                    <a:bodyPr/>
                    <a:lstStyle/>
                    <a:p>
                      <a:pPr lvl="0" indent="0" marL="0">
                        <a:buNone/>
                      </a:pPr>
                      <a:r>
                        <a:rPr/>
                        <a:t>0.08</a:t>
                      </a:r>
                    </a:p>
                  </a:txBody>
                </a:tc>
                <a:tc>
                  <a:txBody>
                    <a:bodyPr/>
                    <a:lstStyle/>
                    <a:p>
                      <a:pPr lvl="0" indent="0" marL="0">
                        <a:buNone/>
                      </a:pPr>
                      <a:r>
                        <a:rPr/>
                        <a:t>Small</a:t>
                      </a:r>
                    </a:p>
                  </a:txBody>
                </a:tc>
                <a:tc>
                  <a:txBody>
                    <a:bodyPr/>
                    <a:lstStyle/>
                    <a:p>
                      <a:pPr lvl="0" indent="0" marL="0">
                        <a:buNone/>
                      </a:pPr>
                      <a:r>
                        <a:rPr/>
                        <a:t>93</a:t>
                      </a:r>
                    </a:p>
                  </a:txBody>
                </a:tc>
              </a:tr>
              <a:tr h="0">
                <a:tc>
                  <a:txBody>
                    <a:bodyPr/>
                    <a:lstStyle/>
                    <a:p>
                      <a:pPr lvl="0" indent="0" marL="0">
                        <a:buNone/>
                      </a:pPr>
                      <a:r>
                        <a:rPr/>
                        <a:t>7</a:t>
                      </a:r>
                    </a:p>
                  </a:txBody>
                </a:tc>
                <a:tc>
                  <a:txBody>
                    <a:bodyPr/>
                    <a:lstStyle/>
                    <a:p>
                      <a:pPr lvl="0" indent="0" marL="0">
                        <a:buNone/>
                      </a:pPr>
                      <a:r>
                        <a:rPr/>
                        <a:t>2.33</a:t>
                      </a:r>
                    </a:p>
                  </a:txBody>
                </a:tc>
                <a:tc>
                  <a:txBody>
                    <a:bodyPr/>
                    <a:lstStyle/>
                    <a:p>
                      <a:pPr lvl="0" indent="0" marL="0">
                        <a:buNone/>
                      </a:pPr>
                      <a:r>
                        <a:rPr/>
                        <a:t>Medium</a:t>
                      </a:r>
                    </a:p>
                  </a:txBody>
                </a:tc>
                <a:tc>
                  <a:txBody>
                    <a:bodyPr/>
                    <a:lstStyle/>
                    <a:p>
                      <a:pPr lvl="0" indent="0" marL="0">
                        <a:buNone/>
                      </a:pPr>
                      <a:r>
                        <a:rPr/>
                        <a:t>168</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species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LM and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Anova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Sum Sq Df F value    Pr(&gt;F)    </a:t>
            </a:r>
            <a:br/>
            <a:r>
              <a:rPr i="1">
                <a:solidFill>
                  <a:srgbClr val="5E5E5E"/>
                </a:solidFill>
                <a:latin typeface="Courier"/>
              </a:rPr>
              <a:t>## (Intercept)     349.5  1  1.6392    0.2113    </a:t>
            </a:r>
            <a:br/>
            <a:r>
              <a:rPr i="1">
                <a:solidFill>
                  <a:srgbClr val="5E5E5E"/>
                </a:solidFill>
                <a:latin typeface="Courier"/>
              </a:rPr>
              <a:t>## size_category 15906.6  2 37.3066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b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Error estimate based on Pearson residuals </a:t>
            </a:r>
            <a:br/>
            <a:r>
              <a:rPr i="1">
                <a:solidFill>
                  <a:srgbClr val="5E5E5E"/>
                </a:solidFill>
                <a:latin typeface="Courier"/>
              </a:rPr>
              <a:t>## </a:t>
            </a:r>
            <a:br/>
            <a:r>
              <a:rPr i="1">
                <a:solidFill>
                  <a:srgbClr val="5E5E5E"/>
                </a:solidFill>
                <a:latin typeface="Courier"/>
              </a:rPr>
              <a:t>##                Sum Sq Df F values    Pr(&gt;F)    </a:t>
            </a:r>
            <a:br/>
            <a:r>
              <a:rPr i="1">
                <a:solidFill>
                  <a:srgbClr val="5E5E5E"/>
                </a:solidFill>
                <a:latin typeface="Courier"/>
              </a:rPr>
              <a:t>## size_category 15906.6  2   37.307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size_category as predictor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(Species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Species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2.67101    0.07930   33.68   &lt;2e-16 ***</a:t>
            </a:r>
            <a:br/>
            <a:r>
              <a:rPr i="1">
                <a:solidFill>
                  <a:srgbClr val="5E5E5E"/>
                </a:solidFill>
                <a:latin typeface="Courier"/>
              </a:rPr>
              <a:t>## size_categoryMedium  1.33784    0.08833   15.15   &lt;2e-16 ***</a:t>
            </a:r>
            <a:br/>
            <a:r>
              <a:rPr i="1">
                <a:solidFill>
                  <a:srgbClr val="5E5E5E"/>
                </a:solidFill>
                <a:latin typeface="Courier"/>
              </a:rPr>
              <a:t>## size_categoryLarge   2.84300    0.08285   34.31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3510.73  on 29  degrees of freedom</a:t>
            </a:r>
            <a:br/>
            <a:r>
              <a:rPr i="1">
                <a:solidFill>
                  <a:srgbClr val="5E5E5E"/>
                </a:solidFill>
                <a:latin typeface="Courier"/>
              </a:rPr>
              <a:t>## Residual deviance:  939.74  on 27  degrees of freedom</a:t>
            </a:r>
            <a:br/>
            <a:r>
              <a:rPr i="1">
                <a:solidFill>
                  <a:srgbClr val="5E5E5E"/>
                </a:solidFill>
                <a:latin typeface="Courier"/>
              </a:rPr>
              <a:t>## AIC: 1106.6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a:r>
              <a:rPr/>
              <a:t>Use the quarter-mile time (</a:t>
            </a:r>
            <a:r>
              <a:rPr>
                <a:latin typeface="Courier"/>
              </a:rPr>
              <a:t>qsec</a:t>
            </a:r>
            <a:r>
              <a:rPr/>
              <a:t>) from the </a:t>
            </a:r>
            <a:r>
              <a:rPr>
                <a:latin typeface="Courier"/>
              </a:rPr>
              <a:t>mtcars</a:t>
            </a:r>
            <a:r>
              <a:rPr/>
              <a:t> dataset, rounded to create a count-like variable.</a:t>
            </a:r>
          </a:p>
          <a:p>
            <a:pPr lvl="0"/>
            <a:r>
              <a:rPr/>
              <a:t>With the natural log link, coefficients represent </a:t>
            </a:r>
            <a:r>
              <a:rPr b="1"/>
              <a:t>multiplicative effects</a:t>
            </a:r>
            <a:r>
              <a:rPr/>
              <a:t>:</a:t>
            </a:r>
          </a:p>
          <a:p>
            <a:pPr lvl="0"/>
            <a:r>
              <a:rPr/>
              <a:t>A coefficient of β means: for each 1-unit increase in X, the response is multiplied by exp(β)</a:t>
            </a:r>
          </a:p>
          <a:p>
            <a:pPr lvl="0"/>
            <a:r>
              <a:rPr/>
              <a:t>For small β, exp(β) ≈ 1 + β, so β × 100% gives approximate percentage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32.9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"Species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14.5 1.15 Inf      12.4      16.9</a:t>
            </a:r>
            <a:br/>
            <a:r>
              <a:rPr i="1">
                <a:solidFill>
                  <a:srgbClr val="5E5E5E"/>
                </a:solidFill>
                <a:latin typeface="Courier"/>
              </a:rPr>
              <a:t>##  Medium         55.1 2.14 Inf      51.0      59.4</a:t>
            </a:r>
            <a:br/>
            <a:r>
              <a:rPr i="1">
                <a:solidFill>
                  <a:srgbClr val="5E5E5E"/>
                </a:solidFill>
                <a:latin typeface="Courier"/>
              </a:rPr>
              <a:t>##  Large         248.1 5.95 Inf     236.7     260.1</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a:r>
              <a:rPr/>
              <a:t>Plot raw data and our emmeans results</a:t>
            </a:r>
          </a:p>
          <a:p>
            <a:pPr lvl="1"/>
            <a:r>
              <a:rPr/>
              <a:t>shows the model’s predictions on top of the real data</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may need to use negative binomial model </a:t>
            </a:r>
            <a:r>
              <a:rPr>
                <a:latin typeface="Courier"/>
              </a:rPr>
              <a:t>model_nb &lt;- glm.nb(qsec_round ~ cyl, data = mtcars_count)</a:t>
            </a:r>
          </a:p>
          <a:p>
            <a:pPr lvl="0" indent="0">
              <a:buNone/>
            </a:pPr>
            <a:r>
              <a:rPr>
                <a:latin typeface="Courier"/>
              </a:rPr>
              <a:t>## 
## Call:
## glm.nb(formula = Species ~ size_category, data = gala, init.theta = 1.709503171, 
##     link = log)
## 
## Coefficients:
##                     Estimate Std. Error z value Pr(&gt;|z|)    
## (Intercept)           2.6710     0.2439  10.953  &lt; 2e-16 ***
## size_categoryMedium   1.3378     0.3313   4.039 5.37e-05 ***
## size_categoryLarge    2.8430     0.3790   7.502 6.28e-14 ***
## ---
## Signif. codes:  0 '***' 0.001 '**' 0.01 '*' 0.05 '.' 0.1 ' ' 1
## 
## (Dispersion parameter for Negative Binomial(1.7095) family taken to be 1)
## 
##     Null deviance: 90.168  on 29  degrees of freedom
## Residual deviance: 32.932  on 27  degrees of freedom
## AIC: 297.35
## 
## Number of Fisher Scoring iterations: 1
## 
## 
##               Theta:  1.710 
##           Std. Err.:  0.449 
## 
##  2 x log-likelihood:  -289.348</a:t>
            </a:r>
          </a:p>
          <a:p>
            <a:pPr lvl="0"/>
            <a:r>
              <a:rPr/>
              <a:t>negative binomial model includes a dispersion parameter (theta)</a:t>
            </a:r>
          </a:p>
          <a:p>
            <a:pPr lvl="1"/>
            <a:r>
              <a:rPr/>
              <a:t>allows the variance to be larger than the mean</a:t>
            </a:r>
          </a:p>
          <a:p>
            <a:pPr lvl="1"/>
            <a:r>
              <a:rPr/>
              <a:t>standard errors bigger because NB model accounts for high variability (overdispersion)</a:t>
            </a:r>
          </a:p>
          <a:p>
            <a:pPr lvl="1"/>
            <a:r>
              <a:rPr/>
              <a:t>estimates dispersion parameter ‘Theta’ (or 1/theta)</a:t>
            </a:r>
          </a:p>
          <a:p>
            <a:pPr lvl="1"/>
            <a:r>
              <a:rPr/>
              <a:t>how it models the overdispersion.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equivalent to standard linear models and ANOVAs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are useful for binary responses - 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2025-11-08T17:17:54Z</dcterms:created>
  <dcterms:modified xsi:type="dcterms:W3CDTF">2025-11-08T17:17:54Z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