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latin typeface="Courier"/>
              </a:rPr>
              <a:t>                   mpg cyl disp  hp drat    wt  qsec vs am gear carb
Mazda RX4         21.0   6  160 110 3.90 2.620 16.46  0  1    4    4
Mazda RX4 Wag     21.0   6  160 110 3.90 2.875 17.02  0  1    4    4
Datsun 710        22.8   4  108  93 3.85 2.320 18.61  1  1    4    1
Hornet 4 Drive    21.4   6  258 110 3.08 3.215 19.44  1  0    3    1
Hornet Sportabout 18.7   8  360 175 3.15 3.440 17.02  0  0    3    2
Valiant           18.1   6  225 105 2.76 3.460 20.22  1  0    3    1</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 Check if they're the same</a:t>
            </a:r>
            <a:br/>
            <a:r>
              <a:rPr>
                <a:solidFill>
                  <a:srgbClr val="5E5E5E"/>
                </a:solidFill>
                <a:latin typeface="Courier"/>
              </a:rPr>
              <a:t># all.equal(coef_lm, coef_glm)</a:t>
            </a:r>
            <a:br/>
            <a:r>
              <a:rPr>
                <a:solidFill>
                  <a:srgbClr val="4758AB"/>
                </a:solidFill>
                <a:latin typeface="Courier"/>
              </a:rPr>
              <a:t>summary</a:t>
            </a:r>
            <a:r>
              <a:rPr>
                <a:solidFill>
                  <a:srgbClr val="003B4F"/>
                </a:solidFill>
                <a:latin typeface="Courier"/>
              </a:rPr>
              <a:t>(model_lm)</a:t>
            </a:r>
          </a:p>
          <a:p>
            <a:pPr lvl="0" indent="0">
              <a:buNone/>
            </a:pPr>
            <a:r>
              <a:rPr>
                <a:latin typeface="Courier"/>
              </a:rPr>
              <a:t>
Call:
lm(formula = mpg ~ cyl, data = mtcars)
Residuals:
    Min      1Q  Median      3Q     Max 
-5.2636 -1.8357  0.0286  1.3893  7.2364 
Coefficients:
            Estimate Std. Error t value Pr(&gt;|t|)    
(Intercept)  26.6636     0.9718  27.437  &lt; 2e-16 ***
cyl6         -6.9208     1.5583  -4.441 0.000119 ***
cyl8        -11.5636     1.2986  -8.905 8.57e-10 ***
---
Signif. codes:  0 '***' 0.001 '**' 0.01 '*' 0.05 '.' 0.1 ' ' 1
Residual standard error: 3.223 on 29 degrees of freedom
Multiple R-squared:  0.7325,    Adjusted R-squared:  0.714 
F-statistic:  39.7 on 2 and 29 DF,  p-value: 4.979e-09</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latin typeface="Courier"/>
              </a:rPr>
              <a:t>                   cyl  qsec qsec_round
Mazda RX4            6 16.46         16
Mazda RX4 Wag        6 17.02         17
Datsun 710           4 18.61         19
Hornet 4 Drive       6 19.44         19
Hornet Sportabout    8 17.02         17
Valiant              6 20.22         20
Duster 360           8 15.84         16
Merc 240D            4 20.00         20
Merc 230             4 22.90         23
Merc 280             6 18.30         18
Merc 280C            6 18.90         19
Merc 450SE           8 17.40         17
Merc 450SL           8 17.60         18
Merc 450SLC          8 18.00         18
Cadillac Fleetwood   8 17.98         18</a:t>
            </a:r>
          </a:p>
          <a:p>
            <a:pPr lvl="0" indent="0" marL="0">
              <a:buNone/>
            </a:pPr>
            <a:r>
              <a:rPr/>
              <a:t>Now let’s fit a Poisson GLM to model the relationship between the rounded quarter-mile time and the number of cylinders:</a:t>
            </a:r>
          </a:p>
        </p:txBody>
      </p:sp>
      <p:pic>
        <p:nvPicPr>
          <p:cNvPr descr="14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For this example, we’ll 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1"/>
            <a:r>
              <a:rPr/>
              <a:t>A coefficient of β means: for each 1-unit increase in X, the response is multiplied by exp(β)</a:t>
            </a:r>
          </a:p>
          <a:p>
            <a:pPr lvl="1"/>
            <a:r>
              <a:rPr/>
              <a:t>For small β, exp(β) ≈ 1 + β, so β × 100% gives approximate percentage change</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0" indent="0">
              <a:buNone/>
            </a:pPr>
            <a:r>
              <a:rPr>
                <a:latin typeface="Courier"/>
              </a:rPr>
              <a:t>Dispersion parameter: 0.12 </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a:r>
              <a:rPr/>
              <a:t>For this example, we’ll use the quarter-mile time (</a:t>
            </a:r>
            <a:r>
              <a:rPr>
                <a:latin typeface="Courier"/>
              </a:rPr>
              <a:t>qsec</a:t>
            </a:r>
            <a:r>
              <a:rPr/>
              <a:t>) from the </a:t>
            </a:r>
            <a:r>
              <a:rPr>
                <a:latin typeface="Courier"/>
              </a:rPr>
              <a:t>mtcars</a:t>
            </a:r>
            <a:r>
              <a:rPr/>
              <a:t> dataset, rounded to create a count-like variable.</a:t>
            </a:r>
          </a:p>
          <a:p>
            <a:pPr lvl="0"/>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4758AB"/>
                </a:solidFill>
                <a:latin typeface="Courier"/>
              </a:rPr>
              <a:t>Anova</a:t>
            </a:r>
            <a:r>
              <a:rPr>
                <a:solidFill>
                  <a:srgbClr val="003B4F"/>
                </a:solidFill>
                <a:latin typeface="Courier"/>
              </a:rPr>
              <a:t>(model_poisson,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qsec_round
Error estimate based on Pearson residuals 
          Sum Sq Df F values   Pr(&gt;F)    
cyl       2.2493  2   9.4854 0.000677 ***
Residuals 3.4384 29                      
---
Signif. codes:  0 '***' 0.001 '**' 0.01 '*' 0.05 '.' 0.1 ' ' 1</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cyl rate   SE  df asymp.LCL asymp.UCL
 4   19.3 1.32 Inf      16.8      22.0
 6   17.9 1.60 Inf      15.0      21.3
 8   16.7 1.09 Inf      14.7      19.0
Confidence level used: 0.95 
Intervals are back-transformed from the log scale </a:t>
            </a:r>
          </a:p>
          <a:p>
            <a:pPr lvl="0" indent="0">
              <a:buNone/>
            </a:pPr>
            <a:r>
              <a:rPr>
                <a:latin typeface="Courier"/>
              </a:rPr>
              <a:t> contrast    ratio     SE  df null z.ratio p.value
 cyl6 / cyl4 0.927 0.1040 Inf    1  -0.676  0.8740
 cyl8 / cyl4 0.867 0.0822 Inf    1  -1.502  0.3484
 cyl8 / cyl6 0.936 0.1040 Inf    1  -0.597  0.9092
P value adjustment: sidak method for 3 tests 
Tests are performed on the log scale </a:t>
            </a:r>
          </a:p>
          <a:p>
            <a:pPr lvl="0" indent="0">
              <a:buNone/>
            </a:pPr>
            <a:r>
              <a:rPr>
                <a:latin typeface="Courier"/>
              </a:rPr>
              <a:t> cyl rate   SE  df asymp.LCL asymp.UCL .group
 8   16.7 1.09 Inf      14.3      19.5  a    
 6   17.9 1.60 Inf      14.4      22.1  a    
 4   19.3 1.32 Inf      16.4      22.7  a    
Confidence level used: 0.95 
Conf-level adjustment: sidak method for 3 estimates 
Intervals are back-transformed from the log scale 
P value adjustment: sidak method for 3 tests 
Tests are performed on the log scale 
significance level used: alpha = 0.05 
NOTE: If two or more means share the same grouping symbol,
      then we cannot show them to be different.
      But we also did not show them to be the same. </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0" y="1041400"/>
            <a:ext cx="6007100" cy="36957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2935507.581, 
    link = log)
Coefficients:
            Estimate Std. Error z value Pr(&gt;|z|)    
(Intercept)  2.95869    0.06868  43.079   &lt;2e-16 ***
cyl6        -0.07629    0.11277  -0.676    0.499    
cyl8        -0.14243    0.09482  -1.502    0.133    
---
Signif. codes:  0 '***' 0.001 '**' 0.01 '*' 0.05 '.' 0.1 ' ' 1
(Dispersion parameter for Negative Binomial(2935508) family taken to be 1)
    Null deviance: 5.6979  on 31  degrees of freedom
Residual deviance: 3.4486  on 29  degrees of freedom
AIC: 162.62
Number of Fisher Scoring iterations: 1
              Theta:  2935508 
          Std. Err.:  121363169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5.9374     2.1297   2.788  0.00530 **
pa_ratio     -0.1493     0.0517  -2.887  0.00388 **
---
Signif. codes:  0 '***' 0.001 '**' 0.01 '*' 0.05 '.' 0.1 ' ' 1
(Dispersion parameter for binomial family taken to be 1)
    Null deviance: 41.455  on 29  degrees of freedom
Residual deviance: 19.090  on 28  degrees of freedom
AIC: 23.09
Number of Fisher Scoring iterations: 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 :::{.panel}</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18.58 on 28 df, p = 0.911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19.09 on 28 df, p =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0.54 </a:t>
            </a:r>
          </a:p>
          <a:p>
            <a:pPr lvl="0" indent="0" marL="0">
              <a:buNone/>
            </a:pP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 :::{.panel}</a:t>
            </a:r>
          </a:p>
          <a:p>
            <a:pPr lvl="0" indent="0">
              <a:buNone/>
            </a:pPr>
            <a:r>
              <a:rPr>
                <a:latin typeface="Courier"/>
              </a:rPr>
              <a:t>              Predictor OddsRatio               CI
distance       distance    1.0021 (0.9994, 1.0069)
age                 age    1.0712 (0.9721, 1.2577)
shrub_cover shrub_cover    1.2129 (1.0645, 1.7909)</a:t>
            </a:r>
          </a:p>
          <a:p>
            <a:pPr lvl="0" indent="0" marL="0">
              <a:buNone/>
            </a:pP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 :::{.panel}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No Age                 No Age          3 17.05 20.71    11.05
Full                     Full          4 17.27 22.15     9.27
No Distance       No Distance          3 17.38 21.04    11.38
Intercept Only Intercept Only          1 29.55 30.77    27.55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Predicted Absent Present
  Absent       5       2
  Present      1      17</a:t>
            </a:r>
          </a:p>
          <a:p>
            <a:pPr lvl="0" indent="0">
              <a:buNone/>
            </a:pPr>
            <a:r>
              <a:rPr>
                <a:latin typeface="Courier"/>
              </a:rPr>
              <a:t>
Accuracy: 0.88 </a:t>
            </a:r>
          </a:p>
          <a:p>
            <a:pPr lvl="0" indent="0">
              <a:buNone/>
            </a:pPr>
            <a:r>
              <a:rPr>
                <a:latin typeface="Courier"/>
              </a:rPr>
              <a:t>Sensitivity: 0.895 </a:t>
            </a:r>
          </a:p>
          <a:p>
            <a:pPr lvl="0" indent="0">
              <a:buNone/>
            </a:pPr>
            <a:r>
              <a:rPr>
                <a:latin typeface="Courier"/>
              </a:rPr>
              <a:t>Specificity: 0.833 </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 :::{.panel}</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 :::{.panel}</a:t>
            </a:r>
          </a:p>
        </p:txBody>
      </p:sp>
      <p:graphicFrame xmlns:a="http://schemas.openxmlformats.org/drawingml/2006/main" xmlns:r="http://schemas.openxmlformats.org/officeDocument/2006/relationships" xmlns:p="http://schemas.openxmlformats.org/presentationml/2006/main">
        <p:nvGraphicFramePr>
          <p:cNvPr id="488613033"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spcBef>
                <a:spcPts val="3000"/>
              </a:spcBef>
              <a:buNone/>
            </a:pPr>
            <a:r>
              <a:rPr b="1"/>
              <a:t>Generalized Linear Models have different assumptions depending on the specific distribution and link function used:</a:t>
            </a:r>
          </a:p>
          <a:p>
            <a:pPr lvl="0"/>
            <a:r>
              <a:rPr b="1"/>
              <a:t>All GLMs:</a:t>
            </a:r>
          </a:p>
          <a:p>
            <a:pPr lvl="1"/>
            <a:r>
              <a:rPr/>
              <a:t>Independence of observations</a:t>
            </a:r>
          </a:p>
          <a:p>
            <a:pPr lvl="1"/>
            <a:r>
              <a:rPr/>
              <a:t>Correct specification of the link function</a:t>
            </a:r>
          </a:p>
          <a:p>
            <a:pPr lvl="1"/>
            <a:r>
              <a:rPr/>
              <a:t>Correct specification of the variance structure</a:t>
            </a:r>
          </a:p>
          <a:p>
            <a:pPr lvl="1"/>
            <a:r>
              <a:rPr/>
              <a:t>No influential outliers</a:t>
            </a:r>
          </a:p>
          <a:p>
            <a:pPr lvl="1"/>
            <a:r>
              <a:rPr/>
              <a:t>No multicollinearity among predictors</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(if overdispersed, consider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2025-11-05T17:02:46Z</dcterms:created>
  <dcterms:modified xsi:type="dcterms:W3CDTF">2025-11-05T17:02:46Z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