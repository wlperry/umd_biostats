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2" Type="http://schemas.openxmlformats.org/officeDocument/2006/relationships/viewProps" Target="viewProps.xml" /><Relationship Id="rId41" Type="http://schemas.openxmlformats.org/officeDocument/2006/relationships/presProps" Target="presProps.xml" /><Relationship Id="rId1" Type="http://schemas.openxmlformats.org/officeDocument/2006/relationships/slideMaster" Target="slideMasters/slideMaster1.xml" /><Relationship Id="rId44" Type="http://schemas.openxmlformats.org/officeDocument/2006/relationships/tableStyles" Target="tableStyles.xml" /><Relationship Id="rId4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comparison of logged response variable and GLM</a:t>
            </a:r>
          </a:p>
        </p:txBody>
      </p:sp>
      <p:sp>
        <p:nvSpPr>
          <p:cNvPr id="3" name="Content Placeholder 2"/>
          <p:cNvSpPr>
            <a:spLocks noGrp="1"/>
          </p:cNvSpPr>
          <p:nvPr>
            <p:ph idx="1"/>
          </p:nvPr>
        </p:nvSpPr>
        <p:spPr/>
        <p:txBody>
          <a:bodyPr/>
          <a:lstStyle/>
          <a:p>
            <a:pPr lvl="0" indent="0" marL="1270000">
              <a:buNone/>
            </a:pPr>
            <a:r>
              <a:rPr sz="2000" b="1"/>
              <a:t>Important</a:t>
            </a:r>
          </a:p>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a:t>
            </a:r>
            <a:b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br/>
            <a:r>
              <a:rPr>
                <a:solidFill>
                  <a:srgbClr val="5E5E5E"/>
                </a:solidFill>
                <a:latin typeface="Courier"/>
              </a:rPr>
              <a:t># Show how the interpretation differs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p>
          <a:p>
            <a:pPr lvl="1"/>
            <a:r>
              <a:rPr/>
              <a:t>Number of plant species (count data)</a:t>
            </a:r>
          </a:p>
          <a:p>
            <a:pPr lvl="1"/>
            <a:r>
              <a:rPr>
                <a:latin typeface="Courier"/>
              </a:rPr>
              <a:t>Endemics</a:t>
            </a:r>
          </a:p>
          <a:p>
            <a:pPr lvl="1"/>
            <a:r>
              <a:rPr/>
              <a:t>Number of endemic species (count data)</a:t>
            </a:r>
          </a:p>
          <a:p>
            <a:pPr lvl="1"/>
            <a:r>
              <a:rPr>
                <a:latin typeface="Courier"/>
              </a:rPr>
              <a:t>Area</a:t>
            </a:r>
          </a:p>
          <a:p>
            <a:pPr lvl="1"/>
            <a:r>
              <a:rPr/>
              <a:t>Island area (km²)</a:t>
            </a:r>
          </a:p>
          <a:p>
            <a:pPr lvl="1"/>
            <a:r>
              <a:rPr>
                <a:latin typeface="Courier"/>
              </a:rPr>
              <a:t>Elevation</a:t>
            </a:r>
          </a:p>
          <a:p>
            <a:pPr lvl="1"/>
            <a:r>
              <a:rPr/>
              <a:t>Maximum elevation (m)</a:t>
            </a:r>
          </a:p>
          <a:p>
            <a:pPr lvl="1"/>
            <a:r>
              <a:rPr>
                <a:latin typeface="Courier"/>
              </a:rPr>
              <a:t>Nearest</a:t>
            </a:r>
          </a:p>
          <a:p>
            <a:pPr lvl="1"/>
            <a:r>
              <a:rPr/>
              <a:t>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a:r>
                  <a:rPr/>
                  <a:t>Fit a standard linear model</a:t>
                </a:r>
              </a:p>
              <a:p>
                <a:pPr lvl="1"/>
                <a:r>
                  <a:rPr/>
                  <a:t>model_lm &lt;- lm(Endemics ~ size_category,</a:t>
                </a:r>
                <a:br/>
                <a:r>
                  <a:rPr/>
                  <a:t>data = gala)</a:t>
                </a:r>
              </a:p>
              <a:p>
                <a:pPr lvl="0"/>
                <a:r>
                  <a:rPr/>
                  <a:t>Fit a Gaussian GLM</a:t>
                </a:r>
              </a:p>
              <a:p>
                <a:pPr lvl="1"/>
                <a:r>
                  <a:rPr/>
                  <a:t>model_gaussian &lt;- glm(Endemics ~ size_category,</a:t>
                </a:r>
                <a:br/>
                <a:r>
                  <a:rPr/>
                  <a:t>data = gala,</a:t>
                </a:r>
                <a:br/>
                <a:r>
                  <a:rPr/>
                  <a:t>family = gaussian(link = “identity”))</a:t>
                </a:r>
              </a:p>
              <a:p>
                <a:pPr lvl="0" indent="0" marL="0">
                  <a:buNone/>
                </a:pPr>
                <a:r>
                  <a:rPr b="1"/>
                  <a:t>Residual Standard Error</a:t>
                </a:r>
                <a:r>
                  <a:rPr/>
                  <a:t>. This is the standard deviation of the residuals (</a:t>
                </a:r>
                <a14:m>
                  <m:oMath xmlns:m="http://schemas.openxmlformats.org/officeDocument/2006/math">
                    <m:r>
                      <m:t>σ</m:t>
                    </m:r>
                  </m:oMath>
                </a14:m>
                <a:r>
                  <a:rPr/>
                  <a:t>)</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our LM and GLM model using the </a:t>
                </a:r>
                <a:r>
                  <a:rPr>
                    <a:latin typeface="Courier"/>
                  </a:rPr>
                  <a:t>car</a:t>
                </a:r>
                <a:r>
                  <a:rPr/>
                  <a:t> package:</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 divided by its degrees of freedom</a:t>
                </a:r>
                <a:r>
                  <a:rPr/>
                  <a:t>: 5756.1 / 27 = 213.1878</a:t>
                </a:r>
              </a:p>
              <a:p>
                <a:pPr lvl="1"/>
                <a:r>
                  <a:rPr/>
                  <a:t>In this context, “Sum Sq” (Sum of Squares) and “Deviance” are the same thing.</a:t>
                </a:r>
              </a:p>
              <a:p>
                <a:pPr lvl="1"/>
                <a:r>
                  <a:rPr b="1"/>
                  <a:t>“Pearson residuals” are essentially the same as the regular residuals</a:t>
                </a:r>
                <a:r>
                  <a:rPr/>
                  <a:t> (observed - predicted) that you get from a standard </a:t>
                </a:r>
                <a:r>
                  <a:rPr>
                    <a:latin typeface="Courier"/>
                  </a:rPr>
                  <a:t>lm()</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island predicted to have 3.81x more species than “Small” island, on average</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indent="0" marL="0">
              <a:buNone/>
            </a:pPr>
            <a:r>
              <a:rPr/>
              <a:t>Model Type R Code (Example) Interpretation of β₁ GLM (Log-Link) glm(Y ~ X, family = poisson) A 1-unit change in X multiplies the mean of Y by exp(β₁). lm (Log-Response) lm(log(Y) ~ X) A 1-unit change in X multiplies the median of Y by exp(β₁). lm (Log-Log) lm(log(Y) ~ log(X)) A 1% change in</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2025-11-10T15:33:56Z</dcterms:created>
  <dcterms:modified xsi:type="dcterms:W3CDTF">2025-11-10T15:33:56Z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