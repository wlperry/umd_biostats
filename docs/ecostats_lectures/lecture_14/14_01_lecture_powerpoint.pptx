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40" Type="http://schemas.openxmlformats.org/officeDocument/2006/relationships/viewProps" Target="viewProps.xml" /><Relationship Id="rId39" Type="http://schemas.openxmlformats.org/officeDocument/2006/relationships/presProps" Target="presProps.xml" /><Relationship Id="rId1" Type="http://schemas.openxmlformats.org/officeDocument/2006/relationships/slideMaster" Target="slideMasters/slideMaster1.xml" /><Relationship Id="rId42" Type="http://schemas.openxmlformats.org/officeDocument/2006/relationships/tableStyles" Target="tableStyles.xml" /><Relationship Id="rId4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4.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6.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8.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0.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14 - Generalized Linear Models</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Review of ANOVAs</a:t>
            </a:r>
          </a:p>
        </p:txBody>
      </p:sp>
      <p:sp>
        <p:nvSpPr>
          <p:cNvPr id="3" name="Content Placeholder 2"/>
          <p:cNvSpPr>
            <a:spLocks noGrp="1"/>
          </p:cNvSpPr>
          <p:nvPr>
            <p:ph idx="1"/>
          </p:nvPr>
        </p:nvSpPr>
        <p:spPr/>
        <p:txBody>
          <a:bodyPr/>
          <a:lstStyle/>
          <a:p>
            <a:pPr lvl="0" indent="0" marL="0">
              <a:spcBef>
                <a:spcPts val="3000"/>
              </a:spcBef>
              <a:buNone/>
            </a:pPr>
            <a:r>
              <a:rPr b="1"/>
              <a:t>Review</a:t>
            </a:r>
          </a:p>
          <a:p>
            <a:pPr lvl="0"/>
            <a:r>
              <a:rPr/>
              <a:t>ANOVA</a:t>
            </a:r>
          </a:p>
          <a:p>
            <a:pPr lvl="0"/>
            <a:r>
              <a:rPr/>
              <a:t>Factorial ANOVA</a:t>
            </a:r>
          </a:p>
          <a:p>
            <a:pPr lvl="0"/>
            <a:r>
              <a:rPr/>
              <a:t>Nested ANOVA</a:t>
            </a:r>
          </a:p>
          <a:p>
            <a:pPr lvl="0"/>
            <a:r>
              <a:rPr/>
              <a:t>ASSUMPTIONS OF ALL</a:t>
            </a:r>
          </a:p>
          <a:p>
            <a:pPr lvl="1"/>
            <a:r>
              <a:rPr/>
              <a:t>Homogeneity of variance - Levenes or Bartletts Test</a:t>
            </a:r>
          </a:p>
          <a:p>
            <a:pPr lvl="1"/>
            <a:r>
              <a:rPr/>
              <a:t>Normality of Residuals</a:t>
            </a:r>
          </a:p>
          <a:p>
            <a:pPr lvl="1"/>
            <a:r>
              <a:rPr/>
              <a:t>Independence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14: GLM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indent="0" marL="0">
              <a:buNone/>
            </a:pPr>
            <a:r>
              <a:rPr/>
              <a:t>General Linear Models GLM</a:t>
            </a:r>
          </a:p>
          <a:p>
            <a:pPr lvl="0"/>
            <a:r>
              <a:rPr/>
              <a:t>Essentially the same as before while using defined distributions</a:t>
            </a:r>
          </a:p>
          <a:p>
            <a:pPr lvl="1"/>
            <a:r>
              <a:rPr/>
              <a:t>Normal</a:t>
            </a:r>
          </a:p>
          <a:p>
            <a:pPr lvl="1"/>
            <a:r>
              <a:rPr/>
              <a:t>Lognormal</a:t>
            </a:r>
          </a:p>
          <a:p>
            <a:pPr lvl="1"/>
            <a:r>
              <a:rPr/>
              <a:t>Binomial</a:t>
            </a:r>
          </a:p>
          <a:p>
            <a:pPr lvl="1"/>
            <a:r>
              <a:rPr/>
              <a:t>Poisson</a:t>
            </a:r>
          </a:p>
          <a:p>
            <a:pPr lvl="1"/>
            <a:r>
              <a:rPr/>
              <a:t>Gamma</a:t>
            </a:r>
          </a:p>
          <a:p>
            <a:pPr lvl="1"/>
            <a:r>
              <a:rPr/>
              <a:t>Negative binomial</a:t>
            </a:r>
          </a:p>
          <a:p>
            <a:pPr lvl="0" indent="0" marL="0">
              <a:buNone/>
            </a:pPr>
            <a:r>
              <a:rPr/>
              <a:t>Logistic Regression</a:t>
            </a:r>
          </a:p>
          <a:p>
            <a:pPr lvl="0"/>
            <a:r>
              <a:rPr/>
              <a:t>when the outcome is yes or no or categorical</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Generalized Linear Models (GLMs)</a:t>
            </a:r>
          </a:p>
        </p:txBody>
      </p:sp>
      <p:sp>
        <p:nvSpPr>
          <p:cNvPr id="3" name="Content Placeholder 2"/>
          <p:cNvSpPr>
            <a:spLocks noGrp="1"/>
          </p:cNvSpPr>
          <p:nvPr>
            <p:ph idx="1" sz="half"/>
          </p:nvPr>
        </p:nvSpPr>
        <p:spPr/>
        <p:txBody>
          <a:bodyPr/>
          <a:lstStyle/>
          <a:p>
            <a:pPr lvl="0" indent="0" marL="0">
              <a:buNone/>
            </a:pPr>
            <a:r>
              <a:rPr/>
              <a:t>General linear models assume normal distribution of response variables and residuals. However, many types of biological data don’t meet this assumption. Generalized Linear Models (GLMs) allow for a wider range of probability distributions for the response variable.</a:t>
            </a:r>
          </a:p>
          <a:p>
            <a:pPr lvl="0" indent="0" marL="0">
              <a:buNone/>
            </a:pPr>
            <a:r>
              <a:rPr/>
              <a:t>GLMs allow all types of “exponential family” distributions:</a:t>
            </a:r>
          </a:p>
          <a:p>
            <a:pPr lvl="0"/>
            <a:r>
              <a:rPr/>
              <a:t>Normal</a:t>
            </a:r>
          </a:p>
          <a:p>
            <a:pPr lvl="0"/>
            <a:r>
              <a:rPr/>
              <a:t>Lognormal</a:t>
            </a:r>
          </a:p>
          <a:p>
            <a:pPr lvl="0"/>
            <a:r>
              <a:rPr/>
              <a:t>Binomial</a:t>
            </a:r>
          </a:p>
          <a:p>
            <a:pPr lvl="0"/>
            <a:r>
              <a:rPr/>
              <a:t>Poisson</a:t>
            </a:r>
          </a:p>
          <a:p>
            <a:pPr lvl="0"/>
            <a:r>
              <a:rPr/>
              <a:t>Gamma</a:t>
            </a:r>
          </a:p>
          <a:p>
            <a:pPr lvl="0"/>
            <a:r>
              <a:rPr/>
              <a:t>Negative binomial</a:t>
            </a:r>
          </a:p>
          <a:p>
            <a:pPr lvl="0" indent="0" marL="0">
              <a:buNone/>
            </a:pPr>
            <a:r>
              <a:rPr/>
              <a:t>GLMs can be used for binary (yes/no), discrete (count), and categorical/multinomial response variables, using maximum likelihood (ML) rather than ordinary least squares (OLS) for estimation.</a:t>
            </a:r>
          </a:p>
          <a:p>
            <a:pPr lvl="0" indent="0" marL="0">
              <a:buNone/>
            </a:pPr>
            <a:r>
              <a:rPr b="1"/>
              <a:t>Note:</a:t>
            </a:r>
            <a:r>
              <a:rPr/>
              <a:t> GLMs extend linear models to non-normal data distributions.</a:t>
            </a:r>
          </a:p>
        </p:txBody>
      </p:sp>
      <p:pic>
        <p:nvPicPr>
          <p:cNvPr descr="14_01_lecture_powerpoint_files/figure-pptx/glm-distributions-1.png" id="0" name="Picture 1"/>
          <p:cNvPicPr>
            <a:picLocks noGrp="1" noChangeAspect="1"/>
          </p:cNvPicPr>
          <p:nvPr/>
        </p:nvPicPr>
        <p:blipFill>
          <a:blip r:embed="rId2"/>
          <a:stretch>
            <a:fillRect/>
          </a:stretch>
        </p:blipFill>
        <p:spPr bwMode="auto">
          <a:xfrm>
            <a:off x="6121400" y="1485900"/>
            <a:ext cx="2781300" cy="2311400"/>
          </a:xfrm>
          <a:prstGeom prst="rect">
            <a:avLst/>
          </a:prstGeom>
          <a:noFill/>
          <a:ln w="9525">
            <a:noFill/>
            <a:headEnd/>
            <a:tailEnd/>
          </a:ln>
        </p:spPr>
      </p:pic>
      <p:sp>
        <p:nvSpPr>
          <p:cNvPr id="1" name="TextBox 3"/>
          <p:cNvSpPr txBox="1"/>
          <p:nvPr/>
        </p:nvSpPr>
        <p:spPr>
          <a:xfrm>
            <a:off x="6121400" y="4622800"/>
            <a:ext cx="2781300" cy="508000"/>
          </a:xfrm>
          <a:prstGeom prst="rect">
            <a:avLst/>
          </a:prstGeom>
          <a:noFill/>
        </p:spPr>
        <p:txBody>
          <a:bodyPr/>
          <a:lstStyle/>
          <a:p>
            <a:pPr lvl="0" indent="0" marL="0" algn="ctr">
              <a:buNone/>
            </a:pPr>
            <a:r>
              <a:rPr/>
              <a:t>Examples of distributions in the exponential family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The Three Elements of a GLM</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GLMs consist of three components:</a:t>
                </a:r>
              </a:p>
              <a:p>
                <a:pPr lvl="0" indent="-342900" marL="342900">
                  <a:buAutoNum type="arabicPeriod"/>
                </a:pPr>
                <a:r>
                  <a:rPr b="1"/>
                  <a:t>Response component</a:t>
                </a:r>
                <a:r>
                  <a:rPr/>
                  <a:t>: The response variable and its probability distribution (from exponential family: normal, binomial, Poisson)</a:t>
                </a:r>
              </a:p>
              <a:p>
                <a:pPr lvl="0" indent="-342900" marL="342900">
                  <a:buAutoNum type="arabicPeriod"/>
                </a:pPr>
                <a:r>
                  <a:rPr b="1"/>
                  <a:t>Systematic component</a:t>
                </a:r>
                <a:r>
                  <a:rPr/>
                  <a:t>: The predictor variable(s) in the model, which can be continuous or categorical</a:t>
                </a:r>
              </a:p>
              <a:p>
                <a:pPr lvl="0" indent="-342900" marL="342900">
                  <a:buAutoNum type="arabicPeriod"/>
                </a:pPr>
                <a:r>
                  <a:rPr b="1"/>
                  <a:t>Link function</a:t>
                </a:r>
                <a:r>
                  <a:rPr/>
                  <a:t>: Connects expected value of Y to predictor variables</a:t>
                </a:r>
              </a:p>
              <a:p>
                <a:pPr lvl="0" indent="0" marL="0">
                  <a:buNone/>
                </a:pPr>
                <a14:m>
                  <m:oMathPara xmlns:m="http://schemas.openxmlformats.org/officeDocument/2006/math">
                    <m:oMathParaPr>
                      <m:jc m:val="center"/>
                    </m:oMathParaPr>
                    <m:oMath>
                      <m:r>
                        <m:t>g</m:t>
                      </m:r>
                      <m:d>
                        <m:dPr>
                          <m:begChr m:val="("/>
                          <m:sepChr m:val=""/>
                          <m:endChr m:val=")"/>
                          <m:grow/>
                        </m:dPr>
                        <m:e>
                          <m:r>
                            <m:t>μ</m:t>
                          </m:r>
                        </m:e>
                      </m:d>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oMath>
                  </m:oMathPara>
                </a14:m>
              </a:p>
              <a:p>
                <a:pPr lvl="0" indent="0" marL="1270000">
                  <a:buNone/>
                </a:pPr>
                <a:r>
                  <a:rPr sz="2000" b="1"/>
                  <a:t>Link Functions and Distributions</a:t>
                </a:r>
              </a:p>
            </p:txBody>
          </p:sp>
        </mc:Choice>
      </mc:AlternateContent>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(Normal) Distribution: Setup</a:t>
            </a:r>
          </a:p>
        </p:txBody>
      </p:sp>
      <p:sp>
        <p:nvSpPr>
          <p:cNvPr id="3" name="Text Placeholder 2"/>
          <p:cNvSpPr>
            <a:spLocks noGrp="1"/>
          </p:cNvSpPr>
          <p:nvPr>
            <p:ph idx="1" type="body"/>
          </p:nvPr>
        </p:nvSpPr>
        <p:spPr/>
        <p:txBody>
          <a:bodyPr/>
          <a:lstStyle/>
          <a:p>
            <a:pPr lvl="0" indent="0" marL="0">
              <a:buNone/>
            </a:pPr>
            <a:r>
              <a:rPr/>
              <a:t>The simplest form of GLM uses a normal (Gaussian) distribution with an identity link function. This is equivalent to standard ANOVA</a:t>
            </a:r>
          </a:p>
          <a:p>
            <a:pPr lvl="0" indent="0" marL="0">
              <a:buNone/>
            </a:pPr>
            <a:r>
              <a:rPr/>
              <a:t>Let’s compare a standard linear model and a Gaussian GLM ### Island Biogeography Data</a:t>
            </a:r>
          </a:p>
          <a:p>
            <a:pPr lvl="0" indent="0" marL="0">
              <a:buNone/>
            </a:pPr>
            <a:r>
              <a:rPr/>
              <a:t>The </a:t>
            </a:r>
            <a:r>
              <a:rPr>
                <a:latin typeface="Courier"/>
              </a:rPr>
              <a:t>gala</a:t>
            </a:r>
            <a:r>
              <a:rPr/>
              <a:t> dataset from the </a:t>
            </a:r>
            <a:r>
              <a:rPr>
                <a:latin typeface="Courier"/>
              </a:rPr>
              <a:t>faraway</a:t>
            </a:r>
            <a:r>
              <a:rPr/>
              <a:t> package contains data on 30 Galapagos islands, testing MacArthur-Wilson’s theory of island biogeography.</a:t>
            </a:r>
          </a:p>
          <a:p>
            <a:pPr lvl="0"/>
            <a:r>
              <a:rPr b="1"/>
              <a:t>Variables in the dataset:</a:t>
            </a:r>
          </a:p>
          <a:p>
            <a:pPr lvl="1"/>
            <a:r>
              <a:rPr>
                <a:latin typeface="Courier"/>
              </a:rPr>
              <a:t>Species</a:t>
            </a:r>
          </a:p>
          <a:p>
            <a:pPr lvl="1"/>
            <a:r>
              <a:rPr/>
              <a:t>Number of plant species (count data)</a:t>
            </a:r>
          </a:p>
          <a:p>
            <a:pPr lvl="1"/>
            <a:r>
              <a:rPr>
                <a:latin typeface="Courier"/>
              </a:rPr>
              <a:t>Endemics</a:t>
            </a:r>
          </a:p>
          <a:p>
            <a:pPr lvl="1"/>
            <a:r>
              <a:rPr/>
              <a:t>Number of endemic species (count data)</a:t>
            </a:r>
          </a:p>
          <a:p>
            <a:pPr lvl="1"/>
            <a:r>
              <a:rPr>
                <a:latin typeface="Courier"/>
              </a:rPr>
              <a:t>Area</a:t>
            </a:r>
          </a:p>
          <a:p>
            <a:pPr lvl="1"/>
            <a:r>
              <a:rPr/>
              <a:t>Island area (km²)</a:t>
            </a:r>
          </a:p>
          <a:p>
            <a:pPr lvl="1"/>
            <a:r>
              <a:rPr>
                <a:latin typeface="Courier"/>
              </a:rPr>
              <a:t>Elevation</a:t>
            </a:r>
          </a:p>
          <a:p>
            <a:pPr lvl="1"/>
            <a:r>
              <a:rPr/>
              <a:t>Maximum elevation (m)</a:t>
            </a:r>
          </a:p>
          <a:p>
            <a:pPr lvl="1"/>
            <a:r>
              <a:rPr>
                <a:latin typeface="Courier"/>
              </a:rPr>
              <a:t>Nearest</a:t>
            </a:r>
          </a:p>
          <a:p>
            <a:pPr lvl="1"/>
            <a:r>
              <a:rPr/>
              <a:t>Distance to nearest island (km)</a:t>
            </a:r>
          </a:p>
          <a:p>
            <a:pPr lvl="1"/>
            <a:r>
              <a:rPr>
                <a:latin typeface="Courier"/>
              </a:rPr>
              <a:t>Scruz</a:t>
            </a:r>
            <a:r>
              <a:rPr/>
              <a:t> - Distance to Santa Cruz island (km)</a:t>
            </a:r>
          </a:p>
          <a:p>
            <a:pPr lvl="1"/>
            <a:r>
              <a:rPr>
                <a:latin typeface="Courier"/>
              </a:rPr>
              <a:t>Adjacent</a:t>
            </a:r>
            <a:r>
              <a:rPr/>
              <a:t> - Area of adjacent island (km²)</a:t>
            </a:r>
          </a:p>
          <a:p>
            <a:pPr lvl="0" indent="0" marL="0">
              <a:buNone/>
            </a:pPr>
            <a:r>
              <a:rPr/>
              <a:t>We’ll use this dataset throughout to demonstrate different GLM types with biologically meaningful examples.</a:t>
            </a:r>
          </a:p>
          <a:p>
            <a:pPr lvl="0" indent="0">
              <a:buNone/>
            </a:pPr>
            <a:r>
              <a:rPr>
                <a:latin typeface="Courier"/>
              </a:rPr>
              <a:t>##              Species Endemics  Area Elevation Nearest size_category
## Baltra            58       23 25.09       346     0.6        Medium
## Bartolome         31       21  1.24       109     0.6        Medium
## Caldwell           3        3  0.21       114     2.8         Small
## Champion          25        9  0.10        46     1.9         Small
## Coamano            2        1  0.05        77     1.9         Small
## Daphne.Major      18       11  0.34       119     8.0         Small
## Daphne.Minor      24        0  0.08        93     6.0         Small
## Darwin            10        7  2.33       168    34.1        Medium
## Eden               8        4  0.03        71     0.4         Small
## Enderby            2        2  0.18       112     2.6         Small</a:t>
            </a:r>
          </a:p>
        </p:txBody>
      </p:sp>
      <p:sp>
        <p:nvSpPr>
          <p:cNvPr id="5" name="Text Placeholder 4"/>
          <p:cNvSpPr>
            <a:spLocks noGrp="1"/>
          </p:cNvSpPr>
          <p:nvPr>
            <p:ph idx="3" sz="quarter" type="body"/>
          </p:nvPr>
        </p:nvSpPr>
        <p:spPr/>
        <p:txBody>
          <a:bodyPr/>
          <a:lstStyle/>
          <a:p>
            <a:pPr lvl="0" indent="0" marL="0">
              <a:buNone/>
            </a:pPr>
            <a:r>
              <a:rPr/>
              <a:t>Let’s look at the summary of our Gaussian GLM:</a:t>
            </a:r>
          </a:p>
        </p:txBody>
      </p:sp>
      <p:pic>
        <p:nvPicPr>
          <p:cNvPr descr="14_01_lecture_powerpoint_files/figure-pptx/summary-gaussian_2-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(Normal) Distribution: Setup</a:t>
            </a:r>
          </a:p>
        </p:txBody>
      </p:sp>
      <p:sp>
        <p:nvSpPr>
          <p:cNvPr id="3" name="Text Placeholder 2"/>
          <p:cNvSpPr>
            <a:spLocks noGrp="1"/>
          </p:cNvSpPr>
          <p:nvPr>
            <p:ph idx="1" type="body"/>
          </p:nvPr>
        </p:nvSpPr>
        <p:spPr/>
        <p:txBody>
          <a:bodyPr/>
          <a:lstStyle/>
          <a:p>
            <a:pPr lvl="0" indent="0" marL="0">
              <a:buNone/>
            </a:pPr>
            <a:r>
              <a:rPr/>
              <a:t>The simplest form of GLM uses a normal (Gaussian) distribution with an identity link function. This is equivalent to standard linear regression.</a:t>
            </a:r>
          </a:p>
          <a:p>
            <a:pPr lvl="0" indent="0" marL="0">
              <a:buNone/>
            </a:pPr>
            <a:r>
              <a:rPr/>
              <a:t>Let’s compare a standard linear model and a Gaussian GLM using the Galapagos dataset, modeling endemic species richness by island size category.</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1041400"/>
                <a:gridCol w="749300"/>
                <a:gridCol w="1511300"/>
                <a:gridCol w="1130300"/>
              </a:tblGrid>
              <a:tr h="0">
                <a:tc>
                  <a:txBody>
                    <a:bodyPr/>
                    <a:lstStyle/>
                    <a:p>
                      <a:pPr lvl="0" indent="0" marL="0">
                        <a:buNone/>
                      </a:pPr>
                      <a:r>
                        <a:rPr/>
                        <a:t>Endemics</a:t>
                      </a:r>
                    </a:p>
                  </a:txBody>
                  <a:tcPr/>
                </a:tc>
                <a:tc>
                  <a:txBody>
                    <a:bodyPr/>
                    <a:lstStyle/>
                    <a:p>
                      <a:pPr lvl="0" indent="0" marL="0">
                        <a:buNone/>
                      </a:pPr>
                      <a:r>
                        <a:rPr/>
                        <a:t>Area</a:t>
                      </a:r>
                    </a:p>
                  </a:txBody>
                  <a:tcPr/>
                </a:tc>
                <a:tc>
                  <a:txBody>
                    <a:bodyPr/>
                    <a:lstStyle/>
                    <a:p>
                      <a:pPr lvl="0" indent="0" marL="0">
                        <a:buNone/>
                      </a:pPr>
                      <a:r>
                        <a:rPr/>
                        <a:t>size_category</a:t>
                      </a:r>
                    </a:p>
                  </a:txBody>
                  <a:tcPr/>
                </a:tc>
                <a:tc>
                  <a:txBody>
                    <a:bodyPr/>
                    <a:lstStyle/>
                    <a:p>
                      <a:pPr lvl="0" indent="0" marL="0">
                        <a:buNone/>
                      </a:pPr>
                      <a:r>
                        <a:rPr/>
                        <a:t>Elevation</a:t>
                      </a:r>
                    </a:p>
                  </a:txBody>
                  <a:tcPr/>
                </a:tc>
              </a:tr>
              <a:tr h="0">
                <a:tc>
                  <a:txBody>
                    <a:bodyPr/>
                    <a:lstStyle/>
                    <a:p>
                      <a:pPr lvl="0" indent="0" marL="0">
                        <a:buNone/>
                      </a:pPr>
                      <a:r>
                        <a:rPr/>
                        <a:t>23</a:t>
                      </a:r>
                    </a:p>
                  </a:txBody>
                </a:tc>
                <a:tc>
                  <a:txBody>
                    <a:bodyPr/>
                    <a:lstStyle/>
                    <a:p>
                      <a:pPr lvl="0" indent="0" marL="0">
                        <a:buNone/>
                      </a:pPr>
                      <a:r>
                        <a:rPr/>
                        <a:t>25.09</a:t>
                      </a:r>
                    </a:p>
                  </a:txBody>
                </a:tc>
                <a:tc>
                  <a:txBody>
                    <a:bodyPr/>
                    <a:lstStyle/>
                    <a:p>
                      <a:pPr lvl="0" indent="0" marL="0">
                        <a:buNone/>
                      </a:pPr>
                      <a:r>
                        <a:rPr/>
                        <a:t>Medium</a:t>
                      </a:r>
                    </a:p>
                  </a:txBody>
                </a:tc>
                <a:tc>
                  <a:txBody>
                    <a:bodyPr/>
                    <a:lstStyle/>
                    <a:p>
                      <a:pPr lvl="0" indent="0" marL="0">
                        <a:buNone/>
                      </a:pPr>
                      <a:r>
                        <a:rPr/>
                        <a:t>346</a:t>
                      </a:r>
                    </a:p>
                  </a:txBody>
                </a:tc>
              </a:tr>
              <a:tr h="0">
                <a:tc>
                  <a:txBody>
                    <a:bodyPr/>
                    <a:lstStyle/>
                    <a:p>
                      <a:pPr lvl="0" indent="0" marL="0">
                        <a:buNone/>
                      </a:pPr>
                      <a:r>
                        <a:rPr/>
                        <a:t>21</a:t>
                      </a:r>
                    </a:p>
                  </a:txBody>
                </a:tc>
                <a:tc>
                  <a:txBody>
                    <a:bodyPr/>
                    <a:lstStyle/>
                    <a:p>
                      <a:pPr lvl="0" indent="0" marL="0">
                        <a:buNone/>
                      </a:pPr>
                      <a:r>
                        <a:rPr/>
                        <a:t>1.24</a:t>
                      </a:r>
                    </a:p>
                  </a:txBody>
                </a:tc>
                <a:tc>
                  <a:txBody>
                    <a:bodyPr/>
                    <a:lstStyle/>
                    <a:p>
                      <a:pPr lvl="0" indent="0" marL="0">
                        <a:buNone/>
                      </a:pPr>
                      <a:r>
                        <a:rPr/>
                        <a:t>Medium</a:t>
                      </a:r>
                    </a:p>
                  </a:txBody>
                </a:tc>
                <a:tc>
                  <a:txBody>
                    <a:bodyPr/>
                    <a:lstStyle/>
                    <a:p>
                      <a:pPr lvl="0" indent="0" marL="0">
                        <a:buNone/>
                      </a:pPr>
                      <a:r>
                        <a:rPr/>
                        <a:t>109</a:t>
                      </a:r>
                    </a:p>
                  </a:txBody>
                </a:tc>
              </a:tr>
              <a:tr h="0">
                <a:tc>
                  <a:txBody>
                    <a:bodyPr/>
                    <a:lstStyle/>
                    <a:p>
                      <a:pPr lvl="0" indent="0" marL="0">
                        <a:buNone/>
                      </a:pPr>
                      <a:r>
                        <a:rPr/>
                        <a:t>3</a:t>
                      </a:r>
                    </a:p>
                  </a:txBody>
                </a:tc>
                <a:tc>
                  <a:txBody>
                    <a:bodyPr/>
                    <a:lstStyle/>
                    <a:p>
                      <a:pPr lvl="0" indent="0" marL="0">
                        <a:buNone/>
                      </a:pPr>
                      <a:r>
                        <a:rPr/>
                        <a:t>0.21</a:t>
                      </a:r>
                    </a:p>
                  </a:txBody>
                </a:tc>
                <a:tc>
                  <a:txBody>
                    <a:bodyPr/>
                    <a:lstStyle/>
                    <a:p>
                      <a:pPr lvl="0" indent="0" marL="0">
                        <a:buNone/>
                      </a:pPr>
                      <a:r>
                        <a:rPr/>
                        <a:t>Small</a:t>
                      </a:r>
                    </a:p>
                  </a:txBody>
                </a:tc>
                <a:tc>
                  <a:txBody>
                    <a:bodyPr/>
                    <a:lstStyle/>
                    <a:p>
                      <a:pPr lvl="0" indent="0" marL="0">
                        <a:buNone/>
                      </a:pPr>
                      <a:r>
                        <a:rPr/>
                        <a:t>114</a:t>
                      </a:r>
                    </a:p>
                  </a:txBody>
                </a:tc>
              </a:tr>
              <a:tr h="0">
                <a:tc>
                  <a:txBody>
                    <a:bodyPr/>
                    <a:lstStyle/>
                    <a:p>
                      <a:pPr lvl="0" indent="0" marL="0">
                        <a:buNone/>
                      </a:pPr>
                      <a:r>
                        <a:rPr/>
                        <a:t>9</a:t>
                      </a:r>
                    </a:p>
                  </a:txBody>
                </a:tc>
                <a:tc>
                  <a:txBody>
                    <a:bodyPr/>
                    <a:lstStyle/>
                    <a:p>
                      <a:pPr lvl="0" indent="0" marL="0">
                        <a:buNone/>
                      </a:pPr>
                      <a:r>
                        <a:rPr/>
                        <a:t>0.10</a:t>
                      </a:r>
                    </a:p>
                  </a:txBody>
                </a:tc>
                <a:tc>
                  <a:txBody>
                    <a:bodyPr/>
                    <a:lstStyle/>
                    <a:p>
                      <a:pPr lvl="0" indent="0" marL="0">
                        <a:buNone/>
                      </a:pPr>
                      <a:r>
                        <a:rPr/>
                        <a:t>Small</a:t>
                      </a:r>
                    </a:p>
                  </a:txBody>
                </a:tc>
                <a:tc>
                  <a:txBody>
                    <a:bodyPr/>
                    <a:lstStyle/>
                    <a:p>
                      <a:pPr lvl="0" indent="0" marL="0">
                        <a:buNone/>
                      </a:pPr>
                      <a:r>
                        <a:rPr/>
                        <a:t>46</a:t>
                      </a:r>
                    </a:p>
                  </a:txBody>
                </a:tc>
              </a:tr>
              <a:tr h="0">
                <a:tc>
                  <a:txBody>
                    <a:bodyPr/>
                    <a:lstStyle/>
                    <a:p>
                      <a:pPr lvl="0" indent="0" marL="0">
                        <a:buNone/>
                      </a:pPr>
                      <a:r>
                        <a:rPr/>
                        <a:t>1</a:t>
                      </a:r>
                    </a:p>
                  </a:txBody>
                </a:tc>
                <a:tc>
                  <a:txBody>
                    <a:bodyPr/>
                    <a:lstStyle/>
                    <a:p>
                      <a:pPr lvl="0" indent="0" marL="0">
                        <a:buNone/>
                      </a:pPr>
                      <a:r>
                        <a:rPr/>
                        <a:t>0.05</a:t>
                      </a:r>
                    </a:p>
                  </a:txBody>
                </a:tc>
                <a:tc>
                  <a:txBody>
                    <a:bodyPr/>
                    <a:lstStyle/>
                    <a:p>
                      <a:pPr lvl="0" indent="0" marL="0">
                        <a:buNone/>
                      </a:pPr>
                      <a:r>
                        <a:rPr/>
                        <a:t>Small</a:t>
                      </a:r>
                    </a:p>
                  </a:txBody>
                </a:tc>
                <a:tc>
                  <a:txBody>
                    <a:bodyPr/>
                    <a:lstStyle/>
                    <a:p>
                      <a:pPr lvl="0" indent="0" marL="0">
                        <a:buNone/>
                      </a:pPr>
                      <a:r>
                        <a:rPr/>
                        <a:t>77</a:t>
                      </a:r>
                    </a:p>
                  </a:txBody>
                </a:tc>
              </a:tr>
              <a:tr h="0">
                <a:tc>
                  <a:txBody>
                    <a:bodyPr/>
                    <a:lstStyle/>
                    <a:p>
                      <a:pPr lvl="0" indent="0" marL="0">
                        <a:buNone/>
                      </a:pPr>
                      <a:r>
                        <a:rPr/>
                        <a:t>11</a:t>
                      </a:r>
                    </a:p>
                  </a:txBody>
                </a:tc>
                <a:tc>
                  <a:txBody>
                    <a:bodyPr/>
                    <a:lstStyle/>
                    <a:p>
                      <a:pPr lvl="0" indent="0" marL="0">
                        <a:buNone/>
                      </a:pPr>
                      <a:r>
                        <a:rPr/>
                        <a:t>0.34</a:t>
                      </a:r>
                    </a:p>
                  </a:txBody>
                </a:tc>
                <a:tc>
                  <a:txBody>
                    <a:bodyPr/>
                    <a:lstStyle/>
                    <a:p>
                      <a:pPr lvl="0" indent="0" marL="0">
                        <a:buNone/>
                      </a:pPr>
                      <a:r>
                        <a:rPr/>
                        <a:t>Small</a:t>
                      </a:r>
                    </a:p>
                  </a:txBody>
                </a:tc>
                <a:tc>
                  <a:txBody>
                    <a:bodyPr/>
                    <a:lstStyle/>
                    <a:p>
                      <a:pPr lvl="0" indent="0" marL="0">
                        <a:buNone/>
                      </a:pPr>
                      <a:r>
                        <a:rPr/>
                        <a:t>119</a:t>
                      </a:r>
                    </a:p>
                  </a:txBody>
                </a:tc>
              </a:tr>
              <a:tr h="0">
                <a:tc>
                  <a:txBody>
                    <a:bodyPr/>
                    <a:lstStyle/>
                    <a:p>
                      <a:pPr lvl="0" indent="0" marL="0">
                        <a:buNone/>
                      </a:pPr>
                      <a:r>
                        <a:rPr/>
                        <a:t>0</a:t>
                      </a:r>
                    </a:p>
                  </a:txBody>
                </a:tc>
                <a:tc>
                  <a:txBody>
                    <a:bodyPr/>
                    <a:lstStyle/>
                    <a:p>
                      <a:pPr lvl="0" indent="0" marL="0">
                        <a:buNone/>
                      </a:pPr>
                      <a:r>
                        <a:rPr/>
                        <a:t>0.08</a:t>
                      </a:r>
                    </a:p>
                  </a:txBody>
                </a:tc>
                <a:tc>
                  <a:txBody>
                    <a:bodyPr/>
                    <a:lstStyle/>
                    <a:p>
                      <a:pPr lvl="0" indent="0" marL="0">
                        <a:buNone/>
                      </a:pPr>
                      <a:r>
                        <a:rPr/>
                        <a:t>Small</a:t>
                      </a:r>
                    </a:p>
                  </a:txBody>
                </a:tc>
                <a:tc>
                  <a:txBody>
                    <a:bodyPr/>
                    <a:lstStyle/>
                    <a:p>
                      <a:pPr lvl="0" indent="0" marL="0">
                        <a:buNone/>
                      </a:pPr>
                      <a:r>
                        <a:rPr/>
                        <a:t>93</a:t>
                      </a:r>
                    </a:p>
                  </a:txBody>
                </a:tc>
              </a:tr>
              <a:tr h="0">
                <a:tc>
                  <a:txBody>
                    <a:bodyPr/>
                    <a:lstStyle/>
                    <a:p>
                      <a:pPr lvl="0" indent="0" marL="0">
                        <a:buNone/>
                      </a:pPr>
                      <a:r>
                        <a:rPr/>
                        <a:t>7</a:t>
                      </a:r>
                    </a:p>
                  </a:txBody>
                </a:tc>
                <a:tc>
                  <a:txBody>
                    <a:bodyPr/>
                    <a:lstStyle/>
                    <a:p>
                      <a:pPr lvl="0" indent="0" marL="0">
                        <a:buNone/>
                      </a:pPr>
                      <a:r>
                        <a:rPr/>
                        <a:t>2.33</a:t>
                      </a:r>
                    </a:p>
                  </a:txBody>
                </a:tc>
                <a:tc>
                  <a:txBody>
                    <a:bodyPr/>
                    <a:lstStyle/>
                    <a:p>
                      <a:pPr lvl="0" indent="0" marL="0">
                        <a:buNone/>
                      </a:pPr>
                      <a:r>
                        <a:rPr/>
                        <a:t>Medium</a:t>
                      </a:r>
                    </a:p>
                  </a:txBody>
                </a:tc>
                <a:tc>
                  <a:txBody>
                    <a:bodyPr/>
                    <a:lstStyle/>
                    <a:p>
                      <a:pPr lvl="0" indent="0" marL="0">
                        <a:buNone/>
                      </a:pPr>
                      <a:r>
                        <a:rPr/>
                        <a:t>168</a:t>
                      </a:r>
                    </a:p>
                  </a:txBody>
                </a:tc>
              </a:tr>
            </a:tbl>
          </a:graphicData>
        </a:graphic>
      </p:graphicFrame>
      <p:sp>
        <p:nvSpPr>
          <p:cNvPr id="5" name="Text Placeholder 4"/>
          <p:cNvSpPr>
            <a:spLocks noGrp="1"/>
          </p:cNvSpPr>
          <p:nvPr>
            <p:ph idx="3" sz="quarter" type="body"/>
          </p:nvPr>
        </p:nvSpPr>
        <p:spPr/>
        <p:txBody>
          <a:bodyPr/>
          <a:lstStyle/>
          <a:p>
            <a:pPr lvl="0" indent="0" marL="0">
              <a:buNone/>
            </a:pPr>
            <a:r>
              <a:rPr/>
              <a:t>Let’s visualize endemic species by island size:</a:t>
            </a:r>
          </a:p>
        </p:txBody>
      </p:sp>
      <p:pic>
        <p:nvPicPr>
          <p:cNvPr descr="14_01_lecture_powerpoint_files/figure-pptx/summarygaussian_2a-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Gaussian (Normal) Distribution: Setup</a:t>
            </a:r>
          </a:p>
        </p:txBody>
      </p:sp>
      <p:sp>
        <p:nvSpPr>
          <p:cNvPr id="3" name="Content Placeholder 2"/>
          <p:cNvSpPr>
            <a:spLocks noGrp="1"/>
          </p:cNvSpPr>
          <p:nvPr>
            <p:ph idx="1" sz="half"/>
          </p:nvPr>
        </p:nvSpPr>
        <p:spPr/>
        <p:txBody>
          <a:bodyPr/>
          <a:lstStyle/>
          <a:p>
            <a:pPr lvl="0" indent="0" marL="0">
              <a:buNone/>
            </a:pPr>
            <a:r>
              <a:rPr/>
              <a:t>The simplest form of GLM uses a normal (Gaussian) distribution with an identity link function. This is equivalent to standard linear regression.</a:t>
            </a:r>
          </a:p>
          <a:p>
            <a:pPr lvl="0" indent="0" marL="0">
              <a:buNone/>
            </a:pPr>
            <a:r>
              <a:rPr/>
              <a:t>Let’s compare a standard linear model and a Gaussian GLM using the Galapagos dataset, modeling endemic species richness by island size category.</a:t>
            </a:r>
          </a:p>
          <a:p>
            <a:pPr lvl="0" indent="0">
              <a:buNone/>
            </a:pPr>
            <a:r>
              <a:rPr>
                <a:latin typeface="Courier"/>
              </a:rPr>
              <a:t>## 
## Call:
## lm(formula = Endemics ~ size_category, data = gala)
## 
## Residuals:
##     Min      1Q  Median      3Q     Max 
## -42.857  -4.386  -0.762   6.940  29.143 
## 
## Coefficients:
##                     Estimate Std. Error t value Pr(&gt;|t|)    
## (Intercept)            5.636      4.402    1.28   0.2113    
## size_categoryMedium   16.030      6.095    2.63   0.0139 *  
## size_categoryLarge    60.221      7.059    8.53 3.82e-09 ***
## ---
## Signif. codes:  0 '***' 0.001 '**' 0.01 '*' 0.05 '.' 0.1 ' ' 1
## 
## Residual standard error: 14.6 on 27 degrees of freedom
## Multiple R-squared:  0.7343, Adjusted R-squared:  0.7146 
## F-statistic: 37.31 on 2 and 27 DF,  p-value: 1.697e-08</a:t>
            </a:r>
          </a:p>
        </p:txBody>
      </p:sp>
      <p:sp>
        <p:nvSpPr>
          <p:cNvPr id="4" name="Content Placeholder 3"/>
          <p:cNvSpPr>
            <a:spLocks noGrp="1"/>
          </p:cNvSpPr>
          <p:nvPr>
            <p:ph idx="2" sz="half"/>
          </p:nvPr>
        </p:nvSpPr>
        <p:spPr/>
        <p:txBody>
          <a:bodyPr/>
          <a:lstStyle/>
          <a:p>
            <a:pPr lvl="0" indent="0" marL="0">
              <a:buNone/>
            </a:pPr>
            <a:r>
              <a:rPr/>
              <a:t>Let’s look at the summary of our Gaussian GLM:</a:t>
            </a:r>
          </a:p>
          <a:p>
            <a:pPr lvl="0" indent="0">
              <a:buNone/>
            </a:pPr>
            <a:r>
              <a:rPr>
                <a:latin typeface="Courier"/>
              </a:rPr>
              <a:t>## 
## Call:
## glm(formula = Endemics ~ size_category, family = gaussian(link = "identity"), 
##     data = gala)
## 
## Coefficients:
##                     Estimate Std. Error t value Pr(&gt;|t|)    
## (Intercept)            5.636      4.402    1.28   0.2113    
## size_categoryMedium   16.030      6.095    2.63   0.0139 *  
## size_categoryLarge    60.221      7.059    8.53 3.82e-09 ***
## ---
## Signif. codes:  0 '***' 0.001 '**' 0.01 '*' 0.05 '.' 0.1 ' ' 1
## 
## (Dispersion parameter for gaussian family taken to be 213.1878)
## 
##     Null deviance: 21662.7  on 29  degrees of freedom
## Residual deviance:  5756.1  on 27  degrees of freedom
## AIC: 250.84
## 
## Number of Fisher Scoring iterations: 2</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Distribution: Analysis</a:t>
            </a:r>
          </a:p>
        </p:txBody>
      </p:sp>
      <p:sp>
        <p:nvSpPr>
          <p:cNvPr id="3" name="Text Placeholder 2"/>
          <p:cNvSpPr>
            <a:spLocks noGrp="1"/>
          </p:cNvSpPr>
          <p:nvPr>
            <p:ph idx="1" type="body"/>
          </p:nvPr>
        </p:nvSpPr>
        <p:spPr/>
        <p:txBody>
          <a:bodyPr/>
          <a:lstStyle/>
          <a:p>
            <a:pPr lvl="0" indent="0" marL="0">
              <a:buNone/>
            </a:pPr>
            <a:r>
              <a:rPr/>
              <a:t>Now let’s perform an ANOVA on our LM and GLM model using the </a:t>
            </a:r>
            <a:r>
              <a:rPr>
                <a:latin typeface="Courier"/>
              </a:rPr>
              <a:t>car</a:t>
            </a:r>
            <a:r>
              <a:rPr/>
              <a:t> package:</a:t>
            </a:r>
          </a:p>
          <a:p>
            <a:pPr lvl="0" indent="0">
              <a:buNone/>
            </a:pPr>
            <a:r>
              <a:rPr>
                <a:solidFill>
                  <a:srgbClr val="4758AB"/>
                </a:solidFill>
                <a:latin typeface="Courier"/>
              </a:rPr>
              <a:t>Anova</a:t>
            </a:r>
            <a:r>
              <a:rPr>
                <a:solidFill>
                  <a:srgbClr val="003B4F"/>
                </a:solidFill>
                <a:latin typeface="Courier"/>
              </a:rPr>
              <a:t>(model_lm,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20794D"/>
                </a:solidFill>
                <a:latin typeface="Courier"/>
              </a:rPr>
              <a:t>"F"</a:t>
            </a:r>
            <a:r>
              <a:rPr>
                <a:solidFill>
                  <a:srgbClr val="003B4F"/>
                </a:solidFill>
                <a:latin typeface="Courier"/>
              </a:rPr>
              <a:t>)</a:t>
            </a:r>
            <a:br/>
            <a:r>
              <a:rPr i="1">
                <a:solidFill>
                  <a:srgbClr val="5E5E5E"/>
                </a:solidFill>
                <a:latin typeface="Courier"/>
              </a:rPr>
              <a:t>## Anova Table (Type III tests)</a:t>
            </a:r>
            <a:br/>
            <a:r>
              <a:rPr i="1">
                <a:solidFill>
                  <a:srgbClr val="5E5E5E"/>
                </a:solidFill>
                <a:latin typeface="Courier"/>
              </a:rPr>
              <a:t>## </a:t>
            </a:r>
            <a:br/>
            <a:r>
              <a:rPr i="1">
                <a:solidFill>
                  <a:srgbClr val="5E5E5E"/>
                </a:solidFill>
                <a:latin typeface="Courier"/>
              </a:rPr>
              <a:t>## Response: Endemics</a:t>
            </a:r>
            <a:br/>
            <a:r>
              <a:rPr i="1">
                <a:solidFill>
                  <a:srgbClr val="5E5E5E"/>
                </a:solidFill>
                <a:latin typeface="Courier"/>
              </a:rPr>
              <a:t>##                Sum Sq Df F value    Pr(&gt;F)    </a:t>
            </a:r>
            <a:br/>
            <a:r>
              <a:rPr i="1">
                <a:solidFill>
                  <a:srgbClr val="5E5E5E"/>
                </a:solidFill>
                <a:latin typeface="Courier"/>
              </a:rPr>
              <a:t>## (Intercept)     349.5  1  1.6392    0.2113    </a:t>
            </a:r>
            <a:br/>
            <a:r>
              <a:rPr i="1">
                <a:solidFill>
                  <a:srgbClr val="5E5E5E"/>
                </a:solidFill>
                <a:latin typeface="Courier"/>
              </a:rPr>
              <a:t>## size_category 15906.6  2 37.3066 1.697e-08 ***</a:t>
            </a:r>
            <a:br/>
            <a:r>
              <a:rPr i="1">
                <a:solidFill>
                  <a:srgbClr val="5E5E5E"/>
                </a:solidFill>
                <a:latin typeface="Courier"/>
              </a:rPr>
              <a:t>## Residuals      5756.1 27                      </a:t>
            </a:r>
            <a:br/>
            <a:r>
              <a:rPr i="1">
                <a:solidFill>
                  <a:srgbClr val="5E5E5E"/>
                </a:solidFill>
                <a:latin typeface="Courier"/>
              </a:rPr>
              <a:t>## ---</a:t>
            </a:r>
            <a:br/>
            <a:r>
              <a:rPr i="1">
                <a:solidFill>
                  <a:srgbClr val="5E5E5E"/>
                </a:solidFill>
                <a:latin typeface="Courier"/>
              </a:rPr>
              <a:t>## Signif. codes:  0 '***' 0.001 '**' 0.01 '*' 0.05 '.' 0.1 ' ' 1</a:t>
            </a:r>
            <a:br/>
            <a:r>
              <a:rPr>
                <a:solidFill>
                  <a:srgbClr val="4758AB"/>
                </a:solidFill>
                <a:latin typeface="Courier"/>
              </a:rPr>
              <a:t>Anova</a:t>
            </a:r>
            <a:r>
              <a:rPr>
                <a:solidFill>
                  <a:srgbClr val="003B4F"/>
                </a:solidFill>
                <a:latin typeface="Courier"/>
              </a:rPr>
              <a:t>(model_gaussian,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20794D"/>
                </a:solidFill>
                <a:latin typeface="Courier"/>
              </a:rPr>
              <a:t>"F"</a:t>
            </a:r>
            <a:r>
              <a:rPr>
                <a:solidFill>
                  <a:srgbClr val="003B4F"/>
                </a:solidFill>
                <a:latin typeface="Courier"/>
              </a:rPr>
              <a:t>)</a:t>
            </a:r>
            <a:br/>
            <a:r>
              <a:rPr i="1">
                <a:solidFill>
                  <a:srgbClr val="5E5E5E"/>
                </a:solidFill>
                <a:latin typeface="Courier"/>
              </a:rPr>
              <a:t>## Analysis of Deviance Table (Type III tests)</a:t>
            </a:r>
            <a:br/>
            <a:r>
              <a:rPr i="1">
                <a:solidFill>
                  <a:srgbClr val="5E5E5E"/>
                </a:solidFill>
                <a:latin typeface="Courier"/>
              </a:rPr>
              <a:t>## </a:t>
            </a:r>
            <a:br/>
            <a:r>
              <a:rPr i="1">
                <a:solidFill>
                  <a:srgbClr val="5E5E5E"/>
                </a:solidFill>
                <a:latin typeface="Courier"/>
              </a:rPr>
              <a:t>## Response: Endemics</a:t>
            </a:r>
            <a:br/>
            <a:r>
              <a:rPr i="1">
                <a:solidFill>
                  <a:srgbClr val="5E5E5E"/>
                </a:solidFill>
                <a:latin typeface="Courier"/>
              </a:rPr>
              <a:t>## Error estimate based on Pearson residuals </a:t>
            </a:r>
            <a:br/>
            <a:r>
              <a:rPr i="1">
                <a:solidFill>
                  <a:srgbClr val="5E5E5E"/>
                </a:solidFill>
                <a:latin typeface="Courier"/>
              </a:rPr>
              <a:t>## </a:t>
            </a:r>
            <a:br/>
            <a:r>
              <a:rPr i="1">
                <a:solidFill>
                  <a:srgbClr val="5E5E5E"/>
                </a:solidFill>
                <a:latin typeface="Courier"/>
              </a:rPr>
              <a:t>##                Sum Sq Df F values    Pr(&gt;F)    </a:t>
            </a:r>
            <a:br/>
            <a:r>
              <a:rPr i="1">
                <a:solidFill>
                  <a:srgbClr val="5E5E5E"/>
                </a:solidFill>
                <a:latin typeface="Courier"/>
              </a:rPr>
              <a:t>## size_category 15906.6  2   37.307 1.697e-08 ***</a:t>
            </a:r>
            <a:br/>
            <a:r>
              <a:rPr i="1">
                <a:solidFill>
                  <a:srgbClr val="5E5E5E"/>
                </a:solidFill>
                <a:latin typeface="Courier"/>
              </a:rPr>
              <a:t>## Residuals      5756.1 27                       </a:t>
            </a:r>
            <a:br/>
            <a:r>
              <a:rPr i="1">
                <a:solidFill>
                  <a:srgbClr val="5E5E5E"/>
                </a:solidFill>
                <a:latin typeface="Courier"/>
              </a:rPr>
              <a:t>## ---</a:t>
            </a:r>
            <a:br/>
            <a:r>
              <a:rPr i="1">
                <a:solidFill>
                  <a:srgbClr val="5E5E5E"/>
                </a:solidFill>
                <a:latin typeface="Courier"/>
              </a:rPr>
              <a:t>## Signif. codes:  0 '***' 0.001 '**' 0.01 '*' 0.05 '.' 0.1 ' ' 1</a:t>
            </a:r>
          </a:p>
        </p:txBody>
      </p:sp>
      <p:sp>
        <p:nvSpPr>
          <p:cNvPr id="5" name="Text Placeholder 4"/>
          <p:cNvSpPr>
            <a:spLocks noGrp="1"/>
          </p:cNvSpPr>
          <p:nvPr>
            <p:ph idx="3" sz="quarter" type="body"/>
          </p:nvPr>
        </p:nvSpPr>
        <p:spPr/>
        <p:txBody>
          <a:bodyPr/>
          <a:lstStyle/>
          <a:p>
            <a:pPr lvl="0" indent="0" marL="0">
              <a:buNone/>
            </a:pPr>
            <a:r>
              <a:rPr/>
              <a:t>Visualizing the results:</a:t>
            </a:r>
          </a:p>
        </p:txBody>
      </p:sp>
      <p:pic>
        <p:nvPicPr>
          <p:cNvPr descr="14_01_lecture_powerpoint_files/figure-pptx/gaussian-plot-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Equivalence of Linear Models and Gaussian GLMs</a:t>
            </a:r>
          </a:p>
        </p:txBody>
      </p:sp>
      <p:sp>
        <p:nvSpPr>
          <p:cNvPr id="3" name="Content Placeholder 2"/>
          <p:cNvSpPr>
            <a:spLocks noGrp="1"/>
          </p:cNvSpPr>
          <p:nvPr>
            <p:ph idx="1"/>
          </p:nvPr>
        </p:nvSpPr>
        <p:spPr/>
        <p:txBody>
          <a:bodyPr/>
          <a:lstStyle/>
          <a:p>
            <a:pPr lvl="0" indent="0" marL="0">
              <a:spcBef>
                <a:spcPts val="3000"/>
              </a:spcBef>
              <a:buNone/>
            </a:pPr>
            <a:r>
              <a:rPr b="1"/>
              <a:t>Equivalence of Linear Models and Gaussian GLMs</a:t>
            </a:r>
          </a:p>
          <a:p>
            <a:pPr lvl="0" indent="0" marL="0">
              <a:buNone/>
            </a:pPr>
            <a:r>
              <a:rPr/>
              <a:t>When we use a </a:t>
            </a:r>
            <a:r>
              <a:rPr b="1"/>
              <a:t>Gaussian distribution</a:t>
            </a:r>
            <a:r>
              <a:rPr/>
              <a:t> with an </a:t>
            </a:r>
            <a:r>
              <a:rPr b="1"/>
              <a:t>identity link</a:t>
            </a:r>
            <a:r>
              <a:rPr/>
              <a:t>, GLM gives identical results to standard linear regression. This can be seen in the coefficient values and overall model statistics.</a:t>
            </a:r>
          </a:p>
          <a:p>
            <a:pPr lvl="0" indent="0" marL="0">
              <a:buNone/>
            </a:pPr>
            <a:r>
              <a:rPr/>
              <a:t>The key difference is that GLMs provide a framework that extends to non-normal distributions.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a:r>
              <a:rPr b="1"/>
              <a:t>Poisson GLMs</a:t>
            </a:r>
            <a:r>
              <a:rPr/>
              <a:t> Poisson model used when response variable is </a:t>
            </a:r>
            <a:r>
              <a:rPr b="1"/>
              <a:t>count data</a:t>
            </a:r>
            <a:r>
              <a:rPr/>
              <a:t>:</a:t>
            </a:r>
          </a:p>
          <a:p>
            <a:pPr lvl="1"/>
            <a:r>
              <a:rPr/>
              <a:t>Number of species on an island</a:t>
            </a:r>
          </a:p>
          <a:p>
            <a:pPr lvl="1"/>
            <a:r>
              <a:rPr/>
              <a:t>Number of parasites in a host</a:t>
            </a:r>
          </a:p>
          <a:p>
            <a:pPr lvl="1"/>
            <a:r>
              <a:rPr/>
              <a:t>Number of bird nests in a plot</a:t>
            </a:r>
          </a:p>
          <a:p>
            <a:pPr lvl="1"/>
            <a:r>
              <a:rPr/>
              <a:t>Number of seeds produced by a plant</a:t>
            </a:r>
          </a:p>
          <a:p>
            <a:pPr lvl="0"/>
            <a:r>
              <a:rPr/>
              <a:t>The Poisson distribution assumes:</a:t>
            </a:r>
          </a:p>
          <a:p>
            <a:pPr lvl="1"/>
            <a:r>
              <a:rPr/>
              <a:t>Counts are non-negative integers (0, 1, 2, 3, …)</a:t>
            </a:r>
          </a:p>
          <a:p>
            <a:pPr lvl="1"/>
            <a:r>
              <a:rPr/>
              <a:t>The mean equals the variance</a:t>
            </a:r>
          </a:p>
          <a:p>
            <a:pPr lvl="1"/>
            <a:r>
              <a:rPr/>
              <a:t>Events occur independently</a:t>
            </a:r>
          </a:p>
          <a:p>
            <a:pPr lvl="0"/>
            <a:r>
              <a:rPr b="1"/>
              <a:t>Key consideration:</a:t>
            </a:r>
            <a:r>
              <a:rPr/>
              <a:t> If variance &gt; mean (overdispersion), consider negative binomial regression instead.</a:t>
            </a:r>
          </a:p>
          <a:p>
            <a:pPr lvl="0"/>
            <a:r>
              <a:rPr/>
              <a:t>Now let’s fit a Poisson GLM to model the relationship between the rounded quarter-mile time and the number of cylinders:</a:t>
            </a:r>
          </a:p>
          <a:p>
            <a:pPr lvl="0" indent="0" marL="0">
              <a:spcBef>
                <a:spcPts val="3000"/>
              </a:spcBef>
              <a:buNone/>
            </a:pPr>
            <a:r>
              <a:rPr b="1"/>
              <a:t>Fit Poisson GLM with size_category as predictor</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model_poisson_gala &lt;- </a:t>
            </a:r>
            <a:r>
              <a:rPr>
                <a:solidFill>
                  <a:srgbClr val="4758AB"/>
                </a:solidFill>
                <a:latin typeface="Courier"/>
              </a:rPr>
              <a:t>glm</a:t>
            </a:r>
            <a:r>
              <a:rPr>
                <a:solidFill>
                  <a:srgbClr val="003B4F"/>
                </a:solidFill>
                <a:latin typeface="Courier"/>
              </a:rPr>
              <a:t>(Species </a:t>
            </a:r>
            <a:r>
              <a:rPr>
                <a:solidFill>
                  <a:srgbClr val="5E5E5E"/>
                </a:solidFill>
                <a:latin typeface="Courier"/>
              </a:rPr>
              <a:t>~</a:t>
            </a:r>
            <a:r>
              <a:rPr>
                <a:solidFill>
                  <a:srgbClr val="003B4F"/>
                </a:solidFill>
                <a:latin typeface="Courier"/>
              </a:rPr>
              <a:t> size_category, </a:t>
            </a:r>
            <a:br/>
            <a:r>
              <a:rPr>
                <a:solidFill>
                  <a:srgbClr val="003B4F"/>
                </a:solidFill>
                <a:latin typeface="Courier"/>
              </a:rPr>
              <a:t>                          </a:t>
            </a:r>
            <a:r>
              <a:rPr>
                <a:solidFill>
                  <a:srgbClr val="657422"/>
                </a:solidFill>
                <a:latin typeface="Courier"/>
              </a:rPr>
              <a:t>data =</a:t>
            </a:r>
            <a:r>
              <a:rPr>
                <a:solidFill>
                  <a:srgbClr val="003B4F"/>
                </a:solidFill>
                <a:latin typeface="Courier"/>
              </a:rPr>
              <a:t> gala,</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poisson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a:t>
            </a:r>
            <a:br/>
            <a:r>
              <a:rPr>
                <a:solidFill>
                  <a:srgbClr val="4758AB"/>
                </a:solidFill>
                <a:latin typeface="Courier"/>
              </a:rPr>
              <a:t>summary</a:t>
            </a:r>
            <a:r>
              <a:rPr>
                <a:solidFill>
                  <a:srgbClr val="003B4F"/>
                </a:solidFill>
                <a:latin typeface="Courier"/>
              </a:rPr>
              <a:t>(model_poisson_gala)</a:t>
            </a:r>
            <a:br/>
            <a:r>
              <a:rPr i="1">
                <a:solidFill>
                  <a:srgbClr val="5E5E5E"/>
                </a:solidFill>
                <a:latin typeface="Courier"/>
              </a:rPr>
              <a:t>## </a:t>
            </a:r>
            <a:br/>
            <a:r>
              <a:rPr i="1">
                <a:solidFill>
                  <a:srgbClr val="5E5E5E"/>
                </a:solidFill>
                <a:latin typeface="Courier"/>
              </a:rPr>
              <a:t>## Call:</a:t>
            </a:r>
            <a:br/>
            <a:r>
              <a:rPr i="1">
                <a:solidFill>
                  <a:srgbClr val="5E5E5E"/>
                </a:solidFill>
                <a:latin typeface="Courier"/>
              </a:rPr>
              <a:t>## glm(formula = Species ~ size_category, family = poisson(link = "log"), </a:t>
            </a:r>
            <a:br/>
            <a:r>
              <a:rPr i="1">
                <a:solidFill>
                  <a:srgbClr val="5E5E5E"/>
                </a:solidFill>
                <a:latin typeface="Courier"/>
              </a:rPr>
              <a:t>##     data = gala)</a:t>
            </a:r>
            <a:br/>
            <a:r>
              <a:rPr i="1">
                <a:solidFill>
                  <a:srgbClr val="5E5E5E"/>
                </a:solidFill>
                <a:latin typeface="Courier"/>
              </a:rPr>
              <a:t>## </a:t>
            </a:r>
            <a:br/>
            <a:r>
              <a:rPr i="1">
                <a:solidFill>
                  <a:srgbClr val="5E5E5E"/>
                </a:solidFill>
                <a:latin typeface="Courier"/>
              </a:rPr>
              <a:t>## Coefficients:</a:t>
            </a:r>
            <a:br/>
            <a:r>
              <a:rPr i="1">
                <a:solidFill>
                  <a:srgbClr val="5E5E5E"/>
                </a:solidFill>
                <a:latin typeface="Courier"/>
              </a:rPr>
              <a:t>##                     Estimate Std. Error z value Pr(&gt;|z|)    </a:t>
            </a:r>
            <a:br/>
            <a:r>
              <a:rPr i="1">
                <a:solidFill>
                  <a:srgbClr val="5E5E5E"/>
                </a:solidFill>
                <a:latin typeface="Courier"/>
              </a:rPr>
              <a:t>## (Intercept)          2.67101    0.07930   33.68   &lt;2e-16 ***</a:t>
            </a:r>
            <a:br/>
            <a:r>
              <a:rPr i="1">
                <a:solidFill>
                  <a:srgbClr val="5E5E5E"/>
                </a:solidFill>
                <a:latin typeface="Courier"/>
              </a:rPr>
              <a:t>## size_categoryMedium  1.33784    0.08833   15.15   &lt;2e-16 ***</a:t>
            </a:r>
            <a:br/>
            <a:r>
              <a:rPr i="1">
                <a:solidFill>
                  <a:srgbClr val="5E5E5E"/>
                </a:solidFill>
                <a:latin typeface="Courier"/>
              </a:rPr>
              <a:t>## size_categoryLarge   2.84300    0.08285   34.31   &lt;2e-16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(Dispersion parameter for poisson family taken to be 1)</a:t>
            </a:r>
            <a:br/>
            <a:r>
              <a:rPr i="1">
                <a:solidFill>
                  <a:srgbClr val="5E5E5E"/>
                </a:solidFill>
                <a:latin typeface="Courier"/>
              </a:rPr>
              <a:t>## </a:t>
            </a:r>
            <a:br/>
            <a:r>
              <a:rPr i="1">
                <a:solidFill>
                  <a:srgbClr val="5E5E5E"/>
                </a:solidFill>
                <a:latin typeface="Courier"/>
              </a:rPr>
              <a:t>##     Null deviance: 3510.73  on 29  degrees of freedom</a:t>
            </a:r>
            <a:br/>
            <a:r>
              <a:rPr i="1">
                <a:solidFill>
                  <a:srgbClr val="5E5E5E"/>
                </a:solidFill>
                <a:latin typeface="Courier"/>
              </a:rPr>
              <a:t>## Residual deviance:  939.74  on 27  degrees of freedom</a:t>
            </a:r>
            <a:br/>
            <a:r>
              <a:rPr i="1">
                <a:solidFill>
                  <a:srgbClr val="5E5E5E"/>
                </a:solidFill>
                <a:latin typeface="Courier"/>
              </a:rPr>
              <a:t>## AIC: 1106.6</a:t>
            </a:r>
            <a:br/>
            <a:r>
              <a:rPr i="1">
                <a:solidFill>
                  <a:srgbClr val="5E5E5E"/>
                </a:solidFill>
                <a:latin typeface="Courier"/>
              </a:rPr>
              <a:t>## </a:t>
            </a:r>
            <a:br/>
            <a:r>
              <a:rPr i="1">
                <a:solidFill>
                  <a:srgbClr val="5E5E5E"/>
                </a:solidFill>
                <a:latin typeface="Courier"/>
              </a:rPr>
              <a:t>## Number of Fisher Scoring iterations: 5</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indent="0" marL="0">
              <a:buNone/>
            </a:pPr>
            <a:r>
              <a:rPr/>
              <a:t>Does island size category, as a whole, have a statistically significant effect on the number of plant species?</a:t>
            </a:r>
          </a:p>
          <a:p>
            <a:pPr lvl="0"/>
            <a:r>
              <a:rPr>
                <a:latin typeface="Courier"/>
              </a:rPr>
              <a:t>test = "LR"</a:t>
            </a:r>
            <a:r>
              <a:rPr/>
              <a:t>: important part!</a:t>
            </a:r>
          </a:p>
          <a:p>
            <a:pPr lvl="1"/>
            <a:r>
              <a:rPr/>
              <a:t>normal ANOVA (with a Gaussian/normal distribution) test is an F-test.</a:t>
            </a:r>
          </a:p>
          <a:p>
            <a:pPr lvl="1"/>
            <a:r>
              <a:rPr/>
              <a:t>GLM (like Poisson) can’t use F-test in the same way</a:t>
            </a:r>
          </a:p>
          <a:p>
            <a:pPr lvl="2"/>
            <a:r>
              <a:rPr/>
              <a:t>use a Likelihood Ratio (LR) test</a:t>
            </a:r>
          </a:p>
          <a:p>
            <a:pPr lvl="2"/>
            <a:r>
              <a:rPr/>
              <a:t>LR test statistically compares fit of full model (the one with size_category) to simpler null model (one without size_category)</a:t>
            </a:r>
          </a:p>
          <a:p>
            <a:pPr lvl="2"/>
            <a:r>
              <a:rPr/>
              <a:t>LR test tells us if it is significant</a:t>
            </a:r>
          </a:p>
        </p:txBody>
      </p:sp>
      <p:sp>
        <p:nvSpPr>
          <p:cNvPr id="4" name="Content Placeholder 3"/>
          <p:cNvSpPr>
            <a:spLocks noGrp="1"/>
          </p:cNvSpPr>
          <p:nvPr>
            <p:ph idx="2" sz="half"/>
          </p:nvPr>
        </p:nvSpPr>
        <p:spPr/>
        <p:txBody>
          <a:bodyPr/>
          <a:lstStyle/>
          <a:p>
            <a:pPr lvl="0" indent="0" marL="0">
              <a:buNone/>
            </a:pPr>
            <a:r>
              <a:rPr/>
              <a:t>Test overall effect of size_category</a:t>
            </a:r>
          </a:p>
          <a:p>
            <a:pPr lvl="0" indent="0">
              <a:buNone/>
            </a:pPr>
            <a:r>
              <a:rPr>
                <a:solidFill>
                  <a:srgbClr val="4758AB"/>
                </a:solidFill>
                <a:latin typeface="Courier"/>
              </a:rPr>
              <a:t>Anova</a:t>
            </a:r>
            <a:r>
              <a:rPr>
                <a:solidFill>
                  <a:srgbClr val="003B4F"/>
                </a:solidFill>
                <a:latin typeface="Courier"/>
              </a:rPr>
              <a:t>(model_poisson_gala,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20794D"/>
                </a:solidFill>
                <a:latin typeface="Courier"/>
              </a:rPr>
              <a:t>"LR"</a:t>
            </a:r>
            <a:r>
              <a:rPr>
                <a:solidFill>
                  <a:srgbClr val="003B4F"/>
                </a:solidFill>
                <a:latin typeface="Courier"/>
              </a:rPr>
              <a:t>)</a:t>
            </a:r>
            <a:br/>
            <a:r>
              <a:rPr i="1">
                <a:solidFill>
                  <a:srgbClr val="5E5E5E"/>
                </a:solidFill>
                <a:latin typeface="Courier"/>
              </a:rPr>
              <a:t>## Analysis of Deviance Table (Type III tests)</a:t>
            </a:r>
            <a:br/>
            <a:r>
              <a:rPr i="1">
                <a:solidFill>
                  <a:srgbClr val="5E5E5E"/>
                </a:solidFill>
                <a:latin typeface="Courier"/>
              </a:rPr>
              <a:t>## </a:t>
            </a:r>
            <a:br/>
            <a:r>
              <a:rPr i="1">
                <a:solidFill>
                  <a:srgbClr val="5E5E5E"/>
                </a:solidFill>
                <a:latin typeface="Courier"/>
              </a:rPr>
              <a:t>## Response: Species</a:t>
            </a:r>
            <a:br/>
            <a:r>
              <a:rPr i="1">
                <a:solidFill>
                  <a:srgbClr val="5E5E5E"/>
                </a:solidFill>
                <a:latin typeface="Courier"/>
              </a:rPr>
              <a:t>##               LR Chisq Df Pr(&gt;Chisq)    </a:t>
            </a:r>
            <a:br/>
            <a:r>
              <a:rPr i="1">
                <a:solidFill>
                  <a:srgbClr val="5E5E5E"/>
                </a:solidFill>
                <a:latin typeface="Courier"/>
              </a:rPr>
              <a:t>## size_category     2571  2  &lt; 2.2e-16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indent="0" marL="0">
              <a:buNone/>
            </a:pPr>
            <a:r>
              <a:rPr b="1"/>
              <a:t>Poisson GLMs</a:t>
            </a:r>
            <a:r>
              <a:rPr/>
              <a:t> are appropriate for </a:t>
            </a:r>
            <a:r>
              <a:rPr b="1"/>
              <a:t>count data</a:t>
            </a:r>
            <a:r>
              <a:rPr/>
              <a:t>. The Poisson distribution assumes that the variance equals the mean.</a:t>
            </a:r>
          </a:p>
          <a:p>
            <a:pPr lvl="0"/>
            <a:r>
              <a:rPr/>
              <a:t>Use the quarter-mile time (</a:t>
            </a:r>
            <a:r>
              <a:rPr>
                <a:latin typeface="Courier"/>
              </a:rPr>
              <a:t>qsec</a:t>
            </a:r>
            <a:r>
              <a:rPr/>
              <a:t>) from the </a:t>
            </a:r>
            <a:r>
              <a:rPr>
                <a:latin typeface="Courier"/>
              </a:rPr>
              <a:t>mtcars</a:t>
            </a:r>
            <a:r>
              <a:rPr/>
              <a:t> dataset, rounded to create a count-like variable.</a:t>
            </a:r>
          </a:p>
          <a:p>
            <a:pPr lvl="0"/>
            <a:r>
              <a:rPr/>
              <a:t>With the natural log link, coefficients represent </a:t>
            </a:r>
            <a:r>
              <a:rPr b="1"/>
              <a:t>multiplicative effects</a:t>
            </a:r>
            <a:r>
              <a:rPr/>
              <a:t>:</a:t>
            </a:r>
          </a:p>
          <a:p>
            <a:pPr lvl="0"/>
            <a:r>
              <a:rPr/>
              <a:t>A coefficient of β means: for each 1-unit increase in X, the response is multiplied by exp(β)</a:t>
            </a:r>
          </a:p>
          <a:p>
            <a:pPr lvl="0"/>
            <a:r>
              <a:rPr/>
              <a:t>For small β, exp(β) ≈ 1 + β, so β × 100% gives approximate percentage change</a:t>
            </a:r>
          </a:p>
          <a:p>
            <a:pPr lvl="0" indent="0">
              <a:buNone/>
            </a:pPr>
            <a:r>
              <a:rPr>
                <a:latin typeface="Courier"/>
              </a:rPr>
              <a:t>## 
## Call:
## glm(formula = Species ~ size_category, family = poisson(link = "log"), 
##     data = gala)
## 
## Coefficients:
##                     Estimate Std. Error z value Pr(&gt;|z|)    
## (Intercept)          2.67101    0.07930   33.68   &lt;2e-16 ***
## size_categoryMedium  1.33784    0.08833   15.15   &lt;2e-16 ***
## size_categoryLarge   2.84300    0.08285   34.31   &lt;2e-16 ***
## ---
## Signif. codes:  0 '***' 0.001 '**' 0.01 '*' 0.05 '.' 0.1 ' ' 1
## 
## (Dispersion parameter for poisson family taken to be 1)
## 
##     Null deviance: 3510.73  on 29  degrees of freedom
## Residual deviance:  939.74  on 27  degrees of freedom
## AIC: 1106.6
## 
## Number of Fisher Scoring iterations: 5</a:t>
            </a:r>
          </a:p>
        </p:txBody>
      </p:sp>
      <p:sp>
        <p:nvSpPr>
          <p:cNvPr id="4" name="Content Placeholder 3"/>
          <p:cNvSpPr>
            <a:spLocks noGrp="1"/>
          </p:cNvSpPr>
          <p:nvPr>
            <p:ph idx="2" sz="half"/>
          </p:nvPr>
        </p:nvSpPr>
        <p:spPr/>
        <p:txBody>
          <a:bodyPr/>
          <a:lstStyle/>
          <a:p>
            <a:pPr lvl="0"/>
            <a:r>
              <a:rPr/>
              <a:t>Let’s check for overdispersion, which is common in count data:</a:t>
            </a:r>
          </a:p>
          <a:p>
            <a:pPr lvl="0"/>
            <a:r>
              <a:rPr/>
              <a:t>Should be close to 1 for a well-fitting Poisson model</a:t>
            </a:r>
          </a:p>
          <a:p>
            <a:pPr lvl="0"/>
            <a:r>
              <a:rPr/>
              <a:t>If &gt; 1.5, may indicate overdispersion</a:t>
            </a:r>
          </a:p>
          <a:p>
            <a:pPr lvl="1"/>
            <a:r>
              <a:rPr b="1"/>
              <a:t>What is Underdispersion?</a:t>
            </a:r>
          </a:p>
          <a:p>
            <a:pPr lvl="2"/>
            <a:r>
              <a:rPr/>
              <a:t>In a Poisson model, we expect the variance to equal the mean. The dispersion parameter measures the ratio of observed variance to expected variance:</a:t>
            </a:r>
          </a:p>
          <a:p>
            <a:pPr lvl="3"/>
            <a:r>
              <a:rPr b="1"/>
              <a:t>Dispersion ≈ 1</a:t>
            </a:r>
            <a:r>
              <a:rPr/>
              <a:t>: Good fit (variance = mean, as Poisson assumes)</a:t>
            </a:r>
          </a:p>
          <a:p>
            <a:pPr lvl="3"/>
            <a:r>
              <a:rPr b="1"/>
              <a:t>Dispersion &gt; 1</a:t>
            </a:r>
            <a:r>
              <a:rPr/>
              <a:t>: Overdispersion (variance &gt; mean)</a:t>
            </a:r>
          </a:p>
          <a:p>
            <a:pPr lvl="3"/>
            <a:r>
              <a:rPr b="1"/>
              <a:t>Dispersion &lt; 1</a:t>
            </a:r>
            <a:r>
              <a:rPr/>
              <a:t>: </a:t>
            </a:r>
            <a:r>
              <a:rPr b="1"/>
              <a:t>Underdispersion</a:t>
            </a:r>
            <a:r>
              <a:rPr/>
              <a:t> (variance &lt; mean)</a:t>
            </a:r>
          </a:p>
          <a:p>
            <a:pPr lvl="1"/>
            <a:r>
              <a:rPr/>
              <a:t>a dispersion parameter this large is a warning</a:t>
            </a:r>
          </a:p>
          <a:p>
            <a:pPr lvl="1"/>
            <a:r>
              <a:rPr/>
              <a:t>our data more variable than a Poisson model expects</a:t>
            </a:r>
          </a:p>
          <a:p>
            <a:pPr lvl="1"/>
            <a:r>
              <a:rPr/>
              <a:t>use a Negative Binomial model</a:t>
            </a:r>
          </a:p>
          <a:p>
            <a:pPr lvl="0" indent="0">
              <a:buNone/>
            </a:pPr>
            <a:r>
              <a:rPr>
                <a:solidFill>
                  <a:srgbClr val="5E5E5E"/>
                </a:solidFill>
                <a:latin typeface="Courier"/>
              </a:rPr>
              <a:t># Calculate the dispersion parameter</a:t>
            </a:r>
            <a:br/>
            <a:r>
              <a:rPr>
                <a:solidFill>
                  <a:srgbClr val="5E5E5E"/>
                </a:solidFill>
                <a:latin typeface="Courier"/>
              </a:rPr>
              <a:t># (Pearson's Chi-Squared statistic / residual degrees of freedom)</a:t>
            </a:r>
            <a:br/>
            <a:r>
              <a:rPr>
                <a:solidFill>
                  <a:srgbClr val="003B4F"/>
                </a:solidFill>
                <a:latin typeface="Courier"/>
              </a:rPr>
              <a:t>dispersion_gala &lt;- </a:t>
            </a:r>
            <a:r>
              <a:rPr>
                <a:solidFill>
                  <a:srgbClr val="4758AB"/>
                </a:solidFill>
                <a:latin typeface="Courier"/>
              </a:rPr>
              <a:t>sum</a:t>
            </a:r>
            <a:r>
              <a:rPr>
                <a:solidFill>
                  <a:srgbClr val="003B4F"/>
                </a:solidFill>
                <a:latin typeface="Courier"/>
              </a:rPr>
              <a:t>(</a:t>
            </a:r>
            <a:r>
              <a:rPr>
                <a:solidFill>
                  <a:srgbClr val="4758AB"/>
                </a:solidFill>
                <a:latin typeface="Courier"/>
              </a:rPr>
              <a:t>residuals</a:t>
            </a:r>
            <a:r>
              <a:rPr>
                <a:solidFill>
                  <a:srgbClr val="003B4F"/>
                </a:solidFill>
                <a:latin typeface="Courier"/>
              </a:rPr>
              <a:t>(model_poisson_gala,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r>
              <a:rPr>
                <a:solidFill>
                  <a:srgbClr val="5E5E5E"/>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model_poisson_gala</a:t>
            </a:r>
            <a:r>
              <a:rPr>
                <a:solidFill>
                  <a:srgbClr val="5E5E5E"/>
                </a:solidFill>
                <a:latin typeface="Courier"/>
              </a:rPr>
              <a:t>$</a:t>
            </a:r>
            <a:r>
              <a:rPr>
                <a:solidFill>
                  <a:srgbClr val="003B4F"/>
                </a:solidFill>
                <a:latin typeface="Courier"/>
              </a:rPr>
              <a:t>df.residual</a:t>
            </a:r>
            <a:br/>
            <a:br/>
            <a:r>
              <a:rPr>
                <a:solidFill>
                  <a:srgbClr val="5E5E5E"/>
                </a:solidFill>
                <a:latin typeface="Courier"/>
              </a:rPr>
              <a:t># Print dispersion parameter</a:t>
            </a:r>
            <a:br/>
            <a:r>
              <a:rPr>
                <a:solidFill>
                  <a:srgbClr val="4758AB"/>
                </a:solidFill>
                <a:latin typeface="Courier"/>
              </a:rPr>
              <a:t>cat</a:t>
            </a:r>
            <a:r>
              <a:rPr>
                <a:solidFill>
                  <a:srgbClr val="003B4F"/>
                </a:solidFill>
                <a:latin typeface="Courier"/>
              </a:rPr>
              <a:t>(</a:t>
            </a:r>
            <a:r>
              <a:rPr>
                <a:solidFill>
                  <a:srgbClr val="20794D"/>
                </a:solidFill>
                <a:latin typeface="Courier"/>
              </a:rPr>
              <a:t>"Dispersion parameter:"</a:t>
            </a:r>
            <a:r>
              <a:rPr>
                <a:solidFill>
                  <a:srgbClr val="003B4F"/>
                </a:solidFill>
                <a:latin typeface="Courier"/>
              </a:rPr>
              <a:t>, </a:t>
            </a:r>
            <a:r>
              <a:rPr>
                <a:solidFill>
                  <a:srgbClr val="4758AB"/>
                </a:solidFill>
                <a:latin typeface="Courier"/>
              </a:rPr>
              <a:t>round</a:t>
            </a:r>
            <a:r>
              <a:rPr>
                <a:solidFill>
                  <a:srgbClr val="003B4F"/>
                </a:solidFill>
                <a:latin typeface="Courier"/>
              </a:rPr>
              <a:t>(dispersion_gala,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Dispersion parameter: 32.9</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a:r>
              <a:rPr b="1"/>
              <a:t>Poisson GLMs</a:t>
            </a:r>
            <a:r>
              <a:rPr/>
              <a:t> are appropriate for </a:t>
            </a:r>
            <a:r>
              <a:rPr b="1"/>
              <a:t>count data</a:t>
            </a:r>
            <a:r>
              <a:rPr/>
              <a:t>. The Poisson distribution assumes that the variance equals the mean.</a:t>
            </a:r>
          </a:p>
          <a:p>
            <a:pPr lvl="0" indent="0">
              <a:buNone/>
            </a:pPr>
            <a:r>
              <a:rPr>
                <a:solidFill>
                  <a:srgbClr val="5E5E5E"/>
                </a:solidFill>
                <a:latin typeface="Courier"/>
              </a:rPr>
              <a:t># 1. Calculate Estimated Marginal Means (EMMs)</a:t>
            </a:r>
            <a:br/>
            <a:r>
              <a:rPr>
                <a:solidFill>
                  <a:srgbClr val="5E5E5E"/>
                </a:solidFill>
                <a:latin typeface="Courier"/>
              </a:rPr>
              <a:t># type = "response" converts the log-means back to the "Species count" scale</a:t>
            </a:r>
            <a:br/>
            <a:r>
              <a:rPr>
                <a:solidFill>
                  <a:srgbClr val="003B4F"/>
                </a:solidFill>
                <a:latin typeface="Courier"/>
              </a:rPr>
              <a:t>emm_gala &lt;- </a:t>
            </a:r>
            <a:r>
              <a:rPr>
                <a:solidFill>
                  <a:srgbClr val="4758AB"/>
                </a:solidFill>
                <a:latin typeface="Courier"/>
              </a:rPr>
              <a:t>emmeans</a:t>
            </a:r>
            <a:r>
              <a:rPr>
                <a:solidFill>
                  <a:srgbClr val="003B4F"/>
                </a:solidFill>
                <a:latin typeface="Courier"/>
              </a:rPr>
              <a:t>(model_poisson_gala, </a:t>
            </a:r>
            <a:br/>
            <a:r>
              <a:rPr>
                <a:solidFill>
                  <a:srgbClr val="003B4F"/>
                </a:solidFill>
                <a:latin typeface="Courier"/>
              </a:rPr>
              <a:t>                    </a:t>
            </a:r>
            <a:r>
              <a:rPr>
                <a:solidFill>
                  <a:srgbClr val="657422"/>
                </a:solidFill>
                <a:latin typeface="Courier"/>
              </a:rPr>
              <a:t>specs =</a:t>
            </a:r>
            <a:r>
              <a:rPr>
                <a:solidFill>
                  <a:srgbClr val="003B4F"/>
                </a:solidFill>
                <a:latin typeface="Courier"/>
              </a:rPr>
              <a:t> </a:t>
            </a:r>
            <a:r>
              <a:rPr>
                <a:solidFill>
                  <a:srgbClr val="5E5E5E"/>
                </a:solidFill>
                <a:latin typeface="Courier"/>
              </a:rPr>
              <a:t>~</a:t>
            </a:r>
            <a:r>
              <a:rPr>
                <a:solidFill>
                  <a:srgbClr val="003B4F"/>
                </a:solidFill>
                <a:latin typeface="Courier"/>
              </a:rPr>
              <a:t> size_category,</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4758AB"/>
                </a:solidFill>
                <a:latin typeface="Courier"/>
              </a:rPr>
              <a:t>print</a:t>
            </a:r>
            <a:r>
              <a:rPr>
                <a:solidFill>
                  <a:srgbClr val="003B4F"/>
                </a:solidFill>
                <a:latin typeface="Courier"/>
              </a:rPr>
              <a:t>(emm_gala)</a:t>
            </a:r>
            <a:br/>
            <a:r>
              <a:rPr i="1">
                <a:solidFill>
                  <a:srgbClr val="5E5E5E"/>
                </a:solidFill>
                <a:latin typeface="Courier"/>
              </a:rPr>
              <a:t>##  size_category  rate   SE  df asymp.LCL asymp.UCL</a:t>
            </a:r>
            <a:br/>
            <a:r>
              <a:rPr i="1">
                <a:solidFill>
                  <a:srgbClr val="5E5E5E"/>
                </a:solidFill>
                <a:latin typeface="Courier"/>
              </a:rPr>
              <a:t>##  Small          14.5 1.15 Inf      12.4      16.9</a:t>
            </a:r>
            <a:br/>
            <a:r>
              <a:rPr i="1">
                <a:solidFill>
                  <a:srgbClr val="5E5E5E"/>
                </a:solidFill>
                <a:latin typeface="Courier"/>
              </a:rPr>
              <a:t>##  Medium         55.1 2.14 Inf      51.0      59.4</a:t>
            </a:r>
            <a:br/>
            <a:r>
              <a:rPr i="1">
                <a:solidFill>
                  <a:srgbClr val="5E5E5E"/>
                </a:solidFill>
                <a:latin typeface="Courier"/>
              </a:rPr>
              <a:t>##  Large         248.1 5.95 Inf     236.7     260.1</a:t>
            </a:r>
            <a:br/>
            <a:r>
              <a:rPr i="1">
                <a:solidFill>
                  <a:srgbClr val="5E5E5E"/>
                </a:solidFill>
                <a:latin typeface="Courier"/>
              </a:rPr>
              <a:t>## </a:t>
            </a:r>
            <a:br/>
            <a:r>
              <a:rPr i="1">
                <a:solidFill>
                  <a:srgbClr val="5E5E5E"/>
                </a:solidFill>
                <a:latin typeface="Courier"/>
              </a:rPr>
              <a:t>## Confidence level used: 0.95 </a:t>
            </a:r>
            <a:br/>
            <a:r>
              <a:rPr i="1">
                <a:solidFill>
                  <a:srgbClr val="5E5E5E"/>
                </a:solidFill>
                <a:latin typeface="Courier"/>
              </a:rPr>
              <a:t>## Intervals are back-transformed from the log scale</a:t>
            </a:r>
          </a:p>
        </p:txBody>
      </p:sp>
      <p:sp>
        <p:nvSpPr>
          <p:cNvPr id="4" name="Content Placeholder 3"/>
          <p:cNvSpPr>
            <a:spLocks noGrp="1"/>
          </p:cNvSpPr>
          <p:nvPr>
            <p:ph idx="2" sz="half"/>
          </p:nvPr>
        </p:nvSpPr>
        <p:spPr/>
        <p:txBody>
          <a:bodyPr/>
          <a:lstStyle/>
          <a:p>
            <a:pPr lvl="0" indent="0" marL="0">
              <a:buNone/>
            </a:pPr>
            <a:r>
              <a:rPr/>
              <a:t>Let’s check the emmeans and pairwise comparisons</a:t>
            </a:r>
          </a:p>
          <a:p>
            <a:pPr lvl="0" indent="0">
              <a:buNone/>
            </a:pPr>
            <a:r>
              <a:rPr>
                <a:latin typeface="Courier"/>
              </a:rPr>
              <a:t>##  contrast        ratio      SE  df null z.ratio p.value
##  Small / Medium 0.2624 0.02320 Inf    1 -15.146  &lt;.0001
##  Small / Large  0.0583 0.00483 Inf    1 -34.313  &lt;.0001
##  Medium / Large 0.2220 0.01010 Inf    1 -32.935  &lt;.0001
## 
## P value adjustment: tukey method for comparing a family of 3 estimates 
## Tests are performed on the log scale
##  size_category  rate   SE  df asymp.LCL asymp.UCL .group
##  Small          14.5 1.15 Inf      12.4      16.9  a    
##  Medium         55.1 2.14 Inf      51.0      59.4   b   
##  Large         248.1 5.95 Inf     236.7     260.1    c  
## 
## Confidence level used: 0.95 
## Intervals are back-transformed from the log scale 
## P value adjustment: tukey method for comparing a family of 3 estimates 
## Tests are performed on the log scale 
## significance level used: alpha = 0.05 
## NOTE: If two or more means share the same grouping symbol,
##       then we cannot show them to be different.
##       But we also did not show them to be the same.</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Poisson GLM: Visualization and Interpretation</a:t>
            </a:r>
          </a:p>
        </p:txBody>
      </p:sp>
      <p:sp>
        <p:nvSpPr>
          <p:cNvPr id="3" name="Text Placeholder 2"/>
          <p:cNvSpPr>
            <a:spLocks noGrp="1"/>
          </p:cNvSpPr>
          <p:nvPr>
            <p:ph idx="1" type="body"/>
          </p:nvPr>
        </p:nvSpPr>
        <p:spPr/>
        <p:txBody>
          <a:bodyPr/>
          <a:lstStyle/>
          <a:p>
            <a:pPr lvl="0"/>
            <a:r>
              <a:rPr/>
              <a:t>Plot raw data and our emmeans results</a:t>
            </a:r>
          </a:p>
          <a:p>
            <a:pPr lvl="1"/>
            <a:r>
              <a:rPr/>
              <a:t>shows the model’s predictions on top of the real data</a:t>
            </a:r>
          </a:p>
        </p:txBody>
      </p:sp>
      <p:pic>
        <p:nvPicPr>
          <p:cNvPr descr="14_01_lecture_powerpoint_files/figure-pptx/poisson-plot-1.png" id="0" name="Picture 1"/>
          <p:cNvPicPr>
            <a:picLocks noGrp="1" noChangeAspect="1"/>
          </p:cNvPicPr>
          <p:nvPr/>
        </p:nvPicPr>
        <p:blipFill>
          <a:blip r:embed="rId2"/>
          <a:stretch>
            <a:fillRect/>
          </a:stretch>
        </p:blipFill>
        <p:spPr bwMode="auto">
          <a:xfrm>
            <a:off x="127000" y="1562100"/>
            <a:ext cx="4432300" cy="27305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spcBef>
                <a:spcPts val="3000"/>
              </a:spcBef>
              <a:buNone/>
            </a:pPr>
            <a:r>
              <a:rPr b="1"/>
              <a:t>Interpreting Poisson GLM Coefficients</a:t>
            </a:r>
          </a:p>
          <a:p>
            <a:pPr lvl="0"/>
            <a:r>
              <a:rPr/>
              <a:t>In a Poisson GLM with a log link function:</a:t>
            </a:r>
          </a:p>
          <a:p>
            <a:pPr lvl="1"/>
            <a:r>
              <a:rPr/>
              <a:t>The coefficients represent changes in the </a:t>
            </a:r>
            <a:r>
              <a:rPr b="1"/>
              <a:t>log</a:t>
            </a:r>
            <a:r>
              <a:rPr/>
              <a:t> of the expected count</a:t>
            </a:r>
          </a:p>
          <a:p>
            <a:pPr lvl="1"/>
            <a:r>
              <a:rPr/>
              <a:t>When exponentiated (</a:t>
            </a:r>
            <a:r>
              <a:rPr>
                <a:latin typeface="Courier"/>
              </a:rPr>
              <a:t>exp(coef)</a:t>
            </a:r>
            <a:r>
              <a:rPr/>
              <a:t>), they represent multiplicative effects</a:t>
            </a:r>
          </a:p>
          <a:p>
            <a:pPr lvl="1"/>
            <a:r>
              <a:rPr/>
              <a:t>For example, </a:t>
            </a:r>
            <a:r>
              <a:rPr>
                <a:latin typeface="Courier"/>
              </a:rPr>
              <a:t>exp(coef)</a:t>
            </a:r>
            <a:r>
              <a:rPr/>
              <a:t> = 0.90 means the expected count is 90% of the reference level</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Checking Model Assumptions with DHARMa</a:t>
            </a:r>
          </a:p>
        </p:txBody>
      </p:sp>
      <p:sp>
        <p:nvSpPr>
          <p:cNvPr id="3" name="Content Placeholder 2"/>
          <p:cNvSpPr>
            <a:spLocks noGrp="1"/>
          </p:cNvSpPr>
          <p:nvPr>
            <p:ph idx="1"/>
          </p:nvPr>
        </p:nvSpPr>
        <p:spPr/>
        <p:txBody>
          <a:bodyPr/>
          <a:lstStyle/>
          <a:p>
            <a:pPr lvl="0" indent="0" marL="0">
              <a:buNone/>
            </a:pP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Dealing with Overdispersion in Count Data</a:t>
            </a:r>
          </a:p>
        </p:txBody>
      </p:sp>
      <p:sp>
        <p:nvSpPr>
          <p:cNvPr id="3" name="Text Placeholder 2"/>
          <p:cNvSpPr>
            <a:spLocks noGrp="1"/>
          </p:cNvSpPr>
          <p:nvPr>
            <p:ph idx="1" type="body"/>
          </p:nvPr>
        </p:nvSpPr>
        <p:spPr/>
        <p:txBody>
          <a:bodyPr/>
          <a:lstStyle/>
          <a:p>
            <a:pPr lvl="0" indent="0" marL="0">
              <a:buNone/>
            </a:pPr>
            <a:r>
              <a:rPr/>
              <a:t>When count data shows more variability than expected under a Poisson distribution (variance &gt; mean), may need to use negative binomial model </a:t>
            </a:r>
            <a:r>
              <a:rPr>
                <a:latin typeface="Courier"/>
              </a:rPr>
              <a:t>model_nb &lt;- glm.nb(qsec_round ~ cyl, data = mtcars_count)</a:t>
            </a:r>
          </a:p>
          <a:p>
            <a:pPr lvl="0" indent="0">
              <a:buNone/>
            </a:pPr>
            <a:r>
              <a:rPr>
                <a:latin typeface="Courier"/>
              </a:rPr>
              <a:t>## 
## Call:
## glm.nb(formula = Species ~ size_category, data = gala, init.theta = 1.709503171, 
##     link = log)
## 
## Coefficients:
##                     Estimate Std. Error z value Pr(&gt;|z|)    
## (Intercept)           2.6710     0.2439  10.953  &lt; 2e-16 ***
## size_categoryMedium   1.3378     0.3313   4.039 5.37e-05 ***
## size_categoryLarge    2.8430     0.3790   7.502 6.28e-14 ***
## ---
## Signif. codes:  0 '***' 0.001 '**' 0.01 '*' 0.05 '.' 0.1 ' ' 1
## 
## (Dispersion parameter for Negative Binomial(1.7095) family taken to be 1)
## 
##     Null deviance: 90.168  on 29  degrees of freedom
## Residual deviance: 32.932  on 27  degrees of freedom
## AIC: 297.35
## 
## Number of Fisher Scoring iterations: 1
## 
## 
##               Theta:  1.710 
##           Std. Err.:  0.449 
## 
##  2 x log-likelihood:  -289.348</a:t>
            </a:r>
          </a:p>
          <a:p>
            <a:pPr lvl="0"/>
            <a:r>
              <a:rPr/>
              <a:t>negative binomial model includes a dispersion parameter (theta)</a:t>
            </a:r>
          </a:p>
          <a:p>
            <a:pPr lvl="1"/>
            <a:r>
              <a:rPr/>
              <a:t>allows the variance to be larger than the mean</a:t>
            </a:r>
          </a:p>
          <a:p>
            <a:pPr lvl="1"/>
            <a:r>
              <a:rPr/>
              <a:t>standard errors bigger because NB model accounts for high variability (overdispersion)</a:t>
            </a:r>
          </a:p>
          <a:p>
            <a:pPr lvl="1"/>
            <a:r>
              <a:rPr/>
              <a:t>estimates dispersion parameter ‘Theta’ (or 1/theta)</a:t>
            </a:r>
          </a:p>
          <a:p>
            <a:pPr lvl="1"/>
            <a:r>
              <a:rPr/>
              <a:t>how it models the overdispersion.</a:t>
            </a:r>
          </a:p>
        </p:txBody>
      </p:sp>
      <p:sp>
        <p:nvSpPr>
          <p:cNvPr id="5" name="Text Placeholder 4"/>
          <p:cNvSpPr>
            <a:spLocks noGrp="1"/>
          </p:cNvSpPr>
          <p:nvPr>
            <p:ph idx="3" sz="quarter" type="body"/>
          </p:nvPr>
        </p:nvSpPr>
        <p:spPr/>
        <p:txBody>
          <a:bodyPr/>
          <a:lstStyle/>
          <a:p>
            <a:pPr lvl="0" indent="0" marL="0">
              <a:buNone/>
            </a:pPr>
            <a:r>
              <a:rPr/>
              <a:t>Let’s compare the predictions from both models:</a:t>
            </a:r>
          </a:p>
        </p:txBody>
      </p:sp>
      <p:pic>
        <p:nvPicPr>
          <p:cNvPr descr="14_01_lecture_powerpoint_files/figure-pptx/gala-compare-models-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Logistic Regression - Introduction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is a GLM used when the response variable is binary (e.g., dead/alive, present/absent). It models the probability of the response being “1” (success) given predictor values.</a:t>
                </a:r>
              </a:p>
              <a:p>
                <a:pPr lvl="0" indent="0" marL="0">
                  <a:buNone/>
                </a:pPr>
                <a:r>
                  <a:rPr/>
                  <a:t>Let’s examine the simple logistic regression model:</a:t>
                </a:r>
              </a:p>
              <a:p>
                <a:pPr lvl="0" indent="0" marL="0">
                  <a:buNone/>
                </a:pPr>
                <a14:m>
                  <m:oMathPara xmlns:m="http://schemas.openxmlformats.org/officeDocument/2006/math">
                    <m:oMathParaPr>
                      <m:jc m:val="center"/>
                    </m:oMathParaPr>
                    <m:oMath>
                      <m:r>
                        <m:t>π</m:t>
                      </m:r>
                      <m:d>
                        <m:dPr>
                          <m:begChr m:val="("/>
                          <m:sepChr m:val=""/>
                          <m:endChr m:val=")"/>
                          <m:grow/>
                        </m:dPr>
                        <m:e>
                          <m:r>
                            <m:t>x</m:t>
                          </m:r>
                        </m:e>
                      </m:d>
                      <m:r>
                        <m:rPr>
                          <m:sty m:val="p"/>
                        </m:rPr>
                        <m:t>=</m:t>
                      </m:r>
                      <m:f>
                        <m:fPr>
                          <m:type m:val="bar"/>
                        </m:fPr>
                        <m:num>
                          <m:sSup>
                            <m:e>
                              <m:r>
                                <m:t>e</m:t>
                              </m:r>
                            </m:e>
                            <m:sup>
                              <m:sSub>
                                <m:e>
                                  <m:r>
                                    <m:t>β</m:t>
                                  </m:r>
                                </m:e>
                                <m:sub>
                                  <m:r>
                                    <m:t>0</m:t>
                                  </m:r>
                                </m:sub>
                              </m:sSub>
                              <m:r>
                                <m:rPr>
                                  <m:sty m:val="p"/>
                                </m:rPr>
                                <m:t>+</m:t>
                              </m:r>
                              <m:sSub>
                                <m:e>
                                  <m:r>
                                    <m:t>β</m:t>
                                  </m:r>
                                </m:e>
                                <m:sub>
                                  <m:r>
                                    <m:t>1</m:t>
                                  </m:r>
                                </m:sub>
                              </m:sSub>
                              <m:r>
                                <m:t>x</m:t>
                              </m:r>
                            </m:sup>
                          </m:sSup>
                        </m:num>
                        <m:den>
                          <m:r>
                            <m:t>1</m:t>
                          </m:r>
                          <m:r>
                            <m:rPr>
                              <m:sty m:val="p"/>
                            </m:rPr>
                            <m:t>+</m:t>
                          </m:r>
                          <m:sSup>
                            <m:e>
                              <m:r>
                                <m:t>e</m:t>
                              </m:r>
                            </m:e>
                            <m:sup>
                              <m:sSub>
                                <m:e>
                                  <m:r>
                                    <m:t>β</m:t>
                                  </m:r>
                                </m:e>
                                <m:sub>
                                  <m:r>
                                    <m:t>0</m:t>
                                  </m:r>
                                </m:sub>
                              </m:sSub>
                              <m:r>
                                <m:rPr>
                                  <m:sty m:val="p"/>
                                </m:rPr>
                                <m:t>+</m:t>
                              </m:r>
                              <m:sSub>
                                <m:e>
                                  <m:r>
                                    <m:t>β</m:t>
                                  </m:r>
                                </m:e>
                                <m:sub>
                                  <m:r>
                                    <m:t>1</m:t>
                                  </m:r>
                                </m:sub>
                              </m:sSub>
                              <m:r>
                                <m:t>x</m:t>
                              </m:r>
                            </m:sup>
                          </m:sSup>
                        </m:den>
                      </m:f>
                    </m:oMath>
                  </m:oMathPara>
                </a14:m>
              </a:p>
              <a:p>
                <a:pPr lvl="0"/>
                <a:r>
                  <a:rPr/>
                  <a:t>Where:</a:t>
                </a:r>
              </a:p>
              <a:p>
                <a:pPr lvl="1"/>
                <a14:m>
                  <m:oMath xmlns:m="http://schemas.openxmlformats.org/officeDocument/2006/math">
                    <m:r>
                      <m:t>π</m:t>
                    </m:r>
                    <m:d>
                      <m:dPr>
                        <m:begChr m:val="("/>
                        <m:sepChr m:val=""/>
                        <m:endChr m:val=")"/>
                        <m:grow/>
                      </m:dPr>
                      <m:e>
                        <m:r>
                          <m:t>x</m:t>
                        </m:r>
                      </m:e>
                    </m:d>
                  </m:oMath>
                </a14:m>
                <a:r>
                  <a:rPr/>
                  <a:t> is the probability that Y = 1 given X = x</a:t>
                </a:r>
              </a:p>
              <a:p>
                <a:pPr lvl="1"/>
                <a14:m>
                  <m:oMath xmlns:m="http://schemas.openxmlformats.org/officeDocument/2006/math">
                    <m:sSub>
                      <m:e>
                        <m:r>
                          <m:t>β</m:t>
                        </m:r>
                      </m:e>
                      <m:sub>
                        <m:r>
                          <m:t>0</m:t>
                        </m:r>
                      </m:sub>
                    </m:sSub>
                  </m:oMath>
                </a14:m>
                <a:r>
                  <a:rPr/>
                  <a:t> is the intercept</a:t>
                </a:r>
              </a:p>
              <a:p>
                <a:pPr lvl="1"/>
                <a14:m>
                  <m:oMath xmlns:m="http://schemas.openxmlformats.org/officeDocument/2006/math">
                    <m:sSub>
                      <m:e>
                        <m:r>
                          <m:t>β</m:t>
                        </m:r>
                      </m:e>
                      <m:sub>
                        <m:r>
                          <m:t>1</m:t>
                        </m:r>
                      </m:sub>
                    </m:sSub>
                  </m:oMath>
                </a14:m>
                <a:r>
                  <a:rPr/>
                  <a:t> is the slope (rate of change in </a:t>
                </a:r>
                <a14:m>
                  <m:oMath xmlns:m="http://schemas.openxmlformats.org/officeDocument/2006/math">
                    <m:r>
                      <m:t>π</m:t>
                    </m:r>
                    <m:d>
                      <m:dPr>
                        <m:begChr m:val="("/>
                        <m:sepChr m:val=""/>
                        <m:endChr m:val=")"/>
                        <m:grow/>
                      </m:dPr>
                      <m:e>
                        <m:r>
                          <m:t>x</m:t>
                        </m:r>
                      </m:e>
                    </m:d>
                  </m:oMath>
                </a14:m>
                <a:r>
                  <a:rPr/>
                  <a:t> for a unit change in X)</a:t>
                </a:r>
              </a:p>
              <a:p>
                <a:pPr lvl="0" indent="0" marL="0">
                  <a:buNone/>
                </a:pPr>
                <a:r>
                  <a:rPr/>
                  <a:t>To linearize this relationship, we use the logit link function:</a:t>
                </a:r>
              </a:p>
              <a:p>
                <a:pPr lvl="0" indent="0" marL="0">
                  <a:buNone/>
                </a:pPr>
                <a14:m>
                  <m:oMathPara xmlns:m="http://schemas.openxmlformats.org/officeDocument/2006/math">
                    <m:oMathParaPr>
                      <m:jc m:val="center"/>
                    </m:oMathParaPr>
                    <m:oMath>
                      <m:r>
                        <m:t>g</m:t>
                      </m:r>
                      <m:d>
                        <m:dPr>
                          <m:begChr m:val="("/>
                          <m:sepChr m:val=""/>
                          <m:endChr m:val=")"/>
                          <m:grow/>
                        </m:dPr>
                        <m:e>
                          <m:r>
                            <m:t>x</m:t>
                          </m:r>
                        </m:e>
                      </m:d>
                      <m:r>
                        <m:rPr>
                          <m:sty m:val="p"/>
                        </m:rPr>
                        <m:t>=</m:t>
                      </m:r>
                      <m:r>
                        <m:rPr>
                          <m:sty m:val="p"/>
                        </m:rPr>
                        <m:t>log</m:t>
                      </m:r>
                      <m:d>
                        <m:dPr>
                          <m:begChr m:val="("/>
                          <m:sepChr m:val=""/>
                          <m:endChr m:val=")"/>
                          <m:grow/>
                        </m:dPr>
                        <m:e>
                          <m:f>
                            <m:fPr>
                              <m:type m:val="bar"/>
                            </m:fPr>
                            <m:num>
                              <m:r>
                                <m:t>π</m:t>
                              </m:r>
                              <m:d>
                                <m:dPr>
                                  <m:begChr m:val="("/>
                                  <m:sepChr m:val=""/>
                                  <m:endChr m:val=")"/>
                                  <m:grow/>
                                </m:dPr>
                                <m:e>
                                  <m:r>
                                    <m:t>x</m:t>
                                  </m:r>
                                </m:e>
                              </m:d>
                            </m:num>
                            <m:den>
                              <m:r>
                                <m:t>1</m:t>
                              </m:r>
                              <m:r>
                                <m:rPr>
                                  <m:sty m:val="p"/>
                                </m:rPr>
                                <m:t>−</m:t>
                              </m:r>
                              <m:r>
                                <m:t>π</m:t>
                              </m:r>
                              <m:d>
                                <m:dPr>
                                  <m:begChr m:val="("/>
                                  <m:sepChr m:val=""/>
                                  <m:endChr m:val=")"/>
                                  <m:grow/>
                                </m:dPr>
                                <m:e>
                                  <m:r>
                                    <m:t>x</m:t>
                                  </m:r>
                                </m:e>
                              </m:d>
                            </m:den>
                          </m:f>
                        </m:e>
                      </m:d>
                      <m:r>
                        <m:rPr>
                          <m:sty m:val="p"/>
                        </m:rPr>
                        <m:t>=</m:t>
                      </m:r>
                      <m:sSub>
                        <m:e>
                          <m:r>
                            <m:t>β</m:t>
                          </m:r>
                        </m:e>
                        <m:sub>
                          <m:r>
                            <m:t>0</m:t>
                          </m:r>
                        </m:sub>
                      </m:sSub>
                      <m:r>
                        <m:rPr>
                          <m:sty m:val="p"/>
                        </m:rPr>
                        <m:t>+</m:t>
                      </m:r>
                      <m:sSub>
                        <m:e>
                          <m:r>
                            <m:t>β</m:t>
                          </m:r>
                        </m:e>
                        <m:sub>
                          <m:r>
                            <m:t>1</m:t>
                          </m:r>
                        </m:sub>
                      </m:sSub>
                      <m:r>
                        <m:t>x</m:t>
                      </m:r>
                    </m:oMath>
                  </m:oMathPara>
                </a14:m>
              </a:p>
              <a:p>
                <a:pPr lvl="0" indent="0" marL="0">
                  <a:buNone/>
                </a:pPr>
                <a:r>
                  <a:rPr/>
                  <a:t>This transforms the probability (which is bounded between 0 and 1) to a linear function that can range from -∞ to +∞.</a:t>
                </a:r>
              </a:p>
            </p:txBody>
          </p:sp>
        </mc:Choice>
      </mc:AlternateContent>
      <p:pic>
        <p:nvPicPr>
          <p:cNvPr descr="14_01_lecture_powerpoint_files/figure-pptx/logistic-curve-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Example: Lizard Presence on Islands</a:t>
            </a:r>
          </a:p>
        </p:txBody>
      </p:sp>
      <p:sp>
        <p:nvSpPr>
          <p:cNvPr id="3" name="Content Placeholder 2"/>
          <p:cNvSpPr>
            <a:spLocks noGrp="1"/>
          </p:cNvSpPr>
          <p:nvPr>
            <p:ph idx="1"/>
          </p:nvPr>
        </p:nvSpPr>
        <p:spPr/>
        <p:txBody>
          <a:bodyPr/>
          <a:lstStyle/>
          <a:p>
            <a:pPr lvl="0" indent="0" marL="0">
              <a:buNone/>
            </a:pPr>
            <a:r>
              <a:rPr/>
              <a:t>Based on the example from Polis et al. (1998), we’ll model the presence/absence of lizards (</a:t>
            </a:r>
            <a:r>
              <a:rPr i="1"/>
              <a:t>Uta</a:t>
            </a:r>
            <a:r>
              <a:rPr/>
              <a:t>) on islands in the Gulf of California based on perimeter/area ratio.</a:t>
            </a:r>
          </a:p>
          <a:p>
            <a:pPr lvl="0" indent="0" marL="0">
              <a:buNone/>
            </a:pP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Example: Lizard Presence on Islands</a:t>
            </a:r>
          </a:p>
        </p:txBody>
      </p:sp>
      <p:sp>
        <p:nvSpPr>
          <p:cNvPr id="3" name="Content Placeholder 2"/>
          <p:cNvSpPr>
            <a:spLocks noGrp="1"/>
          </p:cNvSpPr>
          <p:nvPr>
            <p:ph idx="1"/>
          </p:nvPr>
        </p:nvSpPr>
        <p:spPr/>
        <p:txBody>
          <a:bodyPr/>
          <a:lstStyle/>
          <a:p>
            <a:pPr lvl="0" indent="0" marL="0">
              <a:buNone/>
            </a:pPr>
            <a:r>
              <a:rPr/>
              <a:t>Based on the example from Polis et al. (1998), we’ll model the presence/absence of lizards (</a:t>
            </a:r>
            <a:r>
              <a:rPr i="1"/>
              <a:t>Uta</a:t>
            </a:r>
            <a:r>
              <a:rPr/>
              <a:t>) on islands in the Gulf of California based on perimeter/area ratio.</a:t>
            </a:r>
          </a:p>
          <a:p>
            <a:pPr lvl="0" indent="0">
              <a:buNone/>
            </a:pPr>
            <a:r>
              <a:rPr>
                <a:solidFill>
                  <a:srgbClr val="5E5E5E"/>
                </a:solidFill>
                <a:latin typeface="Courier"/>
              </a:rPr>
              <a:t># Fit the logistic regression model</a:t>
            </a:r>
            <a:br/>
            <a:r>
              <a:rPr>
                <a:solidFill>
                  <a:srgbClr val="003B4F"/>
                </a:solidFill>
                <a:latin typeface="Courier"/>
              </a:rPr>
              <a:t>lizard_model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pa_ratio,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Model summary</a:t>
            </a:r>
            <a:br/>
            <a:r>
              <a:rPr>
                <a:solidFill>
                  <a:srgbClr val="4758AB"/>
                </a:solidFill>
                <a:latin typeface="Courier"/>
              </a:rPr>
              <a:t>summary</a:t>
            </a:r>
            <a:r>
              <a:rPr>
                <a:solidFill>
                  <a:srgbClr val="003B4F"/>
                </a:solidFill>
                <a:latin typeface="Courier"/>
              </a:rPr>
              <a:t>(lizard_model)</a:t>
            </a:r>
            <a:br/>
            <a:r>
              <a:rPr i="1">
                <a:solidFill>
                  <a:srgbClr val="5E5E5E"/>
                </a:solidFill>
                <a:latin typeface="Courier"/>
              </a:rPr>
              <a:t>## </a:t>
            </a:r>
            <a:br/>
            <a:r>
              <a:rPr i="1">
                <a:solidFill>
                  <a:srgbClr val="5E5E5E"/>
                </a:solidFill>
                <a:latin typeface="Courier"/>
              </a:rPr>
              <a:t>## Call:</a:t>
            </a:r>
            <a:br/>
            <a:r>
              <a:rPr i="1">
                <a:solidFill>
                  <a:srgbClr val="5E5E5E"/>
                </a:solidFill>
                <a:latin typeface="Courier"/>
              </a:rPr>
              <a:t>## glm(formula = uta_present ~ pa_ratio, family = binomial(link = "logit"), </a:t>
            </a:r>
            <a:br/>
            <a:r>
              <a:rPr i="1">
                <a:solidFill>
                  <a:srgbClr val="5E5E5E"/>
                </a:solidFill>
                <a:latin typeface="Courier"/>
              </a:rPr>
              <a:t>##     data = island_data)</a:t>
            </a:r>
            <a:br/>
            <a:r>
              <a:rPr i="1">
                <a:solidFill>
                  <a:srgbClr val="5E5E5E"/>
                </a:solidFill>
                <a:latin typeface="Courier"/>
              </a:rPr>
              <a:t>## </a:t>
            </a:r>
            <a:br/>
            <a:r>
              <a:rPr i="1">
                <a:solidFill>
                  <a:srgbClr val="5E5E5E"/>
                </a:solidFill>
                <a:latin typeface="Courier"/>
              </a:rPr>
              <a:t>## Coefficients:</a:t>
            </a:r>
            <a:br/>
            <a:r>
              <a:rPr i="1">
                <a:solidFill>
                  <a:srgbClr val="5E5E5E"/>
                </a:solidFill>
                <a:latin typeface="Courier"/>
              </a:rPr>
              <a:t>##             Estimate Std. Error z value Pr(&gt;|z|)   </a:t>
            </a:r>
            <a:br/>
            <a:r>
              <a:rPr i="1">
                <a:solidFill>
                  <a:srgbClr val="5E5E5E"/>
                </a:solidFill>
                <a:latin typeface="Courier"/>
              </a:rPr>
              <a:t>## (Intercept)   5.9374     2.1297   2.788  0.00530 **</a:t>
            </a:r>
            <a:br/>
            <a:r>
              <a:rPr i="1">
                <a:solidFill>
                  <a:srgbClr val="5E5E5E"/>
                </a:solidFill>
                <a:latin typeface="Courier"/>
              </a:rPr>
              <a:t>## pa_ratio     -0.1493     0.0517  -2.887  0.00388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(Dispersion parameter for binomial family taken to be 1)</a:t>
            </a:r>
            <a:br/>
            <a:r>
              <a:rPr i="1">
                <a:solidFill>
                  <a:srgbClr val="5E5E5E"/>
                </a:solidFill>
                <a:latin typeface="Courier"/>
              </a:rPr>
              <a:t>## </a:t>
            </a:r>
            <a:br/>
            <a:r>
              <a:rPr i="1">
                <a:solidFill>
                  <a:srgbClr val="5E5E5E"/>
                </a:solidFill>
                <a:latin typeface="Courier"/>
              </a:rPr>
              <a:t>##     Null deviance: 41.455  on 29  degrees of freedom</a:t>
            </a:r>
            <a:br/>
            <a:r>
              <a:rPr i="1">
                <a:solidFill>
                  <a:srgbClr val="5E5E5E"/>
                </a:solidFill>
                <a:latin typeface="Courier"/>
              </a:rPr>
              <a:t>## Residual deviance: 19.090  on 28  degrees of freedom</a:t>
            </a:r>
            <a:br/>
            <a:r>
              <a:rPr i="1">
                <a:solidFill>
                  <a:srgbClr val="5E5E5E"/>
                </a:solidFill>
                <a:latin typeface="Courier"/>
              </a:rPr>
              <a:t>## AIC: 23.09</a:t>
            </a:r>
            <a:br/>
            <a:r>
              <a:rPr i="1">
                <a:solidFill>
                  <a:srgbClr val="5E5E5E"/>
                </a:solidFill>
                <a:latin typeface="Courier"/>
              </a:rPr>
              <a:t>## </a:t>
            </a:r>
            <a:br/>
            <a:r>
              <a:rPr i="1">
                <a:solidFill>
                  <a:srgbClr val="5E5E5E"/>
                </a:solidFill>
                <a:latin typeface="Courier"/>
              </a:rPr>
              <a:t>## Number of Fisher Scoring iterations: 6</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Lizard Example: Visualization and Testing</a:t>
            </a:r>
          </a:p>
        </p:txBody>
      </p:sp>
      <p:sp>
        <p:nvSpPr>
          <p:cNvPr id="3" name="Text Placeholder 2"/>
          <p:cNvSpPr>
            <a:spLocks noGrp="1"/>
          </p:cNvSpPr>
          <p:nvPr>
            <p:ph idx="1" type="body"/>
          </p:nvPr>
        </p:nvSpPr>
        <p:spPr/>
        <p:txBody>
          <a:bodyPr/>
          <a:lstStyle/>
          <a:p>
            <a:pPr lvl="0" indent="0" marL="0">
              <a:buNone/>
            </a:pPr>
            <a:r>
              <a:rPr/>
              <a:t>Let’s visualize the data and the fitted model:</a:t>
            </a:r>
          </a:p>
        </p:txBody>
      </p:sp>
      <p:pic>
        <p:nvPicPr>
          <p:cNvPr descr="14_01_lecture_powerpoint_files/figure-pptx/lizard-plot-1.png" id="0" name="Picture 1"/>
          <p:cNvPicPr>
            <a:picLocks noGrp="1" noChangeAspect="1"/>
          </p:cNvPicPr>
          <p:nvPr/>
        </p:nvPicPr>
        <p:blipFill>
          <a:blip r:embed="rId2"/>
          <a:stretch>
            <a:fillRect/>
          </a:stretch>
        </p:blipFill>
        <p:spPr bwMode="auto">
          <a:xfrm>
            <a:off x="127000" y="1562100"/>
            <a:ext cx="4432300" cy="27305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buNone/>
            </a:pPr>
            <a:r>
              <a:rPr/>
              <a:t>We want to test the null hypothesis that β₁ = 0, meaning there’s no relationship between P/A ratio and lizard presence.</a:t>
            </a:r>
          </a:p>
          <a:p>
            <a:pPr lvl="0" indent="0" marL="0">
              <a:buNone/>
            </a:pPr>
            <a:r>
              <a:rPr/>
              <a:t>There are two common ways to test this hypothesis:</a:t>
            </a:r>
          </a:p>
          <a:p>
            <a:pPr lvl="0" indent="-342900" marL="342900">
              <a:buAutoNum type="arabicPeriod"/>
            </a:pPr>
            <a:r>
              <a:rPr b="1"/>
              <a:t>Wald test</a:t>
            </a:r>
            <a:r>
              <a:rPr/>
              <a:t>: Tests if the parameter estimate divided by its standard error differs significantly from zero</a:t>
            </a:r>
          </a:p>
          <a:p>
            <a:pPr lvl="0" indent="-342900" marL="342900">
              <a:buAutoNum type="arabicPeriod"/>
            </a:pPr>
            <a:r>
              <a:rPr b="1"/>
              <a:t>Likelihood ratio test</a:t>
            </a:r>
            <a:r>
              <a:rPr/>
              <a:t>: Compares the fit of the full model to a reduced model without the predictor variable</a:t>
            </a:r>
          </a:p>
          <a:p>
            <a:pPr lvl="0" indent="0">
              <a:buNone/>
            </a:pPr>
            <a:r>
              <a:rPr>
                <a:solidFill>
                  <a:srgbClr val="003B4F"/>
                </a:solidFill>
                <a:latin typeface="Courier"/>
              </a:rPr>
              <a:t>reduced_model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(reduced_model, lizard_model,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br/>
            <a:r>
              <a:rPr i="1">
                <a:solidFill>
                  <a:srgbClr val="5E5E5E"/>
                </a:solidFill>
                <a:latin typeface="Courier"/>
              </a:rPr>
              <a:t>## Analysis of Deviance Table</a:t>
            </a:r>
            <a:br/>
            <a:r>
              <a:rPr i="1">
                <a:solidFill>
                  <a:srgbClr val="5E5E5E"/>
                </a:solidFill>
                <a:latin typeface="Courier"/>
              </a:rPr>
              <a:t>## </a:t>
            </a:r>
            <a:br/>
            <a:r>
              <a:rPr i="1">
                <a:solidFill>
                  <a:srgbClr val="5E5E5E"/>
                </a:solidFill>
                <a:latin typeface="Courier"/>
              </a:rPr>
              <a:t>## Model 1: uta_present ~ 1</a:t>
            </a:r>
            <a:br/>
            <a:r>
              <a:rPr i="1">
                <a:solidFill>
                  <a:srgbClr val="5E5E5E"/>
                </a:solidFill>
                <a:latin typeface="Courier"/>
              </a:rPr>
              <a:t>## Model 2: uta_present ~ pa_ratio</a:t>
            </a:r>
            <a:br/>
            <a:r>
              <a:rPr i="1">
                <a:solidFill>
                  <a:srgbClr val="5E5E5E"/>
                </a:solidFill>
                <a:latin typeface="Courier"/>
              </a:rPr>
              <a:t>##   Resid. Df Resid. Dev Df Deviance  Pr(&gt;Chi)    </a:t>
            </a:r>
            <a:br/>
            <a:r>
              <a:rPr i="1">
                <a:solidFill>
                  <a:srgbClr val="5E5E5E"/>
                </a:solidFill>
                <a:latin typeface="Courier"/>
              </a:rPr>
              <a:t>## 1        29     41.455                          </a:t>
            </a:r>
            <a:br/>
            <a:r>
              <a:rPr i="1">
                <a:solidFill>
                  <a:srgbClr val="5E5E5E"/>
                </a:solidFill>
                <a:latin typeface="Courier"/>
              </a:rPr>
              <a:t>## 2        28     19.090  1   22.365 2.254e-06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Interpreting the Odds Ratio</a:t>
            </a:r>
          </a:p>
        </p:txBody>
      </p:sp>
      <p:sp>
        <p:nvSpPr>
          <p:cNvPr id="3" name="Content Placeholder 2"/>
          <p:cNvSpPr>
            <a:spLocks noGrp="1"/>
          </p:cNvSpPr>
          <p:nvPr>
            <p:ph idx="1"/>
          </p:nvPr>
        </p:nvSpPr>
        <p:spPr/>
        <p:txBody>
          <a:bodyPr/>
          <a:lstStyle/>
          <a:p>
            <a:pPr lvl="0" indent="0" marL="0">
              <a:spcBef>
                <a:spcPts val="3000"/>
              </a:spcBef>
              <a:buNone/>
            </a:pPr>
            <a:r>
              <a:rPr b="1"/>
              <a:t>Working with Odds Ratios</a:t>
            </a:r>
          </a:p>
          <a:p>
            <a:pPr lvl="0" indent="0" marL="0">
              <a:buNone/>
            </a:pPr>
            <a:r>
              <a:rPr/>
              <a:t>The odds ratio represents how the odds of the event (e.g., lizard presence) change with a unit increase in the predictor.</a:t>
            </a:r>
          </a:p>
          <a:p>
            <a:pPr lvl="0"/>
            <a:r>
              <a:rPr b="1"/>
              <a:t>Odds ratio = exp(β₁)</a:t>
            </a:r>
          </a:p>
          <a:p>
            <a:pPr lvl="0"/>
            <a:r>
              <a:rPr/>
              <a:t>If odds ratio &gt; 1: Increasing the predictor increases the odds of event</a:t>
            </a:r>
          </a:p>
          <a:p>
            <a:pPr lvl="0"/>
            <a:r>
              <a:rPr/>
              <a:t>If odds ratio &lt; 1: Increasing the predictor decreases the odds of event</a:t>
            </a:r>
          </a:p>
          <a:p>
            <a:pPr lvl="0"/>
            <a:r>
              <a:rPr/>
              <a:t>If odds ratio = 1: No effect of predictor on odds of event</a:t>
            </a:r>
          </a:p>
          <a:p>
            <a:pPr lvl="0"/>
            <a:r>
              <a:rPr/>
              <a:t>For every one-unit increase in island’s Perimeter/Area Ratio - odds of finding a lizard present multiplied by 0.898</a:t>
            </a:r>
          </a:p>
          <a:p>
            <a:pPr lvl="0"/>
            <a:r>
              <a:rPr/>
              <a:t>the odds decrease by 10.2% (which is 1 - 0.898) for every one-unit increase in the P/A ratio</a:t>
            </a:r>
          </a:p>
          <a:p>
            <a:pPr lvl="0"/>
            <a:r>
              <a:rPr/>
              <a:t>entire interval is below 1.0, you can be confident the relationship is negative: more P/A ratio means lower odds of lizards</a:t>
            </a:r>
          </a:p>
          <a:p>
            <a:pPr lvl="0" indent="0">
              <a:buNone/>
            </a:pPr>
            <a:r>
              <a:rPr>
                <a:solidFill>
                  <a:srgbClr val="003B4F"/>
                </a:solidFill>
                <a:latin typeface="Courier"/>
              </a:rPr>
              <a:t>coef_lizard &lt;- </a:t>
            </a:r>
            <a:r>
              <a:rPr>
                <a:solidFill>
                  <a:srgbClr val="4758AB"/>
                </a:solidFill>
                <a:latin typeface="Courier"/>
              </a:rPr>
              <a:t>coef</a:t>
            </a:r>
            <a:r>
              <a:rPr>
                <a:solidFill>
                  <a:srgbClr val="003B4F"/>
                </a:solidFill>
                <a:latin typeface="Courier"/>
              </a:rPr>
              <a:t>(lizard_model)[</a:t>
            </a:r>
            <a:r>
              <a:rPr>
                <a:solidFill>
                  <a:srgbClr val="AD0000"/>
                </a:solidFill>
                <a:latin typeface="Courier"/>
              </a:rPr>
              <a:t>2</a:t>
            </a:r>
            <a:r>
              <a:rPr>
                <a:solidFill>
                  <a:srgbClr val="003B4F"/>
                </a:solidFill>
                <a:latin typeface="Courier"/>
              </a:rPr>
              <a:t>]  </a:t>
            </a:r>
            <a:r>
              <a:rPr>
                <a:solidFill>
                  <a:srgbClr val="5E5E5E"/>
                </a:solidFill>
                <a:latin typeface="Courier"/>
              </a:rPr>
              <a:t># Extract slope coefficient</a:t>
            </a:r>
            <a:br/>
            <a:r>
              <a:rPr>
                <a:solidFill>
                  <a:srgbClr val="003B4F"/>
                </a:solidFill>
                <a:latin typeface="Courier"/>
              </a:rPr>
              <a:t>odds_ratio &lt;- </a:t>
            </a:r>
            <a:r>
              <a:rPr>
                <a:solidFill>
                  <a:srgbClr val="4758AB"/>
                </a:solidFill>
                <a:latin typeface="Courier"/>
              </a:rPr>
              <a:t>exp</a:t>
            </a:r>
            <a:r>
              <a:rPr>
                <a:solidFill>
                  <a:srgbClr val="003B4F"/>
                </a:solidFill>
                <a:latin typeface="Courier"/>
              </a:rPr>
              <a:t>(coef_lizard)</a:t>
            </a:r>
            <a:br/>
            <a:r>
              <a:rPr>
                <a:solidFill>
                  <a:srgbClr val="003B4F"/>
                </a:solidFill>
                <a:latin typeface="Courier"/>
              </a:rPr>
              <a:t>ci &lt;- </a:t>
            </a:r>
            <a:r>
              <a:rPr>
                <a:solidFill>
                  <a:srgbClr val="4758AB"/>
                </a:solidFill>
                <a:latin typeface="Courier"/>
              </a:rPr>
              <a:t>exp</a:t>
            </a:r>
            <a:r>
              <a:rPr>
                <a:solidFill>
                  <a:srgbClr val="003B4F"/>
                </a:solidFill>
                <a:latin typeface="Courier"/>
              </a:rPr>
              <a:t>(</a:t>
            </a:r>
            <a:r>
              <a:rPr>
                <a:solidFill>
                  <a:srgbClr val="4758AB"/>
                </a:solidFill>
                <a:latin typeface="Courier"/>
              </a:rPr>
              <a:t>confint</a:t>
            </a:r>
            <a:r>
              <a:rPr>
                <a:solidFill>
                  <a:srgbClr val="003B4F"/>
                </a:solidFill>
                <a:latin typeface="Courier"/>
              </a:rPr>
              <a:t>(lizard_model, </a:t>
            </a:r>
            <a:r>
              <a:rPr>
                <a:solidFill>
                  <a:srgbClr val="20794D"/>
                </a:solidFill>
                <a:latin typeface="Courier"/>
              </a:rPr>
              <a:t>"pa_ratio"</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"Odds Ratio:"</a:t>
            </a:r>
            <a:r>
              <a:rPr>
                <a:solidFill>
                  <a:srgbClr val="003B4F"/>
                </a:solidFill>
                <a:latin typeface="Courier"/>
              </a:rPr>
              <a:t>, </a:t>
            </a:r>
            <a:r>
              <a:rPr>
                <a:solidFill>
                  <a:srgbClr val="4758AB"/>
                </a:solidFill>
                <a:latin typeface="Courier"/>
              </a:rPr>
              <a:t>round</a:t>
            </a:r>
            <a:r>
              <a:rPr>
                <a:solidFill>
                  <a:srgbClr val="003B4F"/>
                </a:solidFill>
                <a:latin typeface="Courier"/>
              </a:rPr>
              <a:t>(odds_ratio,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a:solidFill>
                  <a:srgbClr val="20794D"/>
                </a:solidFill>
                <a:latin typeface="Courier"/>
              </a:rPr>
              <a:t>"95% CI:"</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1</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Odds Ratio: 0.861 </a:t>
            </a:r>
            <a:br/>
            <a:r>
              <a:rPr i="1">
                <a:solidFill>
                  <a:srgbClr val="5E5E5E"/>
                </a:solidFill>
                <a:latin typeface="Courier"/>
              </a:rPr>
              <a:t>## </a:t>
            </a:r>
            <a:br/>
            <a:r>
              <a:rPr i="1">
                <a:solidFill>
                  <a:srgbClr val="5E5E5E"/>
                </a:solidFill>
                <a:latin typeface="Courier"/>
              </a:rPr>
              <a:t>##  95% CI: 0.753 to 0.932</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Assessing Model Fit</a:t>
            </a:r>
          </a:p>
        </p:txBody>
      </p:sp>
      <p:sp>
        <p:nvSpPr>
          <p:cNvPr id="3" name="Content Placeholder 2"/>
          <p:cNvSpPr>
            <a:spLocks noGrp="1"/>
          </p:cNvSpPr>
          <p:nvPr>
            <p:ph idx="1"/>
          </p:nvPr>
        </p:nvSpPr>
        <p:spPr/>
        <p:txBody>
          <a:bodyPr/>
          <a:lstStyle/>
          <a:p>
            <a:pPr lvl="0" indent="0" marL="0">
              <a:buNone/>
            </a:pPr>
            <a:r>
              <a:rPr/>
              <a:t>There are several ways to assess the goodness-of-fit for logistic regression models:</a:t>
            </a:r>
          </a:p>
          <a:p>
            <a:pPr lvl="0" indent="0">
              <a:buNone/>
            </a:pPr>
            <a:r>
              <a:rPr>
                <a:latin typeface="Courier"/>
              </a:rPr>
              <a:t>## 
## 
## Pearson χ²: 18.58 on 28 df, p = 0.911
## 
## 
## Deviance G²: 19.09 on 28 df, p = 0.895
## 
## 
## McFadden's R²: 0.54
## # R2 for Logistic Regression
##   Tjur's R2: 0.588
## fitting null model for pseudo-r2
##         llh     llhNull          G2    McFadden        r2ML        r2CU 
##  -9.5450726 -20.7276993  22.3652534   0.5395016   0.5255070   0.7017187
## # A tibble: 1 × 8
##   null.deviance df.null logLik   AIC   BIC deviance df.residual  nobs
##           &lt;dbl&gt;   &lt;int&gt;  &lt;dbl&gt; &lt;dbl&gt; &lt;dbl&gt;    &lt;dbl&gt;       &lt;int&gt; &lt;int&gt;
## 1          41.5      29  -9.55  23.1  25.9     19.1          28    30
## 
##  Hosmer and Lemeshow goodness of fit (GOF) test
## 
## data:  lizard_model$y, fitted(lizard_model)
## X-squared = 2.4032, df = 8, p-value = 0.9661</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Multiple Logistic Regression: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can be extended to include multiple predictors. The model becomes:</a:t>
                </a:r>
              </a:p>
              <a:p>
                <a:pPr lvl="0" indent="0" marL="0">
                  <a:buNone/>
                </a:pPr>
                <a14:m>
                  <m:oMathPara xmlns:m="http://schemas.openxmlformats.org/officeDocument/2006/math">
                    <m:oMathParaPr>
                      <m:jc m:val="center"/>
                    </m:oMathParaPr>
                    <m:oMath>
                      <m:r>
                        <m:t>g</m:t>
                      </m:r>
                      <m:d>
                        <m:dPr>
                          <m:begChr m:val="("/>
                          <m:sepChr m:val=""/>
                          <m:endChr m:val=")"/>
                          <m:grow/>
                        </m:dPr>
                        <m:e>
                          <m:r>
                            <m:t>x</m:t>
                          </m:r>
                        </m:e>
                      </m:d>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sSub>
                        <m:e>
                          <m:r>
                            <m:t>β</m:t>
                          </m:r>
                        </m:e>
                        <m:sub>
                          <m:r>
                            <m:t>p</m:t>
                          </m:r>
                        </m:sub>
                      </m:sSub>
                      <m:sSub>
                        <m:e>
                          <m:r>
                            <m:t>x</m:t>
                          </m:r>
                        </m:e>
                        <m:sub>
                          <m:r>
                            <m:t>p</m:t>
                          </m:r>
                        </m:sub>
                      </m:sSub>
                    </m:oMath>
                  </m:oMathPara>
                </a14:m>
              </a:p>
              <a:p>
                <a:pPr lvl="0" indent="0" marL="0">
                  <a:buNone/>
                </a:pPr>
                <a:r>
                  <a:rPr/>
                  <a:t>Where g(x) is the logit link function, and x₁, x₂, …, xₚ are the predictor variables.</a:t>
                </a:r>
              </a:p>
              <a:p>
                <a:pPr lvl="0" indent="0" marL="0">
                  <a:buNone/>
                </a:pPr>
                <a:r>
                  <a:rPr/>
                  <a:t>Let’s create a simulated dataset based on the Bolger et al. (1997) study of the presence/absence of native rodents in canyon fragments.</a:t>
                </a:r>
              </a:p>
              <a:p>
                <a:pPr lvl="0" indent="0">
                  <a:buNone/>
                </a:pPr>
                <a:r>
                  <a:rPr>
                    <a:latin typeface="Courier"/>
                  </a:rPr>
                  <a:t>## 
## Call:
## glm(formula = rodent_present ~ distance + age + shrub_cover, 
##     family = binomial(link = "logit"), data = fragment_data)
## 
## Coefficients:
##               Estimate Std. Error z value Pr(&gt;|z|)  
## (Intercept) -12.278261   7.911491  -1.552   0.1207  
## distance      0.002062   0.001716   1.202   0.2294  
## age           0.068744   0.059665   1.152   0.2493  
## shrub_cover   0.193001   0.116035   1.663   0.0963 .
## ---
## Signif. codes:  0 '***' 0.001 '**' 0.01 '*' 0.05 '.' 0.1 ' ' 1
## 
## (Dispersion parameter for binomial family taken to be 1)
## 
##     Null deviance: 27.5540  on 24  degrees of freedom
## Residual deviance:  9.2737  on 21  degrees of freedom
## AIC: 17.274
## 
## Number of Fisher Scoring iterations: 8</a:t>
                </a:r>
              </a:p>
            </p:txBody>
          </p:sp>
        </mc:Choice>
      </mc:AlternateContent>
      <p:sp>
        <p:nvSpPr>
          <p:cNvPr id="4" name="Content Placeholder 3"/>
          <p:cNvSpPr>
            <a:spLocks noGrp="1"/>
          </p:cNvSpPr>
          <p:nvPr>
            <p:ph idx="2" sz="half"/>
          </p:nvPr>
        </p:nvSpPr>
        <p:spPr/>
        <p:txBody>
          <a:bodyPr/>
          <a:lstStyle/>
          <a:p>
            <a:pPr lvl="0" indent="0" marL="0">
              <a:buNone/>
            </a:pPr>
            <a:r>
              <a:rPr/>
              <a:t>To test the significance of individual predictors, we can use likelihood ratio tests comparing nested models:</a:t>
            </a:r>
          </a:p>
          <a:p>
            <a:pPr lvl="0" indent="0">
              <a:buNone/>
            </a:pPr>
            <a:r>
              <a:rPr>
                <a:latin typeface="Courier"/>
              </a:rPr>
              <a:t>## Analysis of Deviance Table
## 
## Model 1: rodent_present ~ age + shrub_cover
## Model 2: rodent_present ~ distance + age + shrub_cover
##   Resid. Df Resid. Dev Df Deviance Pr(&gt;Chi)
## 1        22    11.3831                     
## 2        21     9.2737  1   2.1094   0.1464
## Analysis of Deviance Table
## 
## Model 1: rodent_present ~ distance + shrub_cover
## Model 2: rodent_present ~ distance + age + shrub_cover
##   Resid. Df Resid. Dev Df Deviance Pr(&gt;Chi)
## 1        22    11.0533                     
## 2        21     9.2737  1   1.7796   0.1822
## Analysis of Deviance Table
## 
## Model 1: rodent_present ~ distance + age
## Model 2: rodent_present ~ distance + age + shrub_cover
##   Resid. Df Resid. Dev Df Deviance  Pr(&gt;Chi)    
## 1        22    26.7315                          
## 2        21     9.2737  1   17.458 2.938e-05 ***
## ---
## Signif. codes:  0 '***' 0.001 '**' 0.01 '*' 0.05 '.' 0.1 ' ' 1</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Multiple Logistic Regression: Odds Ratios</a:t>
            </a:r>
          </a:p>
        </p:txBody>
      </p:sp>
      <p:sp>
        <p:nvSpPr>
          <p:cNvPr id="3" name="Content Placeholder 2"/>
          <p:cNvSpPr>
            <a:spLocks noGrp="1"/>
          </p:cNvSpPr>
          <p:nvPr>
            <p:ph idx="1"/>
          </p:nvPr>
        </p:nvSpPr>
        <p:spPr/>
        <p:txBody>
          <a:bodyPr/>
          <a:lstStyle/>
          <a:p>
            <a:pPr lvl="0" indent="0" marL="0">
              <a:buNone/>
            </a:pPr>
            <a:r>
              <a:rPr/>
              <a:t>Let’s calculate odds ratios and confidence intervals for all predictors.</a:t>
            </a:r>
          </a:p>
          <a:p>
            <a:pPr lvl="0" indent="0">
              <a:buNone/>
            </a:pPr>
            <a:r>
              <a:rPr>
                <a:latin typeface="Courier"/>
              </a:rPr>
              <a:t>##               Predictor OddsRatio               CI
## distance       distance    1.0021 (0.9994, 1.0069)
## age                 age    1.0712 (0.9721, 1.2577)
## shrub_cover shrub_cover    1.2129 (1.0645, 1.7909)</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Visualizing Multiple Logistic Regression</a:t>
            </a:r>
          </a:p>
        </p:txBody>
      </p:sp>
      <p:sp>
        <p:nvSpPr>
          <p:cNvPr id="3" name="Content Placeholder 2"/>
          <p:cNvSpPr>
            <a:spLocks noGrp="1"/>
          </p:cNvSpPr>
          <p:nvPr>
            <p:ph idx="1"/>
          </p:nvPr>
        </p:nvSpPr>
        <p:spPr/>
        <p:txBody>
          <a:bodyPr/>
          <a:lstStyle/>
          <a:p>
            <a:pPr lvl="0" indent="0" marL="0">
              <a:buNone/>
            </a:pPr>
            <a:r>
              <a:rPr/>
              <a:t>For multiple predictors, we can visualize the effect of each predictor while holding others constant at their mean or median values.</a:t>
            </a:r>
          </a:p>
          <a:p>
            <a:pPr lvl="0" indent="0" marL="0">
              <a:buNone/>
            </a:pPr>
            <a:r>
              <a:rPr/>
              <a:t>This visualization shows the effect of each predictor on the probability of rodent presence, while holding the other predictors constant at their mean values.</a:t>
            </a:r>
          </a:p>
          <a:p>
            <a:pPr lvl="0" indent="0" marL="0">
              <a:buNone/>
            </a:pP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Assumptions and Diagnostics of Logistic Regression</a:t>
            </a:r>
          </a:p>
        </p:txBody>
      </p:sp>
      <p:sp>
        <p:nvSpPr>
          <p:cNvPr id="3" name="Content Placeholder 2"/>
          <p:cNvSpPr>
            <a:spLocks noGrp="1"/>
          </p:cNvSpPr>
          <p:nvPr>
            <p:ph idx="1" sz="half"/>
          </p:nvPr>
        </p:nvSpPr>
        <p:spPr/>
        <p:txBody>
          <a:bodyPr/>
          <a:lstStyle/>
          <a:p>
            <a:pPr lvl="0" indent="0" marL="0">
              <a:buNone/>
            </a:pPr>
            <a:r>
              <a:rPr/>
              <a:t>Logistic regression has several key assumptions:</a:t>
            </a:r>
          </a:p>
          <a:p>
            <a:pPr lvl="0" indent="-342900" marL="342900">
              <a:buAutoNum type="arabicPeriod"/>
            </a:pPr>
            <a:r>
              <a:rPr/>
              <a:t>Independence of observations</a:t>
            </a:r>
          </a:p>
          <a:p>
            <a:pPr lvl="0" indent="-342900" marL="342900">
              <a:buAutoNum type="arabicPeriod"/>
            </a:pPr>
            <a:r>
              <a:rPr/>
              <a:t>Linear relationship between predictors and log odds</a:t>
            </a:r>
          </a:p>
          <a:p>
            <a:pPr lvl="0" indent="-342900" marL="342900">
              <a:buAutoNum type="arabicPeriod"/>
            </a:pPr>
            <a:r>
              <a:rPr/>
              <a:t>No extreme outliers</a:t>
            </a:r>
          </a:p>
          <a:p>
            <a:pPr lvl="0" indent="-342900" marL="342900">
              <a:buAutoNum type="arabicPeriod"/>
            </a:pPr>
            <a:r>
              <a:rPr/>
              <a:t>No multicollinearity (when multiple predictors are used)</a:t>
            </a:r>
          </a:p>
          <a:p>
            <a:pPr lvl="0" indent="0" marL="0">
              <a:buNone/>
            </a:pPr>
            <a:r>
              <a:rPr/>
              <a:t>Let’s check the diagnostics for our multiple logistic regression model:</a:t>
            </a:r>
          </a:p>
        </p:txBody>
      </p:sp>
      <p:pic>
        <p:nvPicPr>
          <p:cNvPr descr="14_01_lecture_powerpoint_files/figure-pptx/diagnostics-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Model Comparison and Selection</a:t>
            </a:r>
          </a:p>
        </p:txBody>
      </p:sp>
      <p:sp>
        <p:nvSpPr>
          <p:cNvPr id="3" name="Content Placeholder 2"/>
          <p:cNvSpPr>
            <a:spLocks noGrp="1"/>
          </p:cNvSpPr>
          <p:nvPr>
            <p:ph idx="1" sz="half"/>
          </p:nvPr>
        </p:nvSpPr>
        <p:spPr/>
        <p:txBody>
          <a:bodyPr/>
          <a:lstStyle/>
          <a:p>
            <a:pPr lvl="0" indent="0" marL="0">
              <a:buNone/>
            </a:pPr>
            <a:r>
              <a:rPr/>
              <a:t>When working with multiple predictors, we often want to find the most parsimonious model. We can use:</a:t>
            </a:r>
          </a:p>
          <a:p>
            <a:pPr lvl="0" indent="-342900" marL="342900">
              <a:buAutoNum type="arabicPeriod"/>
            </a:pPr>
            <a:r>
              <a:rPr/>
              <a:t>Likelihood ratio tests for nested models</a:t>
            </a:r>
          </a:p>
          <a:p>
            <a:pPr lvl="0" indent="-342900" marL="342900">
              <a:buAutoNum type="arabicPeriod"/>
            </a:pPr>
            <a:r>
              <a:rPr/>
              <a:t>Information criteria (AIC, BIC) for non-nested models</a:t>
            </a:r>
          </a:p>
          <a:p>
            <a:pPr lvl="0" indent="-342900" marL="342900">
              <a:buAutoNum type="arabicPeriod"/>
            </a:pPr>
            <a:r>
              <a:rPr/>
              <a:t>Classification metrics like accuracy, sensitivity, and specificity</a:t>
            </a:r>
          </a:p>
          <a:p>
            <a:pPr lvl="0" indent="0" marL="0">
              <a:buNone/>
            </a:pPr>
            <a:r>
              <a:rPr/>
              <a:t>Let’s compare models and calculate AIC values:</a:t>
            </a:r>
          </a:p>
          <a:p>
            <a:pPr lvl="0" indent="0">
              <a:buNone/>
            </a:pPr>
            <a:r>
              <a:rPr>
                <a:latin typeface="Courier"/>
              </a:rPr>
              <a:t>##                         Model Parameters   AIC   BIC Deviance
## No Age                 No Age          3 17.05 20.71    11.05
## Full                     Full          4 17.27 22.15     9.27
## No Distance       No Distance          3 17.38 21.04    11.38
## Intercept Only Intercept Only          1 29.55 30.77    27.55
## No Shrub             No Shrub          3 32.73 36.39    26.73</a:t>
            </a:r>
          </a:p>
        </p:txBody>
      </p:sp>
      <p:sp>
        <p:nvSpPr>
          <p:cNvPr id="4" name="Content Placeholder 3"/>
          <p:cNvSpPr>
            <a:spLocks noGrp="1"/>
          </p:cNvSpPr>
          <p:nvPr>
            <p:ph idx="2" sz="half"/>
          </p:nvPr>
        </p:nvSpPr>
        <p:spPr/>
        <p:txBody>
          <a:bodyPr/>
          <a:lstStyle/>
          <a:p>
            <a:pPr lvl="0" indent="0" marL="0">
              <a:buNone/>
            </a:pPr>
            <a:r>
              <a:rPr/>
              <a:t>We can also evaluate the predictive performance of our model:</a:t>
            </a:r>
          </a:p>
          <a:p>
            <a:pPr lvl="0" indent="0">
              <a:buNone/>
            </a:pPr>
            <a:r>
              <a:rPr>
                <a:latin typeface="Courier"/>
              </a:rPr>
              <a:t>##          Actual
## Predicted Absent Present
##   Absent       5       2
##   Present      1      17
## 
## Accuracy: 0.88
## Sensitivity: 0.895
## Specificity: 0.833</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Publication-Quality Figure</a:t>
            </a:r>
          </a:p>
        </p:txBody>
      </p:sp>
      <p:sp>
        <p:nvSpPr>
          <p:cNvPr id="3" name="Content Placeholder 2"/>
          <p:cNvSpPr>
            <a:spLocks noGrp="1"/>
          </p:cNvSpPr>
          <p:nvPr>
            <p:ph idx="1"/>
          </p:nvPr>
        </p:nvSpPr>
        <p:spPr/>
        <p:txBody>
          <a:bodyPr/>
          <a:lstStyle/>
          <a:p>
            <a:pPr lvl="0" indent="0" marL="0">
              <a:buNone/>
            </a:pPr>
            <a:r>
              <a:rPr/>
              <a:t>Let’s create a publication-quality figure for our multiple logistic regression model and show how we would write up the results for a scientific publication.</a:t>
            </a:r>
          </a:p>
          <a:p>
            <a:pPr lvl="0" indent="0" marL="0">
              <a:buNone/>
            </a:pP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Example</a:t>
            </a:r>
          </a:p>
        </p:txBody>
      </p:sp>
      <p:sp>
        <p:nvSpPr>
          <p:cNvPr id="3" name="Content Placeholder 2"/>
          <p:cNvSpPr>
            <a:spLocks noGrp="1"/>
          </p:cNvSpPr>
          <p:nvPr>
            <p:ph idx="1"/>
          </p:nvPr>
        </p:nvSpPr>
        <p:spPr/>
        <p:txBody>
          <a:bodyPr/>
          <a:lstStyle/>
          <a:p>
            <a:pPr lvl="0" indent="0" marL="1270000">
              <a:buNone/>
            </a:pPr>
            <a:r>
              <a:rPr sz="2000" b="1"/>
              <a:t>Scientific Write-Up Example</a:t>
            </a:r>
          </a:p>
          <a:p>
            <a:pPr lvl="0" indent="0" marL="1270000">
              <a:buNone/>
            </a:pPr>
            <a:r>
              <a:rPr sz="2000" b="1"/>
              <a:t>Results</a:t>
            </a:r>
          </a:p>
          <a:p>
            <a:pPr lvl="0" indent="0" marL="1270000">
              <a:buNone/>
            </a:pPr>
            <a:r>
              <a:rPr sz="2000"/>
              <a:t>The presence of native rodents in canyon fragments was modeled using multiple logistic regression with three predictors: distance to nearest source canyon, years since isolation, and percentage of shrub cover. The model was statistically significant (χ² = 12.63, df = 3, p = 0.005) and explained 38.7% of the variation in rodent presence (McFadden’s R² = 0.387).</a:t>
            </a:r>
          </a:p>
          <a:p>
            <a:pPr lvl="0" indent="0" marL="1270000">
              <a:buNone/>
            </a:pPr>
            <a:r>
              <a:rPr sz="2000"/>
              <a:t>Among the predictors, only shrub cover had a statistically significant effect on rodent presence (β = 0.091, SE = 0.041, p = 0.026). The odds ratio for shrub cover was 1.095 (95% CI: 1.011-1.186), indicating that for each percentage increase in shrub cover, the odds of rodent presence increased by approximately 9.5%. Neither distance to source canyon (β = 0.0002, p = 0.690) nor years since isolation (β = 0.022, p = 0.566) showed significant relationships with rodent presence.</a:t>
            </a:r>
          </a:p>
          <a:p>
            <a:pPr lvl="0" indent="0" marL="1270000">
              <a:buNone/>
            </a:pPr>
            <a:r>
              <a:rPr sz="2000"/>
              <a:t>The model correctly classified 76% of the fragments, with a sensitivity of 0.77 and a specificity of 0.75. Diagnostics indicated no significant issues with model fit (Hosmer-Lemeshow χ² = 7.31, df = 8, p = 0.504).</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Example</a:t>
            </a:r>
          </a:p>
        </p:txBody>
      </p:sp>
      <p:sp>
        <p:nvSpPr>
          <p:cNvPr id="3" name="Content Placeholder 2"/>
          <p:cNvSpPr>
            <a:spLocks noGrp="1"/>
          </p:cNvSpPr>
          <p:nvPr>
            <p:ph idx="1"/>
          </p:nvPr>
        </p:nvSpPr>
        <p:spPr/>
        <p:txBody>
          <a:bodyPr/>
          <a:lstStyle/>
          <a:p>
            <a:pPr lvl="0" indent="0" marL="1270000">
              <a:buNone/>
            </a:pPr>
            <a:r>
              <a:rPr sz="2000" b="1"/>
              <a:t>Scientific Write-Up Example</a:t>
            </a:r>
          </a:p>
          <a:p>
            <a:pPr lvl="0" indent="0" marL="1270000">
              <a:buNone/>
            </a:pPr>
            <a:r>
              <a:rPr sz="2000" b="1"/>
              <a:t>Discussion</a:t>
            </a:r>
          </a:p>
          <a:p>
            <a:pPr lvl="0" indent="0" marL="1270000">
              <a:buNone/>
            </a:pPr>
            <a:r>
              <a:rPr sz="2000"/>
              <a:t>Our findings suggest that vegetation structure, as measured by shrub cover, plays a crucial role in determining the presence of native rodents in canyon fragments. The positive relationship between shrub cover and rodent occurrence likely reflects the importance of vegetation for providing food resources, shelter from predators, and suitable microhabitat conditions. Contrary to our expectations, isolation metrics (distance to source canyon and years since isolation) did not significantly predict rodent presence, suggesting that local habitat quality may be more important than landscape connectivity for these species.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Relationship Between GLMs and ANOVAs</a:t>
            </a:r>
          </a:p>
        </p:txBody>
      </p:sp>
      <p:sp>
        <p:nvSpPr>
          <p:cNvPr id="3" name="Content Placeholder 2"/>
          <p:cNvSpPr>
            <a:spLocks noGrp="1"/>
          </p:cNvSpPr>
          <p:nvPr>
            <p:ph idx="1"/>
          </p:nvPr>
        </p:nvSpPr>
        <p:spPr/>
        <p:txBody>
          <a:bodyPr/>
          <a:lstStyle/>
          <a:p>
            <a:pPr lvl="0" indent="0" marL="0">
              <a:spcBef>
                <a:spcPts val="3000"/>
              </a:spcBef>
              <a:buNone/>
            </a:pPr>
            <a:r>
              <a:rPr b="1"/>
              <a:t>GLMs and ANOVAs: The Connection</a:t>
            </a:r>
          </a:p>
          <a:p>
            <a:pPr lvl="0" indent="0" marL="0">
              <a:buNone/>
            </a:pPr>
            <a:r>
              <a:rPr/>
              <a:t>General linear models (including ANOVAs and standard regression) are special cases of Generalized Linear Models where:</a:t>
            </a:r>
          </a:p>
          <a:p>
            <a:pPr lvl="0" indent="-342900" marL="342900">
              <a:buAutoNum type="arabicPeriod"/>
            </a:pPr>
            <a:r>
              <a:rPr/>
              <a:t>The response variable follows a normal distribution</a:t>
            </a:r>
          </a:p>
          <a:p>
            <a:pPr lvl="0" indent="-342900" marL="342900">
              <a:buAutoNum type="arabicPeriod"/>
            </a:pPr>
            <a:r>
              <a:rPr/>
              <a:t>The link function is the identity function</a:t>
            </a:r>
          </a:p>
          <a:p>
            <a:pPr lvl="0"/>
            <a:r>
              <a:rPr/>
              <a:t>Therefore, a one-way ANOVA is equivalent to:</a:t>
            </a:r>
          </a:p>
          <a:p>
            <a:pPr lvl="1"/>
            <a:r>
              <a:rPr/>
              <a:t>A linear regression with a categorical predictor</a:t>
            </a:r>
          </a:p>
          <a:p>
            <a:pPr lvl="1"/>
            <a:r>
              <a:rPr/>
              <a:t>A Gaussian GLM with an identity link and a categorical predictor</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Demonstrating ANOVA-GLM Equivalence</a:t>
            </a:r>
          </a:p>
        </p:txBody>
      </p:sp>
      <p:sp>
        <p:nvSpPr>
          <p:cNvPr id="3" name="Content Placeholder 2"/>
          <p:cNvSpPr>
            <a:spLocks noGrp="1"/>
          </p:cNvSpPr>
          <p:nvPr>
            <p:ph idx="1"/>
          </p:nvPr>
        </p:nvSpPr>
        <p:spPr/>
        <p:txBody>
          <a:bodyPr/>
          <a:lstStyle/>
          <a:p>
            <a:pPr lvl="0" indent="0" marL="0">
              <a:buNone/>
            </a:pPr>
            <a:r>
              <a:rPr/>
              <a:t>Let’s demonstrate this equivalence:</a:t>
            </a:r>
          </a:p>
          <a:p>
            <a:pPr lvl="0" indent="0" marL="0">
              <a:buNone/>
            </a:pP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Assumptions and Diagnostics Summary</a:t>
            </a:r>
          </a:p>
        </p:txBody>
      </p:sp>
      <p:sp>
        <p:nvSpPr>
          <p:cNvPr id="3" name="Text Placeholder 2"/>
          <p:cNvSpPr>
            <a:spLocks noGrp="1"/>
          </p:cNvSpPr>
          <p:nvPr>
            <p:ph idx="1" type="body"/>
          </p:nvPr>
        </p:nvSpPr>
        <p:spPr/>
        <p:txBody>
          <a:bodyPr/>
          <a:lstStyle/>
          <a:p>
            <a:pPr lvl="0"/>
            <a:r>
              <a:rPr/>
              <a:t>Generalized Linear Models- assumptions depend on distribution+link function used:</a:t>
            </a:r>
          </a:p>
          <a:p>
            <a:pPr lvl="0"/>
            <a:r>
              <a:rPr b="1"/>
              <a:t>All GLMs:</a:t>
            </a:r>
          </a:p>
          <a:p>
            <a:pPr lvl="1"/>
            <a:r>
              <a:rPr/>
              <a:t>Independence of observations, No outliers, No Multicolinearity</a:t>
            </a:r>
          </a:p>
          <a:p>
            <a:pPr lvl="1"/>
            <a:r>
              <a:rPr/>
              <a:t>Correct specification of the link function /variance structure</a:t>
            </a:r>
          </a:p>
          <a:p>
            <a:pPr lvl="0"/>
            <a:r>
              <a:rPr b="1"/>
              <a:t>Gaussian GLMs (including linear regression):</a:t>
            </a:r>
          </a:p>
          <a:p>
            <a:pPr lvl="1"/>
            <a:r>
              <a:rPr/>
              <a:t>Normality of residuals</a:t>
            </a:r>
          </a:p>
          <a:p>
            <a:pPr lvl="1"/>
            <a:r>
              <a:rPr/>
              <a:t>Homogeneity of variance</a:t>
            </a:r>
          </a:p>
          <a:p>
            <a:pPr lvl="0"/>
            <a:r>
              <a:rPr b="1"/>
              <a:t>Poisson GLMs:</a:t>
            </a:r>
          </a:p>
          <a:p>
            <a:pPr lvl="1"/>
            <a:r>
              <a:rPr/>
              <a:t>Count data (non-negative integers)</a:t>
            </a:r>
          </a:p>
          <a:p>
            <a:pPr lvl="1"/>
            <a:r>
              <a:rPr/>
              <a:t>Mean equals variance - overdispersed = negative binomial)</a:t>
            </a:r>
          </a:p>
          <a:p>
            <a:pPr lvl="0"/>
            <a:r>
              <a:rPr b="1"/>
              <a:t>Logistic GLMs:</a:t>
            </a:r>
          </a:p>
          <a:p>
            <a:pPr lvl="1"/>
            <a:r>
              <a:rPr/>
              <a:t>Binary response variable</a:t>
            </a:r>
          </a:p>
          <a:p>
            <a:pPr lvl="1"/>
            <a:r>
              <a:rPr/>
              <a:t>Linear relationship between predictors and log odds</a:t>
            </a:r>
          </a:p>
          <a:p>
            <a:pPr lvl="1"/>
            <a:r>
              <a:rPr/>
              <a:t>Adequate sample size relative to number of parameters</a:t>
            </a:r>
          </a:p>
        </p:txBody>
      </p:sp>
      <p:sp>
        <p:nvSpPr>
          <p:cNvPr id="5" name="Text Placeholder 4"/>
          <p:cNvSpPr>
            <a:spLocks noGrp="1"/>
          </p:cNvSpPr>
          <p:nvPr>
            <p:ph idx="3" sz="quarter" type="body"/>
          </p:nvPr>
        </p:nvSpPr>
        <p:spPr/>
        <p:txBody>
          <a:bodyPr/>
          <a:lstStyle/>
          <a:p>
            <a:pPr lvl="0" indent="0" marL="0">
              <a:buNone/>
            </a:pPr>
            <a:r>
              <a:rPr/>
              <a:t>The following R code checks some common diagnostics for our logistic model:</a:t>
            </a:r>
          </a:p>
        </p:txBody>
      </p:sp>
      <p:pic>
        <p:nvPicPr>
          <p:cNvPr descr="14_01_lecture_powerpoint_files/figure-pptx/diagnostic-summary-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and Conclusions</a:t>
            </a:r>
          </a:p>
        </p:txBody>
      </p:sp>
      <p:sp>
        <p:nvSpPr>
          <p:cNvPr id="3" name="Content Placeholder 2"/>
          <p:cNvSpPr>
            <a:spLocks noGrp="1"/>
          </p:cNvSpPr>
          <p:nvPr>
            <p:ph idx="1"/>
          </p:nvPr>
        </p:nvSpPr>
        <p:spPr/>
        <p:txBody>
          <a:bodyPr/>
          <a:lstStyle/>
          <a:p>
            <a:pPr lvl="0" indent="0" marL="0">
              <a:buNone/>
            </a:pPr>
            <a:r>
              <a:rPr/>
              <a:t>Generalized Linear Models (GLMs) provide a powerful and flexible framework for analyzing a wide range of data types in biology:</a:t>
            </a:r>
          </a:p>
          <a:p>
            <a:pPr lvl="0" indent="-342900" marL="342900">
              <a:buAutoNum type="arabicPeriod"/>
            </a:pPr>
            <a:r>
              <a:rPr b="1"/>
              <a:t>Gaussian GLMs</a:t>
            </a:r>
            <a:r>
              <a:rPr/>
              <a:t> with identity link function equivalent to standard linear models and ANOVAs</a:t>
            </a:r>
          </a:p>
          <a:p>
            <a:pPr lvl="0" indent="-342900" marL="342900">
              <a:buAutoNum type="arabicPeriod"/>
            </a:pPr>
            <a:r>
              <a:rPr b="1"/>
              <a:t>Poisson GLMs</a:t>
            </a:r>
            <a:r>
              <a:rPr/>
              <a:t> with log link function are appropriate for count data, but be cautious of overdispersion.</a:t>
            </a:r>
          </a:p>
          <a:p>
            <a:pPr lvl="0" indent="-342900" marL="342900">
              <a:buAutoNum type="arabicPeriod"/>
            </a:pPr>
            <a:r>
              <a:rPr b="1"/>
              <a:t>Negative Binomial</a:t>
            </a:r>
            <a:r>
              <a:rPr/>
              <a:t> works with overdispersed data</a:t>
            </a:r>
          </a:p>
          <a:p>
            <a:pPr lvl="0" indent="-342900" marL="342900">
              <a:buAutoNum type="arabicPeriod"/>
            </a:pPr>
            <a:r>
              <a:rPr b="1"/>
              <a:t>Logistic GLMs</a:t>
            </a:r>
            <a:r>
              <a:rPr/>
              <a:t> with logit link function are useful for binary responses - probability of success or presence.</a:t>
            </a:r>
          </a:p>
          <a:p>
            <a:pPr lvl="0"/>
            <a:r>
              <a:rPr/>
              <a:t>Key advantages of GLMs include:</a:t>
            </a:r>
          </a:p>
          <a:p>
            <a:pPr lvl="1"/>
            <a:r>
              <a:rPr/>
              <a:t>Handle various response variables beyond normal distributions</a:t>
            </a:r>
          </a:p>
          <a:p>
            <a:pPr lvl="1"/>
            <a:r>
              <a:rPr/>
              <a:t>Unified framework for linear modeling</a:t>
            </a:r>
          </a:p>
          <a:p>
            <a:pPr lvl="1"/>
            <a:r>
              <a:rPr/>
              <a:t>Flexibility in specifying the link function to match the data structure</a:t>
            </a:r>
          </a:p>
          <a:p>
            <a:pPr lvl="1"/>
            <a:r>
              <a:rPr/>
              <a:t>Interpretable parameters, though interpretation differs by model type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and Conclusions</a:t>
            </a:r>
          </a:p>
        </p:txBody>
      </p:sp>
      <p:sp>
        <p:nvSpPr>
          <p:cNvPr id="3" name="Content Placeholder 2"/>
          <p:cNvSpPr>
            <a:spLocks noGrp="1"/>
          </p:cNvSpPr>
          <p:nvPr>
            <p:ph idx="1"/>
          </p:nvPr>
        </p:nvSpPr>
        <p:spPr/>
        <p:txBody>
          <a:bodyPr/>
          <a:lstStyle/>
          <a:p>
            <a:pPr lvl="0" indent="0" marL="0">
              <a:buNone/>
            </a:pPr>
            <a:r>
              <a:rPr/>
              <a:t>When working with GLMs:</a:t>
            </a:r>
          </a:p>
          <a:p>
            <a:pPr lvl="0" indent="-342900" marL="342900">
              <a:buAutoNum type="arabicPeriod"/>
            </a:pPr>
            <a:r>
              <a:rPr/>
              <a:t>Choose the appropriate distribution family based on your response variable</a:t>
            </a:r>
          </a:p>
          <a:p>
            <a:pPr lvl="0" indent="-342900" marL="342900">
              <a:buAutoNum type="arabicPeriod"/>
            </a:pPr>
            <a:r>
              <a:rPr/>
              <a:t>Verify model assumptions through diagnostic plots</a:t>
            </a:r>
          </a:p>
          <a:p>
            <a:pPr lvl="0" indent="-342900" marL="342900">
              <a:buAutoNum type="arabicPeriod"/>
            </a:pPr>
            <a:r>
              <a:rPr/>
              <a:t>Watch for overdispersion in count data</a:t>
            </a:r>
          </a:p>
          <a:p>
            <a:pPr lvl="0" indent="-342900" marL="342900">
              <a:buAutoNum type="arabicPeriod"/>
            </a:pPr>
            <a:r>
              <a:rPr/>
              <a:t>Use odds ratios to interpret logistic regression results</a:t>
            </a:r>
          </a:p>
          <a:p>
            <a:pPr lvl="0" indent="-342900" marL="342900">
              <a:buAutoNum type="arabicPeriod"/>
            </a:pPr>
            <a:r>
              <a:rPr/>
              <a:t>Compare competing models using likelihood ratio tests and information criteria</a:t>
            </a:r>
          </a:p>
          <a:p>
            <a:pPr lvl="0" indent="0" marL="0">
              <a:buNone/>
            </a:pPr>
            <a:r>
              <a:rPr/>
              <a:t>This framework allows biologists to appropriately model many types of data encountered in ecological, behavioral, and physiological research.</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Agresti, A. (1996). An Introduction to Categorical Data Analysis. Wiley, New York.</a:t>
            </a:r>
          </a:p>
          <a:p>
            <a:pPr lvl="0" indent="0" marL="0">
              <a:buNone/>
            </a:pPr>
            <a:r>
              <a:rPr/>
              <a:t>Bolger, D. T., Alberts, A. C., Sauvajot, R. M., Potenza, P., McCalvin, C., Tran, D., Mazzoni, S., &amp; Soulé, M. E. (1997). Response of rodents to habitat fragmentation in coastal southern California. Ecological Applications, 7(2), 552-563.</a:t>
            </a:r>
          </a:p>
          <a:p>
            <a:pPr lvl="0" indent="0" marL="0">
              <a:buNone/>
            </a:pPr>
            <a:r>
              <a:rPr/>
              <a:t>Christensen, R. (1997). Log-linear Models and Logistic Regression. Springer, New York.</a:t>
            </a:r>
          </a:p>
          <a:p>
            <a:pPr lvl="0" indent="0" marL="0">
              <a:buNone/>
            </a:pPr>
            <a:r>
              <a:rPr/>
              <a:t>Hosmer, D. W., &amp; Lemeshow, S. (1989). Applied Logistic Regression. Wiley, New York.</a:t>
            </a:r>
          </a:p>
          <a:p>
            <a:pPr lvl="0" indent="0" marL="0">
              <a:buNone/>
            </a:pPr>
            <a:r>
              <a:rPr/>
              <a:t>McCullagh, P., &amp; Nelder, J. A. (1989). Generalized Linear Models. Chapman and Hall, London.</a:t>
            </a:r>
          </a:p>
          <a:p>
            <a:pPr lvl="0" indent="0" marL="0">
              <a:buNone/>
            </a:pPr>
            <a:r>
              <a:rPr/>
              <a:t>Polis, G. A., Hurd, S. D., Jackson, C. T., &amp; Piñero, F. S. (1998). Multifactor analysis of ecosystem patterns on islands in the Gulf of California. Ecological Monographs, 68, 490-502.</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14 - Generalized Linear Models</dc:title>
  <dc:creator>Bill Perry</dc:creator>
  <cp:keywords/>
  <dcterms:created xsi:type="dcterms:W3CDTF">2025-11-08T18:32:31Z</dcterms:created>
  <dcterms:modified xsi:type="dcterms:W3CDTF">2025-11-08T18:32:31Z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toc-title">
    <vt:lpwstr>Table of contents</vt:lpwstr>
  </property>
</Properties>
</file>