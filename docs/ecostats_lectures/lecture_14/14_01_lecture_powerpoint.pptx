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2" Type="http://schemas.openxmlformats.org/officeDocument/2006/relationships/viewProps" Target="viewProps.xml" /><Relationship Id="rId31" Type="http://schemas.openxmlformats.org/officeDocument/2006/relationships/presProps" Target="presProps.xml" /><Relationship Id="rId1" Type="http://schemas.openxmlformats.org/officeDocument/2006/relationships/slideMaster" Target="slideMasters/slideMaster1.xml" /><Relationship Id="rId34" Type="http://schemas.openxmlformats.org/officeDocument/2006/relationships/tableStyles" Target="tableStyles.xml" /><Relationship Id="rId33"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6.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8.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0.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2.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14 - Generalized Linear Models</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13: Review of ANOVAs</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a:r>
              <a:rPr/>
              <a:t>ANOVA</a:t>
            </a:r>
          </a:p>
          <a:p>
            <a:pPr lvl="0"/>
            <a:r>
              <a:rPr/>
              <a:t>Factorial ANOVA</a:t>
            </a:r>
          </a:p>
          <a:p>
            <a:pPr lvl="0"/>
            <a:r>
              <a:rPr/>
              <a:t>Nested ANOVA</a:t>
            </a:r>
          </a:p>
          <a:p>
            <a:pPr lvl="0"/>
            <a:r>
              <a:rPr/>
              <a:t>ASSUMPTIONS OF ALL</a:t>
            </a:r>
          </a:p>
          <a:p>
            <a:pPr lvl="1"/>
            <a:r>
              <a:rPr/>
              <a:t>Homogeneity of variance - Levenes or Bartlets Test</a:t>
            </a:r>
          </a:p>
          <a:p>
            <a:pPr lvl="1"/>
            <a:r>
              <a:rPr/>
              <a:t>Normality of Residuals</a:t>
            </a:r>
          </a:p>
          <a:p>
            <a:pPr lvl="1"/>
            <a:r>
              <a:rPr/>
              <a:t>Independence</a:t>
            </a:r>
          </a:p>
        </p:txBody>
      </p:sp>
      <p:sp>
        <p:nvSpPr>
          <p:cNvPr id="4" name="Content Placeholder 3"/>
          <p:cNvSpPr>
            <a:spLocks noGrp="1"/>
          </p:cNvSpPr>
          <p:nvPr>
            <p:ph idx="2" sz="half"/>
          </p:nvPr>
        </p:nvSpPr>
        <p:spPr/>
        <p:txBody>
          <a:bodyPr/>
          <a:lstStyle/>
          <a:p>
            <a:pPr lvl="0" indent="0" marL="0">
              <a:buNone/>
            </a:pPr>
            <a:r>
              <a:rPr/>
              <a:t>NEED IMAGE FOR REVIEW</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14: GLM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indent="0" marL="0">
              <a:buNone/>
            </a:pPr>
            <a:r>
              <a:rPr/>
              <a:t>General Linear Models GLM</a:t>
            </a:r>
          </a:p>
          <a:p>
            <a:pPr lvl="0"/>
            <a:r>
              <a:rPr/>
              <a:t>Essentially the same as before while using defined distributions</a:t>
            </a:r>
          </a:p>
          <a:p>
            <a:pPr lvl="1"/>
            <a:r>
              <a:rPr/>
              <a:t>Normal</a:t>
            </a:r>
          </a:p>
          <a:p>
            <a:pPr lvl="1"/>
            <a:r>
              <a:rPr/>
              <a:t>Lognormal</a:t>
            </a:r>
          </a:p>
          <a:p>
            <a:pPr lvl="1"/>
            <a:r>
              <a:rPr/>
              <a:t>Binomial</a:t>
            </a:r>
          </a:p>
          <a:p>
            <a:pPr lvl="1"/>
            <a:r>
              <a:rPr/>
              <a:t>Poisson</a:t>
            </a:r>
          </a:p>
          <a:p>
            <a:pPr lvl="1"/>
            <a:r>
              <a:rPr/>
              <a:t>Gamma</a:t>
            </a:r>
          </a:p>
          <a:p>
            <a:pPr lvl="1"/>
            <a:r>
              <a:rPr/>
              <a:t>Negative binomial</a:t>
            </a:r>
          </a:p>
          <a:p>
            <a:pPr lvl="0" indent="0" marL="0">
              <a:buNone/>
            </a:pPr>
            <a:r>
              <a:rPr/>
              <a:t>Logistic Regression</a:t>
            </a:r>
          </a:p>
          <a:p>
            <a:pPr lvl="0"/>
            <a:r>
              <a:rPr/>
              <a:t>when the outcome is yes or no</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Generalized Linear Models (GLMs)</a:t>
            </a:r>
          </a:p>
        </p:txBody>
      </p:sp>
      <p:sp>
        <p:nvSpPr>
          <p:cNvPr id="3" name="Content Placeholder 2"/>
          <p:cNvSpPr>
            <a:spLocks noGrp="1"/>
          </p:cNvSpPr>
          <p:nvPr>
            <p:ph idx="1" sz="half"/>
          </p:nvPr>
        </p:nvSpPr>
        <p:spPr/>
        <p:txBody>
          <a:bodyPr/>
          <a:lstStyle/>
          <a:p>
            <a:pPr lvl="0" indent="0" marL="0">
              <a:buNone/>
            </a:pPr>
            <a:r>
              <a:rPr/>
              <a:t>General linear models assume normal distribution of response variables and residuals. However, many types of biological data don’t meet this assumption. Generalized Linear Models (GLMs) allow for a wider range of probability distributions for the response variable.</a:t>
            </a:r>
          </a:p>
          <a:p>
            <a:pPr lvl="0" indent="0" marL="0">
              <a:buNone/>
            </a:pPr>
            <a:r>
              <a:rPr/>
              <a:t>GLMs allow all types of “exponential family” distributions:</a:t>
            </a:r>
          </a:p>
          <a:p>
            <a:pPr lvl="0"/>
            <a:r>
              <a:rPr/>
              <a:t>Normal</a:t>
            </a:r>
          </a:p>
          <a:p>
            <a:pPr lvl="0"/>
            <a:r>
              <a:rPr/>
              <a:t>Lognormal</a:t>
            </a:r>
          </a:p>
          <a:p>
            <a:pPr lvl="0"/>
            <a:r>
              <a:rPr/>
              <a:t>Binomial</a:t>
            </a:r>
          </a:p>
          <a:p>
            <a:pPr lvl="0"/>
            <a:r>
              <a:rPr/>
              <a:t>Poisson</a:t>
            </a:r>
          </a:p>
          <a:p>
            <a:pPr lvl="0"/>
            <a:r>
              <a:rPr/>
              <a:t>Gamma</a:t>
            </a:r>
          </a:p>
          <a:p>
            <a:pPr lvl="0"/>
            <a:r>
              <a:rPr/>
              <a:t>Negative binomial</a:t>
            </a:r>
          </a:p>
          <a:p>
            <a:pPr lvl="0" indent="0" marL="0">
              <a:buNone/>
            </a:pPr>
            <a:r>
              <a:rPr/>
              <a:t>GLMs can be used for binary (yes/no), discrete (count), and categorical/multinomial response variables, using maximum likelihood (ML) rather than ordinary least squares (OLS) for estimation.</a:t>
            </a:r>
          </a:p>
          <a:p>
            <a:pPr lvl="0" indent="0" marL="0">
              <a:buNone/>
            </a:pPr>
            <a:r>
              <a:rPr b="1"/>
              <a:t>Note:</a:t>
            </a:r>
            <a:r>
              <a:rPr/>
              <a:t> GLMs extend linear models to non-normal data distributions.</a:t>
            </a:r>
          </a:p>
        </p:txBody>
      </p:sp>
      <p:pic>
        <p:nvPicPr>
          <p:cNvPr descr="14_01_lecture_powerpoint_files/figure-pptx/glm-distributions-1.png" id="0" name="Picture 1"/>
          <p:cNvPicPr>
            <a:picLocks noGrp="1" noChangeAspect="1"/>
          </p:cNvPicPr>
          <p:nvPr/>
        </p:nvPicPr>
        <p:blipFill>
          <a:blip r:embed="rId2"/>
          <a:stretch>
            <a:fillRect/>
          </a:stretch>
        </p:blipFill>
        <p:spPr bwMode="auto">
          <a:xfrm>
            <a:off x="6121400" y="1790700"/>
            <a:ext cx="2781300" cy="1714500"/>
          </a:xfrm>
          <a:prstGeom prst="rect">
            <a:avLst/>
          </a:prstGeom>
          <a:noFill/>
          <a:ln w="9525">
            <a:noFill/>
            <a:headEnd/>
            <a:tailEnd/>
          </a:ln>
        </p:spPr>
      </p:pic>
      <p:sp>
        <p:nvSpPr>
          <p:cNvPr id="1" name="TextBox 3"/>
          <p:cNvSpPr txBox="1"/>
          <p:nvPr/>
        </p:nvSpPr>
        <p:spPr>
          <a:xfrm>
            <a:off x="6121400" y="4622800"/>
            <a:ext cx="2781300" cy="508000"/>
          </a:xfrm>
          <a:prstGeom prst="rect">
            <a:avLst/>
          </a:prstGeom>
          <a:noFill/>
        </p:spPr>
        <p:txBody>
          <a:bodyPr/>
          <a:lstStyle/>
          <a:p>
            <a:pPr lvl="0" indent="0" marL="0" algn="ctr">
              <a:buNone/>
            </a:pPr>
            <a:r>
              <a:rPr/>
              <a:t>Examples of distributions in the exponential family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Three Elements of a GLM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GLMs consist of three components:</a:t>
                </a:r>
              </a:p>
              <a:p>
                <a:pPr lvl="0" indent="-342900" marL="342900">
                  <a:buAutoNum type="arabicPeriod"/>
                </a:pPr>
                <a:r>
                  <a:rPr b="1"/>
                  <a:t>Random component</a:t>
                </a:r>
                <a:r>
                  <a:rPr/>
                  <a:t>: The response variable and its probability distribution (from exponential family: normal, binomial, Poisson)</a:t>
                </a:r>
              </a:p>
              <a:p>
                <a:pPr lvl="0" indent="-342900" marL="342900">
                  <a:buAutoNum type="arabicPeriod"/>
                </a:pPr>
                <a:r>
                  <a:rPr b="1"/>
                  <a:t>Systematic component</a:t>
                </a:r>
                <a:r>
                  <a:rPr/>
                  <a:t>: The predictor variable(s) in the model, which can be continuous or categorical</a:t>
                </a:r>
              </a:p>
              <a:p>
                <a:pPr lvl="0" indent="-342900" marL="342900">
                  <a:buAutoNum type="arabicPeriod"/>
                </a:pPr>
                <a:r>
                  <a:rPr b="1"/>
                  <a:t>Link function</a:t>
                </a:r>
                <a:r>
                  <a:rPr/>
                  <a:t>: Connects expected value of Y to predictor variables</a:t>
                </a:r>
              </a:p>
              <a:p>
                <a:pPr lvl="0" indent="0" marL="0">
                  <a:buNone/>
                </a:pPr>
                <a14:m>
                  <m:oMathPara xmlns:m="http://schemas.openxmlformats.org/officeDocument/2006/math">
                    <m:oMathParaPr>
                      <m:jc m:val="center"/>
                    </m:oMathParaPr>
                    <m:oMath>
                      <m:r>
                        <m:t>g</m:t>
                      </m:r>
                      <m:d>
                        <m:dPr>
                          <m:begChr m:val="("/>
                          <m:endChr m:val=")"/>
                          <m:sepChr m:val=""/>
                          <m:grow/>
                        </m:dPr>
                        <m:e>
                          <m:r>
                            <m:t>μ</m:t>
                          </m:r>
                        </m:e>
                      </m:d>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oMath>
                  </m:oMathPara>
                </a14:m>
              </a:p>
              <a:p>
                <a:pPr lvl="0" indent="0" marL="1270000">
                  <a:buNone/>
                </a:pPr>
                <a:r>
                  <a:rPr sz="2000" b="1"/>
                  <a:t>Link Functions and Distributions</a:t>
                </a:r>
              </a:p>
            </p:txBody>
          </p:sp>
        </mc:Choice>
      </mc:AlternateContent>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Gaussian (Normal) Distribution: Setup</a:t>
            </a:r>
          </a:p>
        </p:txBody>
      </p:sp>
      <p:sp>
        <p:nvSpPr>
          <p:cNvPr id="3" name="Content Placeholder 2"/>
          <p:cNvSpPr>
            <a:spLocks noGrp="1"/>
          </p:cNvSpPr>
          <p:nvPr>
            <p:ph idx="1" sz="half"/>
          </p:nvPr>
        </p:nvSpPr>
        <p:spPr/>
        <p:txBody>
          <a:bodyPr/>
          <a:lstStyle/>
          <a:p>
            <a:pPr lvl="0" indent="0" marL="0">
              <a:buNone/>
            </a:pPr>
            <a:r>
              <a:rPr/>
              <a:t>The simplest form of GLM uses a normal (Gaussian) distribution with an identity link function. This is equivalent to standard linear regression.</a:t>
            </a:r>
          </a:p>
          <a:p>
            <a:pPr lvl="0" indent="0" marL="0">
              <a:buNone/>
            </a:pPr>
            <a:r>
              <a:rPr/>
              <a:t>Let’s compare a standard linear model and a Gaussian GLM using the </a:t>
            </a:r>
            <a:r>
              <a:rPr>
                <a:latin typeface="Courier"/>
              </a:rPr>
              <a:t>mtcars</a:t>
            </a:r>
            <a:r>
              <a:rPr/>
              <a:t> dataset, modeling miles per gallon (mpg) by the number of cylinders (cyl).</a:t>
            </a:r>
          </a:p>
          <a:p>
            <a:pPr lvl="0" indent="0">
              <a:buNone/>
            </a:pPr>
            <a:r>
              <a:rPr>
                <a:solidFill>
                  <a:srgbClr val="5E5E5E"/>
                </a:solidFill>
                <a:latin typeface="Courier"/>
              </a:rPr>
              <a:t># Convert cylinders to a factor</a:t>
            </a:r>
            <a:br/>
            <a:r>
              <a:rPr>
                <a:solidFill>
                  <a:srgbClr val="003B4F"/>
                </a:solidFill>
                <a:latin typeface="Courier"/>
              </a:rPr>
              <a:t>mtcars &lt;- mtcars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cyl =</a:t>
            </a:r>
            <a:r>
              <a:rPr>
                <a:solidFill>
                  <a:srgbClr val="003B4F"/>
                </a:solidFill>
                <a:latin typeface="Courier"/>
              </a:rPr>
              <a:t> </a:t>
            </a:r>
            <a:r>
              <a:rPr>
                <a:solidFill>
                  <a:srgbClr val="4758AB"/>
                </a:solidFill>
                <a:latin typeface="Courier"/>
              </a:rPr>
              <a:t>factor</a:t>
            </a:r>
            <a:r>
              <a:rPr>
                <a:solidFill>
                  <a:srgbClr val="003B4F"/>
                </a:solidFill>
                <a:latin typeface="Courier"/>
              </a:rPr>
              <a:t>(cyl))</a:t>
            </a:r>
            <a:br/>
            <a:br/>
            <a:r>
              <a:rPr>
                <a:solidFill>
                  <a:srgbClr val="5E5E5E"/>
                </a:solidFill>
                <a:latin typeface="Courier"/>
              </a:rPr>
              <a:t># Fit a standard linear model</a:t>
            </a:r>
            <a:br/>
            <a:r>
              <a:rPr>
                <a:solidFill>
                  <a:srgbClr val="003B4F"/>
                </a:solidFill>
                <a:latin typeface="Courier"/>
              </a:rPr>
              <a:t>model_lm &lt;- </a:t>
            </a:r>
            <a:r>
              <a:rPr>
                <a:solidFill>
                  <a:srgbClr val="4758AB"/>
                </a:solidFill>
                <a:latin typeface="Courier"/>
              </a:rPr>
              <a:t>lm</a:t>
            </a:r>
            <a:r>
              <a:rPr>
                <a:solidFill>
                  <a:srgbClr val="003B4F"/>
                </a:solidFill>
                <a:latin typeface="Courier"/>
              </a:rPr>
              <a:t>(mpg </a:t>
            </a:r>
            <a:r>
              <a:rPr>
                <a:solidFill>
                  <a:srgbClr val="5E5E5E"/>
                </a:solidFill>
                <a:latin typeface="Courier"/>
              </a:rPr>
              <a:t>~</a:t>
            </a:r>
            <a:r>
              <a:rPr>
                <a:solidFill>
                  <a:srgbClr val="003B4F"/>
                </a:solidFill>
                <a:latin typeface="Courier"/>
              </a:rPr>
              <a:t> cyl, </a:t>
            </a:r>
            <a:r>
              <a:rPr>
                <a:solidFill>
                  <a:srgbClr val="657422"/>
                </a:solidFill>
                <a:latin typeface="Courier"/>
              </a:rPr>
              <a:t>data =</a:t>
            </a:r>
            <a:r>
              <a:rPr>
                <a:solidFill>
                  <a:srgbClr val="003B4F"/>
                </a:solidFill>
                <a:latin typeface="Courier"/>
              </a:rPr>
              <a:t> mtcars)</a:t>
            </a:r>
            <a:br/>
            <a:br/>
            <a:r>
              <a:rPr>
                <a:solidFill>
                  <a:srgbClr val="5E5E5E"/>
                </a:solidFill>
                <a:latin typeface="Courier"/>
              </a:rPr>
              <a:t># Fit a Gaussian GLM</a:t>
            </a:r>
            <a:br/>
            <a:r>
              <a:rPr>
                <a:solidFill>
                  <a:srgbClr val="003B4F"/>
                </a:solidFill>
                <a:latin typeface="Courier"/>
              </a:rPr>
              <a:t>model_gaussian &lt;- </a:t>
            </a:r>
            <a:r>
              <a:rPr>
                <a:solidFill>
                  <a:srgbClr val="4758AB"/>
                </a:solidFill>
                <a:latin typeface="Courier"/>
              </a:rPr>
              <a:t>glm</a:t>
            </a:r>
            <a:r>
              <a:rPr>
                <a:solidFill>
                  <a:srgbClr val="003B4F"/>
                </a:solidFill>
                <a:latin typeface="Courier"/>
              </a:rPr>
              <a:t>(mpg </a:t>
            </a:r>
            <a:r>
              <a:rPr>
                <a:solidFill>
                  <a:srgbClr val="5E5E5E"/>
                </a:solidFill>
                <a:latin typeface="Courier"/>
              </a:rPr>
              <a:t>~</a:t>
            </a:r>
            <a:r>
              <a:rPr>
                <a:solidFill>
                  <a:srgbClr val="003B4F"/>
                </a:solidFill>
                <a:latin typeface="Courier"/>
              </a:rPr>
              <a:t> cyl, </a:t>
            </a:r>
            <a:br/>
            <a:r>
              <a:rPr>
                <a:solidFill>
                  <a:srgbClr val="003B4F"/>
                </a:solidFill>
                <a:latin typeface="Courier"/>
              </a:rPr>
              <a:t>                       </a:t>
            </a:r>
            <a:r>
              <a:rPr>
                <a:solidFill>
                  <a:srgbClr val="657422"/>
                </a:solidFill>
                <a:latin typeface="Courier"/>
              </a:rPr>
              <a:t>data =</a:t>
            </a:r>
            <a:r>
              <a:rPr>
                <a:solidFill>
                  <a:srgbClr val="003B4F"/>
                </a:solidFill>
                <a:latin typeface="Courier"/>
              </a:rPr>
              <a:t> mtcars,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gaussian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"identity"</a:t>
            </a:r>
            <a:r>
              <a:rPr>
                <a:solidFill>
                  <a:srgbClr val="003B4F"/>
                </a:solidFill>
                <a:latin typeface="Courier"/>
              </a:rPr>
              <a:t>))</a:t>
            </a:r>
            <a:br/>
            <a:br/>
            <a:r>
              <a:rPr>
                <a:solidFill>
                  <a:srgbClr val="5E5E5E"/>
                </a:solidFill>
                <a:latin typeface="Courier"/>
              </a:rPr>
              <a:t># Compare the coefficients</a:t>
            </a:r>
            <a:br/>
            <a:r>
              <a:rPr>
                <a:solidFill>
                  <a:srgbClr val="003B4F"/>
                </a:solidFill>
                <a:latin typeface="Courier"/>
              </a:rPr>
              <a:t>coef_lm &lt;- </a:t>
            </a:r>
            <a:r>
              <a:rPr>
                <a:solidFill>
                  <a:srgbClr val="4758AB"/>
                </a:solidFill>
                <a:latin typeface="Courier"/>
              </a:rPr>
              <a:t>coefficients</a:t>
            </a:r>
            <a:r>
              <a:rPr>
                <a:solidFill>
                  <a:srgbClr val="003B4F"/>
                </a:solidFill>
                <a:latin typeface="Courier"/>
              </a:rPr>
              <a:t>(model_lm)</a:t>
            </a:r>
            <a:br/>
            <a:r>
              <a:rPr>
                <a:solidFill>
                  <a:srgbClr val="003B4F"/>
                </a:solidFill>
                <a:latin typeface="Courier"/>
              </a:rPr>
              <a:t>coef_glm &lt;- </a:t>
            </a:r>
            <a:r>
              <a:rPr>
                <a:solidFill>
                  <a:srgbClr val="4758AB"/>
                </a:solidFill>
                <a:latin typeface="Courier"/>
              </a:rPr>
              <a:t>coefficients</a:t>
            </a:r>
            <a:r>
              <a:rPr>
                <a:solidFill>
                  <a:srgbClr val="003B4F"/>
                </a:solidFill>
                <a:latin typeface="Courier"/>
              </a:rPr>
              <a:t>(model_gaussian)</a:t>
            </a:r>
            <a:br/>
            <a:br/>
            <a:r>
              <a:rPr>
                <a:solidFill>
                  <a:srgbClr val="5E5E5E"/>
                </a:solidFill>
                <a:latin typeface="Courier"/>
              </a:rPr>
              <a:t># Check if they're the same</a:t>
            </a:r>
            <a:br/>
            <a:r>
              <a:rPr>
                <a:solidFill>
                  <a:srgbClr val="4758AB"/>
                </a:solidFill>
                <a:latin typeface="Courier"/>
              </a:rPr>
              <a:t>all.equal</a:t>
            </a:r>
            <a:r>
              <a:rPr>
                <a:solidFill>
                  <a:srgbClr val="003B4F"/>
                </a:solidFill>
                <a:latin typeface="Courier"/>
              </a:rPr>
              <a:t>(coef_lm, coef_glm)</a:t>
            </a:r>
          </a:p>
          <a:p>
            <a:pPr lvl="0" indent="0">
              <a:buNone/>
            </a:pPr>
            <a:r>
              <a:rPr>
                <a:latin typeface="Courier"/>
              </a:rPr>
              <a:t>[1] TRUE</a:t>
            </a:r>
          </a:p>
        </p:txBody>
      </p:sp>
      <p:sp>
        <p:nvSpPr>
          <p:cNvPr id="4" name="Content Placeholder 3"/>
          <p:cNvSpPr>
            <a:spLocks noGrp="1"/>
          </p:cNvSpPr>
          <p:nvPr>
            <p:ph idx="2" sz="half"/>
          </p:nvPr>
        </p:nvSpPr>
        <p:spPr/>
        <p:txBody>
          <a:bodyPr/>
          <a:lstStyle/>
          <a:p>
            <a:pPr lvl="0" indent="0" marL="0">
              <a:buNone/>
            </a:pPr>
            <a:r>
              <a:rPr/>
              <a:t>Let’s look at the summary of our Gaussian GLM:</a:t>
            </a:r>
          </a:p>
          <a:p>
            <a:pPr lvl="0" indent="0">
              <a:buNone/>
            </a:pPr>
            <a:r>
              <a:rPr>
                <a:solidFill>
                  <a:srgbClr val="4758AB"/>
                </a:solidFill>
                <a:latin typeface="Courier"/>
              </a:rPr>
              <a:t>summary</a:t>
            </a:r>
            <a:r>
              <a:rPr>
                <a:solidFill>
                  <a:srgbClr val="003B4F"/>
                </a:solidFill>
                <a:latin typeface="Courier"/>
              </a:rPr>
              <a:t>(model_gaussian)</a:t>
            </a:r>
          </a:p>
          <a:p>
            <a:pPr lvl="0" indent="0">
              <a:buNone/>
            </a:pPr>
            <a:r>
              <a:rPr>
                <a:latin typeface="Courier"/>
              </a:rPr>
              <a:t>
Call:
glm(formula = mpg ~ cyl, family = gaussian(link = "identity"), 
    data = mtcars)
Coefficients:
            Estimate Std. Error t value Pr(&gt;|t|)    
(Intercept)  26.6636     0.9718  27.437  &lt; 2e-16 ***
cyl6         -6.9208     1.5583  -4.441 0.000119 ***
cyl8        -11.5636     1.2986  -8.905 8.57e-10 ***
---
Signif. codes:  0 '***' 0.001 '**' 0.01 '*' 0.05 '.' 0.1 ' ' 1
(Dispersion parameter for gaussian family taken to be 10.38837)
    Null deviance: 1126.05  on 31  degrees of freedom
Residual deviance:  301.26  on 29  degrees of freedom
AIC: 170.56
Number of Fisher Scoring iterations: 2</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Distribution: Analysis</a:t>
            </a:r>
          </a:p>
        </p:txBody>
      </p:sp>
      <p:sp>
        <p:nvSpPr>
          <p:cNvPr id="3" name="Text Placeholder 2"/>
          <p:cNvSpPr>
            <a:spLocks noGrp="1"/>
          </p:cNvSpPr>
          <p:nvPr>
            <p:ph idx="1" type="body"/>
          </p:nvPr>
        </p:nvSpPr>
        <p:spPr/>
        <p:txBody>
          <a:bodyPr/>
          <a:lstStyle/>
          <a:p>
            <a:pPr lvl="0" indent="0" marL="0">
              <a:buNone/>
            </a:pPr>
            <a:r>
              <a:rPr/>
              <a:t>Now let’s perform an ANOVA on our GLM model using the </a:t>
            </a:r>
            <a:r>
              <a:rPr>
                <a:latin typeface="Courier"/>
              </a:rPr>
              <a:t>car</a:t>
            </a:r>
            <a:r>
              <a:rPr/>
              <a:t> package:</a:t>
            </a:r>
          </a:p>
          <a:p>
            <a:pPr lvl="0" indent="0">
              <a:buNone/>
            </a:pPr>
            <a:r>
              <a:rPr>
                <a:solidFill>
                  <a:srgbClr val="4758AB"/>
                </a:solidFill>
                <a:latin typeface="Courier"/>
              </a:rPr>
              <a:t>Anova</a:t>
            </a:r>
            <a:r>
              <a:rPr>
                <a:solidFill>
                  <a:srgbClr val="003B4F"/>
                </a:solidFill>
                <a:latin typeface="Courier"/>
              </a:rPr>
              <a:t>(model_gaussian,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"F"</a:t>
            </a:r>
            <a:r>
              <a:rPr>
                <a:solidFill>
                  <a:srgbClr val="003B4F"/>
                </a:solidFill>
                <a:latin typeface="Courier"/>
              </a:rPr>
              <a:t>)</a:t>
            </a:r>
          </a:p>
          <a:p>
            <a:pPr lvl="0" indent="0">
              <a:buNone/>
            </a:pPr>
            <a:r>
              <a:rPr>
                <a:latin typeface="Courier"/>
              </a:rPr>
              <a:t>Analysis of Deviance Table (Type III tests)
Response: mpg
Error estimate based on Pearson residuals 
          Sum Sq Df F values    Pr(&gt;F)    
cyl       824.78  2   39.697 4.979e-09 ***
Residuals 301.26 29                       
---
Signif. codes:  0 '***' 0.001 '**' 0.01 '*' 0.05 '.' 0.1 ' ' 1</a:t>
            </a:r>
          </a:p>
        </p:txBody>
      </p:sp>
      <p:sp>
        <p:nvSpPr>
          <p:cNvPr id="5" name="Text Placeholder 4"/>
          <p:cNvSpPr>
            <a:spLocks noGrp="1"/>
          </p:cNvSpPr>
          <p:nvPr>
            <p:ph idx="3" sz="quarter" type="body"/>
          </p:nvPr>
        </p:nvSpPr>
        <p:spPr/>
        <p:txBody>
          <a:bodyPr/>
          <a:lstStyle/>
          <a:p>
            <a:pPr lvl="0" indent="0" marL="0">
              <a:buNone/>
            </a:pPr>
            <a:r>
              <a:rPr/>
              <a:t>Visualizing the results:</a:t>
            </a:r>
          </a:p>
          <a:p>
            <a:pPr lvl="0" indent="0">
              <a:buNone/>
            </a:pPr>
            <a:r>
              <a:rPr>
                <a:solidFill>
                  <a:srgbClr val="5E5E5E"/>
                </a:solidFill>
                <a:latin typeface="Courier"/>
              </a:rPr>
              <a:t># Get estimated means</a:t>
            </a:r>
            <a:br/>
            <a:r>
              <a:rPr>
                <a:solidFill>
                  <a:srgbClr val="003B4F"/>
                </a:solidFill>
                <a:latin typeface="Courier"/>
              </a:rPr>
              <a:t>emm_gaussian &lt;- </a:t>
            </a:r>
            <a:r>
              <a:rPr>
                <a:solidFill>
                  <a:srgbClr val="4758AB"/>
                </a:solidFill>
                <a:latin typeface="Courier"/>
              </a:rPr>
              <a:t>emmeans</a:t>
            </a:r>
            <a:r>
              <a:rPr>
                <a:solidFill>
                  <a:srgbClr val="003B4F"/>
                </a:solidFill>
                <a:latin typeface="Courier"/>
              </a:rPr>
              <a:t>(model_gaussian, </a:t>
            </a:r>
            <a:r>
              <a:rPr>
                <a:solidFill>
                  <a:srgbClr val="5E5E5E"/>
                </a:solidFill>
                <a:latin typeface="Courier"/>
              </a:rPr>
              <a:t>~</a:t>
            </a:r>
            <a:r>
              <a:rPr>
                <a:solidFill>
                  <a:srgbClr val="003B4F"/>
                </a:solidFill>
                <a:latin typeface="Courier"/>
              </a:rPr>
              <a:t> cyl)</a:t>
            </a:r>
            <a:br/>
            <a:r>
              <a:rPr>
                <a:solidFill>
                  <a:srgbClr val="003B4F"/>
                </a:solidFill>
                <a:latin typeface="Courier"/>
              </a:rPr>
              <a:t>emm_df &lt;- </a:t>
            </a:r>
            <a:r>
              <a:rPr>
                <a:solidFill>
                  <a:srgbClr val="4758AB"/>
                </a:solidFill>
                <a:latin typeface="Courier"/>
              </a:rPr>
              <a:t>as.data.frame</a:t>
            </a:r>
            <a:r>
              <a:rPr>
                <a:solidFill>
                  <a:srgbClr val="003B4F"/>
                </a:solidFill>
                <a:latin typeface="Courier"/>
              </a:rPr>
              <a:t>(emm_gaussian)</a:t>
            </a:r>
            <a:br/>
            <a:br/>
            <a:r>
              <a:rPr>
                <a:solidFill>
                  <a:srgbClr val="5E5E5E"/>
                </a:solidFill>
                <a:latin typeface="Courier"/>
              </a:rPr>
              <a:t># Create plot of data with estimated means</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Plot raw data</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mtcars,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mpg),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estimated means with confidence intervals</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data =</a:t>
            </a:r>
            <a:r>
              <a:rPr>
                <a:solidFill>
                  <a:srgbClr val="003B4F"/>
                </a:solidFill>
                <a:latin typeface="Courier"/>
              </a:rPr>
              <a:t> emm_df,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emmean), </a:t>
            </a:r>
            <a:b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657422"/>
                </a:solidFill>
                <a:latin typeface="Courier"/>
              </a:rPr>
              <a:t>data =</a:t>
            </a:r>
            <a:r>
              <a:rPr>
                <a:solidFill>
                  <a:srgbClr val="003B4F"/>
                </a:solidFill>
                <a:latin typeface="Courier"/>
              </a:rPr>
              <a:t> emm_df,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br/>
            <a:r>
              <a:rPr>
                <a:solidFill>
                  <a:srgbClr val="003B4F"/>
                </a:solidFill>
                <a:latin typeface="Courier"/>
              </a:rPr>
              <a:t>                    </a:t>
            </a:r>
            <a:r>
              <a:rPr>
                <a:solidFill>
                  <a:srgbClr val="657422"/>
                </a:solidFill>
                <a:latin typeface="Courier"/>
              </a:rPr>
              <a:t>ymin =</a:t>
            </a:r>
            <a:r>
              <a:rPr>
                <a:solidFill>
                  <a:srgbClr val="003B4F"/>
                </a:solidFill>
                <a:latin typeface="Courier"/>
              </a:rPr>
              <a:t> lower.CL, </a:t>
            </a:r>
            <a:br/>
            <a:r>
              <a:rPr>
                <a:solidFill>
                  <a:srgbClr val="003B4F"/>
                </a:solidFill>
                <a:latin typeface="Courier"/>
              </a:rPr>
              <a:t>                    </a:t>
            </a:r>
            <a:r>
              <a:rPr>
                <a:solidFill>
                  <a:srgbClr val="657422"/>
                </a:solidFill>
                <a:latin typeface="Courier"/>
              </a:rPr>
              <a:t>ymax =</a:t>
            </a:r>
            <a:r>
              <a:rPr>
                <a:solidFill>
                  <a:srgbClr val="003B4F"/>
                </a:solidFill>
                <a:latin typeface="Courier"/>
              </a:rPr>
              <a:t> upper.CL),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Cylinders on MPG"</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"Red points show estimated means with 95% CIs"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"Number of Cylinders"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"Miles Per Gallon"</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gaussian-plot-1.png" id="0" name="Picture 1"/>
          <p:cNvPicPr>
            <a:picLocks noGrp="1" noChangeAspect="1"/>
          </p:cNvPicPr>
          <p:nvPr/>
        </p:nvPicPr>
        <p:blipFill>
          <a:blip r:embed="rId2"/>
          <a:stretch>
            <a:fillRect/>
          </a:stretch>
        </p:blipFill>
        <p:spPr bwMode="auto">
          <a:xfrm>
            <a:off x="4749800" y="1676400"/>
            <a:ext cx="4038600" cy="25273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Equivalence of Linear Models and Gaussian GLMs</a:t>
            </a:r>
          </a:p>
        </p:txBody>
      </p:sp>
      <p:sp>
        <p:nvSpPr>
          <p:cNvPr id="3" name="Content Placeholder 2"/>
          <p:cNvSpPr>
            <a:spLocks noGrp="1"/>
          </p:cNvSpPr>
          <p:nvPr>
            <p:ph idx="1"/>
          </p:nvPr>
        </p:nvSpPr>
        <p:spPr/>
        <p:txBody>
          <a:bodyPr/>
          <a:lstStyle/>
          <a:p>
            <a:pPr lvl="0" indent="0" marL="1270000">
              <a:buNone/>
            </a:pPr>
            <a:r>
              <a:rPr sz="2000" b="1"/>
              <a:t>Equivalence of Linear Models and Gaussian GLMs</a:t>
            </a:r>
          </a:p>
          <a:p>
            <a:pPr lvl="0" indent="0" marL="1270000">
              <a:buNone/>
            </a:pPr>
            <a:r>
              <a:rPr sz="2000"/>
              <a:t>When we use a Gaussian distribution with an identity link, GLM gives identical results to standard linear regression. This can be seen in the coefficient values and overall model statistics.</a:t>
            </a:r>
          </a:p>
          <a:p>
            <a:pPr lvl="0" indent="0" marL="1270000">
              <a:buNone/>
            </a:pPr>
            <a:r>
              <a:rPr sz="2000"/>
              <a:t>The key difference is that GLMs provide a framework that extends to non-normal distributions.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indent="0" marL="0">
              <a:buNone/>
            </a:pPr>
            <a:r>
              <a:rPr/>
              <a:t>Poisson GLMs are appropriate for count data. The Poisson distribution assumes that the variance equals the mean.</a:t>
            </a:r>
          </a:p>
          <a:p>
            <a:pPr lvl="0" indent="0" marL="0">
              <a:buNone/>
            </a:pPr>
            <a:r>
              <a:rPr/>
              <a:t>For this example, we’ll use the quarter-mile time (</a:t>
            </a:r>
            <a:r>
              <a:rPr>
                <a:latin typeface="Courier"/>
              </a:rPr>
              <a:t>qsec</a:t>
            </a:r>
            <a:r>
              <a:rPr/>
              <a:t>) from the </a:t>
            </a:r>
            <a:r>
              <a:rPr>
                <a:latin typeface="Courier"/>
              </a:rPr>
              <a:t>mtcars</a:t>
            </a:r>
            <a:r>
              <a:rPr/>
              <a:t> dataset, rounded to create a count-like variable.</a:t>
            </a:r>
          </a:p>
          <a:p>
            <a:pPr lvl="0" indent="0">
              <a:buNone/>
            </a:pPr>
            <a:r>
              <a:rPr>
                <a:solidFill>
                  <a:srgbClr val="5E5E5E"/>
                </a:solidFill>
                <a:latin typeface="Courier"/>
              </a:rPr>
              <a:t># Prepare data for Poisson model</a:t>
            </a:r>
            <a:br/>
            <a:r>
              <a:rPr>
                <a:solidFill>
                  <a:srgbClr val="003B4F"/>
                </a:solidFill>
                <a:latin typeface="Courier"/>
              </a:rPr>
              <a:t>mtcars_count &lt;- mtcars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cyl =</a:t>
            </a:r>
            <a:r>
              <a:rPr>
                <a:solidFill>
                  <a:srgbClr val="003B4F"/>
                </a:solidFill>
                <a:latin typeface="Courier"/>
              </a:rPr>
              <a:t> </a:t>
            </a:r>
            <a:r>
              <a:rPr>
                <a:solidFill>
                  <a:srgbClr val="4758AB"/>
                </a:solidFill>
                <a:latin typeface="Courier"/>
              </a:rPr>
              <a:t>factor</a:t>
            </a:r>
            <a:r>
              <a:rPr>
                <a:solidFill>
                  <a:srgbClr val="003B4F"/>
                </a:solidFill>
                <a:latin typeface="Courier"/>
              </a:rPr>
              <a:t>(cyl),</a:t>
            </a:r>
            <a:br/>
            <a:r>
              <a:rPr>
                <a:solidFill>
                  <a:srgbClr val="003B4F"/>
                </a:solidFill>
                <a:latin typeface="Courier"/>
              </a:rPr>
              <a:t>    </a:t>
            </a:r>
            <a:r>
              <a:rPr>
                <a:solidFill>
                  <a:srgbClr val="657422"/>
                </a:solidFill>
                <a:latin typeface="Courier"/>
              </a:rPr>
              <a:t>qsec_round =</a:t>
            </a:r>
            <a:r>
              <a:rPr>
                <a:solidFill>
                  <a:srgbClr val="003B4F"/>
                </a:solidFill>
                <a:latin typeface="Courier"/>
              </a:rPr>
              <a:t> </a:t>
            </a:r>
            <a:r>
              <a:rPr>
                <a:solidFill>
                  <a:srgbClr val="4758AB"/>
                </a:solidFill>
                <a:latin typeface="Courier"/>
              </a:rPr>
              <a:t>round</a:t>
            </a:r>
            <a:r>
              <a:rPr>
                <a:solidFill>
                  <a:srgbClr val="003B4F"/>
                </a:solidFill>
                <a:latin typeface="Courier"/>
              </a:rPr>
              <a:t>(qsec)  </a:t>
            </a:r>
            <a:r>
              <a:rPr>
                <a:solidFill>
                  <a:srgbClr val="5E5E5E"/>
                </a:solidFill>
                <a:latin typeface="Courier"/>
              </a:rPr>
              <a:t># Create a count-like variable</a:t>
            </a:r>
            <a:br/>
            <a:r>
              <a:rPr>
                <a:solidFill>
                  <a:srgbClr val="003B4F"/>
                </a:solidFill>
                <a:latin typeface="Courier"/>
              </a:rPr>
              <a:t>  )</a:t>
            </a:r>
            <a:br/>
            <a:br/>
            <a:r>
              <a:rPr>
                <a:solidFill>
                  <a:srgbClr val="5E5E5E"/>
                </a:solidFill>
                <a:latin typeface="Courier"/>
              </a:rPr>
              <a:t># Look at the first few rows</a:t>
            </a:r>
            <a:br/>
            <a:r>
              <a:rPr>
                <a:solidFill>
                  <a:srgbClr val="4758AB"/>
                </a:solidFill>
                <a:latin typeface="Courier"/>
              </a:rPr>
              <a:t>head</a:t>
            </a:r>
            <a:r>
              <a:rPr>
                <a:solidFill>
                  <a:srgbClr val="003B4F"/>
                </a:solidFill>
                <a:latin typeface="Courier"/>
              </a:rPr>
              <a:t>(mtcars_count[, </a:t>
            </a:r>
            <a:r>
              <a:rPr>
                <a:solidFill>
                  <a:srgbClr val="4758AB"/>
                </a:solidFill>
                <a:latin typeface="Courier"/>
              </a:rPr>
              <a:t>c</a:t>
            </a:r>
            <a:r>
              <a:rPr>
                <a:solidFill>
                  <a:srgbClr val="003B4F"/>
                </a:solidFill>
                <a:latin typeface="Courier"/>
              </a:rPr>
              <a:t>(</a:t>
            </a:r>
            <a:r>
              <a:rPr>
                <a:solidFill>
                  <a:srgbClr val="20794D"/>
                </a:solidFill>
                <a:latin typeface="Courier"/>
              </a:rPr>
              <a:t>"cyl"</a:t>
            </a:r>
            <a:r>
              <a:rPr>
                <a:solidFill>
                  <a:srgbClr val="003B4F"/>
                </a:solidFill>
                <a:latin typeface="Courier"/>
              </a:rPr>
              <a:t>, </a:t>
            </a:r>
            <a:r>
              <a:rPr>
                <a:solidFill>
                  <a:srgbClr val="20794D"/>
                </a:solidFill>
                <a:latin typeface="Courier"/>
              </a:rPr>
              <a:t>"qsec"</a:t>
            </a:r>
            <a:r>
              <a:rPr>
                <a:solidFill>
                  <a:srgbClr val="003B4F"/>
                </a:solidFill>
                <a:latin typeface="Courier"/>
              </a:rPr>
              <a:t>, </a:t>
            </a:r>
            <a:r>
              <a:rPr>
                <a:solidFill>
                  <a:srgbClr val="20794D"/>
                </a:solidFill>
                <a:latin typeface="Courier"/>
              </a:rPr>
              <a:t>"qsec_round"</a:t>
            </a:r>
            <a:r>
              <a:rPr>
                <a:solidFill>
                  <a:srgbClr val="003B4F"/>
                </a:solidFill>
                <a:latin typeface="Courier"/>
              </a:rPr>
              <a:t>)])</a:t>
            </a:r>
          </a:p>
          <a:p>
            <a:pPr lvl="0" indent="0">
              <a:buNone/>
            </a:pPr>
            <a:r>
              <a:rPr>
                <a:latin typeface="Courier"/>
              </a:rPr>
              <a:t>                  cyl  qsec qsec_round
Mazda RX4           6 16.46         16
Mazda RX4 Wag       6 17.02         17
Datsun 710          4 18.61         19
Hornet 4 Drive      6 19.44         19
Hornet Sportabout   8 17.02         17
Valiant             6 20.22         20</a:t>
            </a:r>
          </a:p>
          <a:p>
            <a:pPr lvl="0" indent="0" marL="0">
              <a:buNone/>
            </a:pPr>
            <a:r>
              <a:rPr/>
              <a:t>Now let’s fit a Poisson GLM to model the relationship between the rounded quarter-mile time and the number of cylinders:</a:t>
            </a:r>
          </a:p>
          <a:p>
            <a:pPr lvl="0" indent="0">
              <a:buNone/>
            </a:pPr>
            <a:r>
              <a:rPr>
                <a:solidFill>
                  <a:srgbClr val="5E5E5E"/>
                </a:solidFill>
                <a:latin typeface="Courier"/>
              </a:rPr>
              <a:t># Fit a Poisson GLM</a:t>
            </a:r>
            <a:br/>
            <a:r>
              <a:rPr>
                <a:solidFill>
                  <a:srgbClr val="003B4F"/>
                </a:solidFill>
                <a:latin typeface="Courier"/>
              </a:rPr>
              <a:t>model_poisson &lt;- </a:t>
            </a:r>
            <a:r>
              <a:rPr>
                <a:solidFill>
                  <a:srgbClr val="4758AB"/>
                </a:solidFill>
                <a:latin typeface="Courier"/>
              </a:rPr>
              <a:t>glm</a:t>
            </a:r>
            <a:r>
              <a:rPr>
                <a:solidFill>
                  <a:srgbClr val="003B4F"/>
                </a:solidFill>
                <a:latin typeface="Courier"/>
              </a:rPr>
              <a:t>(qsec_round </a:t>
            </a:r>
            <a:r>
              <a:rPr>
                <a:solidFill>
                  <a:srgbClr val="5E5E5E"/>
                </a:solidFill>
                <a:latin typeface="Courier"/>
              </a:rPr>
              <a:t>~</a:t>
            </a:r>
            <a:r>
              <a:rPr>
                <a:solidFill>
                  <a:srgbClr val="003B4F"/>
                </a:solidFill>
                <a:latin typeface="Courier"/>
              </a:rPr>
              <a:t> cyl,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poisson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mtcars_count)</a:t>
            </a:r>
            <a:br/>
            <a:br/>
            <a:r>
              <a:rPr>
                <a:solidFill>
                  <a:srgbClr val="5E5E5E"/>
                </a:solidFill>
                <a:latin typeface="Courier"/>
              </a:rPr>
              <a:t># Look at the model summary</a:t>
            </a:r>
            <a:br/>
            <a:r>
              <a:rPr>
                <a:solidFill>
                  <a:srgbClr val="4758AB"/>
                </a:solidFill>
                <a:latin typeface="Courier"/>
              </a:rPr>
              <a:t>summary</a:t>
            </a:r>
            <a:r>
              <a:rPr>
                <a:solidFill>
                  <a:srgbClr val="003B4F"/>
                </a:solidFill>
                <a:latin typeface="Courier"/>
              </a:rPr>
              <a:t>(model_poisson)</a:t>
            </a:r>
          </a:p>
          <a:p>
            <a:pPr lvl="0" indent="0">
              <a:buNone/>
            </a:pPr>
            <a:r>
              <a:rPr>
                <a:latin typeface="Courier"/>
              </a:rPr>
              <a:t>
Call:
glm(formula = qsec_round ~ cyl, family = poisson(link = "log"), 
    data = mtcars_count)
Coefficients:
            Estimate Std. Error z value Pr(&gt;|z|)    
(Intercept)  2.95869    0.06868  43.079   &lt;2e-16 ***
cyl6        -0.07629    0.11277  -0.676    0.499    
cyl8        -0.14243    0.09482  -1.502    0.133    
---
Signif. codes:  0 '***' 0.001 '**' 0.01 '*' 0.05 '.' 0.1 ' ' 1
(Dispersion parameter for poisson family taken to be 1)
    Null deviance: 5.6979  on 31  degrees of freedom
Residual deviance: 3.4487  on 29  degrees of freedom
AIC: 160.62
Number of Fisher Scoring iterations: 3</a:t>
            </a:r>
          </a:p>
        </p:txBody>
      </p:sp>
      <p:sp>
        <p:nvSpPr>
          <p:cNvPr id="4" name="Content Placeholder 3"/>
          <p:cNvSpPr>
            <a:spLocks noGrp="1"/>
          </p:cNvSpPr>
          <p:nvPr>
            <p:ph idx="2" sz="half"/>
          </p:nvPr>
        </p:nvSpPr>
        <p:spPr/>
        <p:txBody>
          <a:bodyPr/>
          <a:lstStyle/>
          <a:p>
            <a:pPr lvl="0" indent="0" marL="0">
              <a:buNone/>
            </a:pPr>
            <a:r>
              <a:rPr/>
              <a:t>Let’s check for overdispersion, which is common in count data:</a:t>
            </a:r>
          </a:p>
          <a:p>
            <a:pPr lvl="0" indent="0">
              <a:buNone/>
            </a:pPr>
            <a:r>
              <a:rPr>
                <a:solidFill>
                  <a:srgbClr val="5E5E5E"/>
                </a:solidFill>
                <a:latin typeface="Courier"/>
              </a:rPr>
              <a:t># Calculate dispersion parameter</a:t>
            </a:r>
            <a:br/>
            <a:r>
              <a:rPr>
                <a:solidFill>
                  <a:srgbClr val="003B4F"/>
                </a:solidFill>
                <a:latin typeface="Courier"/>
              </a:rPr>
              <a:t>dispersion_poisson &lt;- </a:t>
            </a:r>
            <a:r>
              <a:rPr>
                <a:solidFill>
                  <a:srgbClr val="4758AB"/>
                </a:solidFill>
                <a:latin typeface="Courier"/>
              </a:rPr>
              <a:t>sum</a:t>
            </a:r>
            <a:r>
              <a:rPr>
                <a:solidFill>
                  <a:srgbClr val="003B4F"/>
                </a:solidFill>
                <a:latin typeface="Courier"/>
              </a:rPr>
              <a:t>(</a:t>
            </a:r>
            <a:r>
              <a:rPr>
                <a:solidFill>
                  <a:srgbClr val="4758AB"/>
                </a:solidFill>
                <a:latin typeface="Courier"/>
              </a:rPr>
              <a:t>residuals</a:t>
            </a:r>
            <a:r>
              <a:rPr>
                <a:solidFill>
                  <a:srgbClr val="003B4F"/>
                </a:solidFill>
                <a:latin typeface="Courier"/>
              </a:rPr>
              <a:t>(model_poisson,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r>
              <a:rPr>
                <a:solidFill>
                  <a:srgbClr val="5E5E5E"/>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model_poisson</a:t>
            </a:r>
            <a:r>
              <a:rPr>
                <a:solidFill>
                  <a:srgbClr val="5E5E5E"/>
                </a:solidFill>
                <a:latin typeface="Courier"/>
              </a:rPr>
              <a:t>$</a:t>
            </a:r>
            <a:r>
              <a:rPr>
                <a:solidFill>
                  <a:srgbClr val="003B4F"/>
                </a:solidFill>
                <a:latin typeface="Courier"/>
              </a:rPr>
              <a:t>df.residual</a:t>
            </a:r>
            <a:br/>
            <a:br/>
            <a:r>
              <a:rPr>
                <a:solidFill>
                  <a:srgbClr val="5E5E5E"/>
                </a:solidFill>
                <a:latin typeface="Courier"/>
              </a:rPr>
              <a:t># Print dispersion parameter</a:t>
            </a:r>
            <a:br/>
            <a:r>
              <a:rPr>
                <a:solidFill>
                  <a:srgbClr val="4758AB"/>
                </a:solidFill>
                <a:latin typeface="Courier"/>
              </a:rPr>
              <a:t>cat</a:t>
            </a:r>
            <a:r>
              <a:rPr>
                <a:solidFill>
                  <a:srgbClr val="003B4F"/>
                </a:solidFill>
                <a:latin typeface="Courier"/>
              </a:rPr>
              <a:t>(</a:t>
            </a:r>
            <a:r>
              <a:rPr>
                <a:solidFill>
                  <a:srgbClr val="20794D"/>
                </a:solidFill>
                <a:latin typeface="Courier"/>
              </a:rPr>
              <a:t>"Dispersion parameter:"</a:t>
            </a:r>
            <a:r>
              <a:rPr>
                <a:solidFill>
                  <a:srgbClr val="003B4F"/>
                </a:solidFill>
                <a:latin typeface="Courier"/>
              </a:rPr>
              <a:t>, </a:t>
            </a:r>
            <a:r>
              <a:rPr>
                <a:solidFill>
                  <a:srgbClr val="4758AB"/>
                </a:solidFill>
                <a:latin typeface="Courier"/>
              </a:rPr>
              <a:t>round</a:t>
            </a:r>
            <a:r>
              <a:rPr>
                <a:solidFill>
                  <a:srgbClr val="003B4F"/>
                </a:solidFill>
                <a:latin typeface="Courier"/>
              </a:rPr>
              <a:t>(dispersion_poisson,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Dispersion parameter: 0.12 </a:t>
            </a:r>
          </a:p>
          <a:p>
            <a:pPr lvl="0" indent="0">
              <a:buNone/>
            </a:pPr>
            <a:r>
              <a:rPr>
                <a:solidFill>
                  <a:srgbClr val="5E5E5E"/>
                </a:solidFill>
                <a:latin typeface="Courier"/>
              </a:rPr>
              <a:t># Should be close to 1 for a well-fitting Poisson model</a:t>
            </a:r>
            <a:br/>
            <a:r>
              <a:rPr>
                <a:solidFill>
                  <a:srgbClr val="5E5E5E"/>
                </a:solidFill>
                <a:latin typeface="Courier"/>
              </a:rPr>
              <a:t># If &gt; 1.5, may indicate overdispersion</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Poisson GLM: Visualization and Interpretation</a:t>
            </a:r>
          </a:p>
        </p:txBody>
      </p:sp>
      <p:sp>
        <p:nvSpPr>
          <p:cNvPr id="3" name="Text Placeholder 2"/>
          <p:cNvSpPr>
            <a:spLocks noGrp="1"/>
          </p:cNvSpPr>
          <p:nvPr>
            <p:ph idx="1" type="body"/>
          </p:nvPr>
        </p:nvSpPr>
        <p:spPr/>
        <p:txBody>
          <a:bodyPr/>
          <a:lstStyle/>
          <a:p>
            <a:pPr lvl="0" indent="0">
              <a:buNone/>
            </a:pPr>
            <a:r>
              <a:rPr>
                <a:solidFill>
                  <a:srgbClr val="5E5E5E"/>
                </a:solidFill>
                <a:latin typeface="Courier"/>
              </a:rPr>
              <a:t># Get estimated means on the response scale</a:t>
            </a:r>
            <a:br/>
            <a:r>
              <a:rPr>
                <a:solidFill>
                  <a:srgbClr val="003B4F"/>
                </a:solidFill>
                <a:latin typeface="Courier"/>
              </a:rPr>
              <a:t>emm_poisson &lt;- </a:t>
            </a:r>
            <a:r>
              <a:rPr>
                <a:solidFill>
                  <a:srgbClr val="4758AB"/>
                </a:solidFill>
                <a:latin typeface="Courier"/>
              </a:rPr>
              <a:t>emmeans</a:t>
            </a:r>
            <a:r>
              <a:rPr>
                <a:solidFill>
                  <a:srgbClr val="003B4F"/>
                </a:solidFill>
                <a:latin typeface="Courier"/>
              </a:rPr>
              <a:t>(model_poisson, </a:t>
            </a:r>
            <a:r>
              <a:rPr>
                <a:solidFill>
                  <a:srgbClr val="5E5E5E"/>
                </a:solidFill>
                <a:latin typeface="Courier"/>
              </a:rPr>
              <a:t>~</a:t>
            </a:r>
            <a:r>
              <a:rPr>
                <a:solidFill>
                  <a:srgbClr val="003B4F"/>
                </a:solidFill>
                <a:latin typeface="Courier"/>
              </a:rPr>
              <a:t> cyl,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003B4F"/>
                </a:solidFill>
                <a:latin typeface="Courier"/>
              </a:rPr>
              <a:t>emm_poisson_df &lt;- </a:t>
            </a:r>
            <a:r>
              <a:rPr>
                <a:solidFill>
                  <a:srgbClr val="4758AB"/>
                </a:solidFill>
                <a:latin typeface="Courier"/>
              </a:rPr>
              <a:t>as.data.frame</a:t>
            </a:r>
            <a:r>
              <a:rPr>
                <a:solidFill>
                  <a:srgbClr val="003B4F"/>
                </a:solidFill>
                <a:latin typeface="Courier"/>
              </a:rPr>
              <a:t>(emm_poisson)</a:t>
            </a:r>
            <a:br/>
            <a:br/>
            <a:r>
              <a:rPr>
                <a:solidFill>
                  <a:srgbClr val="5E5E5E"/>
                </a:solidFill>
                <a:latin typeface="Courier"/>
              </a:rPr>
              <a:t># Create visualization</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Plot raw data</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mtcars_count,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qsec_round),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estimated means with confidence intervals</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data =</a:t>
            </a:r>
            <a:r>
              <a:rPr>
                <a:solidFill>
                  <a:srgbClr val="003B4F"/>
                </a:solidFill>
                <a:latin typeface="Courier"/>
              </a:rPr>
              <a:t> emm_poisson_df,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rate), </a:t>
            </a:r>
            <a:b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657422"/>
                </a:solidFill>
                <a:latin typeface="Courier"/>
              </a:rPr>
              <a:t>data =</a:t>
            </a:r>
            <a:r>
              <a:rPr>
                <a:solidFill>
                  <a:srgbClr val="003B4F"/>
                </a:solidFill>
                <a:latin typeface="Courier"/>
              </a:rPr>
              <a:t> emm_poisson_df,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br/>
            <a:r>
              <a:rPr>
                <a:solidFill>
                  <a:srgbClr val="003B4F"/>
                </a:solidFill>
                <a:latin typeface="Courier"/>
              </a:rPr>
              <a:t>                    </a:t>
            </a:r>
            <a:r>
              <a:rPr>
                <a:solidFill>
                  <a:srgbClr val="657422"/>
                </a:solidFill>
                <a:latin typeface="Courier"/>
              </a:rPr>
              <a:t>ymin =</a:t>
            </a:r>
            <a:r>
              <a:rPr>
                <a:solidFill>
                  <a:srgbClr val="003B4F"/>
                </a:solidFill>
                <a:latin typeface="Courier"/>
              </a:rPr>
              <a:t> asymp.LCL, </a:t>
            </a:r>
            <a:br/>
            <a:r>
              <a:rPr>
                <a:solidFill>
                  <a:srgbClr val="003B4F"/>
                </a:solidFill>
                <a:latin typeface="Courier"/>
              </a:rPr>
              <a:t>                    </a:t>
            </a:r>
            <a:r>
              <a:rPr>
                <a:solidFill>
                  <a:srgbClr val="657422"/>
                </a:solidFill>
                <a:latin typeface="Courier"/>
              </a:rPr>
              <a:t>ymax =</a:t>
            </a:r>
            <a:r>
              <a:rPr>
                <a:solidFill>
                  <a:srgbClr val="003B4F"/>
                </a:solidFill>
                <a:latin typeface="Courier"/>
              </a:rPr>
              <a:t> asymp.UCL),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Cylinders on Quarter-Mile Time"</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"Poisson GLM with log link"</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"Number of Cylinders"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"Quarter-Mile Time (rounded)"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poisson-plot-1.png" id="0" name="Picture 1"/>
          <p:cNvPicPr>
            <a:picLocks noGrp="1" noChangeAspect="1"/>
          </p:cNvPicPr>
          <p:nvPr/>
        </p:nvPicPr>
        <p:blipFill>
          <a:blip r:embed="rId2"/>
          <a:stretch>
            <a:fillRect/>
          </a:stretch>
        </p:blipFill>
        <p:spPr bwMode="auto">
          <a:xfrm>
            <a:off x="127000" y="1562100"/>
            <a:ext cx="4432300" cy="27305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1270000">
              <a:buNone/>
            </a:pPr>
            <a:r>
              <a:rPr sz="2000" b="1"/>
              <a:t>Interpreting Poisson GLM Coefficients</a:t>
            </a:r>
          </a:p>
          <a:p>
            <a:pPr lvl="0" indent="0" marL="1270000">
              <a:buNone/>
            </a:pPr>
            <a:r>
              <a:rPr sz="2000"/>
              <a:t>In a Poisson GLM with a log link function:</a:t>
            </a:r>
          </a:p>
          <a:p>
            <a:pPr lvl="0" indent="-342900" marL="342900">
              <a:buAutoNum type="arabicPeriod"/>
            </a:pPr>
            <a:r>
              <a:rPr sz="2000"/>
              <a:t>The coefficients represent changes in the </a:t>
            </a:r>
            <a:r>
              <a:rPr sz="2000" b="1"/>
              <a:t>log</a:t>
            </a:r>
            <a:r>
              <a:rPr sz="2000"/>
              <a:t> of the expected count</a:t>
            </a:r>
          </a:p>
          <a:p>
            <a:pPr lvl="0" indent="-342900" marL="342900">
              <a:buAutoNum type="arabicPeriod"/>
            </a:pPr>
            <a:r>
              <a:rPr sz="2000"/>
              <a:t>When exponentiated (</a:t>
            </a:r>
            <a:r>
              <a:rPr sz="2000">
                <a:latin typeface="Courier"/>
              </a:rPr>
              <a:t>exp(coef)</a:t>
            </a:r>
            <a:r>
              <a:rPr sz="2000"/>
              <a:t>), they represent multiplicative effects</a:t>
            </a:r>
          </a:p>
          <a:p>
            <a:pPr lvl="0" indent="-342900" marL="342900">
              <a:buAutoNum type="arabicPeriod"/>
            </a:pPr>
            <a:r>
              <a:rPr sz="2000"/>
              <a:t>For example, </a:t>
            </a:r>
            <a:r>
              <a:rPr sz="2000">
                <a:latin typeface="Courier"/>
              </a:rPr>
              <a:t>exp(coef)</a:t>
            </a:r>
            <a:r>
              <a:rPr sz="2000"/>
              <a:t> = 0.90 means the expected count is 90% of the reference level</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Checking Model Assumptions with DHARMa</a:t>
            </a:r>
          </a:p>
        </p:txBody>
      </p:sp>
      <p:sp>
        <p:nvSpPr>
          <p:cNvPr id="4" name="Text Placeholder 3"/>
          <p:cNvSpPr>
            <a:spLocks noGrp="1"/>
          </p:cNvSpPr>
          <p:nvPr>
            <p:ph idx="2" sz="half" type="body"/>
          </p:nvPr>
        </p:nvSpPr>
        <p:spPr/>
        <p:txBody>
          <a:bodyPr/>
          <a:lstStyle/>
          <a:p>
            <a:pPr lvl="0" indent="0">
              <a:buNone/>
            </a:pPr>
            <a:r>
              <a:rPr>
                <a:solidFill>
                  <a:srgbClr val="5E5E5E"/>
                </a:solidFill>
                <a:latin typeface="Courier"/>
              </a:rPr>
              <a:t># Simulate residuals using DHARMa</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 </a:t>
            </a:r>
            <a:r>
              <a:rPr>
                <a:solidFill>
                  <a:srgbClr val="5E5E5E"/>
                </a:solidFill>
                <a:latin typeface="Courier"/>
              </a:rPr>
              <a:t># For reproducibility</a:t>
            </a:r>
            <a:br/>
            <a:r>
              <a:rPr>
                <a:solidFill>
                  <a:srgbClr val="003B4F"/>
                </a:solidFill>
                <a:latin typeface="Courier"/>
              </a:rPr>
              <a:t>simulation_poisson &lt;- </a:t>
            </a:r>
            <a:r>
              <a:rPr>
                <a:solidFill>
                  <a:srgbClr val="4758AB"/>
                </a:solidFill>
                <a:latin typeface="Courier"/>
              </a:rPr>
              <a:t>simulateResiduals</a:t>
            </a:r>
            <a:r>
              <a:rPr>
                <a:solidFill>
                  <a:srgbClr val="003B4F"/>
                </a:solidFill>
                <a:latin typeface="Courier"/>
              </a:rPr>
              <a:t>(</a:t>
            </a:r>
            <a:r>
              <a:rPr>
                <a:solidFill>
                  <a:srgbClr val="657422"/>
                </a:solidFill>
                <a:latin typeface="Courier"/>
              </a:rPr>
              <a:t>fittedModel =</a:t>
            </a:r>
            <a:r>
              <a:rPr>
                <a:solidFill>
                  <a:srgbClr val="003B4F"/>
                </a:solidFill>
                <a:latin typeface="Courier"/>
              </a:rPr>
              <a:t> model_poisson, </a:t>
            </a:r>
            <a:r>
              <a:rPr>
                <a:solidFill>
                  <a:srgbClr val="657422"/>
                </a:solidFill>
                <a:latin typeface="Courier"/>
              </a:rPr>
              <a:t>n =</a:t>
            </a:r>
            <a:r>
              <a:rPr>
                <a:solidFill>
                  <a:srgbClr val="003B4F"/>
                </a:solidFill>
                <a:latin typeface="Courier"/>
              </a:rPr>
              <a:t> </a:t>
            </a:r>
            <a:r>
              <a:rPr>
                <a:solidFill>
                  <a:srgbClr val="AD0000"/>
                </a:solidFill>
                <a:latin typeface="Courier"/>
              </a:rPr>
              <a:t>1000</a:t>
            </a:r>
            <a:r>
              <a:rPr>
                <a:solidFill>
                  <a:srgbClr val="003B4F"/>
                </a:solidFill>
                <a:latin typeface="Courier"/>
              </a:rPr>
              <a:t>)</a:t>
            </a:r>
            <a:br/>
            <a:br/>
            <a:r>
              <a:rPr>
                <a:solidFill>
                  <a:srgbClr val="5E5E5E"/>
                </a:solidFill>
                <a:latin typeface="Courier"/>
              </a:rPr>
              <a:t># Plot diagnostic plots</a:t>
            </a:r>
            <a:br/>
            <a:r>
              <a:rPr>
                <a:solidFill>
                  <a:srgbClr val="4758AB"/>
                </a:solidFill>
                <a:latin typeface="Courier"/>
              </a:rPr>
              <a:t>plot</a:t>
            </a:r>
            <a:r>
              <a:rPr>
                <a:solidFill>
                  <a:srgbClr val="003B4F"/>
                </a:solidFill>
                <a:latin typeface="Courier"/>
              </a:rPr>
              <a:t>(simulation_poisson)</a:t>
            </a:r>
          </a:p>
        </p:txBody>
      </p:sp>
      <p:pic>
        <p:nvPicPr>
          <p:cNvPr descr="14_01_lecture_powerpoint_files/figure-pptx/poisson-diagnostics-1.png" id="0" name="Picture 1"/>
          <p:cNvPicPr>
            <a:picLocks noGrp="1" noChangeAspect="1"/>
          </p:cNvPicPr>
          <p:nvPr/>
        </p:nvPicPr>
        <p:blipFill>
          <a:blip r:embed="rId2"/>
          <a:stretch>
            <a:fillRect/>
          </a:stretch>
        </p:blipFill>
        <p:spPr bwMode="auto">
          <a:xfrm>
            <a:off x="4102100" y="952500"/>
            <a:ext cx="4343400" cy="3797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Dealing with Overdispersion in Count Data</a:t>
            </a:r>
          </a:p>
        </p:txBody>
      </p:sp>
      <p:sp>
        <p:nvSpPr>
          <p:cNvPr id="3" name="Text Placeholder 2"/>
          <p:cNvSpPr>
            <a:spLocks noGrp="1"/>
          </p:cNvSpPr>
          <p:nvPr>
            <p:ph idx="1" type="body"/>
          </p:nvPr>
        </p:nvSpPr>
        <p:spPr/>
        <p:txBody>
          <a:bodyPr/>
          <a:lstStyle/>
          <a:p>
            <a:pPr lvl="0" indent="0" marL="0">
              <a:buNone/>
            </a:pPr>
            <a:r>
              <a:rPr/>
              <a:t>When count data shows more variability than expected under a Poisson distribution (variance &gt; mean), we may need to use a negative binomial model instead.</a:t>
            </a:r>
          </a:p>
          <a:p>
            <a:pPr lvl="0" indent="0">
              <a:buNone/>
            </a:pPr>
            <a:r>
              <a:rPr>
                <a:solidFill>
                  <a:srgbClr val="5E5E5E"/>
                </a:solidFill>
                <a:latin typeface="Courier"/>
              </a:rPr>
              <a:t># If we detected overdispersion, we could fit a negative binomial model</a:t>
            </a:r>
            <a:br/>
            <a:r>
              <a:rPr>
                <a:solidFill>
                  <a:srgbClr val="5E5E5E"/>
                </a:solidFill>
                <a:latin typeface="Courier"/>
              </a:rPr>
              <a:t># This is just for demonstration - our data may not actually need this</a:t>
            </a:r>
            <a:br/>
            <a:br/>
            <a:r>
              <a:rPr>
                <a:solidFill>
                  <a:srgbClr val="5E5E5E"/>
                </a:solidFill>
                <a:latin typeface="Courier"/>
              </a:rPr>
              <a:t># Fit negative binomial model</a:t>
            </a:r>
            <a:br/>
            <a:r>
              <a:rPr>
                <a:solidFill>
                  <a:srgbClr val="003B4F"/>
                </a:solidFill>
                <a:latin typeface="Courier"/>
              </a:rPr>
              <a:t>model_nb &lt;- </a:t>
            </a:r>
            <a:r>
              <a:rPr>
                <a:solidFill>
                  <a:srgbClr val="4758AB"/>
                </a:solidFill>
                <a:latin typeface="Courier"/>
              </a:rPr>
              <a:t>glm.nb</a:t>
            </a:r>
            <a:r>
              <a:rPr>
                <a:solidFill>
                  <a:srgbClr val="003B4F"/>
                </a:solidFill>
                <a:latin typeface="Courier"/>
              </a:rPr>
              <a:t>(qsec_round </a:t>
            </a:r>
            <a:r>
              <a:rPr>
                <a:solidFill>
                  <a:srgbClr val="5E5E5E"/>
                </a:solidFill>
                <a:latin typeface="Courier"/>
              </a:rPr>
              <a:t>~</a:t>
            </a:r>
            <a:r>
              <a:rPr>
                <a:solidFill>
                  <a:srgbClr val="003B4F"/>
                </a:solidFill>
                <a:latin typeface="Courier"/>
              </a:rPr>
              <a:t> cyl, </a:t>
            </a:r>
            <a:r>
              <a:rPr>
                <a:solidFill>
                  <a:srgbClr val="657422"/>
                </a:solidFill>
                <a:latin typeface="Courier"/>
              </a:rPr>
              <a:t>data =</a:t>
            </a:r>
            <a:r>
              <a:rPr>
                <a:solidFill>
                  <a:srgbClr val="003B4F"/>
                </a:solidFill>
                <a:latin typeface="Courier"/>
              </a:rPr>
              <a:t> mtcars_count)</a:t>
            </a:r>
            <a:br/>
            <a:br/>
            <a:r>
              <a:rPr>
                <a:solidFill>
                  <a:srgbClr val="5E5E5E"/>
                </a:solidFill>
                <a:latin typeface="Courier"/>
              </a:rPr>
              <a:t># Compare summaries</a:t>
            </a:r>
            <a:br/>
            <a:r>
              <a:rPr>
                <a:solidFill>
                  <a:srgbClr val="4758AB"/>
                </a:solidFill>
                <a:latin typeface="Courier"/>
              </a:rPr>
              <a:t>summary</a:t>
            </a:r>
            <a:r>
              <a:rPr>
                <a:solidFill>
                  <a:srgbClr val="003B4F"/>
                </a:solidFill>
                <a:latin typeface="Courier"/>
              </a:rPr>
              <a:t>(model_nb)</a:t>
            </a:r>
          </a:p>
          <a:p>
            <a:pPr lvl="0" indent="0">
              <a:buNone/>
            </a:pPr>
            <a:r>
              <a:rPr>
                <a:latin typeface="Courier"/>
              </a:rPr>
              <a:t>
Call:
glm.nb(formula = qsec_round ~ cyl, data = mtcars_count, init.theta = 2935650.009, 
    link = log)
Coefficients:
            Estimate Std. Error z value Pr(&gt;|z|)    
(Intercept)  2.95869    0.06868  43.079   &lt;2e-16 ***
cyl6        -0.07629    0.11277  -0.676    0.499    
cyl8        -0.14243    0.09482  -1.502    0.133    
---
Signif. codes:  0 '***' 0.001 '**' 0.01 '*' 0.05 '.' 0.1 ' ' 1
(Dispersion parameter for Negative Binomial(2935650) family taken to be 1)
    Null deviance: 5.6979  on 31  degrees of freedom
Residual deviance: 3.4486  on 29  degrees of freedom
AIC: 162.62
Number of Fisher Scoring iterations: 1
              Theta:  2935650 
          Std. Err.:  121368753 
Warning while fitting theta: iteration limit reached 
 2 x log-likelihood:  -154.616 </a:t>
            </a:r>
          </a:p>
          <a:p>
            <a:pPr lvl="0" indent="0" marL="0">
              <a:buNone/>
            </a:pPr>
            <a:r>
              <a:rPr/>
              <a:t>The negative binomial model includes an additional dispersion parameter (theta) that allows the variance to be larger than the mean.</a:t>
            </a:r>
          </a:p>
        </p:txBody>
      </p:sp>
      <p:sp>
        <p:nvSpPr>
          <p:cNvPr id="5" name="Text Placeholder 4"/>
          <p:cNvSpPr>
            <a:spLocks noGrp="1"/>
          </p:cNvSpPr>
          <p:nvPr>
            <p:ph idx="3" sz="quarter" type="body"/>
          </p:nvPr>
        </p:nvSpPr>
        <p:spPr/>
        <p:txBody>
          <a:bodyPr/>
          <a:lstStyle/>
          <a:p>
            <a:pPr lvl="0" indent="0" marL="0">
              <a:buNone/>
            </a:pPr>
            <a:r>
              <a:rPr/>
              <a:t>Let’s compare the predictions from both models:</a:t>
            </a:r>
          </a:p>
          <a:p>
            <a:pPr lvl="0" indent="0">
              <a:buNone/>
            </a:pPr>
            <a:r>
              <a:rPr>
                <a:solidFill>
                  <a:srgbClr val="5E5E5E"/>
                </a:solidFill>
                <a:latin typeface="Courier"/>
              </a:rPr>
              <a:t># Create predictions from both models</a:t>
            </a:r>
            <a:br/>
            <a:r>
              <a:rPr>
                <a:solidFill>
                  <a:srgbClr val="003B4F"/>
                </a:solidFill>
                <a:latin typeface="Courier"/>
              </a:rPr>
              <a:t>mtcars_count</a:t>
            </a:r>
            <a:r>
              <a:rPr>
                <a:solidFill>
                  <a:srgbClr val="5E5E5E"/>
                </a:solidFill>
                <a:latin typeface="Courier"/>
              </a:rPr>
              <a:t>$</a:t>
            </a:r>
            <a:r>
              <a:rPr>
                <a:solidFill>
                  <a:srgbClr val="003B4F"/>
                </a:solidFill>
                <a:latin typeface="Courier"/>
              </a:rPr>
              <a:t>pred_poisson &lt;- </a:t>
            </a:r>
            <a:r>
              <a:rPr>
                <a:solidFill>
                  <a:srgbClr val="4758AB"/>
                </a:solidFill>
                <a:latin typeface="Courier"/>
              </a:rPr>
              <a:t>predict</a:t>
            </a:r>
            <a:r>
              <a:rPr>
                <a:solidFill>
                  <a:srgbClr val="003B4F"/>
                </a:solidFill>
                <a:latin typeface="Courier"/>
              </a:rPr>
              <a:t>(model_poisson,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003B4F"/>
                </a:solidFill>
                <a:latin typeface="Courier"/>
              </a:rPr>
              <a:t>mtcars_count</a:t>
            </a:r>
            <a:r>
              <a:rPr>
                <a:solidFill>
                  <a:srgbClr val="5E5E5E"/>
                </a:solidFill>
                <a:latin typeface="Courier"/>
              </a:rPr>
              <a:t>$</a:t>
            </a:r>
            <a:r>
              <a:rPr>
                <a:solidFill>
                  <a:srgbClr val="003B4F"/>
                </a:solidFill>
                <a:latin typeface="Courier"/>
              </a:rPr>
              <a:t>pred_nb &lt;- </a:t>
            </a:r>
            <a:r>
              <a:rPr>
                <a:solidFill>
                  <a:srgbClr val="4758AB"/>
                </a:solidFill>
                <a:latin typeface="Courier"/>
              </a:rPr>
              <a:t>predict</a:t>
            </a:r>
            <a:r>
              <a:rPr>
                <a:solidFill>
                  <a:srgbClr val="003B4F"/>
                </a:solidFill>
                <a:latin typeface="Courier"/>
              </a:rPr>
              <a:t>(model_nb,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br/>
            <a:r>
              <a:rPr>
                <a:solidFill>
                  <a:srgbClr val="5E5E5E"/>
                </a:solidFill>
                <a:latin typeface="Courier"/>
              </a:rPr>
              <a:t># Compare predictions</a:t>
            </a:r>
            <a:br/>
            <a:r>
              <a:rPr>
                <a:solidFill>
                  <a:srgbClr val="4758AB"/>
                </a:solidFill>
                <a:latin typeface="Courier"/>
              </a:rPr>
              <a:t>ggplot</a:t>
            </a:r>
            <a:r>
              <a:rPr>
                <a:solidFill>
                  <a:srgbClr val="003B4F"/>
                </a:solidFill>
                <a:latin typeface="Courier"/>
              </a:rPr>
              <a:t>(mtcars_count)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pred_poisson, </a:t>
            </a:r>
            <a:r>
              <a:rPr>
                <a:solidFill>
                  <a:srgbClr val="657422"/>
                </a:solidFill>
                <a:latin typeface="Courier"/>
              </a:rPr>
              <a:t>y =</a:t>
            </a:r>
            <a:r>
              <a:rPr>
                <a:solidFill>
                  <a:srgbClr val="003B4F"/>
                </a:solidFill>
                <a:latin typeface="Courier"/>
              </a:rPr>
              <a:t> pred_nb, </a:t>
            </a:r>
            <a:r>
              <a:rPr>
                <a:solidFill>
                  <a:srgbClr val="657422"/>
                </a:solidFill>
                <a:latin typeface="Courier"/>
              </a:rPr>
              <a:t>color =</a:t>
            </a:r>
            <a:r>
              <a:rPr>
                <a:solidFill>
                  <a:srgbClr val="003B4F"/>
                </a:solidFill>
                <a:latin typeface="Courier"/>
              </a:rPr>
              <a:t> cyl)) </a:t>
            </a:r>
            <a:r>
              <a:rPr>
                <a:solidFill>
                  <a:srgbClr val="5E5E5E"/>
                </a:solidFill>
                <a:latin typeface="Courier"/>
              </a:rPr>
              <a:t>+</a:t>
            </a:r>
            <a:br/>
            <a:r>
              <a:rPr>
                <a:solidFill>
                  <a:srgbClr val="003B4F"/>
                </a:solidFill>
                <a:latin typeface="Courier"/>
              </a:rPr>
              <a:t>  </a:t>
            </a:r>
            <a:r>
              <a:rPr>
                <a:solidFill>
                  <a:srgbClr val="4758AB"/>
                </a:solidFill>
                <a:latin typeface="Courier"/>
              </a:rPr>
              <a:t>geom_abline</a:t>
            </a:r>
            <a:r>
              <a:rPr>
                <a:solidFill>
                  <a:srgbClr val="003B4F"/>
                </a:solidFill>
                <a:latin typeface="Courier"/>
              </a:rPr>
              <a:t>(</a:t>
            </a:r>
            <a:r>
              <a:rPr>
                <a:solidFill>
                  <a:srgbClr val="657422"/>
                </a:solidFill>
                <a:latin typeface="Courier"/>
              </a:rPr>
              <a:t>intercept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slope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"Comparison of Poisson and Negative Binomial Predictions"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"Poisson Predictions"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"Negative Binomial Predictions"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compare-models-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Logistic Regression - Introduction</a:t>
            </a:r>
          </a:p>
        </p:txBody>
      </p:sp>
      <mc:AlternateContent xmlns:mc="http://schemas.openxmlformats.org/markup-compatibility/2006">
        <mc:Choice xmlns:a14="http://schemas.microsoft.com/office/drawing/2010/main" Requires="a14">
          <p:sp>
            <p:nvSpPr>
              <p:cNvPr id="3" name="Text Placeholder 2"/>
              <p:cNvSpPr>
                <a:spLocks noGrp="1"/>
              </p:cNvSpPr>
              <p:nvPr>
                <p:ph idx="1" type="body"/>
              </p:nvPr>
            </p:nvSpPr>
            <p:spPr/>
            <p:txBody>
              <a:bodyPr/>
              <a:lstStyle/>
              <a:p>
                <a:pPr lvl="0" indent="0" marL="0">
                  <a:buNone/>
                </a:pPr>
                <a:r>
                  <a:rPr/>
                  <a:t>Logistic regression is a GLM used when the response variable is binary (e.g., dead/alive, present/absent). It models the probability of the response being “1” (success) given predictor values.</a:t>
                </a:r>
              </a:p>
              <a:p>
                <a:pPr lvl="0" indent="0" marL="0">
                  <a:buNone/>
                </a:pPr>
                <a:r>
                  <a:rPr/>
                  <a:t>Let’s examine the simple logistic regression model:</a:t>
                </a:r>
              </a:p>
              <a:p>
                <a:pPr lvl="0" indent="0" marL="0">
                  <a:buNone/>
                </a:pPr>
                <a14:m>
                  <m:oMathPara xmlns:m="http://schemas.openxmlformats.org/officeDocument/2006/math">
                    <m:oMathParaPr>
                      <m:jc m:val="center"/>
                    </m:oMathParaPr>
                    <m:oMath>
                      <m:r>
                        <m:t>π</m:t>
                      </m:r>
                      <m:d>
                        <m:dPr>
                          <m:begChr m:val="("/>
                          <m:endChr m:val=")"/>
                          <m:sepChr m:val=""/>
                          <m:grow/>
                        </m:dPr>
                        <m:e>
                          <m:r>
                            <m:t>x</m:t>
                          </m:r>
                        </m:e>
                      </m:d>
                      <m:r>
                        <m:rPr>
                          <m:sty m:val="p"/>
                        </m:rPr>
                        <m:t>=</m:t>
                      </m:r>
                      <m:f>
                        <m:fPr>
                          <m:type m:val="bar"/>
                        </m:fPr>
                        <m:num>
                          <m:sSup>
                            <m:e>
                              <m:r>
                                <m:t>e</m:t>
                              </m:r>
                            </m:e>
                            <m:sup>
                              <m:sSub>
                                <m:e>
                                  <m:r>
                                    <m:t>β</m:t>
                                  </m:r>
                                </m:e>
                                <m:sub>
                                  <m:r>
                                    <m:t>0</m:t>
                                  </m:r>
                                </m:sub>
                              </m:sSub>
                              <m:r>
                                <m:rPr>
                                  <m:sty m:val="p"/>
                                </m:rPr>
                                <m:t>+</m:t>
                              </m:r>
                              <m:sSub>
                                <m:e>
                                  <m:r>
                                    <m:t>β</m:t>
                                  </m:r>
                                </m:e>
                                <m:sub>
                                  <m:r>
                                    <m:t>1</m:t>
                                  </m:r>
                                </m:sub>
                              </m:sSub>
                              <m:r>
                                <m:t>x</m:t>
                              </m:r>
                            </m:sup>
                          </m:sSup>
                        </m:num>
                        <m:den>
                          <m:r>
                            <m:t>1</m:t>
                          </m:r>
                          <m:r>
                            <m:rPr>
                              <m:sty m:val="p"/>
                            </m:rPr>
                            <m:t>+</m:t>
                          </m:r>
                          <m:sSup>
                            <m:e>
                              <m:r>
                                <m:t>e</m:t>
                              </m:r>
                            </m:e>
                            <m:sup>
                              <m:sSub>
                                <m:e>
                                  <m:r>
                                    <m:t>β</m:t>
                                  </m:r>
                                </m:e>
                                <m:sub>
                                  <m:r>
                                    <m:t>0</m:t>
                                  </m:r>
                                </m:sub>
                              </m:sSub>
                              <m:r>
                                <m:rPr>
                                  <m:sty m:val="p"/>
                                </m:rPr>
                                <m:t>+</m:t>
                              </m:r>
                              <m:sSub>
                                <m:e>
                                  <m:r>
                                    <m:t>β</m:t>
                                  </m:r>
                                </m:e>
                                <m:sub>
                                  <m:r>
                                    <m:t>1</m:t>
                                  </m:r>
                                </m:sub>
                              </m:sSub>
                              <m:r>
                                <m:t>x</m:t>
                              </m:r>
                            </m:sup>
                          </m:sSup>
                        </m:den>
                      </m:f>
                    </m:oMath>
                  </m:oMathPara>
                </a14:m>
              </a:p>
              <a:p>
                <a:pPr lvl="0" indent="0" marL="0">
                  <a:buNone/>
                </a:pPr>
                <a:r>
                  <a:rPr/>
                  <a:t>Where: - </a:t>
                </a:r>
                <a14:m>
                  <m:oMath xmlns:m="http://schemas.openxmlformats.org/officeDocument/2006/math">
                    <m:r>
                      <m:t>π</m:t>
                    </m:r>
                    <m:d>
                      <m:dPr>
                        <m:begChr m:val="("/>
                        <m:endChr m:val=")"/>
                        <m:sepChr m:val=""/>
                        <m:grow/>
                      </m:dPr>
                      <m:e>
                        <m:r>
                          <m:t>x</m:t>
                        </m:r>
                      </m:e>
                    </m:d>
                  </m:oMath>
                </a14:m>
                <a:r>
                  <a:rPr/>
                  <a:t> is the probability that Y = 1 given X = x - </a:t>
                </a:r>
                <a14:m>
                  <m:oMath xmlns:m="http://schemas.openxmlformats.org/officeDocument/2006/math">
                    <m:sSub>
                      <m:e>
                        <m:r>
                          <m:t>β</m:t>
                        </m:r>
                      </m:e>
                      <m:sub>
                        <m:r>
                          <m:t>0</m:t>
                        </m:r>
                      </m:sub>
                    </m:sSub>
                  </m:oMath>
                </a14:m>
                <a:r>
                  <a:rPr/>
                  <a:t> is the intercept - </a:t>
                </a:r>
                <a14:m>
                  <m:oMath xmlns:m="http://schemas.openxmlformats.org/officeDocument/2006/math">
                    <m:sSub>
                      <m:e>
                        <m:r>
                          <m:t>β</m:t>
                        </m:r>
                      </m:e>
                      <m:sub>
                        <m:r>
                          <m:t>1</m:t>
                        </m:r>
                      </m:sub>
                    </m:sSub>
                  </m:oMath>
                </a14:m>
                <a:r>
                  <a:rPr/>
                  <a:t> is the slope (rate of change in </a:t>
                </a:r>
                <a14:m>
                  <m:oMath xmlns:m="http://schemas.openxmlformats.org/officeDocument/2006/math">
                    <m:r>
                      <m:t>π</m:t>
                    </m:r>
                    <m:d>
                      <m:dPr>
                        <m:begChr m:val="("/>
                        <m:endChr m:val=")"/>
                        <m:sepChr m:val=""/>
                        <m:grow/>
                      </m:dPr>
                      <m:e>
                        <m:r>
                          <m:t>x</m:t>
                        </m:r>
                      </m:e>
                    </m:d>
                  </m:oMath>
                </a14:m>
                <a:r>
                  <a:rPr/>
                  <a:t> for a unit change in X)</a:t>
                </a:r>
              </a:p>
              <a:p>
                <a:pPr lvl="0" indent="0" marL="0">
                  <a:buNone/>
                </a:pPr>
                <a:r>
                  <a:rPr/>
                  <a:t>To linearize this relationship, we use the logit link function:</a:t>
                </a:r>
              </a:p>
              <a:p>
                <a:pPr lvl="0" indent="0" marL="0">
                  <a:buNone/>
                </a:pPr>
                <a14:m>
                  <m:oMathPara xmlns:m="http://schemas.openxmlformats.org/officeDocument/2006/math">
                    <m:oMathParaPr>
                      <m:jc m:val="center"/>
                    </m:oMathParaPr>
                    <m:oMath>
                      <m:r>
                        <m:t>g</m:t>
                      </m:r>
                      <m:d>
                        <m:dPr>
                          <m:begChr m:val="("/>
                          <m:endChr m:val=")"/>
                          <m:sepChr m:val=""/>
                          <m:grow/>
                        </m:dPr>
                        <m:e>
                          <m:r>
                            <m:t>x</m:t>
                          </m:r>
                        </m:e>
                      </m:d>
                      <m:r>
                        <m:rPr>
                          <m:sty m:val="p"/>
                        </m:rPr>
                        <m:t>=</m:t>
                      </m:r>
                      <m:r>
                        <m:rPr>
                          <m:sty m:val="p"/>
                        </m:rPr>
                        <m:t>log</m:t>
                      </m:r>
                      <m:d>
                        <m:dPr>
                          <m:begChr m:val="("/>
                          <m:endChr m:val=")"/>
                          <m:sepChr m:val=""/>
                          <m:grow/>
                        </m:dPr>
                        <m:e>
                          <m:f>
                            <m:fPr>
                              <m:type m:val="bar"/>
                            </m:fPr>
                            <m:num>
                              <m:r>
                                <m:t>π</m:t>
                              </m:r>
                              <m:d>
                                <m:dPr>
                                  <m:begChr m:val="("/>
                                  <m:endChr m:val=")"/>
                                  <m:sepChr m:val=""/>
                                  <m:grow/>
                                </m:dPr>
                                <m:e>
                                  <m:r>
                                    <m:t>x</m:t>
                                  </m:r>
                                </m:e>
                              </m:d>
                            </m:num>
                            <m:den>
                              <m:r>
                                <m:t>1</m:t>
                              </m:r>
                              <m:r>
                                <m:rPr>
                                  <m:sty m:val="p"/>
                                </m:rPr>
                                <m:t>−</m:t>
                              </m:r>
                              <m:r>
                                <m:t>π</m:t>
                              </m:r>
                              <m:d>
                                <m:dPr>
                                  <m:begChr m:val="("/>
                                  <m:endChr m:val=")"/>
                                  <m:sepChr m:val=""/>
                                  <m:grow/>
                                </m:dPr>
                                <m:e>
                                  <m:r>
                                    <m:t>x</m:t>
                                  </m:r>
                                </m:e>
                              </m:d>
                            </m:den>
                          </m:f>
                        </m:e>
                      </m:d>
                      <m:r>
                        <m:rPr>
                          <m:sty m:val="p"/>
                        </m:rPr>
                        <m:t>=</m:t>
                      </m:r>
                      <m:sSub>
                        <m:e>
                          <m:r>
                            <m:t>β</m:t>
                          </m:r>
                        </m:e>
                        <m:sub>
                          <m:r>
                            <m:t>0</m:t>
                          </m:r>
                        </m:sub>
                      </m:sSub>
                      <m:r>
                        <m:rPr>
                          <m:sty m:val="p"/>
                        </m:rPr>
                        <m:t>+</m:t>
                      </m:r>
                      <m:sSub>
                        <m:e>
                          <m:r>
                            <m:t>β</m:t>
                          </m:r>
                        </m:e>
                        <m:sub>
                          <m:r>
                            <m:t>1</m:t>
                          </m:r>
                        </m:sub>
                      </m:sSub>
                      <m:r>
                        <m:t>x</m:t>
                      </m:r>
                    </m:oMath>
                  </m:oMathPara>
                </a14:m>
              </a:p>
              <a:p>
                <a:pPr lvl="0" indent="0" marL="0">
                  <a:buNone/>
                </a:pPr>
                <a:r>
                  <a:rPr/>
                  <a:t>This transforms the probability (which is bounded between 0 and 1) to a linear function that can range from -∞ to +∞.</a:t>
                </a:r>
              </a:p>
            </p:txBody>
          </p:sp>
        </mc:Choice>
      </mc:AlternateContent>
      <p:sp>
        <p:nvSpPr>
          <p:cNvPr id="5" name="Text Placeholder 4"/>
          <p:cNvSpPr>
            <a:spLocks noGrp="1"/>
          </p:cNvSpPr>
          <p:nvPr>
            <p:ph idx="3" sz="quarter" type="body"/>
          </p:nvPr>
        </p:nvSpPr>
        <p:spPr/>
        <p:txBody>
          <a:bodyPr/>
          <a:lstStyle/>
          <a:p>
            <a:pPr lvl="0" indent="0">
              <a:buNone/>
            </a:pPr>
            <a:r>
              <a:rPr>
                <a:solidFill>
                  <a:srgbClr val="5E5E5E"/>
                </a:solidFill>
                <a:latin typeface="Courier"/>
              </a:rPr>
              <a:t># Create data for sigmoid curve</a:t>
            </a:r>
            <a:br/>
            <a:r>
              <a:rPr>
                <a:solidFill>
                  <a:srgbClr val="003B4F"/>
                </a:solidFill>
                <a:latin typeface="Courier"/>
              </a:rPr>
              <a:t>sigmoid_data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5E5E5E"/>
                </a:solidFill>
                <a:latin typeface="Courier"/>
              </a:rPr>
              <a:t>-</a:t>
            </a:r>
            <a:r>
              <a:rPr>
                <a:solidFill>
                  <a:srgbClr val="AD0000"/>
                </a:solidFill>
                <a:latin typeface="Courier"/>
              </a:rPr>
              <a:t>6</a:t>
            </a:r>
            <a:r>
              <a:rPr>
                <a:solidFill>
                  <a:srgbClr val="003B4F"/>
                </a:solidFill>
                <a:latin typeface="Courier"/>
              </a:rPr>
              <a:t>, </a:t>
            </a:r>
            <a:r>
              <a:rPr>
                <a:solidFill>
                  <a:srgbClr val="AD0000"/>
                </a:solidFill>
                <a:latin typeface="Courier"/>
              </a:rPr>
              <a:t>6</a:t>
            </a:r>
            <a:r>
              <a:rPr>
                <a:solidFill>
                  <a:srgbClr val="003B4F"/>
                </a:solidFill>
                <a:latin typeface="Courier"/>
              </a:rPr>
              <a:t>, </a:t>
            </a:r>
            <a:r>
              <a:rPr>
                <a:solidFill>
                  <a:srgbClr val="657422"/>
                </a:solidFill>
                <a:latin typeface="Courier"/>
              </a:rPr>
              <a:t>length.out =</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a:t>
            </a:r>
            <a:br/>
            <a:r>
              <a:rPr>
                <a:solidFill>
                  <a:srgbClr val="003B4F"/>
                </a:solidFill>
                <a:latin typeface="Courier"/>
              </a:rPr>
              <a:t>sigmoid_data</a:t>
            </a:r>
            <a:r>
              <a:rPr>
                <a:solidFill>
                  <a:srgbClr val="5E5E5E"/>
                </a:solidFill>
                <a:latin typeface="Courier"/>
              </a:rPr>
              <a:t>$</a:t>
            </a:r>
            <a:r>
              <a:rPr>
                <a:solidFill>
                  <a:srgbClr val="003B4F"/>
                </a:solidFill>
                <a:latin typeface="Courier"/>
              </a:rPr>
              <a:t>p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exp</a:t>
            </a:r>
            <a:r>
              <a:rPr>
                <a:solidFill>
                  <a:srgbClr val="003B4F"/>
                </a:solidFill>
                <a:latin typeface="Courier"/>
              </a:rPr>
              <a:t>(</a:t>
            </a:r>
            <a:r>
              <a:rPr>
                <a:solidFill>
                  <a:srgbClr val="5E5E5E"/>
                </a:solidFill>
                <a:latin typeface="Courier"/>
              </a:rPr>
              <a:t>-</a:t>
            </a:r>
            <a:r>
              <a:rPr>
                <a:solidFill>
                  <a:srgbClr val="003B4F"/>
                </a:solidFill>
                <a:latin typeface="Courier"/>
              </a:rPr>
              <a:t>sigmoid_data</a:t>
            </a:r>
            <a:r>
              <a:rPr>
                <a:solidFill>
                  <a:srgbClr val="5E5E5E"/>
                </a:solidFill>
                <a:latin typeface="Courier"/>
              </a:rPr>
              <a:t>$</a:t>
            </a:r>
            <a:r>
              <a:rPr>
                <a:solidFill>
                  <a:srgbClr val="003B4F"/>
                </a:solidFill>
                <a:latin typeface="Courier"/>
              </a:rPr>
              <a:t>x))</a:t>
            </a:r>
            <a:br/>
            <a:br/>
            <a:r>
              <a:rPr>
                <a:solidFill>
                  <a:srgbClr val="5E5E5E"/>
                </a:solidFill>
                <a:latin typeface="Courier"/>
              </a:rPr>
              <a:t># Plot the sigmoid curve</a:t>
            </a:r>
            <a:br/>
            <a:r>
              <a:rPr>
                <a:solidFill>
                  <a:srgbClr val="4758AB"/>
                </a:solidFill>
                <a:latin typeface="Courier"/>
              </a:rPr>
              <a:t>ggplot</a:t>
            </a:r>
            <a:r>
              <a:rPr>
                <a:solidFill>
                  <a:srgbClr val="003B4F"/>
                </a:solidFill>
                <a:latin typeface="Courier"/>
              </a:rPr>
              <a:t>(sigmoid_data, </a:t>
            </a:r>
            <a:r>
              <a:rPr>
                <a:solidFill>
                  <a:srgbClr val="4758AB"/>
                </a:solidFill>
                <a:latin typeface="Courier"/>
              </a:rPr>
              <a:t>aes</a:t>
            </a:r>
            <a:r>
              <a:rPr>
                <a:solidFill>
                  <a:srgbClr val="003B4F"/>
                </a:solidFill>
                <a:latin typeface="Courier"/>
              </a:rPr>
              <a:t>(x, p))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linewidth =</a:t>
            </a:r>
            <a:r>
              <a:rPr>
                <a:solidFill>
                  <a:srgbClr val="003B4F"/>
                </a:solidFill>
                <a:latin typeface="Courier"/>
              </a:rPr>
              <a:t> </a:t>
            </a:r>
            <a:r>
              <a:rPr>
                <a:solidFill>
                  <a:srgbClr val="AD0000"/>
                </a:solidFill>
                <a:latin typeface="Courier"/>
              </a:rPr>
              <a:t>1.2</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geom_hline</a:t>
            </a:r>
            <a:r>
              <a:rPr>
                <a:solidFill>
                  <a:srgbClr val="003B4F"/>
                </a:solidFill>
                <a:latin typeface="Courier"/>
              </a:rPr>
              <a:t>(</a:t>
            </a:r>
            <a:r>
              <a:rPr>
                <a:solidFill>
                  <a:srgbClr val="657422"/>
                </a:solidFill>
                <a:latin typeface="Courier"/>
              </a:rPr>
              <a:t>yintercept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"gray50"</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geom_vline</a:t>
            </a:r>
            <a:r>
              <a:rPr>
                <a:solidFill>
                  <a:srgbClr val="003B4F"/>
                </a:solidFill>
                <a:latin typeface="Courier"/>
              </a:rPr>
              <a:t>(</a:t>
            </a:r>
            <a:r>
              <a:rPr>
                <a:solidFill>
                  <a:srgbClr val="657422"/>
                </a:solidFill>
                <a:latin typeface="Courier"/>
              </a:rPr>
              <a:t>xintercept =</a:t>
            </a:r>
            <a:r>
              <a:rPr>
                <a:solidFill>
                  <a:srgbClr val="003B4F"/>
                </a:solidFill>
                <a:latin typeface="Courier"/>
              </a:rPr>
              <a:t> </a:t>
            </a:r>
            <a:r>
              <a:rPr>
                <a:solidFill>
                  <a:srgbClr val="AD0000"/>
                </a:solidFill>
                <a:latin typeface="Courier"/>
              </a:rPr>
              <a:t>0</a:t>
            </a:r>
            <a:r>
              <a:rPr>
                <a:solidFill>
                  <a:srgbClr val="003B4F"/>
                </a:solidFill>
                <a:latin typeface="Courier"/>
              </a:rPr>
              <a:t>, </a:t>
            </a:r>
            <a:b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"gray50"</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"Logistic Function"</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"Mapping from linear predictor to probability"</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"Linear predictor (β₀ + β₁x)"</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π(x)"</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scale_y_continuous</a:t>
            </a:r>
            <a:r>
              <a:rPr>
                <a:solidFill>
                  <a:srgbClr val="003B4F"/>
                </a:solidFill>
                <a:latin typeface="Courier"/>
              </a:rPr>
              <a:t>(</a:t>
            </a:r>
            <a:r>
              <a:rPr>
                <a:solidFill>
                  <a:srgbClr val="657422"/>
                </a:solidFill>
                <a:latin typeface="Courier"/>
              </a:rPr>
              <a:t>breaks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0.25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logistic-curve-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Example: Lizard Presence on Islands</a:t>
            </a:r>
          </a:p>
        </p:txBody>
      </p:sp>
      <p:sp>
        <p:nvSpPr>
          <p:cNvPr id="3" name="Content Placeholder 2"/>
          <p:cNvSpPr>
            <a:spLocks noGrp="1"/>
          </p:cNvSpPr>
          <p:nvPr>
            <p:ph idx="1"/>
          </p:nvPr>
        </p:nvSpPr>
        <p:spPr/>
        <p:txBody>
          <a:bodyPr/>
          <a:lstStyle/>
          <a:p>
            <a:pPr lvl="0" indent="0" marL="0">
              <a:buNone/>
            </a:pPr>
            <a:r>
              <a:rPr/>
              <a:t>Based on the example from Polis et al. (1998), we’ll model the presence/absence of lizards (</a:t>
            </a:r>
            <a:r>
              <a:rPr i="1"/>
              <a:t>Uta</a:t>
            </a:r>
            <a:r>
              <a:rPr/>
              <a:t>) on islands in the Gulf of California based on perimeter/area ratio.</a:t>
            </a:r>
          </a:p>
          <a:p>
            <a:pPr lvl="0" indent="0">
              <a:buNone/>
            </a:pPr>
            <a:r>
              <a:rPr>
                <a:solidFill>
                  <a:srgbClr val="5E5E5E"/>
                </a:solidFill>
                <a:latin typeface="Courier"/>
              </a:rPr>
              <a:t># Create a simulated dataset based on the described study</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a:t>
            </a:r>
            <a:br/>
            <a:r>
              <a:rPr>
                <a:solidFill>
                  <a:srgbClr val="003B4F"/>
                </a:solidFill>
                <a:latin typeface="Courier"/>
              </a:rPr>
              <a:t>island_data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island_id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19</a:t>
            </a:r>
            <a:r>
              <a:rPr>
                <a:solidFill>
                  <a:srgbClr val="003B4F"/>
                </a:solidFill>
                <a:latin typeface="Courier"/>
              </a:rPr>
              <a:t>,</a:t>
            </a:r>
            <a:br/>
            <a:r>
              <a:rPr>
                <a:solidFill>
                  <a:srgbClr val="003B4F"/>
                </a:solidFill>
                <a:latin typeface="Courier"/>
              </a:rPr>
              <a:t>  </a:t>
            </a:r>
            <a:r>
              <a:rPr>
                <a:solidFill>
                  <a:srgbClr val="657422"/>
                </a:solidFill>
                <a:latin typeface="Courier"/>
              </a:rPr>
              <a:t>pa_ratio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AD0000"/>
                </a:solidFill>
                <a:latin typeface="Courier"/>
              </a:rPr>
              <a:t>10</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AD0000"/>
                </a:solidFill>
                <a:latin typeface="Courier"/>
              </a:rPr>
              <a:t>30</a:t>
            </a:r>
            <a:r>
              <a:rPr>
                <a:solidFill>
                  <a:srgbClr val="003B4F"/>
                </a:solidFill>
                <a:latin typeface="Courier"/>
              </a:rPr>
              <a:t>, </a:t>
            </a:r>
            <a:r>
              <a:rPr>
                <a:solidFill>
                  <a:srgbClr val="AD0000"/>
                </a:solidFill>
                <a:latin typeface="Courier"/>
              </a:rPr>
              <a:t>35</a:t>
            </a:r>
            <a:r>
              <a:rPr>
                <a:solidFill>
                  <a:srgbClr val="003B4F"/>
                </a:solidFill>
                <a:latin typeface="Courier"/>
              </a:rPr>
              <a:t>, </a:t>
            </a:r>
            <a:r>
              <a:rPr>
                <a:solidFill>
                  <a:srgbClr val="AD0000"/>
                </a:solidFill>
                <a:latin typeface="Courier"/>
              </a:rPr>
              <a:t>40</a:t>
            </a:r>
            <a:r>
              <a:rPr>
                <a:solidFill>
                  <a:srgbClr val="003B4F"/>
                </a:solidFill>
                <a:latin typeface="Courier"/>
              </a:rPr>
              <a:t>, </a:t>
            </a:r>
            <a:r>
              <a:rPr>
                <a:solidFill>
                  <a:srgbClr val="AD0000"/>
                </a:solidFill>
                <a:latin typeface="Courier"/>
              </a:rPr>
              <a:t>45</a:t>
            </a:r>
            <a:r>
              <a:rPr>
                <a:solidFill>
                  <a:srgbClr val="003B4F"/>
                </a:solidFill>
                <a:latin typeface="Courier"/>
              </a:rPr>
              <a:t>, </a:t>
            </a:r>
            <a:r>
              <a:rPr>
                <a:solidFill>
                  <a:srgbClr val="AD0000"/>
                </a:solidFill>
                <a:latin typeface="Courier"/>
              </a:rPr>
              <a:t>50</a:t>
            </a:r>
            <a:r>
              <a:rPr>
                <a:solidFill>
                  <a:srgbClr val="003B4F"/>
                </a:solidFill>
                <a:latin typeface="Courier"/>
              </a:rPr>
              <a:t>, </a:t>
            </a:r>
            <a:r>
              <a:rPr>
                <a:solidFill>
                  <a:srgbClr val="AD0000"/>
                </a:solidFill>
                <a:latin typeface="Courier"/>
              </a:rPr>
              <a:t>55</a:t>
            </a:r>
            <a:r>
              <a:rPr>
                <a:solidFill>
                  <a:srgbClr val="003B4F"/>
                </a:solidFill>
                <a:latin typeface="Courier"/>
              </a:rPr>
              <a:t>, </a:t>
            </a:r>
            <a:r>
              <a:rPr>
                <a:solidFill>
                  <a:srgbClr val="AD0000"/>
                </a:solidFill>
                <a:latin typeface="Courier"/>
              </a:rPr>
              <a:t>60</a:t>
            </a:r>
            <a:r>
              <a:rPr>
                <a:solidFill>
                  <a:srgbClr val="003B4F"/>
                </a:solidFill>
                <a:latin typeface="Courier"/>
              </a:rPr>
              <a:t>, </a:t>
            </a:r>
            <a:r>
              <a:rPr>
                <a:solidFill>
                  <a:srgbClr val="AD0000"/>
                </a:solidFill>
                <a:latin typeface="Courier"/>
              </a:rPr>
              <a:t>65</a:t>
            </a:r>
            <a:r>
              <a:rPr>
                <a:solidFill>
                  <a:srgbClr val="003B4F"/>
                </a:solidFill>
                <a:latin typeface="Courier"/>
              </a:rPr>
              <a:t>, </a:t>
            </a:r>
            <a:r>
              <a:rPr>
                <a:solidFill>
                  <a:srgbClr val="AD0000"/>
                </a:solidFill>
                <a:latin typeface="Courier"/>
              </a:rPr>
              <a:t>70</a:t>
            </a:r>
            <a:r>
              <a:rPr>
                <a:solidFill>
                  <a:srgbClr val="003B4F"/>
                </a:solidFill>
                <a:latin typeface="Courier"/>
              </a:rPr>
              <a:t>, </a:t>
            </a:r>
            <a:r>
              <a:rPr>
                <a:solidFill>
                  <a:srgbClr val="AD0000"/>
                </a:solidFill>
                <a:latin typeface="Courier"/>
              </a:rPr>
              <a:t>10</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AD0000"/>
                </a:solidFill>
                <a:latin typeface="Courier"/>
              </a:rPr>
              <a:t>30</a:t>
            </a:r>
            <a:r>
              <a:rPr>
                <a:solidFill>
                  <a:srgbClr val="003B4F"/>
                </a:solidFill>
                <a:latin typeface="Courier"/>
              </a:rPr>
              <a:t>),</a:t>
            </a:r>
            <a:br/>
            <a:r>
              <a:rPr>
                <a:solidFill>
                  <a:srgbClr val="003B4F"/>
                </a:solidFill>
                <a:latin typeface="Courier"/>
              </a:rPr>
              <a:t>  </a:t>
            </a:r>
            <a:r>
              <a:rPr>
                <a:solidFill>
                  <a:srgbClr val="657422"/>
                </a:solidFill>
                <a:latin typeface="Courier"/>
              </a:rPr>
              <a:t>uta_present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0</a:t>
            </a:r>
            <a:r>
              <a:rPr>
                <a:solidFill>
                  <a:srgbClr val="003B4F"/>
                </a:solidFill>
                <a:latin typeface="Courier"/>
              </a:rPr>
              <a:t>)</a:t>
            </a:r>
            <a:b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uta_present =</a:t>
            </a:r>
            <a:r>
              <a:rPr>
                <a:solidFill>
                  <a:srgbClr val="003B4F"/>
                </a:solidFill>
                <a:latin typeface="Courier"/>
              </a:rPr>
              <a:t> </a:t>
            </a:r>
            <a:r>
              <a:rPr>
                <a:solidFill>
                  <a:srgbClr val="4758AB"/>
                </a:solidFill>
                <a:latin typeface="Courier"/>
              </a:rPr>
              <a:t>factor</a:t>
            </a:r>
            <a:r>
              <a:rPr>
                <a:solidFill>
                  <a:srgbClr val="003B4F"/>
                </a:solidFill>
                <a:latin typeface="Courier"/>
              </a:rPr>
              <a:t>(uta_present, </a:t>
            </a:r>
            <a:r>
              <a:rPr>
                <a:solidFill>
                  <a:srgbClr val="657422"/>
                </a:solidFill>
                <a:latin typeface="Courier"/>
              </a:rPr>
              <a:t>levels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labels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"Absent"</a:t>
            </a:r>
            <a:r>
              <a:rPr>
                <a:solidFill>
                  <a:srgbClr val="003B4F"/>
                </a:solidFill>
                <a:latin typeface="Courier"/>
              </a:rPr>
              <a:t>, </a:t>
            </a:r>
            <a:r>
              <a:rPr>
                <a:solidFill>
                  <a:srgbClr val="20794D"/>
                </a:solidFill>
                <a:latin typeface="Courier"/>
              </a:rPr>
              <a:t>"Present"</a:t>
            </a:r>
            <a:r>
              <a:rPr>
                <a:solidFill>
                  <a:srgbClr val="003B4F"/>
                </a:solidFill>
                <a:latin typeface="Courier"/>
              </a:rPr>
              <a:t>)))</a:t>
            </a:r>
            <a:br/>
            <a:br/>
            <a:r>
              <a:rPr>
                <a:solidFill>
                  <a:srgbClr val="5E5E5E"/>
                </a:solidFill>
                <a:latin typeface="Courier"/>
              </a:rPr>
              <a:t># Fit the logistic regression model</a:t>
            </a:r>
            <a:br/>
            <a:r>
              <a:rPr>
                <a:solidFill>
                  <a:srgbClr val="003B4F"/>
                </a:solidFill>
                <a:latin typeface="Courier"/>
              </a:rPr>
              <a:t>lizard_model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pa_ratio,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Model summary</a:t>
            </a:r>
            <a:br/>
            <a:r>
              <a:rPr>
                <a:solidFill>
                  <a:srgbClr val="4758AB"/>
                </a:solidFill>
                <a:latin typeface="Courier"/>
              </a:rPr>
              <a:t>summary</a:t>
            </a:r>
            <a:r>
              <a:rPr>
                <a:solidFill>
                  <a:srgbClr val="003B4F"/>
                </a:solidFill>
                <a:latin typeface="Courier"/>
              </a:rPr>
              <a:t>(lizard_model)</a:t>
            </a:r>
          </a:p>
          <a:p>
            <a:pPr lvl="0" indent="0">
              <a:buNone/>
            </a:pPr>
            <a:r>
              <a:rPr>
                <a:latin typeface="Courier"/>
              </a:rPr>
              <a:t>
Call:
glm(formula = uta_present ~ pa_ratio, family = binomial(link = "logit"), 
    data = island_data)
Coefficients:
              Estimate Std. Error z value Pr(&gt;|z|)
(Intercept)    241.039 191755.596   0.001    0.999
pa_ratio        -8.766   6965.289  -0.001    0.999
(Dispersion parameter for binomial family taken to be 1)
    Null deviance: 2.6287e+01  on 18  degrees of freedom
Residual deviance: 2.4292e-09  on 17  degrees of freedom
AIC: 4
Number of Fisher Scoring iterations: 25</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Lizard Example: Visualization and Testing</a:t>
            </a:r>
          </a:p>
        </p:txBody>
      </p:sp>
      <p:sp>
        <p:nvSpPr>
          <p:cNvPr id="3" name="Text Placeholder 2"/>
          <p:cNvSpPr>
            <a:spLocks noGrp="1"/>
          </p:cNvSpPr>
          <p:nvPr>
            <p:ph idx="1" type="body"/>
          </p:nvPr>
        </p:nvSpPr>
        <p:spPr/>
        <p:txBody>
          <a:bodyPr/>
          <a:lstStyle/>
          <a:p>
            <a:pPr lvl="0" indent="0" marL="0">
              <a:buNone/>
            </a:pPr>
            <a:r>
              <a:rPr/>
              <a:t>Let’s visualize the data and the fitted model:</a:t>
            </a:r>
          </a:p>
          <a:p>
            <a:pPr lvl="0" indent="0">
              <a:buNone/>
            </a:pPr>
            <a:r>
              <a:rPr>
                <a:solidFill>
                  <a:srgbClr val="5E5E5E"/>
                </a:solidFill>
                <a:latin typeface="Courier"/>
              </a:rPr>
              <a:t># Create a dataframe for predictions</a:t>
            </a:r>
            <a:br/>
            <a:r>
              <a:rPr>
                <a:solidFill>
                  <a:srgbClr val="003B4F"/>
                </a:solidFill>
                <a:latin typeface="Courier"/>
              </a:rPr>
              <a:t>pred_data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pa_ratio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4758AB"/>
                </a:solidFill>
                <a:latin typeface="Courier"/>
              </a:rPr>
              <a:t>min</a:t>
            </a:r>
            <a:r>
              <a:rPr>
                <a:solidFill>
                  <a:srgbClr val="003B4F"/>
                </a:solidFill>
                <a:latin typeface="Courier"/>
              </a:rPr>
              <a:t>(island_data</a:t>
            </a:r>
            <a:r>
              <a:rPr>
                <a:solidFill>
                  <a:srgbClr val="5E5E5E"/>
                </a:solidFill>
                <a:latin typeface="Courier"/>
              </a:rPr>
              <a:t>$</a:t>
            </a:r>
            <a:r>
              <a:rPr>
                <a:solidFill>
                  <a:srgbClr val="003B4F"/>
                </a:solidFill>
                <a:latin typeface="Courier"/>
              </a:rPr>
              <a:t>pa_ratio), </a:t>
            </a:r>
            <a:br/>
            <a:r>
              <a:rPr>
                <a:solidFill>
                  <a:srgbClr val="003B4F"/>
                </a:solidFill>
                <a:latin typeface="Courier"/>
              </a:rPr>
              <a:t>                </a:t>
            </a:r>
            <a:r>
              <a:rPr>
                <a:solidFill>
                  <a:srgbClr val="4758AB"/>
                </a:solidFill>
                <a:latin typeface="Courier"/>
              </a:rPr>
              <a:t>max</a:t>
            </a:r>
            <a:r>
              <a:rPr>
                <a:solidFill>
                  <a:srgbClr val="003B4F"/>
                </a:solidFill>
                <a:latin typeface="Courier"/>
              </a:rPr>
              <a:t>(island_data</a:t>
            </a:r>
            <a:r>
              <a:rPr>
                <a:solidFill>
                  <a:srgbClr val="5E5E5E"/>
                </a:solidFill>
                <a:latin typeface="Courier"/>
              </a:rPr>
              <a:t>$</a:t>
            </a:r>
            <a:r>
              <a:rPr>
                <a:solidFill>
                  <a:srgbClr val="003B4F"/>
                </a:solidFill>
                <a:latin typeface="Courier"/>
              </a:rPr>
              <a:t>pa_ratio), </a:t>
            </a:r>
            <a:br/>
            <a:r>
              <a:rPr>
                <a:solidFill>
                  <a:srgbClr val="003B4F"/>
                </a:solidFill>
                <a:latin typeface="Courier"/>
              </a:rPr>
              <a:t>                </a:t>
            </a:r>
            <a:r>
              <a:rPr>
                <a:solidFill>
                  <a:srgbClr val="657422"/>
                </a:solidFill>
                <a:latin typeface="Courier"/>
              </a:rPr>
              <a:t>length.out =</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a:t>
            </a:r>
            <a:br/>
            <a:br/>
            <a:r>
              <a:rPr>
                <a:solidFill>
                  <a:srgbClr val="5E5E5E"/>
                </a:solidFill>
                <a:latin typeface="Courier"/>
              </a:rPr>
              <a:t># Get predicted probabilities</a:t>
            </a:r>
            <a:br/>
            <a:r>
              <a:rPr>
                <a:solidFill>
                  <a:srgbClr val="003B4F"/>
                </a:solidFill>
                <a:latin typeface="Courier"/>
              </a:rPr>
              <a:t>pred_data</a:t>
            </a:r>
            <a:r>
              <a:rPr>
                <a:solidFill>
                  <a:srgbClr val="5E5E5E"/>
                </a:solidFill>
                <a:latin typeface="Courier"/>
              </a:rPr>
              <a:t>$</a:t>
            </a:r>
            <a:r>
              <a:rPr>
                <a:solidFill>
                  <a:srgbClr val="003B4F"/>
                </a:solidFill>
                <a:latin typeface="Courier"/>
              </a:rPr>
              <a:t>prob &lt;- </a:t>
            </a:r>
            <a:r>
              <a:rPr>
                <a:solidFill>
                  <a:srgbClr val="4758AB"/>
                </a:solidFill>
                <a:latin typeface="Courier"/>
              </a:rPr>
              <a:t>predict</a:t>
            </a:r>
            <a:r>
              <a:rPr>
                <a:solidFill>
                  <a:srgbClr val="003B4F"/>
                </a:solidFill>
                <a:latin typeface="Courier"/>
              </a:rPr>
              <a:t>(lizard_model, </a:t>
            </a:r>
            <a:br/>
            <a:r>
              <a:rPr>
                <a:solidFill>
                  <a:srgbClr val="003B4F"/>
                </a:solidFill>
                <a:latin typeface="Courier"/>
              </a:rPr>
              <a:t>                         </a:t>
            </a:r>
            <a:r>
              <a:rPr>
                <a:solidFill>
                  <a:srgbClr val="657422"/>
                </a:solidFill>
                <a:latin typeface="Courier"/>
              </a:rPr>
              <a:t>newdata =</a:t>
            </a:r>
            <a:r>
              <a:rPr>
                <a:solidFill>
                  <a:srgbClr val="003B4F"/>
                </a:solidFill>
                <a:latin typeface="Courier"/>
              </a:rPr>
              <a:t> pred_data,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br/>
            <a:r>
              <a:rPr>
                <a:solidFill>
                  <a:srgbClr val="5E5E5E"/>
                </a:solidFill>
                <a:latin typeface="Courier"/>
              </a:rPr>
              <a:t># Plot</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jittered points for observed data</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pa_ratio,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(uta_present)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height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predicted probability curve</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pred_data,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pa_ratio,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confidence intervals (optional)</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"Probability of Uta Presence vs. Perimeter/Area Ratio"</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"Perimeter/Area Ratio"</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scale_y_continuous</a:t>
            </a:r>
            <a:r>
              <a:rPr>
                <a:solidFill>
                  <a:srgbClr val="003B4F"/>
                </a:solidFill>
                <a:latin typeface="Courier"/>
              </a:rPr>
              <a:t>(</a:t>
            </a:r>
            <a:r>
              <a:rPr>
                <a:solidFill>
                  <a:srgbClr val="657422"/>
                </a:solidFill>
                <a:latin typeface="Courier"/>
              </a:rPr>
              <a:t>limits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lizard-plot-1.png" id="0" name="Picture 1"/>
          <p:cNvPicPr>
            <a:picLocks noGrp="1" noChangeAspect="1"/>
          </p:cNvPicPr>
          <p:nvPr/>
        </p:nvPicPr>
        <p:blipFill>
          <a:blip r:embed="rId2"/>
          <a:stretch>
            <a:fillRect/>
          </a:stretch>
        </p:blipFill>
        <p:spPr bwMode="auto">
          <a:xfrm>
            <a:off x="127000" y="1562100"/>
            <a:ext cx="4432300" cy="27305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buNone/>
            </a:pPr>
            <a:r>
              <a:rPr/>
              <a:t>We want to test the null hypothesis that β₁ = 0, meaning there’s no relationship between P/A ratio and lizard presence.</a:t>
            </a:r>
          </a:p>
          <a:p>
            <a:pPr lvl="0" indent="0" marL="0">
              <a:buNone/>
            </a:pPr>
            <a:r>
              <a:rPr/>
              <a:t>There are two common ways to test this hypothesis:</a:t>
            </a:r>
          </a:p>
          <a:p>
            <a:pPr lvl="0" indent="-342900" marL="342900">
              <a:buAutoNum type="arabicPeriod"/>
            </a:pPr>
            <a:r>
              <a:rPr b="1"/>
              <a:t>Wald test</a:t>
            </a:r>
            <a:r>
              <a:rPr/>
              <a:t>: Tests if the parameter estimate divided by its standard error differs significantly from zero</a:t>
            </a:r>
          </a:p>
          <a:p>
            <a:pPr lvl="0" indent="-342900" marL="342900">
              <a:buAutoNum type="arabicPeriod"/>
            </a:pPr>
            <a:r>
              <a:rPr b="1"/>
              <a:t>Likelihood ratio test</a:t>
            </a:r>
            <a:r>
              <a:rPr/>
              <a:t>: Compares the fit of the full model to a reduced model without the predictor variable</a:t>
            </a:r>
          </a:p>
          <a:p>
            <a:pPr lvl="0" indent="0">
              <a:buNone/>
            </a:pPr>
            <a:r>
              <a:rPr>
                <a:solidFill>
                  <a:srgbClr val="5E5E5E"/>
                </a:solidFill>
                <a:latin typeface="Courier"/>
              </a:rPr>
              <a:t># Reduced model (intercept only)</a:t>
            </a:r>
            <a:br/>
            <a:r>
              <a:rPr>
                <a:solidFill>
                  <a:srgbClr val="003B4F"/>
                </a:solidFill>
                <a:latin typeface="Courier"/>
              </a:rPr>
              <a:t>reduced_model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Likelihood ratio test</a:t>
            </a:r>
            <a:br/>
            <a:r>
              <a:rPr>
                <a:solidFill>
                  <a:srgbClr val="4758AB"/>
                </a:solidFill>
                <a:latin typeface="Courier"/>
              </a:rPr>
              <a:t>anova</a:t>
            </a:r>
            <a:r>
              <a:rPr>
                <a:solidFill>
                  <a:srgbClr val="003B4F"/>
                </a:solidFill>
                <a:latin typeface="Courier"/>
              </a:rPr>
              <a:t>(reduced_model, lizard_model,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p>
          <a:p>
            <a:pPr lvl="0" indent="0">
              <a:buNone/>
            </a:pPr>
            <a:r>
              <a:rPr>
                <a:latin typeface="Courier"/>
              </a:rPr>
              <a:t>Analysis of Deviance Table
Model 1: uta_present ~ 1
Model 2: uta_present ~ pa_ratio
  Resid. Df Resid. Dev Df Deviance  Pr(&gt;Chi)    
1        18     26.287                          
2        17      0.000  1   26.287 2.943e-07 ***
---
Signif. codes:  0 '***' 0.001 '**' 0.01 '*' 0.05 '.' 0.1 ' ' 1</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Interpreting the Odds Ratio</a:t>
            </a:r>
          </a:p>
        </p:txBody>
      </p:sp>
      <p:sp>
        <p:nvSpPr>
          <p:cNvPr id="3" name="Content Placeholder 2"/>
          <p:cNvSpPr>
            <a:spLocks noGrp="1"/>
          </p:cNvSpPr>
          <p:nvPr>
            <p:ph idx="1"/>
          </p:nvPr>
        </p:nvSpPr>
        <p:spPr/>
        <p:txBody>
          <a:bodyPr/>
          <a:lstStyle/>
          <a:p>
            <a:pPr lvl="0" indent="0" marL="1270000">
              <a:buNone/>
            </a:pPr>
            <a:r>
              <a:rPr sz="2000" b="1"/>
              <a:t>Working with Odds Ratios</a:t>
            </a:r>
          </a:p>
          <a:p>
            <a:pPr lvl="0" indent="0" marL="1270000">
              <a:buNone/>
            </a:pPr>
            <a:r>
              <a:rPr sz="2000"/>
              <a:t>The odds ratio represents how the odds of the event (e.g., lizard presence) change with a unit increase in the predictor.</a:t>
            </a:r>
          </a:p>
          <a:p>
            <a:pPr lvl="0"/>
            <a:r>
              <a:rPr sz="2000" b="1"/>
              <a:t>Odds ratio = exp(β₁)</a:t>
            </a:r>
          </a:p>
          <a:p>
            <a:pPr lvl="0"/>
            <a:r>
              <a:rPr sz="2000"/>
              <a:t>If odds ratio &gt; 1: Increasing the predictor increases the odds of event</a:t>
            </a:r>
          </a:p>
          <a:p>
            <a:pPr lvl="0"/>
            <a:r>
              <a:rPr sz="2000"/>
              <a:t>If odds ratio &lt; 1: Increasing the predictor decreases the odds of event</a:t>
            </a:r>
          </a:p>
          <a:p>
            <a:pPr lvl="0"/>
            <a:r>
              <a:rPr sz="2000"/>
              <a:t>If odds ratio = 1: No effect of predictor on odds of event</a:t>
            </a:r>
          </a:p>
          <a:p>
            <a:pPr lvl="0" indent="0">
              <a:buNone/>
            </a:pPr>
            <a:r>
              <a:rPr>
                <a:solidFill>
                  <a:srgbClr val="5E5E5E"/>
                </a:solidFill>
                <a:latin typeface="Courier"/>
              </a:rPr>
              <a:t># Calculate odds ratio and confidence interval</a:t>
            </a:r>
            <a:br/>
            <a:r>
              <a:rPr>
                <a:solidFill>
                  <a:srgbClr val="003B4F"/>
                </a:solidFill>
                <a:latin typeface="Courier"/>
              </a:rPr>
              <a:t>coef_lizard &lt;- </a:t>
            </a:r>
            <a:r>
              <a:rPr>
                <a:solidFill>
                  <a:srgbClr val="4758AB"/>
                </a:solidFill>
                <a:latin typeface="Courier"/>
              </a:rPr>
              <a:t>coef</a:t>
            </a:r>
            <a:r>
              <a:rPr>
                <a:solidFill>
                  <a:srgbClr val="003B4F"/>
                </a:solidFill>
                <a:latin typeface="Courier"/>
              </a:rPr>
              <a:t>(lizard_model)[</a:t>
            </a:r>
            <a:r>
              <a:rPr>
                <a:solidFill>
                  <a:srgbClr val="AD0000"/>
                </a:solidFill>
                <a:latin typeface="Courier"/>
              </a:rPr>
              <a:t>2</a:t>
            </a:r>
            <a:r>
              <a:rPr>
                <a:solidFill>
                  <a:srgbClr val="003B4F"/>
                </a:solidFill>
                <a:latin typeface="Courier"/>
              </a:rPr>
              <a:t>]  </a:t>
            </a:r>
            <a:r>
              <a:rPr>
                <a:solidFill>
                  <a:srgbClr val="5E5E5E"/>
                </a:solidFill>
                <a:latin typeface="Courier"/>
              </a:rPr>
              <a:t># Extract slope coefficient</a:t>
            </a:r>
            <a:br/>
            <a:r>
              <a:rPr>
                <a:solidFill>
                  <a:srgbClr val="003B4F"/>
                </a:solidFill>
                <a:latin typeface="Courier"/>
              </a:rPr>
              <a:t>odds_ratio &lt;- </a:t>
            </a:r>
            <a:r>
              <a:rPr>
                <a:solidFill>
                  <a:srgbClr val="4758AB"/>
                </a:solidFill>
                <a:latin typeface="Courier"/>
              </a:rPr>
              <a:t>exp</a:t>
            </a:r>
            <a:r>
              <a:rPr>
                <a:solidFill>
                  <a:srgbClr val="003B4F"/>
                </a:solidFill>
                <a:latin typeface="Courier"/>
              </a:rPr>
              <a:t>(coef_lizard)</a:t>
            </a:r>
            <a:br/>
            <a:r>
              <a:rPr>
                <a:solidFill>
                  <a:srgbClr val="003B4F"/>
                </a:solidFill>
                <a:latin typeface="Courier"/>
              </a:rPr>
              <a:t>ci &lt;- </a:t>
            </a:r>
            <a:r>
              <a:rPr>
                <a:solidFill>
                  <a:srgbClr val="4758AB"/>
                </a:solidFill>
                <a:latin typeface="Courier"/>
              </a:rPr>
              <a:t>exp</a:t>
            </a:r>
            <a:r>
              <a:rPr>
                <a:solidFill>
                  <a:srgbClr val="003B4F"/>
                </a:solidFill>
                <a:latin typeface="Courier"/>
              </a:rPr>
              <a:t>(</a:t>
            </a:r>
            <a:r>
              <a:rPr>
                <a:solidFill>
                  <a:srgbClr val="4758AB"/>
                </a:solidFill>
                <a:latin typeface="Courier"/>
              </a:rPr>
              <a:t>confint</a:t>
            </a:r>
            <a:r>
              <a:rPr>
                <a:solidFill>
                  <a:srgbClr val="003B4F"/>
                </a:solidFill>
                <a:latin typeface="Courier"/>
              </a:rPr>
              <a:t>(lizard_model, </a:t>
            </a:r>
            <a:r>
              <a:rPr>
                <a:solidFill>
                  <a:srgbClr val="20794D"/>
                </a:solidFill>
                <a:latin typeface="Courier"/>
              </a:rPr>
              <a:t>"pa_ratio"</a:t>
            </a:r>
            <a:r>
              <a:rPr>
                <a:solidFill>
                  <a:srgbClr val="003B4F"/>
                </a:solidFill>
                <a:latin typeface="Courier"/>
              </a:rPr>
              <a:t>))</a:t>
            </a:r>
            <a:br/>
            <a:br/>
            <a:r>
              <a:rPr>
                <a:solidFill>
                  <a:srgbClr val="5E5E5E"/>
                </a:solidFill>
                <a:latin typeface="Courier"/>
              </a:rPr>
              <a:t># Display results</a:t>
            </a:r>
            <a:br/>
            <a:r>
              <a:rPr>
                <a:solidFill>
                  <a:srgbClr val="4758AB"/>
                </a:solidFill>
                <a:latin typeface="Courier"/>
              </a:rPr>
              <a:t>cat</a:t>
            </a:r>
            <a:r>
              <a:rPr>
                <a:solidFill>
                  <a:srgbClr val="003B4F"/>
                </a:solidFill>
                <a:latin typeface="Courier"/>
              </a:rPr>
              <a:t>(</a:t>
            </a:r>
            <a:r>
              <a:rPr>
                <a:solidFill>
                  <a:srgbClr val="20794D"/>
                </a:solidFill>
                <a:latin typeface="Courier"/>
              </a:rPr>
              <a:t>"Odds Ratio:"</a:t>
            </a:r>
            <a:r>
              <a:rPr>
                <a:solidFill>
                  <a:srgbClr val="003B4F"/>
                </a:solidFill>
                <a:latin typeface="Courier"/>
              </a:rPr>
              <a:t>, </a:t>
            </a:r>
            <a:r>
              <a:rPr>
                <a:solidFill>
                  <a:srgbClr val="4758AB"/>
                </a:solidFill>
                <a:latin typeface="Courier"/>
              </a:rPr>
              <a:t>round</a:t>
            </a:r>
            <a:r>
              <a:rPr>
                <a:solidFill>
                  <a:srgbClr val="003B4F"/>
                </a:solidFill>
                <a:latin typeface="Courier"/>
              </a:rPr>
              <a:t>(odds_ratio,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Odds Ratio: 0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"95% CI:"</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1</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95% CI: 0 to Inf </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Assessing Model Fit</a:t>
            </a:r>
          </a:p>
        </p:txBody>
      </p:sp>
      <p:sp>
        <p:nvSpPr>
          <p:cNvPr id="3" name="Content Placeholder 2"/>
          <p:cNvSpPr>
            <a:spLocks noGrp="1"/>
          </p:cNvSpPr>
          <p:nvPr>
            <p:ph idx="1"/>
          </p:nvPr>
        </p:nvSpPr>
        <p:spPr/>
        <p:txBody>
          <a:bodyPr/>
          <a:lstStyle/>
          <a:p>
            <a:pPr lvl="0" indent="0" marL="0">
              <a:buNone/>
            </a:pPr>
            <a:r>
              <a:rPr/>
              <a:t>There are several ways to assess the goodness-of-fit for logistic regression models:</a:t>
            </a:r>
          </a:p>
          <a:p>
            <a:pPr lvl="0" indent="0">
              <a:buNone/>
            </a:pPr>
            <a:r>
              <a:rPr>
                <a:solidFill>
                  <a:srgbClr val="5E5E5E"/>
                </a:solidFill>
                <a:latin typeface="Courier"/>
              </a:rPr>
              <a:t># Calculate Hosmer-Lemeshow statistic</a:t>
            </a:r>
            <a:br/>
            <a:r>
              <a:rPr>
                <a:solidFill>
                  <a:srgbClr val="5E5E5E"/>
                </a:solidFill>
                <a:latin typeface="Courier"/>
              </a:rPr>
              <a:t># This would normally require an additional package like 'ResourceSelection'</a:t>
            </a:r>
            <a:br/>
            <a:r>
              <a:rPr>
                <a:solidFill>
                  <a:srgbClr val="5E5E5E"/>
                </a:solidFill>
                <a:latin typeface="Courier"/>
              </a:rPr>
              <a:t># Instead, we'll use a simpler approximation and other diagnostics</a:t>
            </a:r>
            <a:br/>
            <a:br/>
            <a:r>
              <a:rPr>
                <a:solidFill>
                  <a:srgbClr val="5E5E5E"/>
                </a:solidFill>
                <a:latin typeface="Courier"/>
              </a:rPr>
              <a:t># Calculate Pearson residuals</a:t>
            </a:r>
            <a:br/>
            <a:r>
              <a:rPr>
                <a:solidFill>
                  <a:srgbClr val="003B4F"/>
                </a:solidFill>
                <a:latin typeface="Courier"/>
              </a:rPr>
              <a:t>pearson_resid &lt;- </a:t>
            </a:r>
            <a:r>
              <a:rPr>
                <a:solidFill>
                  <a:srgbClr val="4758AB"/>
                </a:solidFill>
                <a:latin typeface="Courier"/>
              </a:rPr>
              <a:t>residuals</a:t>
            </a:r>
            <a:r>
              <a:rPr>
                <a:solidFill>
                  <a:srgbClr val="003B4F"/>
                </a:solidFill>
                <a:latin typeface="Courier"/>
              </a:rPr>
              <a:t>(lizard_model,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br/>
            <a:r>
              <a:rPr>
                <a:solidFill>
                  <a:srgbClr val="003B4F"/>
                </a:solidFill>
                <a:latin typeface="Courier"/>
              </a:rPr>
              <a:t>pearson_chi2 &lt;- </a:t>
            </a:r>
            <a:r>
              <a:rPr>
                <a:solidFill>
                  <a:srgbClr val="4758AB"/>
                </a:solidFill>
                <a:latin typeface="Courier"/>
              </a:rPr>
              <a:t>sum</a:t>
            </a:r>
            <a:r>
              <a:rPr>
                <a:solidFill>
                  <a:srgbClr val="003B4F"/>
                </a:solidFill>
                <a:latin typeface="Courier"/>
              </a:rPr>
              <a:t>(pearson_resid</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df_resid &lt;- lizard_model</a:t>
            </a:r>
            <a:r>
              <a:rPr>
                <a:solidFill>
                  <a:srgbClr val="5E5E5E"/>
                </a:solidFill>
                <a:latin typeface="Courier"/>
              </a:rPr>
              <a:t>$</a:t>
            </a:r>
            <a:r>
              <a:rPr>
                <a:solidFill>
                  <a:srgbClr val="003B4F"/>
                </a:solidFill>
                <a:latin typeface="Courier"/>
              </a:rPr>
              <a:t>df.residual</a:t>
            </a:r>
            <a:br/>
            <a:br/>
            <a:r>
              <a:rPr>
                <a:solidFill>
                  <a:srgbClr val="5E5E5E"/>
                </a:solidFill>
                <a:latin typeface="Courier"/>
              </a:rPr>
              <a:t># Calculate deviance</a:t>
            </a:r>
            <a:br/>
            <a:r>
              <a:rPr>
                <a:solidFill>
                  <a:srgbClr val="003B4F"/>
                </a:solidFill>
                <a:latin typeface="Courier"/>
              </a:rPr>
              <a:t>deviance_g2 &lt;- lizard_model</a:t>
            </a:r>
            <a:r>
              <a:rPr>
                <a:solidFill>
                  <a:srgbClr val="5E5E5E"/>
                </a:solidFill>
                <a:latin typeface="Courier"/>
              </a:rPr>
              <a:t>$</a:t>
            </a:r>
            <a:r>
              <a:rPr>
                <a:solidFill>
                  <a:srgbClr val="003B4F"/>
                </a:solidFill>
                <a:latin typeface="Courier"/>
              </a:rPr>
              <a:t>deviance</a:t>
            </a:r>
            <a:br/>
            <a:r>
              <a:rPr>
                <a:solidFill>
                  <a:srgbClr val="003B4F"/>
                </a:solidFill>
                <a:latin typeface="Courier"/>
              </a:rPr>
              <a:t>null_deviance &lt;- lizard_model</a:t>
            </a:r>
            <a:r>
              <a:rPr>
                <a:solidFill>
                  <a:srgbClr val="5E5E5E"/>
                </a:solidFill>
                <a:latin typeface="Courier"/>
              </a:rPr>
              <a:t>$</a:t>
            </a:r>
            <a:r>
              <a:rPr>
                <a:solidFill>
                  <a:srgbClr val="003B4F"/>
                </a:solidFill>
                <a:latin typeface="Courier"/>
              </a:rPr>
              <a:t>null.deviance</a:t>
            </a:r>
            <a:br/>
            <a:br/>
            <a:r>
              <a:rPr>
                <a:solidFill>
                  <a:srgbClr val="5E5E5E"/>
                </a:solidFill>
                <a:latin typeface="Courier"/>
              </a:rPr>
              <a:t># Calculate McFadden's pseudo-R²</a:t>
            </a:r>
            <a:br/>
            <a:r>
              <a:rPr>
                <a:solidFill>
                  <a:srgbClr val="003B4F"/>
                </a:solidFill>
                <a:latin typeface="Courier"/>
              </a:rPr>
              <a:t>r2_mcfadden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(deviance_g2 </a:t>
            </a:r>
            <a:r>
              <a:rPr>
                <a:solidFill>
                  <a:srgbClr val="5E5E5E"/>
                </a:solidFill>
                <a:latin typeface="Courier"/>
              </a:rPr>
              <a:t>/</a:t>
            </a:r>
            <a:r>
              <a:rPr>
                <a:solidFill>
                  <a:srgbClr val="003B4F"/>
                </a:solidFill>
                <a:latin typeface="Courier"/>
              </a:rPr>
              <a:t> null_deviance)</a:t>
            </a:r>
            <a:br/>
            <a:br/>
            <a:r>
              <a:rPr>
                <a:solidFill>
                  <a:srgbClr val="5E5E5E"/>
                </a:solidFill>
                <a:latin typeface="Courier"/>
              </a:rPr>
              <a:t># Display results</a:t>
            </a:r>
            <a:br/>
            <a:r>
              <a:rPr>
                <a:solidFill>
                  <a:srgbClr val="4758AB"/>
                </a:solidFill>
                <a:latin typeface="Courier"/>
              </a:rPr>
              <a:t>cat</a:t>
            </a:r>
            <a:r>
              <a:rPr>
                <a:solidFill>
                  <a:srgbClr val="003B4F"/>
                </a:solidFill>
                <a:latin typeface="Courier"/>
              </a:rPr>
              <a:t>(</a:t>
            </a:r>
            <a:r>
              <a:rPr>
                <a:solidFill>
                  <a:srgbClr val="20794D"/>
                </a:solidFill>
                <a:latin typeface="Courier"/>
              </a:rPr>
              <a:t>"Pearson χ²:"</a:t>
            </a:r>
            <a:r>
              <a:rPr>
                <a:solidFill>
                  <a:srgbClr val="003B4F"/>
                </a:solidFill>
                <a:latin typeface="Courier"/>
              </a:rPr>
              <a:t>, </a:t>
            </a:r>
            <a:r>
              <a:rPr>
                <a:solidFill>
                  <a:srgbClr val="4758AB"/>
                </a:solidFill>
                <a:latin typeface="Courier"/>
              </a:rPr>
              <a:t>round</a:t>
            </a:r>
            <a:r>
              <a:rPr>
                <a:solidFill>
                  <a:srgbClr val="003B4F"/>
                </a:solidFill>
                <a:latin typeface="Courier"/>
              </a:rPr>
              <a:t>(pearson_chi2, </a:t>
            </a:r>
            <a:r>
              <a:rPr>
                <a:solidFill>
                  <a:srgbClr val="AD0000"/>
                </a:solidFill>
                <a:latin typeface="Courier"/>
              </a:rPr>
              <a:t>3</a:t>
            </a:r>
            <a:r>
              <a:rPr>
                <a:solidFill>
                  <a:srgbClr val="003B4F"/>
                </a:solidFill>
                <a:latin typeface="Courier"/>
              </a:rPr>
              <a:t>), </a:t>
            </a:r>
            <a:r>
              <a:rPr>
                <a:solidFill>
                  <a:srgbClr val="20794D"/>
                </a:solidFill>
                <a:latin typeface="Courier"/>
              </a:rPr>
              <a:t>"on"</a:t>
            </a:r>
            <a:r>
              <a:rPr>
                <a:solidFill>
                  <a:srgbClr val="003B4F"/>
                </a:solidFill>
                <a:latin typeface="Courier"/>
              </a:rPr>
              <a:t>, df_resid, </a:t>
            </a:r>
            <a:r>
              <a:rPr>
                <a:solidFill>
                  <a:srgbClr val="20794D"/>
                </a:solidFill>
                <a:latin typeface="Courier"/>
              </a:rPr>
              <a:t>"df, p ="</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pchisq</a:t>
            </a:r>
            <a:r>
              <a:rPr>
                <a:solidFill>
                  <a:srgbClr val="003B4F"/>
                </a:solidFill>
                <a:latin typeface="Courier"/>
              </a:rPr>
              <a:t>(pearson_chi2, df_resid),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Pearson χ²: 0 on 17 df, p = 1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"Deviance G²:"</a:t>
            </a:r>
            <a:r>
              <a:rPr>
                <a:solidFill>
                  <a:srgbClr val="003B4F"/>
                </a:solidFill>
                <a:latin typeface="Courier"/>
              </a:rPr>
              <a:t>, </a:t>
            </a:r>
            <a:r>
              <a:rPr>
                <a:solidFill>
                  <a:srgbClr val="4758AB"/>
                </a:solidFill>
                <a:latin typeface="Courier"/>
              </a:rPr>
              <a:t>round</a:t>
            </a:r>
            <a:r>
              <a:rPr>
                <a:solidFill>
                  <a:srgbClr val="003B4F"/>
                </a:solidFill>
                <a:latin typeface="Courier"/>
              </a:rPr>
              <a:t>(deviance_g2, </a:t>
            </a:r>
            <a:r>
              <a:rPr>
                <a:solidFill>
                  <a:srgbClr val="AD0000"/>
                </a:solidFill>
                <a:latin typeface="Courier"/>
              </a:rPr>
              <a:t>3</a:t>
            </a:r>
            <a:r>
              <a:rPr>
                <a:solidFill>
                  <a:srgbClr val="003B4F"/>
                </a:solidFill>
                <a:latin typeface="Courier"/>
              </a:rPr>
              <a:t>), </a:t>
            </a:r>
            <a:r>
              <a:rPr>
                <a:solidFill>
                  <a:srgbClr val="20794D"/>
                </a:solidFill>
                <a:latin typeface="Courier"/>
              </a:rPr>
              <a:t>"on"</a:t>
            </a:r>
            <a:r>
              <a:rPr>
                <a:solidFill>
                  <a:srgbClr val="003B4F"/>
                </a:solidFill>
                <a:latin typeface="Courier"/>
              </a:rPr>
              <a:t>, df_resid, </a:t>
            </a:r>
            <a:r>
              <a:rPr>
                <a:solidFill>
                  <a:srgbClr val="20794D"/>
                </a:solidFill>
                <a:latin typeface="Courier"/>
              </a:rPr>
              <a:t>"df, p ="</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pchisq</a:t>
            </a:r>
            <a:r>
              <a:rPr>
                <a:solidFill>
                  <a:srgbClr val="003B4F"/>
                </a:solidFill>
                <a:latin typeface="Courier"/>
              </a:rPr>
              <a:t>(deviance_g2, df_resid),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Deviance G²: 0 on 17 df, p = 1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"McFadden's R²:"</a:t>
            </a:r>
            <a:r>
              <a:rPr>
                <a:solidFill>
                  <a:srgbClr val="003B4F"/>
                </a:solidFill>
                <a:latin typeface="Courier"/>
              </a:rPr>
              <a:t>, </a:t>
            </a:r>
            <a:r>
              <a:rPr>
                <a:solidFill>
                  <a:srgbClr val="4758AB"/>
                </a:solidFill>
                <a:latin typeface="Courier"/>
              </a:rPr>
              <a:t>round</a:t>
            </a:r>
            <a:r>
              <a:rPr>
                <a:solidFill>
                  <a:srgbClr val="003B4F"/>
                </a:solidFill>
                <a:latin typeface="Courier"/>
              </a:rPr>
              <a:t>(r2_mcfadden,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McFadden's R²: 1 </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Multiple Logistic Regression: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can be extended to include multiple predictors. The model becomes:</a:t>
                </a:r>
              </a:p>
              <a:p>
                <a:pPr lvl="0" indent="0" marL="0">
                  <a:buNone/>
                </a:pPr>
                <a14:m>
                  <m:oMathPara xmlns:m="http://schemas.openxmlformats.org/officeDocument/2006/math">
                    <m:oMathParaPr>
                      <m:jc m:val="center"/>
                    </m:oMathParaPr>
                    <m:oMath>
                      <m:r>
                        <m:t>g</m:t>
                      </m:r>
                      <m:d>
                        <m:dPr>
                          <m:begChr m:val="("/>
                          <m:endChr m:val=")"/>
                          <m:sepChr m:val=""/>
                          <m:grow/>
                        </m:dPr>
                        <m:e>
                          <m:r>
                            <m:t>x</m:t>
                          </m:r>
                        </m:e>
                      </m:d>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sSub>
                        <m:e>
                          <m:r>
                            <m:t>β</m:t>
                          </m:r>
                        </m:e>
                        <m:sub>
                          <m:r>
                            <m:t>p</m:t>
                          </m:r>
                        </m:sub>
                      </m:sSub>
                      <m:sSub>
                        <m:e>
                          <m:r>
                            <m:t>x</m:t>
                          </m:r>
                        </m:e>
                        <m:sub>
                          <m:r>
                            <m:t>p</m:t>
                          </m:r>
                        </m:sub>
                      </m:sSub>
                    </m:oMath>
                  </m:oMathPara>
                </a14:m>
              </a:p>
              <a:p>
                <a:pPr lvl="0" indent="0" marL="0">
                  <a:buNone/>
                </a:pPr>
                <a:r>
                  <a:rPr/>
                  <a:t>Where g(x) is the logit link function, and x₁, x₂, …, xₚ are the predictor variables.</a:t>
                </a:r>
              </a:p>
              <a:p>
                <a:pPr lvl="0" indent="0" marL="0">
                  <a:buNone/>
                </a:pPr>
                <a:r>
                  <a:rPr/>
                  <a:t>Let’s create a simulated dataset based on the Bolger et al. (1997) study of the presence/absence of native rodents in canyon fragments.</a:t>
                </a:r>
              </a:p>
              <a:p>
                <a:pPr lvl="0" indent="0">
                  <a:buNone/>
                </a:pPr>
                <a:r>
                  <a:rPr>
                    <a:solidFill>
                      <a:srgbClr val="5E5E5E"/>
                    </a:solidFill>
                    <a:latin typeface="Courier"/>
                  </a:rPr>
                  <a:t># Simulate data for the rodent example</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a:t>
                </a:r>
                <a:br/>
                <a:r>
                  <a:rPr>
                    <a:solidFill>
                      <a:srgbClr val="003B4F"/>
                    </a:solidFill>
                    <a:latin typeface="Courier"/>
                  </a:rPr>
                  <a:t>n &lt;- </a:t>
                </a:r>
                <a:r>
                  <a:rPr>
                    <a:solidFill>
                      <a:srgbClr val="AD0000"/>
                    </a:solidFill>
                    <a:latin typeface="Courier"/>
                  </a:rPr>
                  <a:t>25</a:t>
                </a:r>
                <a:r>
                  <a:rPr>
                    <a:solidFill>
                      <a:srgbClr val="003B4F"/>
                    </a:solidFill>
                    <a:latin typeface="Courier"/>
                  </a:rPr>
                  <a:t>  </a:t>
                </a:r>
                <a:r>
                  <a:rPr>
                    <a:solidFill>
                      <a:srgbClr val="5E5E5E"/>
                    </a:solidFill>
                    <a:latin typeface="Courier"/>
                  </a:rPr>
                  <a:t># 25 canyon fragments</a:t>
                </a:r>
                <a:br/>
                <a:br/>
                <a:r>
                  <a:rPr>
                    <a:solidFill>
                      <a:srgbClr val="5E5E5E"/>
                    </a:solidFill>
                    <a:latin typeface="Courier"/>
                  </a:rPr>
                  <a:t># Create predictor variables</a:t>
                </a:r>
                <a:br/>
                <a:r>
                  <a:rPr>
                    <a:solidFill>
                      <a:srgbClr val="003B4F"/>
                    </a:solidFill>
                    <a:latin typeface="Courier"/>
                  </a:rPr>
                  <a:t>fragment_data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fragment_id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"F"</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n),</a:t>
                </a:r>
                <a:br/>
                <a:r>
                  <a:rPr>
                    <a:solidFill>
                      <a:srgbClr val="003B4F"/>
                    </a:solidFill>
                    <a:latin typeface="Courier"/>
                  </a:rPr>
                  <a:t>  </a:t>
                </a:r>
                <a:r>
                  <a:rPr>
                    <a:solidFill>
                      <a:srgbClr val="657422"/>
                    </a:solidFill>
                    <a:latin typeface="Courier"/>
                  </a:rPr>
                  <a:t>distance =</a:t>
                </a:r>
                <a:r>
                  <a:rPr>
                    <a:solidFill>
                      <a:srgbClr val="003B4F"/>
                    </a:solidFill>
                    <a:latin typeface="Courier"/>
                  </a:rPr>
                  <a:t> </a:t>
                </a:r>
                <a:r>
                  <a:rPr>
                    <a:solidFill>
                      <a:srgbClr val="4758AB"/>
                    </a:solidFill>
                    <a:latin typeface="Courier"/>
                  </a:rPr>
                  <a:t>runif</a:t>
                </a:r>
                <a:r>
                  <a:rPr>
                    <a:solidFill>
                      <a:srgbClr val="003B4F"/>
                    </a:solidFill>
                    <a:latin typeface="Courier"/>
                  </a:rPr>
                  <a:t>(n, </a:t>
                </a:r>
                <a:r>
                  <a:rPr>
                    <a:solidFill>
                      <a:srgbClr val="AD0000"/>
                    </a:solidFill>
                    <a:latin typeface="Courier"/>
                  </a:rPr>
                  <a:t>0</a:t>
                </a:r>
                <a:r>
                  <a:rPr>
                    <a:solidFill>
                      <a:srgbClr val="003B4F"/>
                    </a:solidFill>
                    <a:latin typeface="Courier"/>
                  </a:rPr>
                  <a:t>, </a:t>
                </a:r>
                <a:r>
                  <a:rPr>
                    <a:solidFill>
                      <a:srgbClr val="AD0000"/>
                    </a:solidFill>
                    <a:latin typeface="Courier"/>
                  </a:rPr>
                  <a:t>3000</a:t>
                </a:r>
                <a:r>
                  <a:rPr>
                    <a:solidFill>
                      <a:srgbClr val="003B4F"/>
                    </a:solidFill>
                    <a:latin typeface="Courier"/>
                  </a:rPr>
                  <a:t>),            </a:t>
                </a:r>
                <a:r>
                  <a:rPr>
                    <a:solidFill>
                      <a:srgbClr val="5E5E5E"/>
                    </a:solidFill>
                    <a:latin typeface="Courier"/>
                  </a:rPr>
                  <a:t># Distance to source canyon (m)</a:t>
                </a:r>
                <a:br/>
                <a:r>
                  <a:rPr>
                    <a:solidFill>
                      <a:srgbClr val="003B4F"/>
                    </a:solidFill>
                    <a:latin typeface="Courier"/>
                  </a:rPr>
                  <a:t>  </a:t>
                </a:r>
                <a:r>
                  <a:rPr>
                    <a:solidFill>
                      <a:srgbClr val="657422"/>
                    </a:solidFill>
                    <a:latin typeface="Courier"/>
                  </a:rPr>
                  <a:t>age =</a:t>
                </a:r>
                <a:r>
                  <a:rPr>
                    <a:solidFill>
                      <a:srgbClr val="003B4F"/>
                    </a:solidFill>
                    <a:latin typeface="Courier"/>
                  </a:rPr>
                  <a:t> </a:t>
                </a:r>
                <a:r>
                  <a:rPr>
                    <a:solidFill>
                      <a:srgbClr val="4758AB"/>
                    </a:solidFill>
                    <a:latin typeface="Courier"/>
                  </a:rPr>
                  <a:t>runif</a:t>
                </a:r>
                <a:r>
                  <a:rPr>
                    <a:solidFill>
                      <a:srgbClr val="003B4F"/>
                    </a:solidFill>
                    <a:latin typeface="Courier"/>
                  </a:rPr>
                  <a:t>(n, </a:t>
                </a:r>
                <a:r>
                  <a:rPr>
                    <a:solidFill>
                      <a:srgbClr val="AD0000"/>
                    </a:solidFill>
                    <a:latin typeface="Courier"/>
                  </a:rPr>
                  <a:t>5</a:t>
                </a:r>
                <a:r>
                  <a:rPr>
                    <a:solidFill>
                      <a:srgbClr val="003B4F"/>
                    </a:solidFill>
                    <a:latin typeface="Courier"/>
                  </a:rPr>
                  <a:t>, </a:t>
                </a:r>
                <a:r>
                  <a:rPr>
                    <a:solidFill>
                      <a:srgbClr val="AD0000"/>
                    </a:solidFill>
                    <a:latin typeface="Courier"/>
                  </a:rPr>
                  <a:t>80</a:t>
                </a:r>
                <a:r>
                  <a:rPr>
                    <a:solidFill>
                      <a:srgbClr val="003B4F"/>
                    </a:solidFill>
                    <a:latin typeface="Courier"/>
                  </a:rPr>
                  <a:t>),                   </a:t>
                </a:r>
                <a:r>
                  <a:rPr>
                    <a:solidFill>
                      <a:srgbClr val="5E5E5E"/>
                    </a:solidFill>
                    <a:latin typeface="Courier"/>
                  </a:rPr>
                  <a:t># Years since isolation</a:t>
                </a:r>
                <a:br/>
                <a:r>
                  <a:rPr>
                    <a:solidFill>
                      <a:srgbClr val="003B4F"/>
                    </a:solidFill>
                    <a:latin typeface="Courier"/>
                  </a:rPr>
                  <a:t>  </a:t>
                </a:r>
                <a:r>
                  <a:rPr>
                    <a:solidFill>
                      <a:srgbClr val="657422"/>
                    </a:solidFill>
                    <a:latin typeface="Courier"/>
                  </a:rPr>
                  <a:t>shrub_cover =</a:t>
                </a:r>
                <a:r>
                  <a:rPr>
                    <a:solidFill>
                      <a:srgbClr val="003B4F"/>
                    </a:solidFill>
                    <a:latin typeface="Courier"/>
                  </a:rPr>
                  <a:t> </a:t>
                </a:r>
                <a:r>
                  <a:rPr>
                    <a:solidFill>
                      <a:srgbClr val="4758AB"/>
                    </a:solidFill>
                    <a:latin typeface="Courier"/>
                  </a:rPr>
                  <a:t>runif</a:t>
                </a:r>
                <a:r>
                  <a:rPr>
                    <a:solidFill>
                      <a:srgbClr val="003B4F"/>
                    </a:solidFill>
                    <a:latin typeface="Courier"/>
                  </a:rPr>
                  <a:t>(n, </a:t>
                </a:r>
                <a:r>
                  <a:rPr>
                    <a:solidFill>
                      <a:srgbClr val="AD0000"/>
                    </a:solidFill>
                    <a:latin typeface="Courier"/>
                  </a:rPr>
                  <a:t>10</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5E5E5E"/>
                    </a:solidFill>
                    <a:latin typeface="Courier"/>
                  </a:rPr>
                  <a:t># Percentage shrub cover</a:t>
                </a:r>
                <a:br/>
                <a:r>
                  <a:rPr>
                    <a:solidFill>
                      <a:srgbClr val="003B4F"/>
                    </a:solidFill>
                    <a:latin typeface="Courier"/>
                  </a:rPr>
                  <a:t>)</a:t>
                </a:r>
                <a:br/>
                <a:br/>
                <a:r>
                  <a:rPr>
                    <a:solidFill>
                      <a:srgbClr val="5E5E5E"/>
                    </a:solidFill>
                    <a:latin typeface="Courier"/>
                  </a:rPr>
                  <a:t># Generate response variable (rodent presence)</a:t>
                </a:r>
                <a:br/>
                <a:r>
                  <a:rPr>
                    <a:solidFill>
                      <a:srgbClr val="5E5E5E"/>
                    </a:solidFill>
                    <a:latin typeface="Courier"/>
                  </a:rPr>
                  <a:t># Higher probability with higher shrub cover, slight effect of age</a:t>
                </a:r>
                <a:br/>
                <a:r>
                  <a:rPr>
                    <a:solidFill>
                      <a:srgbClr val="003B4F"/>
                    </a:solidFill>
                    <a:latin typeface="Courier"/>
                  </a:rPr>
                  <a:t>linear_pred &lt;- </a:t>
                </a:r>
                <a:r>
                  <a:rPr>
                    <a:solidFill>
                      <a:srgbClr val="5E5E5E"/>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0.0001</a:t>
                </a:r>
                <a:r>
                  <a:rPr>
                    <a:solidFill>
                      <a:srgbClr val="5E5E5E"/>
                    </a:solidFill>
                    <a:latin typeface="Courier"/>
                  </a:rPr>
                  <a:t>*</a:t>
                </a:r>
                <a:r>
                  <a:rPr>
                    <a:solidFill>
                      <a:srgbClr val="003B4F"/>
                    </a:solidFill>
                    <a:latin typeface="Courier"/>
                  </a:rPr>
                  <a:t>fragment_data</a:t>
                </a:r>
                <a:r>
                  <a:rPr>
                    <a:solidFill>
                      <a:srgbClr val="5E5E5E"/>
                    </a:solidFill>
                    <a:latin typeface="Courier"/>
                  </a:rPr>
                  <a:t>$</a:t>
                </a:r>
                <a:r>
                  <a:rPr>
                    <a:solidFill>
                      <a:srgbClr val="003B4F"/>
                    </a:solidFill>
                    <a:latin typeface="Courier"/>
                  </a:rPr>
                  <a:t>distance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AD0000"/>
                    </a:solidFill>
                    <a:latin typeface="Courier"/>
                  </a:rPr>
                  <a:t>0.02</a:t>
                </a:r>
                <a:r>
                  <a:rPr>
                    <a:solidFill>
                      <a:srgbClr val="5E5E5E"/>
                    </a:solidFill>
                    <a:latin typeface="Courier"/>
                  </a:rPr>
                  <a:t>*</a:t>
                </a:r>
                <a:r>
                  <a:rPr>
                    <a:solidFill>
                      <a:srgbClr val="003B4F"/>
                    </a:solidFill>
                    <a:latin typeface="Courier"/>
                  </a:rPr>
                  <a:t>fragment_data</a:t>
                </a:r>
                <a:r>
                  <a:rPr>
                    <a:solidFill>
                      <a:srgbClr val="5E5E5E"/>
                    </a:solidFill>
                    <a:latin typeface="Courier"/>
                  </a:rPr>
                  <a:t>$</a:t>
                </a:r>
                <a:r>
                  <a:rPr>
                    <a:solidFill>
                      <a:srgbClr val="003B4F"/>
                    </a:solidFill>
                    <a:latin typeface="Courier"/>
                  </a:rPr>
                  <a:t>age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AD0000"/>
                    </a:solidFill>
                    <a:latin typeface="Courier"/>
                  </a:rPr>
                  <a:t>0.09</a:t>
                </a:r>
                <a:r>
                  <a:rPr>
                    <a:solidFill>
                      <a:srgbClr val="5E5E5E"/>
                    </a:solidFill>
                    <a:latin typeface="Courier"/>
                  </a:rPr>
                  <a:t>*</a:t>
                </a:r>
                <a:r>
                  <a:rPr>
                    <a:solidFill>
                      <a:srgbClr val="003B4F"/>
                    </a:solidFill>
                    <a:latin typeface="Courier"/>
                  </a:rPr>
                  <a:t>fragment_data</a:t>
                </a:r>
                <a:r>
                  <a:rPr>
                    <a:solidFill>
                      <a:srgbClr val="5E5E5E"/>
                    </a:solidFill>
                    <a:latin typeface="Courier"/>
                  </a:rPr>
                  <a:t>$</a:t>
                </a:r>
                <a:r>
                  <a:rPr>
                    <a:solidFill>
                      <a:srgbClr val="003B4F"/>
                    </a:solidFill>
                    <a:latin typeface="Courier"/>
                  </a:rPr>
                  <a:t>shrub_cover</a:t>
                </a:r>
                <a:br/>
                <a:r>
                  <a:rPr>
                    <a:solidFill>
                      <a:srgbClr val="003B4F"/>
                    </a:solidFill>
                    <a:latin typeface="Courier"/>
                  </a:rPr>
                  <a:t>prob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exp</a:t>
                </a:r>
                <a:r>
                  <a:rPr>
                    <a:solidFill>
                      <a:srgbClr val="003B4F"/>
                    </a:solidFill>
                    <a:latin typeface="Courier"/>
                  </a:rPr>
                  <a:t>(</a:t>
                </a:r>
                <a:r>
                  <a:rPr>
                    <a:solidFill>
                      <a:srgbClr val="5E5E5E"/>
                    </a:solidFill>
                    <a:latin typeface="Courier"/>
                  </a:rPr>
                  <a:t>-</a:t>
                </a:r>
                <a:r>
                  <a:rPr>
                    <a:solidFill>
                      <a:srgbClr val="003B4F"/>
                    </a:solidFill>
                    <a:latin typeface="Courier"/>
                  </a:rPr>
                  <a:t>linear_pred))</a:t>
                </a:r>
                <a:br/>
                <a:r>
                  <a:rPr>
                    <a:solidFill>
                      <a:srgbClr val="003B4F"/>
                    </a:solidFill>
                    <a:latin typeface="Courier"/>
                  </a:rPr>
                  <a:t>fragment_data</a:t>
                </a:r>
                <a:r>
                  <a:rPr>
                    <a:solidFill>
                      <a:srgbClr val="5E5E5E"/>
                    </a:solidFill>
                    <a:latin typeface="Courier"/>
                  </a:rPr>
                  <a:t>$</a:t>
                </a:r>
                <a:r>
                  <a:rPr>
                    <a:solidFill>
                      <a:srgbClr val="003B4F"/>
                    </a:solidFill>
                    <a:latin typeface="Courier"/>
                  </a:rPr>
                  <a:t>rodent_present &lt;- </a:t>
                </a:r>
                <a:r>
                  <a:rPr>
                    <a:solidFill>
                      <a:srgbClr val="4758AB"/>
                    </a:solidFill>
                    <a:latin typeface="Courier"/>
                  </a:rPr>
                  <a:t>rbinom</a:t>
                </a:r>
                <a:r>
                  <a:rPr>
                    <a:solidFill>
                      <a:srgbClr val="003B4F"/>
                    </a:solidFill>
                    <a:latin typeface="Courier"/>
                  </a:rPr>
                  <a:t>(n, </a:t>
                </a:r>
                <a:r>
                  <a:rPr>
                    <a:solidFill>
                      <a:srgbClr val="AD0000"/>
                    </a:solidFill>
                    <a:latin typeface="Courier"/>
                  </a:rPr>
                  <a:t>1</a:t>
                </a:r>
                <a:r>
                  <a:rPr>
                    <a:solidFill>
                      <a:srgbClr val="003B4F"/>
                    </a:solidFill>
                    <a:latin typeface="Courier"/>
                  </a:rPr>
                  <a:t>, prob)</a:t>
                </a:r>
                <a:br/>
                <a:r>
                  <a:rPr>
                    <a:solidFill>
                      <a:srgbClr val="003B4F"/>
                    </a:solidFill>
                    <a:latin typeface="Courier"/>
                  </a:rPr>
                  <a:t>fragment_data</a:t>
                </a:r>
                <a:r>
                  <a:rPr>
                    <a:solidFill>
                      <a:srgbClr val="5E5E5E"/>
                    </a:solidFill>
                    <a:latin typeface="Courier"/>
                  </a:rPr>
                  <a:t>$</a:t>
                </a:r>
                <a:r>
                  <a:rPr>
                    <a:solidFill>
                      <a:srgbClr val="003B4F"/>
                    </a:solidFill>
                    <a:latin typeface="Courier"/>
                  </a:rPr>
                  <a:t>rodent_present &lt;- </a:t>
                </a:r>
                <a:r>
                  <a:rPr>
                    <a:solidFill>
                      <a:srgbClr val="4758AB"/>
                    </a:solidFill>
                    <a:latin typeface="Courier"/>
                  </a:rPr>
                  <a:t>factor</a:t>
                </a:r>
                <a:r>
                  <a:rPr>
                    <a:solidFill>
                      <a:srgbClr val="003B4F"/>
                    </a:solidFill>
                    <a:latin typeface="Courier"/>
                  </a:rPr>
                  <a:t>(fragment_data</a:t>
                </a:r>
                <a:r>
                  <a:rPr>
                    <a:solidFill>
                      <a:srgbClr val="5E5E5E"/>
                    </a:solidFill>
                    <a:latin typeface="Courier"/>
                  </a:rPr>
                  <a:t>$</a:t>
                </a:r>
                <a:r>
                  <a:rPr>
                    <a:solidFill>
                      <a:srgbClr val="003B4F"/>
                    </a:solidFill>
                    <a:latin typeface="Courier"/>
                  </a:rPr>
                  <a:t>rodent_present, </a:t>
                </a:r>
                <a:b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labels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"Absent"</a:t>
                </a:r>
                <a:r>
                  <a:rPr>
                    <a:solidFill>
                      <a:srgbClr val="003B4F"/>
                    </a:solidFill>
                    <a:latin typeface="Courier"/>
                  </a:rPr>
                  <a:t>, </a:t>
                </a:r>
                <a:r>
                  <a:rPr>
                    <a:solidFill>
                      <a:srgbClr val="20794D"/>
                    </a:solidFill>
                    <a:latin typeface="Courier"/>
                  </a:rPr>
                  <a:t>"Present"</a:t>
                </a:r>
                <a:r>
                  <a:rPr>
                    <a:solidFill>
                      <a:srgbClr val="003B4F"/>
                    </a:solidFill>
                    <a:latin typeface="Courier"/>
                  </a:rPr>
                  <a:t>))</a:t>
                </a:r>
                <a:br/>
                <a:br/>
                <a:r>
                  <a:rPr>
                    <a:solidFill>
                      <a:srgbClr val="5E5E5E"/>
                    </a:solidFill>
                    <a:latin typeface="Courier"/>
                  </a:rPr>
                  <a:t># Fit multiple logistic regression model</a:t>
                </a:r>
                <a:br/>
                <a:r>
                  <a:rPr>
                    <a:solidFill>
                      <a:srgbClr val="003B4F"/>
                    </a:solidFill>
                    <a:latin typeface="Courier"/>
                  </a:rPr>
                  <a:t>rodent_model &lt;-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distance </a:t>
                </a:r>
                <a:r>
                  <a:rPr>
                    <a:solidFill>
                      <a:srgbClr val="5E5E5E"/>
                    </a:solidFill>
                    <a:latin typeface="Courier"/>
                  </a:rPr>
                  <a:t>+</a:t>
                </a:r>
                <a:r>
                  <a:rPr>
                    <a:solidFill>
                      <a:srgbClr val="003B4F"/>
                    </a:solidFill>
                    <a:latin typeface="Courier"/>
                  </a:rPr>
                  <a:t> age </a:t>
                </a:r>
                <a:r>
                  <a:rPr>
                    <a:solidFill>
                      <a:srgbClr val="5E5E5E"/>
                    </a:solidFill>
                    <a:latin typeface="Courier"/>
                  </a:rPr>
                  <a:t>+</a:t>
                </a:r>
                <a:r>
                  <a:rPr>
                    <a:solidFill>
                      <a:srgbClr val="003B4F"/>
                    </a:solidFill>
                    <a:latin typeface="Courier"/>
                  </a:rPr>
                  <a:t> shrub_cover,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Model summary</a:t>
                </a:r>
                <a:br/>
                <a:r>
                  <a:rPr>
                    <a:solidFill>
                      <a:srgbClr val="4758AB"/>
                    </a:solidFill>
                    <a:latin typeface="Courier"/>
                  </a:rPr>
                  <a:t>summary</a:t>
                </a:r>
                <a:r>
                  <a:rPr>
                    <a:solidFill>
                      <a:srgbClr val="003B4F"/>
                    </a:solidFill>
                    <a:latin typeface="Courier"/>
                  </a:rPr>
                  <a:t>(rodent_model)</a:t>
                </a:r>
              </a:p>
              <a:p>
                <a:pPr lvl="0" indent="0">
                  <a:buNone/>
                </a:pPr>
                <a:r>
                  <a:rPr>
                    <a:latin typeface="Courier"/>
                  </a:rPr>
                  <a:t>
Call:
glm(formula = rodent_present ~ distance + age + shrub_cover, 
    family = binomial(link = "logit"), data = fragment_data)
Coefficients:
              Estimate Std. Error z value Pr(&gt;|z|)  
(Intercept) -12.278261   7.911491  -1.552   0.1207  
distance      0.002062   0.001716   1.202   0.2294  
age           0.068744   0.059665   1.152   0.2493  
shrub_cover   0.193001   0.116035   1.663   0.0963 .
---
Signif. codes:  0 '***' 0.001 '**' 0.01 '*' 0.05 '.' 0.1 ' ' 1
(Dispersion parameter for binomial family taken to be 1)
    Null deviance: 27.5540  on 24  degrees of freedom
Residual deviance:  9.2737  on 21  degrees of freedom
AIC: 17.274
Number of Fisher Scoring iterations: 8</a:t>
                </a:r>
              </a:p>
            </p:txBody>
          </p:sp>
        </mc:Choice>
      </mc:AlternateContent>
      <p:sp>
        <p:nvSpPr>
          <p:cNvPr id="4" name="Content Placeholder 3"/>
          <p:cNvSpPr>
            <a:spLocks noGrp="1"/>
          </p:cNvSpPr>
          <p:nvPr>
            <p:ph idx="2" sz="half"/>
          </p:nvPr>
        </p:nvSpPr>
        <p:spPr/>
        <p:txBody>
          <a:bodyPr/>
          <a:lstStyle/>
          <a:p>
            <a:pPr lvl="0" indent="0" marL="0">
              <a:buNone/>
            </a:pPr>
            <a:r>
              <a:rPr/>
              <a:t>To test the significance of individual predictors, we can use likelihood ratio tests comparing nested models:</a:t>
            </a:r>
          </a:p>
          <a:p>
            <a:pPr lvl="0" indent="0">
              <a:buNone/>
            </a:pPr>
            <a:r>
              <a:rPr>
                <a:solidFill>
                  <a:srgbClr val="5E5E5E"/>
                </a:solidFill>
                <a:latin typeface="Courier"/>
              </a:rPr>
              <a:t># Test distance</a:t>
            </a:r>
            <a:br/>
            <a:r>
              <a:rPr>
                <a:solidFill>
                  <a:srgbClr val="003B4F"/>
                </a:solidFill>
                <a:latin typeface="Courier"/>
              </a:rPr>
              <a:t>model_no_distance &lt;-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age </a:t>
            </a:r>
            <a:r>
              <a:rPr>
                <a:solidFill>
                  <a:srgbClr val="5E5E5E"/>
                </a:solidFill>
                <a:latin typeface="Courier"/>
              </a:rPr>
              <a:t>+</a:t>
            </a:r>
            <a:r>
              <a:rPr>
                <a:solidFill>
                  <a:srgbClr val="003B4F"/>
                </a:solidFill>
                <a:latin typeface="Courier"/>
              </a:rPr>
              <a:t> shrub_cover,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(model_no_distance, rodent_model,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p>
          <a:p>
            <a:pPr lvl="0" indent="0">
              <a:buNone/>
            </a:pPr>
            <a:r>
              <a:rPr>
                <a:latin typeface="Courier"/>
              </a:rPr>
              <a:t>Analysis of Deviance Table
Model 1: rodent_present ~ age + shrub_cover
Model 2: rodent_present ~ distance + age + shrub_cover
  Resid. Df Resid. Dev Df Deviance Pr(&gt;Chi)
1        22    11.3831                     
2        21     9.2737  1   2.1094   0.1464</a:t>
            </a:r>
          </a:p>
          <a:p>
            <a:pPr lvl="0" indent="0">
              <a:buNone/>
            </a:pPr>
            <a:r>
              <a:rPr>
                <a:solidFill>
                  <a:srgbClr val="5E5E5E"/>
                </a:solidFill>
                <a:latin typeface="Courier"/>
              </a:rPr>
              <a:t># Test age</a:t>
            </a:r>
            <a:br/>
            <a:r>
              <a:rPr>
                <a:solidFill>
                  <a:srgbClr val="003B4F"/>
                </a:solidFill>
                <a:latin typeface="Courier"/>
              </a:rPr>
              <a:t>model_no_age &lt;-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distance </a:t>
            </a:r>
            <a:r>
              <a:rPr>
                <a:solidFill>
                  <a:srgbClr val="5E5E5E"/>
                </a:solidFill>
                <a:latin typeface="Courier"/>
              </a:rPr>
              <a:t>+</a:t>
            </a:r>
            <a:r>
              <a:rPr>
                <a:solidFill>
                  <a:srgbClr val="003B4F"/>
                </a:solidFill>
                <a:latin typeface="Courier"/>
              </a:rPr>
              <a:t> shrub_cover,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(model_no_age, rodent_model,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p>
          <a:p>
            <a:pPr lvl="0" indent="0">
              <a:buNone/>
            </a:pPr>
            <a:r>
              <a:rPr>
                <a:latin typeface="Courier"/>
              </a:rPr>
              <a:t>Analysis of Deviance Table
Model 1: rodent_present ~ distance + shrub_cover
Model 2: rodent_present ~ distance + age + shrub_cover
  Resid. Df Resid. Dev Df Deviance Pr(&gt;Chi)
1        22    11.0533                     
2        21     9.2737  1   1.7796   0.1822</a:t>
            </a:r>
          </a:p>
          <a:p>
            <a:pPr lvl="0" indent="0">
              <a:buNone/>
            </a:pPr>
            <a:r>
              <a:rPr>
                <a:solidFill>
                  <a:srgbClr val="5E5E5E"/>
                </a:solidFill>
                <a:latin typeface="Courier"/>
              </a:rPr>
              <a:t># Test shrub cover</a:t>
            </a:r>
            <a:br/>
            <a:r>
              <a:rPr>
                <a:solidFill>
                  <a:srgbClr val="003B4F"/>
                </a:solidFill>
                <a:latin typeface="Courier"/>
              </a:rPr>
              <a:t>model_no_shrub &lt;-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distance </a:t>
            </a:r>
            <a:r>
              <a:rPr>
                <a:solidFill>
                  <a:srgbClr val="5E5E5E"/>
                </a:solidFill>
                <a:latin typeface="Courier"/>
              </a:rPr>
              <a:t>+</a:t>
            </a:r>
            <a:r>
              <a:rPr>
                <a:solidFill>
                  <a:srgbClr val="003B4F"/>
                </a:solidFill>
                <a:latin typeface="Courier"/>
              </a:rPr>
              <a:t> age,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(model_no_shrub, rodent_model,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p>
          <a:p>
            <a:pPr lvl="0" indent="0">
              <a:buNone/>
            </a:pPr>
            <a:r>
              <a:rPr>
                <a:latin typeface="Courier"/>
              </a:rPr>
              <a:t>Analysis of Deviance Table
Model 1: rodent_present ~ distance + age
Model 2: rodent_present ~ distance + age + shrub_cover
  Resid. Df Resid. Dev Df Deviance  Pr(&gt;Chi)    
1        22    26.7315                          
2        21     9.2737  1   17.458 2.938e-05 ***
---
Signif. codes:  0 '***' 0.001 '**' 0.01 '*' 0.05 '.' 0.1 ' ' 1</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Multiple Logistic Regression: Odds Ratios</a:t>
            </a:r>
          </a:p>
        </p:txBody>
      </p:sp>
      <p:sp>
        <p:nvSpPr>
          <p:cNvPr id="3" name="Content Placeholder 2"/>
          <p:cNvSpPr>
            <a:spLocks noGrp="1"/>
          </p:cNvSpPr>
          <p:nvPr>
            <p:ph idx="1"/>
          </p:nvPr>
        </p:nvSpPr>
        <p:spPr/>
        <p:txBody>
          <a:bodyPr/>
          <a:lstStyle/>
          <a:p>
            <a:pPr lvl="0" indent="0" marL="0">
              <a:buNone/>
            </a:pPr>
            <a:r>
              <a:rPr/>
              <a:t>Let’s calculate odds ratios and confidence intervals for all predictors:</a:t>
            </a:r>
          </a:p>
          <a:p>
            <a:pPr lvl="0" indent="0">
              <a:buNone/>
            </a:pPr>
            <a:r>
              <a:rPr>
                <a:solidFill>
                  <a:srgbClr val="5E5E5E"/>
                </a:solidFill>
                <a:latin typeface="Courier"/>
              </a:rPr>
              <a:t># Calculate odds ratios and CIs</a:t>
            </a:r>
            <a:br/>
            <a:r>
              <a:rPr>
                <a:solidFill>
                  <a:srgbClr val="003B4F"/>
                </a:solidFill>
                <a:latin typeface="Courier"/>
              </a:rPr>
              <a:t>coefs &lt;- </a:t>
            </a:r>
            <a:r>
              <a:rPr>
                <a:solidFill>
                  <a:srgbClr val="4758AB"/>
                </a:solidFill>
                <a:latin typeface="Courier"/>
              </a:rPr>
              <a:t>coef</a:t>
            </a:r>
            <a:r>
              <a:rPr>
                <a:solidFill>
                  <a:srgbClr val="003B4F"/>
                </a:solidFill>
                <a:latin typeface="Courier"/>
              </a:rPr>
              <a:t>(rodent_model)[</a:t>
            </a:r>
            <a:r>
              <a:rPr>
                <a:solidFill>
                  <a:srgbClr val="5E5E5E"/>
                </a:solidFill>
                <a:latin typeface="Courier"/>
              </a:rPr>
              <a:t>-</a:t>
            </a:r>
            <a:r>
              <a:rPr>
                <a:solidFill>
                  <a:srgbClr val="AD0000"/>
                </a:solidFill>
                <a:latin typeface="Courier"/>
              </a:rPr>
              <a:t>1</a:t>
            </a:r>
            <a:r>
              <a:rPr>
                <a:solidFill>
                  <a:srgbClr val="003B4F"/>
                </a:solidFill>
                <a:latin typeface="Courier"/>
              </a:rPr>
              <a:t>]  </a:t>
            </a:r>
            <a:r>
              <a:rPr>
                <a:solidFill>
                  <a:srgbClr val="5E5E5E"/>
                </a:solidFill>
                <a:latin typeface="Courier"/>
              </a:rPr>
              <a:t># Exclude intercept</a:t>
            </a:r>
            <a:br/>
            <a:r>
              <a:rPr>
                <a:solidFill>
                  <a:srgbClr val="003B4F"/>
                </a:solidFill>
                <a:latin typeface="Courier"/>
              </a:rPr>
              <a:t>odds_ratios &lt;- </a:t>
            </a:r>
            <a:r>
              <a:rPr>
                <a:solidFill>
                  <a:srgbClr val="4758AB"/>
                </a:solidFill>
                <a:latin typeface="Courier"/>
              </a:rPr>
              <a:t>exp</a:t>
            </a:r>
            <a:r>
              <a:rPr>
                <a:solidFill>
                  <a:srgbClr val="003B4F"/>
                </a:solidFill>
                <a:latin typeface="Courier"/>
              </a:rPr>
              <a:t>(coefs)</a:t>
            </a:r>
            <a:br/>
            <a:r>
              <a:rPr>
                <a:solidFill>
                  <a:srgbClr val="003B4F"/>
                </a:solidFill>
                <a:latin typeface="Courier"/>
              </a:rPr>
              <a:t>ci &lt;- </a:t>
            </a:r>
            <a:r>
              <a:rPr>
                <a:solidFill>
                  <a:srgbClr val="4758AB"/>
                </a:solidFill>
                <a:latin typeface="Courier"/>
              </a:rPr>
              <a:t>exp</a:t>
            </a:r>
            <a:r>
              <a:rPr>
                <a:solidFill>
                  <a:srgbClr val="003B4F"/>
                </a:solidFill>
                <a:latin typeface="Courier"/>
              </a:rPr>
              <a:t>(</a:t>
            </a:r>
            <a:r>
              <a:rPr>
                <a:solidFill>
                  <a:srgbClr val="4758AB"/>
                </a:solidFill>
                <a:latin typeface="Courier"/>
              </a:rPr>
              <a:t>confint</a:t>
            </a:r>
            <a:r>
              <a:rPr>
                <a:solidFill>
                  <a:srgbClr val="003B4F"/>
                </a:solidFill>
                <a:latin typeface="Courier"/>
              </a:rPr>
              <a:t>(rodent_model)[</a:t>
            </a:r>
            <a:r>
              <a:rPr>
                <a:solidFill>
                  <a:srgbClr val="5E5E5E"/>
                </a:solidFill>
                <a:latin typeface="Courier"/>
              </a:rPr>
              <a:t>-</a:t>
            </a:r>
            <a:r>
              <a:rPr>
                <a:solidFill>
                  <a:srgbClr val="AD0000"/>
                </a:solidFill>
                <a:latin typeface="Courier"/>
              </a:rPr>
              <a:t>1</a:t>
            </a:r>
            <a:r>
              <a:rPr>
                <a:solidFill>
                  <a:srgbClr val="003B4F"/>
                </a:solidFill>
                <a:latin typeface="Courier"/>
              </a:rPr>
              <a:t>, ])  </a:t>
            </a:r>
            <a:r>
              <a:rPr>
                <a:solidFill>
                  <a:srgbClr val="5E5E5E"/>
                </a:solidFill>
                <a:latin typeface="Courier"/>
              </a:rPr>
              <a:t># Exclude intercept</a:t>
            </a:r>
            <a:br/>
            <a:br/>
            <a:r>
              <a:rPr>
                <a:solidFill>
                  <a:srgbClr val="5E5E5E"/>
                </a:solidFill>
                <a:latin typeface="Courier"/>
              </a:rPr>
              <a:t># Create a data frame for display</a:t>
            </a:r>
            <a:br/>
            <a:r>
              <a:rPr>
                <a:solidFill>
                  <a:srgbClr val="003B4F"/>
                </a:solidFill>
                <a:latin typeface="Courier"/>
              </a:rPr>
              <a:t>or_df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Predictor =</a:t>
            </a:r>
            <a:r>
              <a:rPr>
                <a:solidFill>
                  <a:srgbClr val="003B4F"/>
                </a:solidFill>
                <a:latin typeface="Courier"/>
              </a:rPr>
              <a:t> </a:t>
            </a:r>
            <a:r>
              <a:rPr>
                <a:solidFill>
                  <a:srgbClr val="4758AB"/>
                </a:solidFill>
                <a:latin typeface="Courier"/>
              </a:rPr>
              <a:t>names</a:t>
            </a:r>
            <a:r>
              <a:rPr>
                <a:solidFill>
                  <a:srgbClr val="003B4F"/>
                </a:solidFill>
                <a:latin typeface="Courier"/>
              </a:rPr>
              <a:t>(coefs),</a:t>
            </a:r>
            <a:br/>
            <a:r>
              <a:rPr>
                <a:solidFill>
                  <a:srgbClr val="003B4F"/>
                </a:solidFill>
                <a:latin typeface="Courier"/>
              </a:rPr>
              <a:t>  </a:t>
            </a:r>
            <a:r>
              <a:rPr>
                <a:solidFill>
                  <a:srgbClr val="657422"/>
                </a:solidFill>
                <a:latin typeface="Courier"/>
              </a:rPr>
              <a:t>OddsRatio =</a:t>
            </a:r>
            <a:r>
              <a:rPr>
                <a:solidFill>
                  <a:srgbClr val="003B4F"/>
                </a:solidFill>
                <a:latin typeface="Courier"/>
              </a:rPr>
              <a:t> odds_ratios,</a:t>
            </a:r>
            <a:br/>
            <a:r>
              <a:rPr>
                <a:solidFill>
                  <a:srgbClr val="003B4F"/>
                </a:solidFill>
                <a:latin typeface="Courier"/>
              </a:rPr>
              <a:t>  </a:t>
            </a:r>
            <a:r>
              <a:rPr>
                <a:solidFill>
                  <a:srgbClr val="657422"/>
                </a:solidFill>
                <a:latin typeface="Courier"/>
              </a:rPr>
              <a:t>LowerCI =</a:t>
            </a:r>
            <a:r>
              <a:rPr>
                <a:solidFill>
                  <a:srgbClr val="003B4F"/>
                </a:solidFill>
                <a:latin typeface="Courier"/>
              </a:rPr>
              <a:t> ci[,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UpperCI =</a:t>
            </a:r>
            <a:r>
              <a:rPr>
                <a:solidFill>
                  <a:srgbClr val="003B4F"/>
                </a:solidFill>
                <a:latin typeface="Courier"/>
              </a:rPr>
              <a:t> ci[, </a:t>
            </a:r>
            <a:r>
              <a:rPr>
                <a:solidFill>
                  <a:srgbClr val="AD0000"/>
                </a:solidFill>
                <a:latin typeface="Courier"/>
              </a:rPr>
              <a:t>2</a:t>
            </a:r>
            <a:r>
              <a:rPr>
                <a:solidFill>
                  <a:srgbClr val="003B4F"/>
                </a:solidFill>
                <a:latin typeface="Courier"/>
              </a:rPr>
              <a:t>]</a:t>
            </a:r>
            <a:br/>
            <a:r>
              <a:rPr>
                <a:solidFill>
                  <a:srgbClr val="003B4F"/>
                </a:solidFill>
                <a:latin typeface="Courier"/>
              </a:rPr>
              <a:t>)</a:t>
            </a:r>
            <a:br/>
            <a:br/>
            <a:r>
              <a:rPr>
                <a:solidFill>
                  <a:srgbClr val="5E5E5E"/>
                </a:solidFill>
                <a:latin typeface="Courier"/>
              </a:rPr>
              <a:t># Display formatted table</a:t>
            </a:r>
            <a:br/>
            <a:r>
              <a:rPr>
                <a:solidFill>
                  <a:srgbClr val="003B4F"/>
                </a:solidFill>
                <a:latin typeface="Courier"/>
              </a:rPr>
              <a:t>or_df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where</a:t>
            </a:r>
            <a:r>
              <a:rPr>
                <a:solidFill>
                  <a:srgbClr val="003B4F"/>
                </a:solidFill>
                <a:latin typeface="Courier"/>
              </a:rPr>
              <a:t>(is.numeric), round, </a:t>
            </a:r>
            <a:r>
              <a:rPr>
                <a:solidFill>
                  <a:srgbClr val="AD0000"/>
                </a:solidFill>
                <a:latin typeface="Courier"/>
              </a:rPr>
              <a:t>4</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CI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a:t>
            </a:r>
            <a:r>
              <a:rPr>
                <a:solidFill>
                  <a:srgbClr val="003B4F"/>
                </a:solidFill>
                <a:latin typeface="Courier"/>
              </a:rPr>
              <a:t>, LowerCI, </a:t>
            </a:r>
            <a:r>
              <a:rPr>
                <a:solidFill>
                  <a:srgbClr val="20794D"/>
                </a:solidFill>
                <a:latin typeface="Courier"/>
              </a:rPr>
              <a:t>", "</a:t>
            </a:r>
            <a:r>
              <a:rPr>
                <a:solidFill>
                  <a:srgbClr val="003B4F"/>
                </a:solidFill>
                <a:latin typeface="Courier"/>
              </a:rPr>
              <a:t>, UpperCI, </a:t>
            </a:r>
            <a:r>
              <a:rPr>
                <a:solidFill>
                  <a:srgbClr val="20794D"/>
                </a:solidFill>
                <a:latin typeface="Courier"/>
              </a:rPr>
              <a:t>")"</a:t>
            </a:r>
            <a:r>
              <a:rPr>
                <a:solidFill>
                  <a:srgbClr val="003B4F"/>
                </a:solidFill>
                <a:latin typeface="Courier"/>
              </a:rPr>
              <a:t>)) </a:t>
            </a:r>
            <a:r>
              <a:rPr>
                <a:solidFill>
                  <a:srgbClr val="5E5E5E"/>
                </a:solidFill>
                <a:latin typeface="Courier"/>
              </a:rPr>
              <a:t>%&gt;%</a:t>
            </a:r>
            <a:br/>
            <a:r>
              <a:rPr>
                <a:solidFill>
                  <a:srgbClr val="003B4F"/>
                </a:solidFill>
                <a:latin typeface="Courier"/>
              </a:rPr>
              <a:t>  dplyr</a:t>
            </a:r>
            <a:r>
              <a:rPr>
                <a:solidFill>
                  <a:srgbClr val="5E5E5E"/>
                </a:solidFill>
                <a:latin typeface="Courier"/>
              </a:rPr>
              <a:t>::</a:t>
            </a:r>
            <a:r>
              <a:rPr>
                <a:solidFill>
                  <a:srgbClr val="4758AB"/>
                </a:solidFill>
                <a:latin typeface="Courier"/>
              </a:rPr>
              <a:t>select</a:t>
            </a:r>
            <a:r>
              <a:rPr>
                <a:solidFill>
                  <a:srgbClr val="003B4F"/>
                </a:solidFill>
                <a:latin typeface="Courier"/>
              </a:rPr>
              <a:t>(Predictor, OddsRatio, CI) </a:t>
            </a:r>
            <a:r>
              <a:rPr>
                <a:solidFill>
                  <a:srgbClr val="5E5E5E"/>
                </a:solidFill>
                <a:latin typeface="Courier"/>
              </a:rPr>
              <a:t>%&gt;%</a:t>
            </a:r>
            <a:br/>
            <a:r>
              <a:rPr>
                <a:solidFill>
                  <a:srgbClr val="003B4F"/>
                </a:solidFill>
                <a:latin typeface="Courier"/>
              </a:rPr>
              <a:t>  </a:t>
            </a:r>
            <a:r>
              <a:rPr>
                <a:solidFill>
                  <a:srgbClr val="4758AB"/>
                </a:solidFill>
                <a:latin typeface="Courier"/>
              </a:rPr>
              <a:t>flextable</a:t>
            </a:r>
            <a:r>
              <a:rPr>
                <a:solidFill>
                  <a:srgbClr val="003B4F"/>
                </a:solidFill>
                <a:latin typeface="Courier"/>
              </a:rPr>
              <a:t>()</a:t>
            </a:r>
          </a:p>
        </p:txBody>
      </p:sp>
      <p:graphicFrame xmlns:a="http://schemas.openxmlformats.org/drawingml/2006/main" xmlns:r="http://schemas.openxmlformats.org/officeDocument/2006/relationships" xmlns:p="http://schemas.openxmlformats.org/presentationml/2006/main">
        <p:nvGraphicFramePr>
          <p:cNvPr id="599988959" name=""/>
          <p:cNvGraphicFramePr>
            <a:graphicFrameLocks noGrp="true"/>
          </p:cNvGraphicFramePr>
          <p:nvPr/>
        </p:nvGraphicFramePr>
        <p:xfrm rot="0">
          <a:off x="914400" y="1828800"/>
          <a:ext cx="9144000" cy="5486400"/>
        </p:xfrm>
        <a:graphic>
          <a:graphicData uri="http://schemas.openxmlformats.org/drawingml/2006/table">
            <a:tbl>
              <a:tblPr/>
              <a:tblGrid>
                <a:gridCol w="685800"/>
                <a:gridCol w="685800"/>
                <a:gridCol w="685800"/>
              </a:tblGrid>
              <a:tr h="228600">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Predictor</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OddsRatio</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CI</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distance</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1.0021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(0.9994, 1.0069)</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age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1.0712</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(0.9721, 1.2577)</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shrub_cover</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1.2129</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(1.0645, 1.7909)</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Visualizing Multiple Logistic Regression</a:t>
            </a:r>
          </a:p>
        </p:txBody>
      </p:sp>
      <p:sp>
        <p:nvSpPr>
          <p:cNvPr id="3" name="Text Placeholder 2"/>
          <p:cNvSpPr>
            <a:spLocks noGrp="1"/>
          </p:cNvSpPr>
          <p:nvPr>
            <p:ph idx="1" type="body"/>
          </p:nvPr>
        </p:nvSpPr>
        <p:spPr/>
        <p:txBody>
          <a:bodyPr/>
          <a:lstStyle/>
          <a:p>
            <a:pPr lvl="0" indent="0" marL="0">
              <a:buNone/>
            </a:pPr>
            <a:r>
              <a:rPr/>
              <a:t>For multiple predictors, we can visualize the effect of each predictor while holding others constant at their mean or median values.</a:t>
            </a:r>
          </a:p>
          <a:p>
            <a:pPr lvl="0" indent="0">
              <a:buNone/>
            </a:pPr>
            <a:r>
              <a:rPr>
                <a:solidFill>
                  <a:srgbClr val="5E5E5E"/>
                </a:solidFill>
                <a:latin typeface="Courier"/>
              </a:rPr>
              <a:t># Create a function to generate prediction data for one variable</a:t>
            </a:r>
            <a:br/>
            <a:r>
              <a:rPr>
                <a:solidFill>
                  <a:srgbClr val="003B4F"/>
                </a:solidFill>
                <a:latin typeface="Courier"/>
              </a:rPr>
              <a:t>predict_for_var &lt;- </a:t>
            </a:r>
            <a:r>
              <a:rPr b="1">
                <a:solidFill>
                  <a:srgbClr val="003B4F"/>
                </a:solidFill>
                <a:latin typeface="Courier"/>
              </a:rPr>
              <a:t>function</a:t>
            </a:r>
            <a:r>
              <a:rPr>
                <a:solidFill>
                  <a:srgbClr val="003B4F"/>
                </a:solidFill>
                <a:latin typeface="Courier"/>
              </a:rPr>
              <a:t>(var_name, model, data) {</a:t>
            </a:r>
            <a:br/>
            <a:r>
              <a:rPr>
                <a:solidFill>
                  <a:srgbClr val="003B4F"/>
                </a:solidFill>
                <a:latin typeface="Courier"/>
              </a:rPr>
              <a:t>  </a:t>
            </a:r>
            <a:r>
              <a:rPr>
                <a:solidFill>
                  <a:srgbClr val="5E5E5E"/>
                </a:solidFill>
                <a:latin typeface="Courier"/>
              </a:rPr>
              <a:t># Create grid of values for the variable of interest</a:t>
            </a:r>
            <a:br/>
            <a:r>
              <a:rPr>
                <a:solidFill>
                  <a:srgbClr val="003B4F"/>
                </a:solidFill>
                <a:latin typeface="Courier"/>
              </a:rPr>
              <a:t>  pred_df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4758AB"/>
                </a:solidFill>
                <a:latin typeface="Courier"/>
              </a:rPr>
              <a:t>min</a:t>
            </a:r>
            <a:r>
              <a:rPr>
                <a:solidFill>
                  <a:srgbClr val="003B4F"/>
                </a:solidFill>
                <a:latin typeface="Courier"/>
              </a:rPr>
              <a:t>(data[[var_name]]), </a:t>
            </a:r>
            <a:r>
              <a:rPr>
                <a:solidFill>
                  <a:srgbClr val="4758AB"/>
                </a:solidFill>
                <a:latin typeface="Courier"/>
              </a:rPr>
              <a:t>max</a:t>
            </a:r>
            <a:r>
              <a:rPr>
                <a:solidFill>
                  <a:srgbClr val="003B4F"/>
                </a:solidFill>
                <a:latin typeface="Courier"/>
              </a:rPr>
              <a:t>(data[[var_name]]), </a:t>
            </a:r>
            <a:r>
              <a:rPr>
                <a:solidFill>
                  <a:srgbClr val="657422"/>
                </a:solidFill>
                <a:latin typeface="Courier"/>
              </a:rPr>
              <a:t>length.out =</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  )</a:t>
            </a:r>
            <a:br/>
            <a:r>
              <a:rPr>
                <a:solidFill>
                  <a:srgbClr val="003B4F"/>
                </a:solidFill>
                <a:latin typeface="Courier"/>
              </a:rPr>
              <a:t>  </a:t>
            </a:r>
            <a:r>
              <a:rPr>
                <a:solidFill>
                  <a:srgbClr val="4758AB"/>
                </a:solidFill>
                <a:latin typeface="Courier"/>
              </a:rPr>
              <a:t>names</a:t>
            </a:r>
            <a:r>
              <a:rPr>
                <a:solidFill>
                  <a:srgbClr val="003B4F"/>
                </a:solidFill>
                <a:latin typeface="Courier"/>
              </a:rPr>
              <a:t>(pred_df) &lt;- var_name</a:t>
            </a:r>
            <a:br/>
            <a:r>
              <a:rPr>
                <a:solidFill>
                  <a:srgbClr val="003B4F"/>
                </a:solidFill>
                <a:latin typeface="Courier"/>
              </a:rPr>
              <a:t>  </a:t>
            </a:r>
            <a:br/>
            <a:r>
              <a:rPr>
                <a:solidFill>
                  <a:srgbClr val="003B4F"/>
                </a:solidFill>
                <a:latin typeface="Courier"/>
              </a:rPr>
              <a:t>  </a:t>
            </a:r>
            <a:r>
              <a:rPr>
                <a:solidFill>
                  <a:srgbClr val="5E5E5E"/>
                </a:solidFill>
                <a:latin typeface="Courier"/>
              </a:rPr>
              <a:t># Add mean values for other predictors</a:t>
            </a:r>
            <a:br/>
            <a:r>
              <a:rPr>
                <a:solidFill>
                  <a:srgbClr val="003B4F"/>
                </a:solidFill>
                <a:latin typeface="Courier"/>
              </a:rPr>
              <a:t>  </a:t>
            </a:r>
            <a:r>
              <a:rPr b="1">
                <a:solidFill>
                  <a:srgbClr val="003B4F"/>
                </a:solidFill>
                <a:latin typeface="Courier"/>
              </a:rPr>
              <a:t>for</a:t>
            </a:r>
            <a:r>
              <a:rPr>
                <a:solidFill>
                  <a:srgbClr val="003B4F"/>
                </a:solidFill>
                <a:latin typeface="Courier"/>
              </a:rPr>
              <a:t> (other_var </a:t>
            </a:r>
            <a:r>
              <a:rPr b="1">
                <a:solidFill>
                  <a:srgbClr val="003B4F"/>
                </a:solidFill>
                <a:latin typeface="Courier"/>
              </a:rPr>
              <a:t>in</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"distance"</a:t>
            </a:r>
            <a:r>
              <a:rPr>
                <a:solidFill>
                  <a:srgbClr val="003B4F"/>
                </a:solidFill>
                <a:latin typeface="Courier"/>
              </a:rPr>
              <a:t>, </a:t>
            </a:r>
            <a:r>
              <a:rPr>
                <a:solidFill>
                  <a:srgbClr val="20794D"/>
                </a:solidFill>
                <a:latin typeface="Courier"/>
              </a:rPr>
              <a:t>"age"</a:t>
            </a:r>
            <a:r>
              <a:rPr>
                <a:solidFill>
                  <a:srgbClr val="003B4F"/>
                </a:solidFill>
                <a:latin typeface="Courier"/>
              </a:rPr>
              <a:t>, </a:t>
            </a:r>
            <a:r>
              <a:rPr>
                <a:solidFill>
                  <a:srgbClr val="20794D"/>
                </a:solidFill>
                <a:latin typeface="Courier"/>
              </a:rPr>
              <a:t>"shrub_cover"</a:t>
            </a:r>
            <a:r>
              <a:rPr>
                <a:solidFill>
                  <a:srgbClr val="003B4F"/>
                </a:solidFill>
                <a:latin typeface="Courier"/>
              </a:rPr>
              <a:t>)) {</a:t>
            </a:r>
            <a:br/>
            <a:r>
              <a:rPr>
                <a:solidFill>
                  <a:srgbClr val="003B4F"/>
                </a:solidFill>
                <a:latin typeface="Courier"/>
              </a:rPr>
              <a:t>    </a:t>
            </a:r>
            <a:r>
              <a:rPr b="1">
                <a:solidFill>
                  <a:srgbClr val="003B4F"/>
                </a:solidFill>
                <a:latin typeface="Courier"/>
              </a:rPr>
              <a:t>if</a:t>
            </a:r>
            <a:r>
              <a:rPr>
                <a:solidFill>
                  <a:srgbClr val="003B4F"/>
                </a:solidFill>
                <a:latin typeface="Courier"/>
              </a:rPr>
              <a:t> (other_var </a:t>
            </a:r>
            <a:r>
              <a:rPr>
                <a:solidFill>
                  <a:srgbClr val="5E5E5E"/>
                </a:solidFill>
                <a:latin typeface="Courier"/>
              </a:rPr>
              <a:t>!=</a:t>
            </a:r>
            <a:r>
              <a:rPr>
                <a:solidFill>
                  <a:srgbClr val="003B4F"/>
                </a:solidFill>
                <a:latin typeface="Courier"/>
              </a:rPr>
              <a:t> var_name) {</a:t>
            </a:r>
            <a:br/>
            <a:r>
              <a:rPr>
                <a:solidFill>
                  <a:srgbClr val="003B4F"/>
                </a:solidFill>
                <a:latin typeface="Courier"/>
              </a:rPr>
              <a:t>      pred_df[[other_var]] &lt;- </a:t>
            </a:r>
            <a:r>
              <a:rPr>
                <a:solidFill>
                  <a:srgbClr val="4758AB"/>
                </a:solidFill>
                <a:latin typeface="Courier"/>
              </a:rPr>
              <a:t>mean</a:t>
            </a:r>
            <a:r>
              <a:rPr>
                <a:solidFill>
                  <a:srgbClr val="003B4F"/>
                </a:solidFill>
                <a:latin typeface="Courier"/>
              </a:rPr>
              <a:t>(data[[other_var]])</a:t>
            </a:r>
            <a:br/>
            <a:r>
              <a:rPr>
                <a:solidFill>
                  <a:srgbClr val="003B4F"/>
                </a:solidFill>
                <a:latin typeface="Courier"/>
              </a:rPr>
              <a:t>    }</a:t>
            </a:r>
            <a:br/>
            <a:r>
              <a:rPr>
                <a:solidFill>
                  <a:srgbClr val="003B4F"/>
                </a:solidFill>
                <a:latin typeface="Courier"/>
              </a:rPr>
              <a:t>  }</a:t>
            </a:r>
            <a:br/>
            <a:r>
              <a:rPr>
                <a:solidFill>
                  <a:srgbClr val="003B4F"/>
                </a:solidFill>
                <a:latin typeface="Courier"/>
              </a:rPr>
              <a:t>  </a:t>
            </a:r>
            <a:br/>
            <a:r>
              <a:rPr>
                <a:solidFill>
                  <a:srgbClr val="003B4F"/>
                </a:solidFill>
                <a:latin typeface="Courier"/>
              </a:rPr>
              <a:t>  </a:t>
            </a:r>
            <a:r>
              <a:rPr>
                <a:solidFill>
                  <a:srgbClr val="5E5E5E"/>
                </a:solidFill>
                <a:latin typeface="Courier"/>
              </a:rPr>
              <a:t># Add predictions</a:t>
            </a:r>
            <a:br/>
            <a:r>
              <a:rPr>
                <a:solidFill>
                  <a:srgbClr val="003B4F"/>
                </a:solidFill>
                <a:latin typeface="Courier"/>
              </a:rPr>
              <a:t>  pred_df</a:t>
            </a:r>
            <a:r>
              <a:rPr>
                <a:solidFill>
                  <a:srgbClr val="5E5E5E"/>
                </a:solidFill>
                <a:latin typeface="Courier"/>
              </a:rPr>
              <a:t>$</a:t>
            </a:r>
            <a:r>
              <a:rPr>
                <a:solidFill>
                  <a:srgbClr val="003B4F"/>
                </a:solidFill>
                <a:latin typeface="Courier"/>
              </a:rPr>
              <a:t>prob &lt;- </a:t>
            </a:r>
            <a:r>
              <a:rPr>
                <a:solidFill>
                  <a:srgbClr val="4758AB"/>
                </a:solidFill>
                <a:latin typeface="Courier"/>
              </a:rPr>
              <a:t>predict</a:t>
            </a:r>
            <a:r>
              <a:rPr>
                <a:solidFill>
                  <a:srgbClr val="003B4F"/>
                </a:solidFill>
                <a:latin typeface="Courier"/>
              </a:rPr>
              <a:t>(model, </a:t>
            </a:r>
            <a:r>
              <a:rPr>
                <a:solidFill>
                  <a:srgbClr val="657422"/>
                </a:solidFill>
                <a:latin typeface="Courier"/>
              </a:rPr>
              <a:t>newdata =</a:t>
            </a:r>
            <a:r>
              <a:rPr>
                <a:solidFill>
                  <a:srgbClr val="003B4F"/>
                </a:solidFill>
                <a:latin typeface="Courier"/>
              </a:rPr>
              <a:t> pred_df,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003B4F"/>
                </a:solidFill>
                <a:latin typeface="Courier"/>
              </a:rPr>
              <a:t>  </a:t>
            </a:r>
            <a:br/>
            <a:r>
              <a:rPr>
                <a:solidFill>
                  <a:srgbClr val="003B4F"/>
                </a:solidFill>
                <a:latin typeface="Courier"/>
              </a:rPr>
              <a:t>  </a:t>
            </a:r>
            <a:r>
              <a:rPr>
                <a:solidFill>
                  <a:srgbClr val="4758AB"/>
                </a:solidFill>
                <a:latin typeface="Courier"/>
              </a:rPr>
              <a:t>return</a:t>
            </a:r>
            <a:r>
              <a:rPr>
                <a:solidFill>
                  <a:srgbClr val="003B4F"/>
                </a:solidFill>
                <a:latin typeface="Courier"/>
              </a:rPr>
              <a:t>(pred_df)</a:t>
            </a:r>
            <a:br/>
            <a:r>
              <a:rPr>
                <a:solidFill>
                  <a:srgbClr val="003B4F"/>
                </a:solidFill>
                <a:latin typeface="Courier"/>
              </a:rPr>
              <a:t>}</a:t>
            </a:r>
            <a:br/>
            <a:br/>
            <a:r>
              <a:rPr>
                <a:solidFill>
                  <a:srgbClr val="5E5E5E"/>
                </a:solidFill>
                <a:latin typeface="Courier"/>
              </a:rPr>
              <a:t># Generate prediction data for each variable</a:t>
            </a:r>
            <a:br/>
            <a:r>
              <a:rPr>
                <a:solidFill>
                  <a:srgbClr val="003B4F"/>
                </a:solidFill>
                <a:latin typeface="Courier"/>
              </a:rPr>
              <a:t>pred_distance &lt;- </a:t>
            </a:r>
            <a:r>
              <a:rPr>
                <a:solidFill>
                  <a:srgbClr val="4758AB"/>
                </a:solidFill>
                <a:latin typeface="Courier"/>
              </a:rPr>
              <a:t>predict_for_var</a:t>
            </a:r>
            <a:r>
              <a:rPr>
                <a:solidFill>
                  <a:srgbClr val="003B4F"/>
                </a:solidFill>
                <a:latin typeface="Courier"/>
              </a:rPr>
              <a:t>(</a:t>
            </a:r>
            <a:r>
              <a:rPr>
                <a:solidFill>
                  <a:srgbClr val="20794D"/>
                </a:solidFill>
                <a:latin typeface="Courier"/>
              </a:rPr>
              <a:t>"distance"</a:t>
            </a:r>
            <a:r>
              <a:rPr>
                <a:solidFill>
                  <a:srgbClr val="003B4F"/>
                </a:solidFill>
                <a:latin typeface="Courier"/>
              </a:rPr>
              <a:t>, rodent_model, fragment_data)</a:t>
            </a:r>
            <a:br/>
            <a:r>
              <a:rPr>
                <a:solidFill>
                  <a:srgbClr val="003B4F"/>
                </a:solidFill>
                <a:latin typeface="Courier"/>
              </a:rPr>
              <a:t>pred_age &lt;- </a:t>
            </a:r>
            <a:r>
              <a:rPr>
                <a:solidFill>
                  <a:srgbClr val="4758AB"/>
                </a:solidFill>
                <a:latin typeface="Courier"/>
              </a:rPr>
              <a:t>predict_for_var</a:t>
            </a:r>
            <a:r>
              <a:rPr>
                <a:solidFill>
                  <a:srgbClr val="003B4F"/>
                </a:solidFill>
                <a:latin typeface="Courier"/>
              </a:rPr>
              <a:t>(</a:t>
            </a:r>
            <a:r>
              <a:rPr>
                <a:solidFill>
                  <a:srgbClr val="20794D"/>
                </a:solidFill>
                <a:latin typeface="Courier"/>
              </a:rPr>
              <a:t>"age"</a:t>
            </a:r>
            <a:r>
              <a:rPr>
                <a:solidFill>
                  <a:srgbClr val="003B4F"/>
                </a:solidFill>
                <a:latin typeface="Courier"/>
              </a:rPr>
              <a:t>, rodent_model, fragment_data)</a:t>
            </a:r>
            <a:br/>
            <a:r>
              <a:rPr>
                <a:solidFill>
                  <a:srgbClr val="003B4F"/>
                </a:solidFill>
                <a:latin typeface="Courier"/>
              </a:rPr>
              <a:t>pred_shrub &lt;- </a:t>
            </a:r>
            <a:r>
              <a:rPr>
                <a:solidFill>
                  <a:srgbClr val="4758AB"/>
                </a:solidFill>
                <a:latin typeface="Courier"/>
              </a:rPr>
              <a:t>predict_for_var</a:t>
            </a:r>
            <a:r>
              <a:rPr>
                <a:solidFill>
                  <a:srgbClr val="003B4F"/>
                </a:solidFill>
                <a:latin typeface="Courier"/>
              </a:rPr>
              <a:t>(</a:t>
            </a:r>
            <a:r>
              <a:rPr>
                <a:solidFill>
                  <a:srgbClr val="20794D"/>
                </a:solidFill>
                <a:latin typeface="Courier"/>
              </a:rPr>
              <a:t>"shrub_cover"</a:t>
            </a:r>
            <a:r>
              <a:rPr>
                <a:solidFill>
                  <a:srgbClr val="003B4F"/>
                </a:solidFill>
                <a:latin typeface="Courier"/>
              </a:rPr>
              <a:t>, rodent_model, fragment_data)</a:t>
            </a:r>
            <a:br/>
            <a:br/>
            <a:r>
              <a:rPr>
                <a:solidFill>
                  <a:srgbClr val="5E5E5E"/>
                </a:solidFill>
                <a:latin typeface="Courier"/>
              </a:rPr>
              <a:t># Create plots</a:t>
            </a:r>
            <a:br/>
            <a:r>
              <a:rPr>
                <a:solidFill>
                  <a:srgbClr val="003B4F"/>
                </a:solidFill>
                <a:latin typeface="Courier"/>
              </a:rPr>
              <a:t>p1 &lt;- </a:t>
            </a: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geom_rug</a:t>
            </a:r>
            <a:r>
              <a:rPr>
                <a:solidFill>
                  <a:srgbClr val="003B4F"/>
                </a:solidFill>
                <a:latin typeface="Courier"/>
              </a:rPr>
              <a:t>(</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distance,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sides =</a:t>
            </a:r>
            <a:r>
              <a:rPr>
                <a:solidFill>
                  <a:srgbClr val="003B4F"/>
                </a:solidFill>
                <a:latin typeface="Courier"/>
              </a:rPr>
              <a:t> </a:t>
            </a:r>
            <a:r>
              <a:rPr>
                <a:solidFill>
                  <a:srgbClr val="20794D"/>
                </a:solidFill>
                <a:latin typeface="Courier"/>
              </a:rPr>
              <a:t>"b"</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pred_distance,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distance,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Distance"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"Distance to Source (m)"</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br/>
            <a:r>
              <a:rPr>
                <a:solidFill>
                  <a:srgbClr val="003B4F"/>
                </a:solidFill>
                <a:latin typeface="Courier"/>
              </a:rPr>
              <a:t>p2 &lt;- </a:t>
            </a: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geom_rug</a:t>
            </a:r>
            <a:r>
              <a:rPr>
                <a:solidFill>
                  <a:srgbClr val="003B4F"/>
                </a:solidFill>
                <a:latin typeface="Courier"/>
              </a:rPr>
              <a:t>(</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age,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sides =</a:t>
            </a:r>
            <a:r>
              <a:rPr>
                <a:solidFill>
                  <a:srgbClr val="003B4F"/>
                </a:solidFill>
                <a:latin typeface="Courier"/>
              </a:rPr>
              <a:t> </a:t>
            </a:r>
            <a:r>
              <a:rPr>
                <a:solidFill>
                  <a:srgbClr val="20794D"/>
                </a:solidFill>
                <a:latin typeface="Courier"/>
              </a:rPr>
              <a:t>"b"</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pred_age,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age,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"darkgreen"</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Age"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"Years Since Isolation"</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br/>
            <a:r>
              <a:rPr>
                <a:solidFill>
                  <a:srgbClr val="003B4F"/>
                </a:solidFill>
                <a:latin typeface="Courier"/>
              </a:rPr>
              <a:t>p3 &lt;- </a:t>
            </a: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geom_rug</a:t>
            </a:r>
            <a:r>
              <a:rPr>
                <a:solidFill>
                  <a:srgbClr val="003B4F"/>
                </a:solidFill>
                <a:latin typeface="Courier"/>
              </a:rPr>
              <a:t>(</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sides =</a:t>
            </a:r>
            <a:r>
              <a:rPr>
                <a:solidFill>
                  <a:srgbClr val="003B4F"/>
                </a:solidFill>
                <a:latin typeface="Courier"/>
              </a:rPr>
              <a:t> </a:t>
            </a:r>
            <a:r>
              <a:rPr>
                <a:solidFill>
                  <a:srgbClr val="20794D"/>
                </a:solidFill>
                <a:latin typeface="Courier"/>
              </a:rPr>
              <a:t>"b"</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pred_shrub,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Shrub Cover"</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"Shrub Cover (%)"</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br/>
            <a:r>
              <a:rPr>
                <a:solidFill>
                  <a:srgbClr val="5E5E5E"/>
                </a:solidFill>
                <a:latin typeface="Courier"/>
              </a:rPr>
              <a:t># Combine plots</a:t>
            </a:r>
            <a:br/>
            <a:r>
              <a:rPr>
                <a:solidFill>
                  <a:srgbClr val="003B4F"/>
                </a:solidFill>
                <a:latin typeface="Courier"/>
              </a:rPr>
              <a:t>p1 </a:t>
            </a:r>
            <a:r>
              <a:rPr>
                <a:solidFill>
                  <a:srgbClr val="5E5E5E"/>
                </a:solidFill>
                <a:latin typeface="Courier"/>
              </a:rPr>
              <a:t>+</a:t>
            </a:r>
            <a:r>
              <a:rPr>
                <a:solidFill>
                  <a:srgbClr val="003B4F"/>
                </a:solidFill>
                <a:latin typeface="Courier"/>
              </a:rPr>
              <a:t> p2 </a:t>
            </a:r>
            <a:r>
              <a:rPr>
                <a:solidFill>
                  <a:srgbClr val="5E5E5E"/>
                </a:solidFill>
                <a:latin typeface="Courier"/>
              </a:rPr>
              <a:t>+</a:t>
            </a:r>
            <a:r>
              <a:rPr>
                <a:solidFill>
                  <a:srgbClr val="003B4F"/>
                </a:solidFill>
                <a:latin typeface="Courier"/>
              </a:rPr>
              <a:t> p3</a:t>
            </a:r>
          </a:p>
        </p:txBody>
      </p:sp>
      <p:pic>
        <p:nvPicPr>
          <p:cNvPr descr="14_01_lecture_powerpoint_files/figure-pptx/visualize-effects-1.png" id="0" name="Picture 1"/>
          <p:cNvPicPr>
            <a:picLocks noGrp="1" noChangeAspect="1"/>
          </p:cNvPicPr>
          <p:nvPr/>
        </p:nvPicPr>
        <p:blipFill>
          <a:blip r:embed="rId2"/>
          <a:stretch>
            <a:fillRect/>
          </a:stretch>
        </p:blipFill>
        <p:spPr bwMode="auto">
          <a:xfrm>
            <a:off x="127000" y="2184400"/>
            <a:ext cx="4432300" cy="14732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buNone/>
            </a:pPr>
            <a:r>
              <a:rPr/>
              <a:t>This visualization shows the effect of each predictor on the probability of rodent presence, while holding the other predictors constant at their mean values.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Assumptions and Diagnostics of Logistic Regression</a:t>
            </a:r>
          </a:p>
        </p:txBody>
      </p:sp>
      <p:sp>
        <p:nvSpPr>
          <p:cNvPr id="4" name="Text Placeholder 3"/>
          <p:cNvSpPr>
            <a:spLocks noGrp="1"/>
          </p:cNvSpPr>
          <p:nvPr>
            <p:ph idx="2" sz="half" type="body"/>
          </p:nvPr>
        </p:nvSpPr>
        <p:spPr/>
        <p:txBody>
          <a:bodyPr/>
          <a:lstStyle/>
          <a:p>
            <a:pPr lvl="0" indent="0" marL="0">
              <a:buNone/>
            </a:pPr>
            <a:r>
              <a:rPr/>
              <a:t>Logistic regression has several key assumptions:</a:t>
            </a:r>
          </a:p>
          <a:p>
            <a:pPr lvl="0" indent="-342900" marL="342900">
              <a:buAutoNum type="arabicPeriod"/>
            </a:pPr>
            <a:r>
              <a:rPr/>
              <a:t>Independence of observations</a:t>
            </a:r>
          </a:p>
          <a:p>
            <a:pPr lvl="0" indent="-342900" marL="342900">
              <a:buAutoNum type="arabicPeriod"/>
            </a:pPr>
            <a:r>
              <a:rPr/>
              <a:t>Linear relationship between predictors and log odds</a:t>
            </a:r>
          </a:p>
          <a:p>
            <a:pPr lvl="0" indent="-342900" marL="342900">
              <a:buAutoNum type="arabicPeriod"/>
            </a:pPr>
            <a:r>
              <a:rPr/>
              <a:t>No extreme outliers</a:t>
            </a:r>
          </a:p>
          <a:p>
            <a:pPr lvl="0" indent="-342900" marL="342900">
              <a:buAutoNum type="arabicPeriod"/>
            </a:pPr>
            <a:r>
              <a:rPr/>
              <a:t>No multicollinearity (when multiple predictors are used)</a:t>
            </a:r>
          </a:p>
          <a:p>
            <a:pPr lvl="0" indent="0" marL="0">
              <a:buNone/>
            </a:pPr>
            <a:r>
              <a:rPr/>
              <a:t>Let’s check the diagnostics for our multiple logistic regression model:</a:t>
            </a:r>
          </a:p>
          <a:p>
            <a:pPr lvl="0" indent="0">
              <a:buNone/>
            </a:pPr>
            <a:r>
              <a:rPr>
                <a:solidFill>
                  <a:srgbClr val="5E5E5E"/>
                </a:solidFill>
                <a:latin typeface="Courier"/>
              </a:rPr>
              <a:t># 1. Check for linearity between predictors and log odds</a:t>
            </a:r>
            <a:br/>
            <a:r>
              <a:rPr>
                <a:solidFill>
                  <a:srgbClr val="5E5E5E"/>
                </a:solidFill>
                <a:latin typeface="Courier"/>
              </a:rPr>
              <a:t># Use bins of X variables and plot log odds</a:t>
            </a:r>
            <a:br/>
            <a:r>
              <a:rPr>
                <a:solidFill>
                  <a:srgbClr val="003B4F"/>
                </a:solidFill>
                <a:latin typeface="Courier"/>
              </a:rPr>
              <a:t>check_linearity &lt;- </a:t>
            </a:r>
            <a:r>
              <a:rPr b="1">
                <a:solidFill>
                  <a:srgbClr val="003B4F"/>
                </a:solidFill>
                <a:latin typeface="Courier"/>
              </a:rPr>
              <a:t>function</a:t>
            </a:r>
            <a:r>
              <a:rPr>
                <a:solidFill>
                  <a:srgbClr val="003B4F"/>
                </a:solidFill>
                <a:latin typeface="Courier"/>
              </a:rPr>
              <a:t>(model, data, var) {</a:t>
            </a:r>
            <a:br/>
            <a:r>
              <a:rPr>
                <a:solidFill>
                  <a:srgbClr val="003B4F"/>
                </a:solidFill>
                <a:latin typeface="Courier"/>
              </a:rPr>
              <a:t>  </a:t>
            </a:r>
            <a:r>
              <a:rPr>
                <a:solidFill>
                  <a:srgbClr val="5E5E5E"/>
                </a:solidFill>
                <a:latin typeface="Courier"/>
              </a:rPr>
              <a:t># Create bins of predictor</a:t>
            </a:r>
            <a:br/>
            <a:r>
              <a:rPr>
                <a:solidFill>
                  <a:srgbClr val="003B4F"/>
                </a:solidFill>
                <a:latin typeface="Courier"/>
              </a:rPr>
              <a:t>  n_bins &lt;- </a:t>
            </a:r>
            <a:r>
              <a:rPr>
                <a:solidFill>
                  <a:srgbClr val="AD0000"/>
                </a:solidFill>
                <a:latin typeface="Courier"/>
              </a:rPr>
              <a:t>5</a:t>
            </a:r>
            <a:br/>
            <a:r>
              <a:rPr>
                <a:solidFill>
                  <a:srgbClr val="003B4F"/>
                </a:solidFill>
                <a:latin typeface="Courier"/>
              </a:rPr>
              <a:t>  data</a:t>
            </a:r>
            <a:r>
              <a:rPr>
                <a:solidFill>
                  <a:srgbClr val="5E5E5E"/>
                </a:solidFill>
                <a:latin typeface="Courier"/>
              </a:rPr>
              <a:t>$</a:t>
            </a:r>
            <a:r>
              <a:rPr>
                <a:solidFill>
                  <a:srgbClr val="003B4F"/>
                </a:solidFill>
                <a:latin typeface="Courier"/>
              </a:rPr>
              <a:t>bin &lt;- </a:t>
            </a:r>
            <a:r>
              <a:rPr>
                <a:solidFill>
                  <a:srgbClr val="4758AB"/>
                </a:solidFill>
                <a:latin typeface="Courier"/>
              </a:rPr>
              <a:t>cut</a:t>
            </a:r>
            <a:r>
              <a:rPr>
                <a:solidFill>
                  <a:srgbClr val="003B4F"/>
                </a:solidFill>
                <a:latin typeface="Courier"/>
              </a:rPr>
              <a:t>(data[[var]], </a:t>
            </a:r>
            <a:r>
              <a:rPr>
                <a:solidFill>
                  <a:srgbClr val="657422"/>
                </a:solidFill>
                <a:latin typeface="Courier"/>
              </a:rPr>
              <a:t>breaks =</a:t>
            </a:r>
            <a:r>
              <a:rPr>
                <a:solidFill>
                  <a:srgbClr val="003B4F"/>
                </a:solidFill>
                <a:latin typeface="Courier"/>
              </a:rPr>
              <a:t> n_bins)</a:t>
            </a:r>
            <a:br/>
            <a:r>
              <a:rPr>
                <a:solidFill>
                  <a:srgbClr val="003B4F"/>
                </a:solidFill>
                <a:latin typeface="Courier"/>
              </a:rPr>
              <a:t>  </a:t>
            </a:r>
            <a:br/>
            <a:r>
              <a:rPr>
                <a:solidFill>
                  <a:srgbClr val="003B4F"/>
                </a:solidFill>
                <a:latin typeface="Courier"/>
              </a:rPr>
              <a:t>  </a:t>
            </a:r>
            <a:r>
              <a:rPr>
                <a:solidFill>
                  <a:srgbClr val="5E5E5E"/>
                </a:solidFill>
                <a:latin typeface="Courier"/>
              </a:rPr>
              <a:t># Calculate log odds for each bin</a:t>
            </a:r>
            <a:br/>
            <a:r>
              <a:rPr>
                <a:solidFill>
                  <a:srgbClr val="003B4F"/>
                </a:solidFill>
                <a:latin typeface="Courier"/>
              </a:rPr>
              <a:t>  bin_summary &lt;- data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(bin)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4758AB"/>
                </a:solidFill>
                <a:latin typeface="Courier"/>
              </a:rPr>
              <a:t>n</a:t>
            </a:r>
            <a:r>
              <a:rPr>
                <a:solidFill>
                  <a:srgbClr val="003B4F"/>
                </a:solidFill>
                <a:latin typeface="Courier"/>
              </a:rPr>
              <a:t>(),</a:t>
            </a:r>
            <a:br/>
            <a:r>
              <a:rPr>
                <a:solidFill>
                  <a:srgbClr val="003B4F"/>
                </a:solidFill>
                <a:latin typeface="Courier"/>
              </a:rPr>
              <a:t>      </a:t>
            </a:r>
            <a:r>
              <a:rPr>
                <a:solidFill>
                  <a:srgbClr val="657422"/>
                </a:solidFill>
                <a:latin typeface="Courier"/>
              </a:rPr>
              <a:t>mean_var =</a:t>
            </a:r>
            <a:r>
              <a:rPr>
                <a:solidFill>
                  <a:srgbClr val="003B4F"/>
                </a:solidFill>
                <a:latin typeface="Courier"/>
              </a:rPr>
              <a:t> </a:t>
            </a:r>
            <a:r>
              <a:rPr>
                <a:solidFill>
                  <a:srgbClr val="4758AB"/>
                </a:solidFill>
                <a:latin typeface="Courier"/>
              </a:rPr>
              <a:t>mean</a:t>
            </a:r>
            <a:r>
              <a:rPr>
                <a:solidFill>
                  <a:srgbClr val="003B4F"/>
                </a:solidFill>
                <a:latin typeface="Courier"/>
              </a:rPr>
              <a:t>(</a:t>
            </a:r>
            <a:r>
              <a:rPr>
                <a:solidFill>
                  <a:srgbClr val="5E5E5E"/>
                </a:solidFill>
                <a:latin typeface="Courier"/>
              </a:rPr>
              <a:t>!!</a:t>
            </a:r>
            <a:r>
              <a:rPr>
                <a:solidFill>
                  <a:srgbClr val="4758AB"/>
                </a:solidFill>
                <a:latin typeface="Courier"/>
              </a:rPr>
              <a:t>sym</a:t>
            </a:r>
            <a:r>
              <a:rPr>
                <a:solidFill>
                  <a:srgbClr val="003B4F"/>
                </a:solidFill>
                <a:latin typeface="Courier"/>
              </a:rPr>
              <a:t>(var)),</a:t>
            </a:r>
            <a:br/>
            <a:r>
              <a:rPr>
                <a:solidFill>
                  <a:srgbClr val="003B4F"/>
                </a:solidFill>
                <a:latin typeface="Courier"/>
              </a:rPr>
              <a:t>      </a:t>
            </a:r>
            <a:r>
              <a:rPr>
                <a:solidFill>
                  <a:srgbClr val="657422"/>
                </a:solidFill>
                <a:latin typeface="Courier"/>
              </a:rPr>
              <a:t>successes =</a:t>
            </a:r>
            <a:r>
              <a:rPr>
                <a:solidFill>
                  <a:srgbClr val="003B4F"/>
                </a:solidFill>
                <a:latin typeface="Courier"/>
              </a:rPr>
              <a:t> </a:t>
            </a:r>
            <a:r>
              <a:rPr>
                <a:solidFill>
                  <a:srgbClr val="4758AB"/>
                </a:solidFill>
                <a:latin typeface="Courier"/>
              </a:rPr>
              <a:t>sum</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20794D"/>
                </a:solidFill>
                <a:latin typeface="Courier"/>
              </a:rPr>
              <a:t>"Present"</a:t>
            </a:r>
            <a:r>
              <a:rPr>
                <a:solidFill>
                  <a:srgbClr val="003B4F"/>
                </a:solidFill>
                <a:latin typeface="Courier"/>
              </a:rPr>
              <a:t>),</a:t>
            </a:r>
            <a:br/>
            <a:r>
              <a:rPr>
                <a:solidFill>
                  <a:srgbClr val="003B4F"/>
                </a:solidFill>
                <a:latin typeface="Courier"/>
              </a:rPr>
              <a:t>      </a:t>
            </a:r>
            <a:r>
              <a:rPr>
                <a:solidFill>
                  <a:srgbClr val="657422"/>
                </a:solidFill>
                <a:latin typeface="Courier"/>
              </a:rPr>
              <a:t>failures =</a:t>
            </a:r>
            <a:r>
              <a:rPr>
                <a:solidFill>
                  <a:srgbClr val="003B4F"/>
                </a:solidFill>
                <a:latin typeface="Courier"/>
              </a:rPr>
              <a:t> </a:t>
            </a:r>
            <a:r>
              <a:rPr>
                <a:solidFill>
                  <a:srgbClr val="4758AB"/>
                </a:solidFill>
                <a:latin typeface="Courier"/>
              </a:rPr>
              <a:t>sum</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20794D"/>
                </a:solidFill>
                <a:latin typeface="Courier"/>
              </a:rPr>
              <a:t>"Absent"</a:t>
            </a:r>
            <a:r>
              <a:rPr>
                <a:solidFill>
                  <a:srgbClr val="003B4F"/>
                </a:solidFill>
                <a:latin typeface="Courier"/>
              </a:rPr>
              <a:t>)</a:t>
            </a:r>
            <a:br/>
            <a:r>
              <a:rPr>
                <a:solidFill>
                  <a:srgbClr val="003B4F"/>
                </a:solidFill>
                <a:latin typeface="Courier"/>
              </a:rPr>
              <a:t>    )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p =</a:t>
            </a:r>
            <a:r>
              <a:rPr>
                <a:solidFill>
                  <a:srgbClr val="003B4F"/>
                </a:solidFill>
                <a:latin typeface="Courier"/>
              </a:rPr>
              <a:t> successes </a:t>
            </a:r>
            <a:r>
              <a:rPr>
                <a:solidFill>
                  <a:srgbClr val="5E5E5E"/>
                </a:solidFill>
                <a:latin typeface="Courier"/>
              </a:rPr>
              <a:t>/</a:t>
            </a:r>
            <a:r>
              <a:rPr>
                <a:solidFill>
                  <a:srgbClr val="003B4F"/>
                </a:solidFill>
                <a:latin typeface="Courier"/>
              </a:rPr>
              <a:t> n,</a:t>
            </a:r>
            <a:br/>
            <a:r>
              <a:rPr>
                <a:solidFill>
                  <a:srgbClr val="003B4F"/>
                </a:solidFill>
                <a:latin typeface="Courier"/>
              </a:rPr>
              <a:t>      </a:t>
            </a:r>
            <a:r>
              <a:rPr>
                <a:solidFill>
                  <a:srgbClr val="657422"/>
                </a:solidFill>
                <a:latin typeface="Courier"/>
              </a:rPr>
              <a:t>logodds =</a:t>
            </a:r>
            <a:r>
              <a:rPr>
                <a:solidFill>
                  <a:srgbClr val="003B4F"/>
                </a:solidFill>
                <a:latin typeface="Courier"/>
              </a:rPr>
              <a:t> </a:t>
            </a:r>
            <a:r>
              <a:rPr>
                <a:solidFill>
                  <a:srgbClr val="4758AB"/>
                </a:solidFill>
                <a:latin typeface="Courier"/>
              </a:rPr>
              <a:t>log</a:t>
            </a:r>
            <a:r>
              <a:rPr>
                <a:solidFill>
                  <a:srgbClr val="003B4F"/>
                </a:solidFill>
                <a:latin typeface="Courier"/>
              </a:rPr>
              <a:t>(p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p))</a:t>
            </a:r>
            <a:br/>
            <a:r>
              <a:rPr>
                <a:solidFill>
                  <a:srgbClr val="003B4F"/>
                </a:solidFill>
                <a:latin typeface="Courier"/>
              </a:rPr>
              <a:t>    )</a:t>
            </a:r>
            <a:br/>
            <a:r>
              <a:rPr>
                <a:solidFill>
                  <a:srgbClr val="003B4F"/>
                </a:solidFill>
                <a:latin typeface="Courier"/>
              </a:rPr>
              <a:t>  </a:t>
            </a:r>
            <a:br/>
            <a:r>
              <a:rPr>
                <a:solidFill>
                  <a:srgbClr val="003B4F"/>
                </a:solidFill>
                <a:latin typeface="Courier"/>
              </a:rPr>
              <a:t>  </a:t>
            </a:r>
            <a:r>
              <a:rPr>
                <a:solidFill>
                  <a:srgbClr val="5E5E5E"/>
                </a:solidFill>
                <a:latin typeface="Courier"/>
              </a:rPr>
              <a:t># Create plot</a:t>
            </a:r>
            <a:br/>
            <a:r>
              <a:rPr>
                <a:solidFill>
                  <a:srgbClr val="003B4F"/>
                </a:solidFill>
                <a:latin typeface="Courier"/>
              </a:rPr>
              <a:t>  </a:t>
            </a:r>
            <a:r>
              <a:rPr>
                <a:solidFill>
                  <a:srgbClr val="4758AB"/>
                </a:solidFill>
                <a:latin typeface="Courier"/>
              </a:rPr>
              <a:t>ggplot</a:t>
            </a:r>
            <a:r>
              <a:rPr>
                <a:solidFill>
                  <a:srgbClr val="003B4F"/>
                </a:solidFill>
                <a:latin typeface="Courier"/>
              </a:rPr>
              <a:t>(bin_summary,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mean_var, </a:t>
            </a:r>
            <a:r>
              <a:rPr>
                <a:solidFill>
                  <a:srgbClr val="657422"/>
                </a:solidFill>
                <a:latin typeface="Courier"/>
              </a:rPr>
              <a:t>y =</a:t>
            </a:r>
            <a:r>
              <a:rPr>
                <a:solidFill>
                  <a:srgbClr val="003B4F"/>
                </a:solidFill>
                <a:latin typeface="Courier"/>
              </a:rPr>
              <a:t> logodds))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geom_smooth</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"lm"</a:t>
            </a:r>
            <a:r>
              <a:rPr>
                <a:solidFill>
                  <a:srgbClr val="003B4F"/>
                </a:solidFill>
                <a:latin typeface="Courier"/>
              </a:rPr>
              <a:t>, </a:t>
            </a:r>
            <a:r>
              <a:rPr>
                <a:solidFill>
                  <a:srgbClr val="657422"/>
                </a:solidFill>
                <a:latin typeface="Courier"/>
              </a:rPr>
              <a:t>se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4758AB"/>
                </a:solidFill>
                <a:latin typeface="Courier"/>
              </a:rPr>
              <a:t>paste</a:t>
            </a:r>
            <a:r>
              <a:rPr>
                <a:solidFill>
                  <a:srgbClr val="003B4F"/>
                </a:solidFill>
                <a:latin typeface="Courier"/>
              </a:rPr>
              <a:t>(</a:t>
            </a:r>
            <a:r>
              <a:rPr>
                <a:solidFill>
                  <a:srgbClr val="20794D"/>
                </a:solidFill>
                <a:latin typeface="Courier"/>
              </a:rPr>
              <a:t>"Linearity Check:"</a:t>
            </a:r>
            <a:r>
              <a:rPr>
                <a:solidFill>
                  <a:srgbClr val="003B4F"/>
                </a:solidFill>
                <a:latin typeface="Courier"/>
              </a:rPr>
              <a:t>, var),</a:t>
            </a:r>
            <a:br/>
            <a:r>
              <a:rPr>
                <a:solidFill>
                  <a:srgbClr val="003B4F"/>
                </a:solidFill>
                <a:latin typeface="Courier"/>
              </a:rPr>
              <a:t>         </a:t>
            </a:r>
            <a:r>
              <a:rPr>
                <a:solidFill>
                  <a:srgbClr val="657422"/>
                </a:solidFill>
                <a:latin typeface="Courier"/>
              </a:rPr>
              <a:t>x =</a:t>
            </a:r>
            <a:r>
              <a:rPr>
                <a:solidFill>
                  <a:srgbClr val="003B4F"/>
                </a:solidFill>
                <a:latin typeface="Courier"/>
              </a:rPr>
              <a:t> var,</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"Log Odds"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r>
              <a:rPr>
                <a:solidFill>
                  <a:srgbClr val="003B4F"/>
                </a:solidFill>
                <a:latin typeface="Courier"/>
              </a:rPr>
              <a:t>}</a:t>
            </a:r>
            <a:br/>
            <a:br/>
            <a:r>
              <a:rPr>
                <a:solidFill>
                  <a:srgbClr val="5E5E5E"/>
                </a:solidFill>
                <a:latin typeface="Courier"/>
              </a:rPr>
              <a:t># Create diagnostic plots for each variable</a:t>
            </a:r>
            <a:br/>
            <a:r>
              <a:rPr>
                <a:solidFill>
                  <a:srgbClr val="003B4F"/>
                </a:solidFill>
                <a:latin typeface="Courier"/>
              </a:rPr>
              <a:t>p1 &lt;- </a:t>
            </a:r>
            <a:r>
              <a:rPr>
                <a:solidFill>
                  <a:srgbClr val="4758AB"/>
                </a:solidFill>
                <a:latin typeface="Courier"/>
              </a:rPr>
              <a:t>check_linearity</a:t>
            </a:r>
            <a:r>
              <a:rPr>
                <a:solidFill>
                  <a:srgbClr val="003B4F"/>
                </a:solidFill>
                <a:latin typeface="Courier"/>
              </a:rPr>
              <a:t>(rodent_model, fragment_data, </a:t>
            </a:r>
            <a:r>
              <a:rPr>
                <a:solidFill>
                  <a:srgbClr val="20794D"/>
                </a:solidFill>
                <a:latin typeface="Courier"/>
              </a:rPr>
              <a:t>"distance"</a:t>
            </a:r>
            <a:r>
              <a:rPr>
                <a:solidFill>
                  <a:srgbClr val="003B4F"/>
                </a:solidFill>
                <a:latin typeface="Courier"/>
              </a:rPr>
              <a:t>)</a:t>
            </a:r>
            <a:br/>
            <a:r>
              <a:rPr>
                <a:solidFill>
                  <a:srgbClr val="003B4F"/>
                </a:solidFill>
                <a:latin typeface="Courier"/>
              </a:rPr>
              <a:t>p2 &lt;- </a:t>
            </a:r>
            <a:r>
              <a:rPr>
                <a:solidFill>
                  <a:srgbClr val="4758AB"/>
                </a:solidFill>
                <a:latin typeface="Courier"/>
              </a:rPr>
              <a:t>check_linearity</a:t>
            </a:r>
            <a:r>
              <a:rPr>
                <a:solidFill>
                  <a:srgbClr val="003B4F"/>
                </a:solidFill>
                <a:latin typeface="Courier"/>
              </a:rPr>
              <a:t>(rodent_model, fragment_data, </a:t>
            </a:r>
            <a:r>
              <a:rPr>
                <a:solidFill>
                  <a:srgbClr val="20794D"/>
                </a:solidFill>
                <a:latin typeface="Courier"/>
              </a:rPr>
              <a:t>"age"</a:t>
            </a:r>
            <a:r>
              <a:rPr>
                <a:solidFill>
                  <a:srgbClr val="003B4F"/>
                </a:solidFill>
                <a:latin typeface="Courier"/>
              </a:rPr>
              <a:t>)</a:t>
            </a:r>
            <a:br/>
            <a:r>
              <a:rPr>
                <a:solidFill>
                  <a:srgbClr val="003B4F"/>
                </a:solidFill>
                <a:latin typeface="Courier"/>
              </a:rPr>
              <a:t>p3 &lt;- </a:t>
            </a:r>
            <a:r>
              <a:rPr>
                <a:solidFill>
                  <a:srgbClr val="4758AB"/>
                </a:solidFill>
                <a:latin typeface="Courier"/>
              </a:rPr>
              <a:t>check_linearity</a:t>
            </a:r>
            <a:r>
              <a:rPr>
                <a:solidFill>
                  <a:srgbClr val="003B4F"/>
                </a:solidFill>
                <a:latin typeface="Courier"/>
              </a:rPr>
              <a:t>(rodent_model, fragment_data, </a:t>
            </a:r>
            <a:r>
              <a:rPr>
                <a:solidFill>
                  <a:srgbClr val="20794D"/>
                </a:solidFill>
                <a:latin typeface="Courier"/>
              </a:rPr>
              <a:t>"shrub_cover"</a:t>
            </a:r>
            <a:r>
              <a:rPr>
                <a:solidFill>
                  <a:srgbClr val="003B4F"/>
                </a:solidFill>
                <a:latin typeface="Courier"/>
              </a:rPr>
              <a:t>)</a:t>
            </a:r>
            <a:br/>
            <a:br/>
            <a:r>
              <a:rPr>
                <a:solidFill>
                  <a:srgbClr val="5E5E5E"/>
                </a:solidFill>
                <a:latin typeface="Courier"/>
              </a:rPr>
              <a:t># Arrange the plots</a:t>
            </a:r>
            <a:br/>
            <a:r>
              <a:rPr>
                <a:solidFill>
                  <a:srgbClr val="003B4F"/>
                </a:solidFill>
                <a:latin typeface="Courier"/>
              </a:rPr>
              <a:t>p1 </a:t>
            </a:r>
            <a:r>
              <a:rPr>
                <a:solidFill>
                  <a:srgbClr val="5E5E5E"/>
                </a:solidFill>
                <a:latin typeface="Courier"/>
              </a:rPr>
              <a:t>/</a:t>
            </a:r>
            <a:r>
              <a:rPr>
                <a:solidFill>
                  <a:srgbClr val="003B4F"/>
                </a:solidFill>
                <a:latin typeface="Courier"/>
              </a:rPr>
              <a:t> p2 </a:t>
            </a:r>
            <a:r>
              <a:rPr>
                <a:solidFill>
                  <a:srgbClr val="5E5E5E"/>
                </a:solidFill>
                <a:latin typeface="Courier"/>
              </a:rPr>
              <a:t>/</a:t>
            </a:r>
            <a:r>
              <a:rPr>
                <a:solidFill>
                  <a:srgbClr val="003B4F"/>
                </a:solidFill>
                <a:latin typeface="Courier"/>
              </a:rPr>
              <a:t> p3</a:t>
            </a:r>
          </a:p>
        </p:txBody>
      </p:sp>
      <p:pic>
        <p:nvPicPr>
          <p:cNvPr descr="14_01_lecture_powerpoint_files/figure-pptx/diagnostics-1.png" id="0" name="Picture 1"/>
          <p:cNvPicPr>
            <a:picLocks noGrp="1" noChangeAspect="1"/>
          </p:cNvPicPr>
          <p:nvPr/>
        </p:nvPicPr>
        <p:blipFill>
          <a:blip r:embed="rId2"/>
          <a:stretch>
            <a:fillRect/>
          </a:stretch>
        </p:blipFill>
        <p:spPr bwMode="auto">
          <a:xfrm>
            <a:off x="3835400" y="952500"/>
            <a:ext cx="4876800" cy="3797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Model Comparison and Selection</a:t>
            </a:r>
          </a:p>
        </p:txBody>
      </p:sp>
      <p:sp>
        <p:nvSpPr>
          <p:cNvPr id="3" name="Content Placeholder 2"/>
          <p:cNvSpPr>
            <a:spLocks noGrp="1"/>
          </p:cNvSpPr>
          <p:nvPr>
            <p:ph idx="1" sz="half"/>
          </p:nvPr>
        </p:nvSpPr>
        <p:spPr/>
        <p:txBody>
          <a:bodyPr/>
          <a:lstStyle/>
          <a:p>
            <a:pPr lvl="0" indent="0" marL="0">
              <a:buNone/>
            </a:pPr>
            <a:r>
              <a:rPr/>
              <a:t>When working with multiple predictors, we often want to find the most parsimonious model. We can use:</a:t>
            </a:r>
          </a:p>
          <a:p>
            <a:pPr lvl="0" indent="-342900" marL="342900">
              <a:buAutoNum type="arabicPeriod"/>
            </a:pPr>
            <a:r>
              <a:rPr/>
              <a:t>Likelihood ratio tests for nested models</a:t>
            </a:r>
          </a:p>
          <a:p>
            <a:pPr lvl="0" indent="-342900" marL="342900">
              <a:buAutoNum type="arabicPeriod"/>
            </a:pPr>
            <a:r>
              <a:rPr/>
              <a:t>Information criteria (AIC, BIC) for non-nested models</a:t>
            </a:r>
          </a:p>
          <a:p>
            <a:pPr lvl="0" indent="-342900" marL="342900">
              <a:buAutoNum type="arabicPeriod"/>
            </a:pPr>
            <a:r>
              <a:rPr/>
              <a:t>Classification metrics like accuracy, sensitivity, and specificity</a:t>
            </a:r>
          </a:p>
          <a:p>
            <a:pPr lvl="0" indent="0" marL="0">
              <a:buNone/>
            </a:pPr>
            <a:r>
              <a:rPr/>
              <a:t>Let’s compare models and calculate AIC values:</a:t>
            </a:r>
          </a:p>
          <a:p>
            <a:pPr lvl="0" indent="0">
              <a:buNone/>
            </a:pPr>
            <a:r>
              <a:rPr>
                <a:solidFill>
                  <a:srgbClr val="5E5E5E"/>
                </a:solidFill>
                <a:latin typeface="Courier"/>
              </a:rPr>
              <a:t># Calculate AIC for our models</a:t>
            </a:r>
            <a:br/>
            <a:r>
              <a:rPr>
                <a:solidFill>
                  <a:srgbClr val="003B4F"/>
                </a:solidFill>
                <a:latin typeface="Courier"/>
              </a:rPr>
              <a:t>models &lt;- </a:t>
            </a:r>
            <a:r>
              <a:rPr>
                <a:solidFill>
                  <a:srgbClr val="4758AB"/>
                </a:solidFill>
                <a:latin typeface="Courier"/>
              </a:rPr>
              <a:t>list</a:t>
            </a:r>
            <a:r>
              <a:rPr>
                <a:solidFill>
                  <a:srgbClr val="003B4F"/>
                </a:solidFill>
                <a:latin typeface="Courier"/>
              </a:rPr>
              <a:t>(</a:t>
            </a:r>
            <a:br/>
            <a:r>
              <a:rPr>
                <a:solidFill>
                  <a:srgbClr val="003B4F"/>
                </a:solidFill>
                <a:latin typeface="Courier"/>
              </a:rPr>
              <a:t>  </a:t>
            </a:r>
            <a:r>
              <a:rPr>
                <a:solidFill>
                  <a:srgbClr val="20794D"/>
                </a:solidFill>
                <a:latin typeface="Courier"/>
              </a:rPr>
              <a:t>"Full"</a:t>
            </a:r>
            <a:r>
              <a:rPr>
                <a:solidFill>
                  <a:srgbClr val="003B4F"/>
                </a:solidFill>
                <a:latin typeface="Courier"/>
              </a:rPr>
              <a:t> = rodent_model,</a:t>
            </a:r>
            <a:br/>
            <a:r>
              <a:rPr>
                <a:solidFill>
                  <a:srgbClr val="003B4F"/>
                </a:solidFill>
                <a:latin typeface="Courier"/>
              </a:rPr>
              <a:t>  </a:t>
            </a:r>
            <a:r>
              <a:rPr>
                <a:solidFill>
                  <a:srgbClr val="20794D"/>
                </a:solidFill>
                <a:latin typeface="Courier"/>
              </a:rPr>
              <a:t>"No Distance"</a:t>
            </a:r>
            <a:r>
              <a:rPr>
                <a:solidFill>
                  <a:srgbClr val="003B4F"/>
                </a:solidFill>
                <a:latin typeface="Courier"/>
              </a:rPr>
              <a:t> = model_no_distance,</a:t>
            </a:r>
            <a:br/>
            <a:r>
              <a:rPr>
                <a:solidFill>
                  <a:srgbClr val="003B4F"/>
                </a:solidFill>
                <a:latin typeface="Courier"/>
              </a:rPr>
              <a:t>  </a:t>
            </a:r>
            <a:r>
              <a:rPr>
                <a:solidFill>
                  <a:srgbClr val="20794D"/>
                </a:solidFill>
                <a:latin typeface="Courier"/>
              </a:rPr>
              <a:t>"No Age"</a:t>
            </a:r>
            <a:r>
              <a:rPr>
                <a:solidFill>
                  <a:srgbClr val="003B4F"/>
                </a:solidFill>
                <a:latin typeface="Courier"/>
              </a:rPr>
              <a:t> = model_no_age,</a:t>
            </a:r>
            <a:br/>
            <a:r>
              <a:rPr>
                <a:solidFill>
                  <a:srgbClr val="003B4F"/>
                </a:solidFill>
                <a:latin typeface="Courier"/>
              </a:rPr>
              <a:t>  </a:t>
            </a:r>
            <a:r>
              <a:rPr>
                <a:solidFill>
                  <a:srgbClr val="20794D"/>
                </a:solidFill>
                <a:latin typeface="Courier"/>
              </a:rPr>
              <a:t>"No Shrub"</a:t>
            </a:r>
            <a:r>
              <a:rPr>
                <a:solidFill>
                  <a:srgbClr val="003B4F"/>
                </a:solidFill>
                <a:latin typeface="Courier"/>
              </a:rPr>
              <a:t> = model_no_shrub,</a:t>
            </a:r>
            <a:br/>
            <a:r>
              <a:rPr>
                <a:solidFill>
                  <a:srgbClr val="003B4F"/>
                </a:solidFill>
                <a:latin typeface="Courier"/>
              </a:rPr>
              <a:t>  </a:t>
            </a:r>
            <a:r>
              <a:rPr>
                <a:solidFill>
                  <a:srgbClr val="20794D"/>
                </a:solidFill>
                <a:latin typeface="Courier"/>
              </a:rPr>
              <a:t>"Intercept Only"</a:t>
            </a:r>
            <a:r>
              <a:rPr>
                <a:solidFill>
                  <a:srgbClr val="003B4F"/>
                </a:solidFill>
                <a:latin typeface="Courier"/>
              </a:rPr>
              <a:t> =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binomial)</a:t>
            </a:r>
            <a:br/>
            <a:r>
              <a:rPr>
                <a:solidFill>
                  <a:srgbClr val="003B4F"/>
                </a:solidFill>
                <a:latin typeface="Courier"/>
              </a:rPr>
              <a:t>)</a:t>
            </a:r>
            <a:br/>
            <a:br/>
            <a:r>
              <a:rPr>
                <a:solidFill>
                  <a:srgbClr val="5E5E5E"/>
                </a:solidFill>
                <a:latin typeface="Courier"/>
              </a:rPr>
              <a:t># Calculate AIC and BIC</a:t>
            </a:r>
            <a:br/>
            <a:r>
              <a:rPr>
                <a:solidFill>
                  <a:srgbClr val="003B4F"/>
                </a:solidFill>
                <a:latin typeface="Courier"/>
              </a:rPr>
              <a:t>model_comparison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Model =</a:t>
            </a:r>
            <a:r>
              <a:rPr>
                <a:solidFill>
                  <a:srgbClr val="003B4F"/>
                </a:solidFill>
                <a:latin typeface="Courier"/>
              </a:rPr>
              <a:t> </a:t>
            </a:r>
            <a:r>
              <a:rPr>
                <a:solidFill>
                  <a:srgbClr val="4758AB"/>
                </a:solidFill>
                <a:latin typeface="Courier"/>
              </a:rPr>
              <a:t>names</a:t>
            </a:r>
            <a:r>
              <a:rPr>
                <a:solidFill>
                  <a:srgbClr val="003B4F"/>
                </a:solidFill>
                <a:latin typeface="Courier"/>
              </a:rPr>
              <a:t>(models),</a:t>
            </a:r>
            <a:br/>
            <a:r>
              <a:rPr>
                <a:solidFill>
                  <a:srgbClr val="003B4F"/>
                </a:solidFill>
                <a:latin typeface="Courier"/>
              </a:rPr>
              <a:t>  </a:t>
            </a:r>
            <a:r>
              <a:rPr>
                <a:solidFill>
                  <a:srgbClr val="657422"/>
                </a:solidFill>
                <a:latin typeface="Courier"/>
              </a:rPr>
              <a:t>Parameters =</a:t>
            </a:r>
            <a:r>
              <a:rPr>
                <a:solidFill>
                  <a:srgbClr val="003B4F"/>
                </a:solidFill>
                <a:latin typeface="Courier"/>
              </a:rPr>
              <a:t> </a:t>
            </a:r>
            <a:r>
              <a:rPr>
                <a:solidFill>
                  <a:srgbClr val="4758AB"/>
                </a:solidFill>
                <a:latin typeface="Courier"/>
              </a:rPr>
              <a:t>sapply</a:t>
            </a:r>
            <a:r>
              <a:rPr>
                <a:solidFill>
                  <a:srgbClr val="003B4F"/>
                </a:solidFill>
                <a:latin typeface="Courier"/>
              </a:rPr>
              <a:t>(models, </a:t>
            </a:r>
            <a:r>
              <a:rPr b="1">
                <a:solidFill>
                  <a:srgbClr val="003B4F"/>
                </a:solidFill>
                <a:latin typeface="Courier"/>
              </a:rPr>
              <a:t>function</a:t>
            </a:r>
            <a:r>
              <a:rPr>
                <a:solidFill>
                  <a:srgbClr val="003B4F"/>
                </a:solidFill>
                <a:latin typeface="Courier"/>
              </a:rPr>
              <a:t>(m) </a:t>
            </a:r>
            <a:r>
              <a:rPr>
                <a:solidFill>
                  <a:srgbClr val="4758AB"/>
                </a:solidFill>
                <a:latin typeface="Courier"/>
              </a:rPr>
              <a:t>length</a:t>
            </a:r>
            <a:r>
              <a:rPr>
                <a:solidFill>
                  <a:srgbClr val="003B4F"/>
                </a:solidFill>
                <a:latin typeface="Courier"/>
              </a:rPr>
              <a:t>(</a:t>
            </a:r>
            <a:r>
              <a:rPr>
                <a:solidFill>
                  <a:srgbClr val="4758AB"/>
                </a:solidFill>
                <a:latin typeface="Courier"/>
              </a:rPr>
              <a:t>coef</a:t>
            </a:r>
            <a:r>
              <a:rPr>
                <a:solidFill>
                  <a:srgbClr val="003B4F"/>
                </a:solidFill>
                <a:latin typeface="Courier"/>
              </a:rPr>
              <a:t>(m))),</a:t>
            </a:r>
            <a:br/>
            <a:r>
              <a:rPr>
                <a:solidFill>
                  <a:srgbClr val="003B4F"/>
                </a:solidFill>
                <a:latin typeface="Courier"/>
              </a:rPr>
              <a:t>  </a:t>
            </a:r>
            <a:r>
              <a:rPr>
                <a:solidFill>
                  <a:srgbClr val="657422"/>
                </a:solidFill>
                <a:latin typeface="Courier"/>
              </a:rPr>
              <a:t>AIC =</a:t>
            </a:r>
            <a:r>
              <a:rPr>
                <a:solidFill>
                  <a:srgbClr val="003B4F"/>
                </a:solidFill>
                <a:latin typeface="Courier"/>
              </a:rPr>
              <a:t> </a:t>
            </a:r>
            <a:r>
              <a:rPr>
                <a:solidFill>
                  <a:srgbClr val="4758AB"/>
                </a:solidFill>
                <a:latin typeface="Courier"/>
              </a:rPr>
              <a:t>sapply</a:t>
            </a:r>
            <a:r>
              <a:rPr>
                <a:solidFill>
                  <a:srgbClr val="003B4F"/>
                </a:solidFill>
                <a:latin typeface="Courier"/>
              </a:rPr>
              <a:t>(models, AIC),</a:t>
            </a:r>
            <a:br/>
            <a:r>
              <a:rPr>
                <a:solidFill>
                  <a:srgbClr val="003B4F"/>
                </a:solidFill>
                <a:latin typeface="Courier"/>
              </a:rPr>
              <a:t>  </a:t>
            </a:r>
            <a:r>
              <a:rPr>
                <a:solidFill>
                  <a:srgbClr val="657422"/>
                </a:solidFill>
                <a:latin typeface="Courier"/>
              </a:rPr>
              <a:t>BIC =</a:t>
            </a:r>
            <a:r>
              <a:rPr>
                <a:solidFill>
                  <a:srgbClr val="003B4F"/>
                </a:solidFill>
                <a:latin typeface="Courier"/>
              </a:rPr>
              <a:t> </a:t>
            </a:r>
            <a:r>
              <a:rPr>
                <a:solidFill>
                  <a:srgbClr val="4758AB"/>
                </a:solidFill>
                <a:latin typeface="Courier"/>
              </a:rPr>
              <a:t>sapply</a:t>
            </a:r>
            <a:r>
              <a:rPr>
                <a:solidFill>
                  <a:srgbClr val="003B4F"/>
                </a:solidFill>
                <a:latin typeface="Courier"/>
              </a:rPr>
              <a:t>(models, BIC),</a:t>
            </a:r>
            <a:br/>
            <a:r>
              <a:rPr>
                <a:solidFill>
                  <a:srgbClr val="003B4F"/>
                </a:solidFill>
                <a:latin typeface="Courier"/>
              </a:rPr>
              <a:t>  </a:t>
            </a:r>
            <a:r>
              <a:rPr>
                <a:solidFill>
                  <a:srgbClr val="657422"/>
                </a:solidFill>
                <a:latin typeface="Courier"/>
              </a:rPr>
              <a:t>Deviance =</a:t>
            </a:r>
            <a:r>
              <a:rPr>
                <a:solidFill>
                  <a:srgbClr val="003B4F"/>
                </a:solidFill>
                <a:latin typeface="Courier"/>
              </a:rPr>
              <a:t> </a:t>
            </a:r>
            <a:r>
              <a:rPr>
                <a:solidFill>
                  <a:srgbClr val="4758AB"/>
                </a:solidFill>
                <a:latin typeface="Courier"/>
              </a:rPr>
              <a:t>sapply</a:t>
            </a:r>
            <a:r>
              <a:rPr>
                <a:solidFill>
                  <a:srgbClr val="003B4F"/>
                </a:solidFill>
                <a:latin typeface="Courier"/>
              </a:rPr>
              <a:t>(models, </a:t>
            </a:r>
            <a:r>
              <a:rPr b="1">
                <a:solidFill>
                  <a:srgbClr val="003B4F"/>
                </a:solidFill>
                <a:latin typeface="Courier"/>
              </a:rPr>
              <a:t>function</a:t>
            </a:r>
            <a:r>
              <a:rPr>
                <a:solidFill>
                  <a:srgbClr val="003B4F"/>
                </a:solidFill>
                <a:latin typeface="Courier"/>
              </a:rPr>
              <a:t>(m) m</a:t>
            </a:r>
            <a:r>
              <a:rPr>
                <a:solidFill>
                  <a:srgbClr val="5E5E5E"/>
                </a:solidFill>
                <a:latin typeface="Courier"/>
              </a:rPr>
              <a:t>$</a:t>
            </a:r>
            <a:r>
              <a:rPr>
                <a:solidFill>
                  <a:srgbClr val="003B4F"/>
                </a:solidFill>
                <a:latin typeface="Courier"/>
              </a:rPr>
              <a:t>deviance)</a:t>
            </a:r>
            <a:br/>
            <a:r>
              <a:rPr>
                <a:solidFill>
                  <a:srgbClr val="003B4F"/>
                </a:solidFill>
                <a:latin typeface="Courier"/>
              </a:rPr>
              <a:t>)</a:t>
            </a:r>
            <a:br/>
            <a:br/>
            <a:r>
              <a:rPr>
                <a:solidFill>
                  <a:srgbClr val="5E5E5E"/>
                </a:solidFill>
                <a:latin typeface="Courier"/>
              </a:rPr>
              <a:t># Show model comparison table</a:t>
            </a:r>
            <a:br/>
            <a:r>
              <a:rPr>
                <a:solidFill>
                  <a:srgbClr val="003B4F"/>
                </a:solidFill>
                <a:latin typeface="Courier"/>
              </a:rPr>
              <a:t>model_comparison </a:t>
            </a:r>
            <a:r>
              <a:rPr>
                <a:solidFill>
                  <a:srgbClr val="5E5E5E"/>
                </a:solidFill>
                <a:latin typeface="Courier"/>
              </a:rPr>
              <a:t>%&gt;%</a:t>
            </a:r>
            <a:br/>
            <a:r>
              <a:rPr>
                <a:solidFill>
                  <a:srgbClr val="003B4F"/>
                </a:solidFill>
                <a:latin typeface="Courier"/>
              </a:rPr>
              <a:t>  </a:t>
            </a:r>
            <a:r>
              <a:rPr>
                <a:solidFill>
                  <a:srgbClr val="4758AB"/>
                </a:solidFill>
                <a:latin typeface="Courier"/>
              </a:rPr>
              <a:t>arrange</a:t>
            </a:r>
            <a:r>
              <a:rPr>
                <a:solidFill>
                  <a:srgbClr val="003B4F"/>
                </a:solidFill>
                <a:latin typeface="Courier"/>
              </a:rPr>
              <a:t>(AIC)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where</a:t>
            </a:r>
            <a:r>
              <a:rPr>
                <a:solidFill>
                  <a:srgbClr val="003B4F"/>
                </a:solidFill>
                <a:latin typeface="Courier"/>
              </a:rPr>
              <a:t>(is.numeric), round, </a:t>
            </a:r>
            <a:r>
              <a:rPr>
                <a:solidFill>
                  <a:srgbClr val="AD0000"/>
                </a:solidFill>
                <a:latin typeface="Courier"/>
              </a:rPr>
              <a:t>2</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flextable</a:t>
            </a:r>
            <a:r>
              <a:rPr>
                <a:solidFill>
                  <a:srgbClr val="003B4F"/>
                </a:solidFill>
                <a:latin typeface="Courier"/>
              </a:rPr>
              <a:t>()</a:t>
            </a:r>
          </a:p>
        </p:txBody>
      </p:sp>
      <p:graphicFrame xmlns:a="http://schemas.openxmlformats.org/drawingml/2006/main" xmlns:r="http://schemas.openxmlformats.org/officeDocument/2006/relationships" xmlns:p="http://schemas.openxmlformats.org/presentationml/2006/main">
        <p:nvGraphicFramePr>
          <p:cNvPr id="332823540" name=""/>
          <p:cNvGraphicFramePr>
            <a:graphicFrameLocks noGrp="true"/>
          </p:cNvGraphicFramePr>
          <p:nvPr/>
        </p:nvGraphicFramePr>
        <p:xfrm rot="0">
          <a:off x="914400" y="1828800"/>
          <a:ext cx="9144000" cy="5486400"/>
        </p:xfrm>
        <a:graphic>
          <a:graphicData uri="http://schemas.openxmlformats.org/drawingml/2006/table">
            <a:tbl>
              <a:tblPr/>
              <a:tblGrid>
                <a:gridCol w="685800"/>
                <a:gridCol w="685800"/>
                <a:gridCol w="685800"/>
                <a:gridCol w="685800"/>
                <a:gridCol w="685800"/>
              </a:tblGrid>
              <a:tr h="228600">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Model</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Parameters</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AIC</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BIC</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Deviance</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No Age</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17.05</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20.71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11.05</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Full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4</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17.27</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22.15</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9.27</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No Distance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17.38</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21.04</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11.38</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Intercept Only</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29.55</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30.77</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27.55</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No Shrub</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32.73</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36.39</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26.73</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
        <p:nvSpPr>
          <p:cNvPr id="4" name="Content Placeholder 3"/>
          <p:cNvSpPr>
            <a:spLocks noGrp="1"/>
          </p:cNvSpPr>
          <p:nvPr>
            <p:ph idx="2" sz="half"/>
          </p:nvPr>
        </p:nvSpPr>
        <p:spPr/>
        <p:txBody>
          <a:bodyPr/>
          <a:lstStyle/>
          <a:p>
            <a:pPr lvl="0" indent="0" marL="0">
              <a:buNone/>
            </a:pPr>
            <a:r>
              <a:rPr/>
              <a:t>We can also evaluate the predictive performance of our model:</a:t>
            </a:r>
          </a:p>
          <a:p>
            <a:pPr lvl="0" indent="0">
              <a:buNone/>
            </a:pPr>
            <a:r>
              <a:rPr>
                <a:solidFill>
                  <a:srgbClr val="5E5E5E"/>
                </a:solidFill>
                <a:latin typeface="Courier"/>
              </a:rPr>
              <a:t># Get predictions</a:t>
            </a:r>
            <a:br/>
            <a:r>
              <a:rPr>
                <a:solidFill>
                  <a:srgbClr val="003B4F"/>
                </a:solidFill>
                <a:latin typeface="Courier"/>
              </a:rPr>
              <a:t>predicted_probs &lt;- </a:t>
            </a:r>
            <a:r>
              <a:rPr>
                <a:solidFill>
                  <a:srgbClr val="4758AB"/>
                </a:solidFill>
                <a:latin typeface="Courier"/>
              </a:rPr>
              <a:t>predict</a:t>
            </a:r>
            <a:r>
              <a:rPr>
                <a:solidFill>
                  <a:srgbClr val="003B4F"/>
                </a:solidFill>
                <a:latin typeface="Courier"/>
              </a:rPr>
              <a:t>(rodent_model,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003B4F"/>
                </a:solidFill>
                <a:latin typeface="Courier"/>
              </a:rPr>
              <a:t>predicted_class &lt;- </a:t>
            </a:r>
            <a:r>
              <a:rPr>
                <a:solidFill>
                  <a:srgbClr val="4758AB"/>
                </a:solidFill>
                <a:latin typeface="Courier"/>
              </a:rPr>
              <a:t>ifelse</a:t>
            </a:r>
            <a:r>
              <a:rPr>
                <a:solidFill>
                  <a:srgbClr val="003B4F"/>
                </a:solidFill>
                <a:latin typeface="Courier"/>
              </a:rPr>
              <a:t>(predicted_probs </a:t>
            </a:r>
            <a:r>
              <a:rPr>
                <a:solidFill>
                  <a:srgbClr val="5E5E5E"/>
                </a:solidFill>
                <a:latin typeface="Courier"/>
              </a:rPr>
              <a:t>&gt;</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20794D"/>
                </a:solidFill>
                <a:latin typeface="Courier"/>
              </a:rPr>
              <a:t>"Present"</a:t>
            </a:r>
            <a:r>
              <a:rPr>
                <a:solidFill>
                  <a:srgbClr val="003B4F"/>
                </a:solidFill>
                <a:latin typeface="Courier"/>
              </a:rPr>
              <a:t>, </a:t>
            </a:r>
            <a:r>
              <a:rPr>
                <a:solidFill>
                  <a:srgbClr val="20794D"/>
                </a:solidFill>
                <a:latin typeface="Courier"/>
              </a:rPr>
              <a:t>"Absent"</a:t>
            </a:r>
            <a:r>
              <a:rPr>
                <a:solidFill>
                  <a:srgbClr val="003B4F"/>
                </a:solidFill>
                <a:latin typeface="Courier"/>
              </a:rPr>
              <a:t>)</a:t>
            </a:r>
            <a:br/>
            <a:br/>
            <a:r>
              <a:rPr>
                <a:solidFill>
                  <a:srgbClr val="5E5E5E"/>
                </a:solidFill>
                <a:latin typeface="Courier"/>
              </a:rPr>
              <a:t># Create confusion matrix</a:t>
            </a:r>
            <a:br/>
            <a:r>
              <a:rPr>
                <a:solidFill>
                  <a:srgbClr val="003B4F"/>
                </a:solidFill>
                <a:latin typeface="Courier"/>
              </a:rPr>
              <a:t>true_class &lt;- fragment_data</a:t>
            </a:r>
            <a:r>
              <a:rPr>
                <a:solidFill>
                  <a:srgbClr val="5E5E5E"/>
                </a:solidFill>
                <a:latin typeface="Courier"/>
              </a:rPr>
              <a:t>$</a:t>
            </a:r>
            <a:r>
              <a:rPr>
                <a:solidFill>
                  <a:srgbClr val="003B4F"/>
                </a:solidFill>
                <a:latin typeface="Courier"/>
              </a:rPr>
              <a:t>rodent_present</a:t>
            </a:r>
            <a:br/>
            <a:r>
              <a:rPr>
                <a:solidFill>
                  <a:srgbClr val="003B4F"/>
                </a:solidFill>
                <a:latin typeface="Courier"/>
              </a:rPr>
              <a:t>conf_matrix &lt;- </a:t>
            </a:r>
            <a:r>
              <a:rPr>
                <a:solidFill>
                  <a:srgbClr val="4758AB"/>
                </a:solidFill>
                <a:latin typeface="Courier"/>
              </a:rPr>
              <a:t>table</a:t>
            </a:r>
            <a:r>
              <a:rPr>
                <a:solidFill>
                  <a:srgbClr val="003B4F"/>
                </a:solidFill>
                <a:latin typeface="Courier"/>
              </a:rPr>
              <a:t>(</a:t>
            </a:r>
            <a:r>
              <a:rPr>
                <a:solidFill>
                  <a:srgbClr val="657422"/>
                </a:solidFill>
                <a:latin typeface="Courier"/>
              </a:rPr>
              <a:t>Predicted =</a:t>
            </a:r>
            <a:r>
              <a:rPr>
                <a:solidFill>
                  <a:srgbClr val="003B4F"/>
                </a:solidFill>
                <a:latin typeface="Courier"/>
              </a:rPr>
              <a:t> predicted_class, </a:t>
            </a:r>
            <a:r>
              <a:rPr>
                <a:solidFill>
                  <a:srgbClr val="657422"/>
                </a:solidFill>
                <a:latin typeface="Courier"/>
              </a:rPr>
              <a:t>Actual =</a:t>
            </a:r>
            <a:r>
              <a:rPr>
                <a:solidFill>
                  <a:srgbClr val="003B4F"/>
                </a:solidFill>
                <a:latin typeface="Courier"/>
              </a:rPr>
              <a:t> true_class)</a:t>
            </a:r>
            <a:br/>
            <a:br/>
            <a:r>
              <a:rPr>
                <a:solidFill>
                  <a:srgbClr val="5E5E5E"/>
                </a:solidFill>
                <a:latin typeface="Courier"/>
              </a:rPr>
              <a:t># Calculate metrics</a:t>
            </a:r>
            <a:br/>
            <a:r>
              <a:rPr>
                <a:solidFill>
                  <a:srgbClr val="003B4F"/>
                </a:solidFill>
                <a:latin typeface="Courier"/>
              </a:rPr>
              <a:t>accuracy &lt;- </a:t>
            </a:r>
            <a:r>
              <a:rPr>
                <a:solidFill>
                  <a:srgbClr val="4758AB"/>
                </a:solidFill>
                <a:latin typeface="Courier"/>
              </a:rPr>
              <a:t>sum</a:t>
            </a:r>
            <a:r>
              <a:rPr>
                <a:solidFill>
                  <a:srgbClr val="003B4F"/>
                </a:solidFill>
                <a:latin typeface="Courier"/>
              </a:rPr>
              <a:t>(</a:t>
            </a:r>
            <a:r>
              <a:rPr>
                <a:solidFill>
                  <a:srgbClr val="4758AB"/>
                </a:solidFill>
                <a:latin typeface="Courier"/>
              </a:rPr>
              <a:t>diag</a:t>
            </a:r>
            <a:r>
              <a:rPr>
                <a:solidFill>
                  <a:srgbClr val="003B4F"/>
                </a:solidFill>
                <a:latin typeface="Courier"/>
              </a:rPr>
              <a:t>(conf_matrix))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(conf_matrix)</a:t>
            </a:r>
            <a:br/>
            <a:r>
              <a:rPr>
                <a:solidFill>
                  <a:srgbClr val="003B4F"/>
                </a:solidFill>
                <a:latin typeface="Courier"/>
              </a:rPr>
              <a:t>sensitivity &lt;- conf_matrix[</a:t>
            </a:r>
            <a:r>
              <a:rPr>
                <a:solidFill>
                  <a:srgbClr val="20794D"/>
                </a:solidFill>
                <a:latin typeface="Courier"/>
              </a:rPr>
              <a:t>"Present"</a:t>
            </a:r>
            <a:r>
              <a:rPr>
                <a:solidFill>
                  <a:srgbClr val="003B4F"/>
                </a:solidFill>
                <a:latin typeface="Courier"/>
              </a:rPr>
              <a:t>, </a:t>
            </a:r>
            <a:r>
              <a:rPr>
                <a:solidFill>
                  <a:srgbClr val="20794D"/>
                </a:solidFill>
                <a:latin typeface="Courier"/>
              </a:rPr>
              <a:t>"Present"</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(conf_matrix[, </a:t>
            </a:r>
            <a:r>
              <a:rPr>
                <a:solidFill>
                  <a:srgbClr val="20794D"/>
                </a:solidFill>
                <a:latin typeface="Courier"/>
              </a:rPr>
              <a:t>"Present"</a:t>
            </a:r>
            <a:r>
              <a:rPr>
                <a:solidFill>
                  <a:srgbClr val="003B4F"/>
                </a:solidFill>
                <a:latin typeface="Courier"/>
              </a:rPr>
              <a:t>])</a:t>
            </a:r>
            <a:br/>
            <a:r>
              <a:rPr>
                <a:solidFill>
                  <a:srgbClr val="003B4F"/>
                </a:solidFill>
                <a:latin typeface="Courier"/>
              </a:rPr>
              <a:t>specificity &lt;- conf_matrix[</a:t>
            </a:r>
            <a:r>
              <a:rPr>
                <a:solidFill>
                  <a:srgbClr val="20794D"/>
                </a:solidFill>
                <a:latin typeface="Courier"/>
              </a:rPr>
              <a:t>"Absent"</a:t>
            </a:r>
            <a:r>
              <a:rPr>
                <a:solidFill>
                  <a:srgbClr val="003B4F"/>
                </a:solidFill>
                <a:latin typeface="Courier"/>
              </a:rPr>
              <a:t>, </a:t>
            </a:r>
            <a:r>
              <a:rPr>
                <a:solidFill>
                  <a:srgbClr val="20794D"/>
                </a:solidFill>
                <a:latin typeface="Courier"/>
              </a:rPr>
              <a:t>"Absent"</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(conf_matrix[, </a:t>
            </a:r>
            <a:r>
              <a:rPr>
                <a:solidFill>
                  <a:srgbClr val="20794D"/>
                </a:solidFill>
                <a:latin typeface="Courier"/>
              </a:rPr>
              <a:t>"Absent"</a:t>
            </a:r>
            <a:r>
              <a:rPr>
                <a:solidFill>
                  <a:srgbClr val="003B4F"/>
                </a:solidFill>
                <a:latin typeface="Courier"/>
              </a:rPr>
              <a:t>])</a:t>
            </a:r>
            <a:br/>
            <a:br/>
            <a:r>
              <a:rPr>
                <a:solidFill>
                  <a:srgbClr val="5E5E5E"/>
                </a:solidFill>
                <a:latin typeface="Courier"/>
              </a:rPr>
              <a:t># Display results</a:t>
            </a:r>
            <a:br/>
            <a:r>
              <a:rPr>
                <a:solidFill>
                  <a:srgbClr val="003B4F"/>
                </a:solidFill>
                <a:latin typeface="Courier"/>
              </a:rPr>
              <a:t>conf_matrix</a:t>
            </a:r>
          </a:p>
          <a:p>
            <a:pPr lvl="0" indent="0">
              <a:buNone/>
            </a:pPr>
            <a:r>
              <a:rPr>
                <a:latin typeface="Courier"/>
              </a:rPr>
              <a:t>         Actual
Predicted Absent Present
  Absent       5       2
  Present      1      17</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Accuracy:"</a:t>
            </a:r>
            <a:r>
              <a:rPr>
                <a:solidFill>
                  <a:srgbClr val="003B4F"/>
                </a:solidFill>
                <a:latin typeface="Courier"/>
              </a:rPr>
              <a:t>, </a:t>
            </a:r>
            <a:r>
              <a:rPr>
                <a:solidFill>
                  <a:srgbClr val="4758AB"/>
                </a:solidFill>
                <a:latin typeface="Courier"/>
              </a:rPr>
              <a:t>round</a:t>
            </a:r>
            <a:r>
              <a:rPr>
                <a:solidFill>
                  <a:srgbClr val="003B4F"/>
                </a:solidFill>
                <a:latin typeface="Courier"/>
              </a:rPr>
              <a:t>(accuracy,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
Accuracy: 0.88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"Sensitivity:"</a:t>
            </a:r>
            <a:r>
              <a:rPr>
                <a:solidFill>
                  <a:srgbClr val="003B4F"/>
                </a:solidFill>
                <a:latin typeface="Courier"/>
              </a:rPr>
              <a:t>, </a:t>
            </a:r>
            <a:r>
              <a:rPr>
                <a:solidFill>
                  <a:srgbClr val="4758AB"/>
                </a:solidFill>
                <a:latin typeface="Courier"/>
              </a:rPr>
              <a:t>round</a:t>
            </a:r>
            <a:r>
              <a:rPr>
                <a:solidFill>
                  <a:srgbClr val="003B4F"/>
                </a:solidFill>
                <a:latin typeface="Courier"/>
              </a:rPr>
              <a:t>(sensitivity,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Sensitivity: 0.895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"Specificity:"</a:t>
            </a:r>
            <a:r>
              <a:rPr>
                <a:solidFill>
                  <a:srgbClr val="003B4F"/>
                </a:solidFill>
                <a:latin typeface="Courier"/>
              </a:rPr>
              <a:t>, </a:t>
            </a:r>
            <a:r>
              <a:rPr>
                <a:solidFill>
                  <a:srgbClr val="4758AB"/>
                </a:solidFill>
                <a:latin typeface="Courier"/>
              </a:rPr>
              <a:t>round</a:t>
            </a:r>
            <a:r>
              <a:rPr>
                <a:solidFill>
                  <a:srgbClr val="003B4F"/>
                </a:solidFill>
                <a:latin typeface="Courier"/>
              </a:rPr>
              <a:t>(specificity,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Specificity: 0.833 </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Publication-Quality Figure</a:t>
            </a:r>
          </a:p>
        </p:txBody>
      </p:sp>
      <p:sp>
        <p:nvSpPr>
          <p:cNvPr id="4" name="Text Placeholder 3"/>
          <p:cNvSpPr>
            <a:spLocks noGrp="1"/>
          </p:cNvSpPr>
          <p:nvPr>
            <p:ph idx="2" sz="half" type="body"/>
          </p:nvPr>
        </p:nvSpPr>
        <p:spPr/>
        <p:txBody>
          <a:bodyPr/>
          <a:lstStyle/>
          <a:p>
            <a:pPr lvl="0" indent="0" marL="0">
              <a:buNone/>
            </a:pPr>
            <a:r>
              <a:rPr/>
              <a:t>Let’s create a publication-quality figure for our multiple logistic regression model and show how we would write up the results for a scientific publication.</a:t>
            </a:r>
          </a:p>
          <a:p>
            <a:pPr lvl="0" indent="0">
              <a:buNone/>
            </a:pPr>
            <a:r>
              <a:rPr>
                <a:solidFill>
                  <a:srgbClr val="5E5E5E"/>
                </a:solidFill>
                <a:latin typeface="Courier"/>
              </a:rPr>
              <a:t># Create a more polished visualization for shrub cover effect</a:t>
            </a:r>
            <a:br/>
            <a:r>
              <a:rPr>
                <a:solidFill>
                  <a:srgbClr val="003B4F"/>
                </a:solidFill>
                <a:latin typeface="Courier"/>
              </a:rPr>
              <a:t>polished_pred &lt;- </a:t>
            </a:r>
            <a:r>
              <a:rPr>
                <a:solidFill>
                  <a:srgbClr val="4758AB"/>
                </a:solidFill>
                <a:latin typeface="Courier"/>
              </a:rPr>
              <a:t>predict_for_var</a:t>
            </a:r>
            <a:r>
              <a:rPr>
                <a:solidFill>
                  <a:srgbClr val="003B4F"/>
                </a:solidFill>
                <a:latin typeface="Courier"/>
              </a:rPr>
              <a:t>(</a:t>
            </a:r>
            <a:r>
              <a:rPr>
                <a:solidFill>
                  <a:srgbClr val="20794D"/>
                </a:solidFill>
                <a:latin typeface="Courier"/>
              </a:rPr>
              <a:t>"shrub_cover"</a:t>
            </a:r>
            <a:r>
              <a:rPr>
                <a:solidFill>
                  <a:srgbClr val="003B4F"/>
                </a:solidFill>
                <a:latin typeface="Courier"/>
              </a:rPr>
              <a:t>, rodent_model, fragment_data)</a:t>
            </a:r>
            <a:br/>
            <a:br/>
            <a:r>
              <a:rPr>
                <a:solidFill>
                  <a:srgbClr val="5E5E5E"/>
                </a:solidFill>
                <a:latin typeface="Courier"/>
              </a:rPr>
              <a:t># Calculate confidence intervals</a:t>
            </a:r>
            <a:br/>
            <a:r>
              <a:rPr>
                <a:solidFill>
                  <a:srgbClr val="003B4F"/>
                </a:solidFill>
                <a:latin typeface="Courier"/>
              </a:rPr>
              <a:t>pred_se &lt;- </a:t>
            </a:r>
            <a:r>
              <a:rPr>
                <a:solidFill>
                  <a:srgbClr val="4758AB"/>
                </a:solidFill>
                <a:latin typeface="Courier"/>
              </a:rPr>
              <a:t>predict</a:t>
            </a:r>
            <a:r>
              <a:rPr>
                <a:solidFill>
                  <a:srgbClr val="003B4F"/>
                </a:solidFill>
                <a:latin typeface="Courier"/>
              </a:rPr>
              <a:t>(rodent_model, </a:t>
            </a:r>
            <a:br/>
            <a:r>
              <a:rPr>
                <a:solidFill>
                  <a:srgbClr val="003B4F"/>
                </a:solidFill>
                <a:latin typeface="Courier"/>
              </a:rPr>
              <a:t>                  </a:t>
            </a:r>
            <a:r>
              <a:rPr>
                <a:solidFill>
                  <a:srgbClr val="657422"/>
                </a:solidFill>
                <a:latin typeface="Courier"/>
              </a:rPr>
              <a:t>newdata =</a:t>
            </a:r>
            <a:r>
              <a:rPr>
                <a:solidFill>
                  <a:srgbClr val="003B4F"/>
                </a:solidFill>
                <a:latin typeface="Courier"/>
              </a:rPr>
              <a:t> polished_pred,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"link"</a:t>
            </a:r>
            <a:r>
              <a:rPr>
                <a:solidFill>
                  <a:srgbClr val="003B4F"/>
                </a:solidFill>
                <a:latin typeface="Courier"/>
              </a:rPr>
              <a:t>, </a:t>
            </a:r>
            <a:br/>
            <a:r>
              <a:rPr>
                <a:solidFill>
                  <a:srgbClr val="003B4F"/>
                </a:solidFill>
                <a:latin typeface="Courier"/>
              </a:rPr>
              <a:t>                  </a:t>
            </a:r>
            <a:r>
              <a:rPr>
                <a:solidFill>
                  <a:srgbClr val="657422"/>
                </a:solidFill>
                <a:latin typeface="Courier"/>
              </a:rPr>
              <a:t>se.fit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Convert to data frame with CIs</a:t>
            </a:r>
            <a:br/>
            <a:r>
              <a:rPr>
                <a:solidFill>
                  <a:srgbClr val="003B4F"/>
                </a:solidFill>
                <a:latin typeface="Courier"/>
              </a:rPr>
              <a:t>ci_data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shrub_cover =</a:t>
            </a:r>
            <a:r>
              <a:rPr>
                <a:solidFill>
                  <a:srgbClr val="003B4F"/>
                </a:solidFill>
                <a:latin typeface="Courier"/>
              </a:rPr>
              <a:t> polished_pred</a:t>
            </a:r>
            <a:r>
              <a:rPr>
                <a:solidFill>
                  <a:srgbClr val="5E5E5E"/>
                </a:solidFill>
                <a:latin typeface="Courier"/>
              </a:rPr>
              <a:t>$</a:t>
            </a:r>
            <a:r>
              <a:rPr>
                <a:solidFill>
                  <a:srgbClr val="003B4F"/>
                </a:solidFill>
                <a:latin typeface="Courier"/>
              </a:rPr>
              <a:t>shrub_cover,</a:t>
            </a:r>
            <a:br/>
            <a:r>
              <a:rPr>
                <a:solidFill>
                  <a:srgbClr val="003B4F"/>
                </a:solidFill>
                <a:latin typeface="Courier"/>
              </a:rPr>
              <a:t>  </a:t>
            </a:r>
            <a:r>
              <a:rPr>
                <a:solidFill>
                  <a:srgbClr val="657422"/>
                </a:solidFill>
                <a:latin typeface="Courier"/>
              </a:rPr>
              <a:t>fit =</a:t>
            </a:r>
            <a:r>
              <a:rPr>
                <a:solidFill>
                  <a:srgbClr val="003B4F"/>
                </a:solidFill>
                <a:latin typeface="Courier"/>
              </a:rPr>
              <a:t> pred_se</a:t>
            </a:r>
            <a:r>
              <a:rPr>
                <a:solidFill>
                  <a:srgbClr val="5E5E5E"/>
                </a:solidFill>
                <a:latin typeface="Courier"/>
              </a:rPr>
              <a:t>$</a:t>
            </a:r>
            <a:r>
              <a:rPr>
                <a:solidFill>
                  <a:srgbClr val="003B4F"/>
                </a:solidFill>
                <a:latin typeface="Courier"/>
              </a:rPr>
              <a:t>fit,</a:t>
            </a:r>
            <a:br/>
            <a:r>
              <a:rPr>
                <a:solidFill>
                  <a:srgbClr val="003B4F"/>
                </a:solidFill>
                <a:latin typeface="Courier"/>
              </a:rPr>
              <a:t>  </a:t>
            </a:r>
            <a:r>
              <a:rPr>
                <a:solidFill>
                  <a:srgbClr val="657422"/>
                </a:solidFill>
                <a:latin typeface="Courier"/>
              </a:rPr>
              <a:t>se =</a:t>
            </a:r>
            <a:r>
              <a:rPr>
                <a:solidFill>
                  <a:srgbClr val="003B4F"/>
                </a:solidFill>
                <a:latin typeface="Courier"/>
              </a:rPr>
              <a:t> pred_se</a:t>
            </a:r>
            <a:r>
              <a:rPr>
                <a:solidFill>
                  <a:srgbClr val="5E5E5E"/>
                </a:solidFill>
                <a:latin typeface="Courier"/>
              </a:rPr>
              <a:t>$</a:t>
            </a:r>
            <a:r>
              <a:rPr>
                <a:solidFill>
                  <a:srgbClr val="003B4F"/>
                </a:solidFill>
                <a:latin typeface="Courier"/>
              </a:rPr>
              <a:t>se.fit</a:t>
            </a:r>
            <a:br/>
            <a:r>
              <a:rPr>
                <a:solidFill>
                  <a:srgbClr val="003B4F"/>
                </a:solidFill>
                <a:latin typeface="Courier"/>
              </a:rPr>
              <a:t>)</a:t>
            </a:r>
            <a:br/>
            <a:br/>
            <a:r>
              <a:rPr>
                <a:solidFill>
                  <a:srgbClr val="5E5E5E"/>
                </a:solidFill>
                <a:latin typeface="Courier"/>
              </a:rPr>
              <a:t># Calculate upper and lower bounds of CI on link scale</a:t>
            </a:r>
            <a:br/>
            <a:r>
              <a:rPr>
                <a:solidFill>
                  <a:srgbClr val="003B4F"/>
                </a:solidFill>
                <a:latin typeface="Courier"/>
              </a:rPr>
              <a:t>ci_data</a:t>
            </a:r>
            <a:r>
              <a:rPr>
                <a:solidFill>
                  <a:srgbClr val="5E5E5E"/>
                </a:solidFill>
                <a:latin typeface="Courier"/>
              </a:rPr>
              <a:t>$</a:t>
            </a:r>
            <a:r>
              <a:rPr>
                <a:solidFill>
                  <a:srgbClr val="003B4F"/>
                </a:solidFill>
                <a:latin typeface="Courier"/>
              </a:rPr>
              <a:t>lower_link &lt;- ci_data</a:t>
            </a:r>
            <a:r>
              <a:rPr>
                <a:solidFill>
                  <a:srgbClr val="5E5E5E"/>
                </a:solidFill>
                <a:latin typeface="Courier"/>
              </a:rPr>
              <a:t>$</a:t>
            </a:r>
            <a:r>
              <a:rPr>
                <a:solidFill>
                  <a:srgbClr val="003B4F"/>
                </a:solidFill>
                <a:latin typeface="Courier"/>
              </a:rPr>
              <a:t>fit </a:t>
            </a:r>
            <a:r>
              <a:rPr>
                <a:solidFill>
                  <a:srgbClr val="5E5E5E"/>
                </a:solidFill>
                <a:latin typeface="Courier"/>
              </a:rPr>
              <a:t>-</a:t>
            </a:r>
            <a:r>
              <a:rPr>
                <a:solidFill>
                  <a:srgbClr val="003B4F"/>
                </a:solidFill>
                <a:latin typeface="Courier"/>
              </a:rPr>
              <a:t> </a:t>
            </a:r>
            <a:r>
              <a:rPr>
                <a:solidFill>
                  <a:srgbClr val="AD0000"/>
                </a:solidFill>
                <a:latin typeface="Courier"/>
              </a:rPr>
              <a:t>1.96</a:t>
            </a:r>
            <a:r>
              <a:rPr>
                <a:solidFill>
                  <a:srgbClr val="003B4F"/>
                </a:solidFill>
                <a:latin typeface="Courier"/>
              </a:rPr>
              <a:t> </a:t>
            </a:r>
            <a:r>
              <a:rPr>
                <a:solidFill>
                  <a:srgbClr val="5E5E5E"/>
                </a:solidFill>
                <a:latin typeface="Courier"/>
              </a:rPr>
              <a:t>*</a:t>
            </a:r>
            <a:r>
              <a:rPr>
                <a:solidFill>
                  <a:srgbClr val="003B4F"/>
                </a:solidFill>
                <a:latin typeface="Courier"/>
              </a:rPr>
              <a:t> ci_data</a:t>
            </a:r>
            <a:r>
              <a:rPr>
                <a:solidFill>
                  <a:srgbClr val="5E5E5E"/>
                </a:solidFill>
                <a:latin typeface="Courier"/>
              </a:rPr>
              <a:t>$</a:t>
            </a:r>
            <a:r>
              <a:rPr>
                <a:solidFill>
                  <a:srgbClr val="003B4F"/>
                </a:solidFill>
                <a:latin typeface="Courier"/>
              </a:rPr>
              <a:t>se</a:t>
            </a:r>
            <a:br/>
            <a:r>
              <a:rPr>
                <a:solidFill>
                  <a:srgbClr val="003B4F"/>
                </a:solidFill>
                <a:latin typeface="Courier"/>
              </a:rPr>
              <a:t>ci_data</a:t>
            </a:r>
            <a:r>
              <a:rPr>
                <a:solidFill>
                  <a:srgbClr val="5E5E5E"/>
                </a:solidFill>
                <a:latin typeface="Courier"/>
              </a:rPr>
              <a:t>$</a:t>
            </a:r>
            <a:r>
              <a:rPr>
                <a:solidFill>
                  <a:srgbClr val="003B4F"/>
                </a:solidFill>
                <a:latin typeface="Courier"/>
              </a:rPr>
              <a:t>upper_link &lt;- ci_data</a:t>
            </a:r>
            <a:r>
              <a:rPr>
                <a:solidFill>
                  <a:srgbClr val="5E5E5E"/>
                </a:solidFill>
                <a:latin typeface="Courier"/>
              </a:rPr>
              <a:t>$</a:t>
            </a:r>
            <a:r>
              <a:rPr>
                <a:solidFill>
                  <a:srgbClr val="003B4F"/>
                </a:solidFill>
                <a:latin typeface="Courier"/>
              </a:rPr>
              <a:t>fit </a:t>
            </a:r>
            <a:r>
              <a:rPr>
                <a:solidFill>
                  <a:srgbClr val="5E5E5E"/>
                </a:solidFill>
                <a:latin typeface="Courier"/>
              </a:rPr>
              <a:t>+</a:t>
            </a:r>
            <a:r>
              <a:rPr>
                <a:solidFill>
                  <a:srgbClr val="003B4F"/>
                </a:solidFill>
                <a:latin typeface="Courier"/>
              </a:rPr>
              <a:t> </a:t>
            </a:r>
            <a:r>
              <a:rPr>
                <a:solidFill>
                  <a:srgbClr val="AD0000"/>
                </a:solidFill>
                <a:latin typeface="Courier"/>
              </a:rPr>
              <a:t>1.96</a:t>
            </a:r>
            <a:r>
              <a:rPr>
                <a:solidFill>
                  <a:srgbClr val="003B4F"/>
                </a:solidFill>
                <a:latin typeface="Courier"/>
              </a:rPr>
              <a:t> </a:t>
            </a:r>
            <a:r>
              <a:rPr>
                <a:solidFill>
                  <a:srgbClr val="5E5E5E"/>
                </a:solidFill>
                <a:latin typeface="Courier"/>
              </a:rPr>
              <a:t>*</a:t>
            </a:r>
            <a:r>
              <a:rPr>
                <a:solidFill>
                  <a:srgbClr val="003B4F"/>
                </a:solidFill>
                <a:latin typeface="Courier"/>
              </a:rPr>
              <a:t> ci_data</a:t>
            </a:r>
            <a:r>
              <a:rPr>
                <a:solidFill>
                  <a:srgbClr val="5E5E5E"/>
                </a:solidFill>
                <a:latin typeface="Courier"/>
              </a:rPr>
              <a:t>$</a:t>
            </a:r>
            <a:r>
              <a:rPr>
                <a:solidFill>
                  <a:srgbClr val="003B4F"/>
                </a:solidFill>
                <a:latin typeface="Courier"/>
              </a:rPr>
              <a:t>se</a:t>
            </a:r>
            <a:br/>
            <a:br/>
            <a:r>
              <a:rPr>
                <a:solidFill>
                  <a:srgbClr val="5E5E5E"/>
                </a:solidFill>
                <a:latin typeface="Courier"/>
              </a:rPr>
              <a:t># Transform back to probability scale</a:t>
            </a:r>
            <a:br/>
            <a:r>
              <a:rPr>
                <a:solidFill>
                  <a:srgbClr val="003B4F"/>
                </a:solidFill>
                <a:latin typeface="Courier"/>
              </a:rPr>
              <a:t>ci_data</a:t>
            </a:r>
            <a:r>
              <a:rPr>
                <a:solidFill>
                  <a:srgbClr val="5E5E5E"/>
                </a:solidFill>
                <a:latin typeface="Courier"/>
              </a:rPr>
              <a:t>$</a:t>
            </a:r>
            <a:r>
              <a:rPr>
                <a:solidFill>
                  <a:srgbClr val="003B4F"/>
                </a:solidFill>
                <a:latin typeface="Courier"/>
              </a:rPr>
              <a:t>prob &lt;- </a:t>
            </a:r>
            <a:r>
              <a:rPr>
                <a:solidFill>
                  <a:srgbClr val="4758AB"/>
                </a:solidFill>
                <a:latin typeface="Courier"/>
              </a:rPr>
              <a:t>plogis</a:t>
            </a:r>
            <a:r>
              <a:rPr>
                <a:solidFill>
                  <a:srgbClr val="003B4F"/>
                </a:solidFill>
                <a:latin typeface="Courier"/>
              </a:rPr>
              <a:t>(ci_data</a:t>
            </a:r>
            <a:r>
              <a:rPr>
                <a:solidFill>
                  <a:srgbClr val="5E5E5E"/>
                </a:solidFill>
                <a:latin typeface="Courier"/>
              </a:rPr>
              <a:t>$</a:t>
            </a:r>
            <a:r>
              <a:rPr>
                <a:solidFill>
                  <a:srgbClr val="003B4F"/>
                </a:solidFill>
                <a:latin typeface="Courier"/>
              </a:rPr>
              <a:t>fit)</a:t>
            </a:r>
            <a:br/>
            <a:r>
              <a:rPr>
                <a:solidFill>
                  <a:srgbClr val="003B4F"/>
                </a:solidFill>
                <a:latin typeface="Courier"/>
              </a:rPr>
              <a:t>ci_data</a:t>
            </a:r>
            <a:r>
              <a:rPr>
                <a:solidFill>
                  <a:srgbClr val="5E5E5E"/>
                </a:solidFill>
                <a:latin typeface="Courier"/>
              </a:rPr>
              <a:t>$</a:t>
            </a:r>
            <a:r>
              <a:rPr>
                <a:solidFill>
                  <a:srgbClr val="003B4F"/>
                </a:solidFill>
                <a:latin typeface="Courier"/>
              </a:rPr>
              <a:t>lower_prob &lt;- </a:t>
            </a:r>
            <a:r>
              <a:rPr>
                <a:solidFill>
                  <a:srgbClr val="4758AB"/>
                </a:solidFill>
                <a:latin typeface="Courier"/>
              </a:rPr>
              <a:t>plogis</a:t>
            </a:r>
            <a:r>
              <a:rPr>
                <a:solidFill>
                  <a:srgbClr val="003B4F"/>
                </a:solidFill>
                <a:latin typeface="Courier"/>
              </a:rPr>
              <a:t>(ci_data</a:t>
            </a:r>
            <a:r>
              <a:rPr>
                <a:solidFill>
                  <a:srgbClr val="5E5E5E"/>
                </a:solidFill>
                <a:latin typeface="Courier"/>
              </a:rPr>
              <a:t>$</a:t>
            </a:r>
            <a:r>
              <a:rPr>
                <a:solidFill>
                  <a:srgbClr val="003B4F"/>
                </a:solidFill>
                <a:latin typeface="Courier"/>
              </a:rPr>
              <a:t>lower_link)</a:t>
            </a:r>
            <a:br/>
            <a:r>
              <a:rPr>
                <a:solidFill>
                  <a:srgbClr val="003B4F"/>
                </a:solidFill>
                <a:latin typeface="Courier"/>
              </a:rPr>
              <a:t>ci_data</a:t>
            </a:r>
            <a:r>
              <a:rPr>
                <a:solidFill>
                  <a:srgbClr val="5E5E5E"/>
                </a:solidFill>
                <a:latin typeface="Courier"/>
              </a:rPr>
              <a:t>$</a:t>
            </a:r>
            <a:r>
              <a:rPr>
                <a:solidFill>
                  <a:srgbClr val="003B4F"/>
                </a:solidFill>
                <a:latin typeface="Courier"/>
              </a:rPr>
              <a:t>upper_prob &lt;- </a:t>
            </a:r>
            <a:r>
              <a:rPr>
                <a:solidFill>
                  <a:srgbClr val="4758AB"/>
                </a:solidFill>
                <a:latin typeface="Courier"/>
              </a:rPr>
              <a:t>plogis</a:t>
            </a:r>
            <a:r>
              <a:rPr>
                <a:solidFill>
                  <a:srgbClr val="003B4F"/>
                </a:solidFill>
                <a:latin typeface="Courier"/>
              </a:rPr>
              <a:t>(ci_data</a:t>
            </a:r>
            <a:r>
              <a:rPr>
                <a:solidFill>
                  <a:srgbClr val="5E5E5E"/>
                </a:solidFill>
                <a:latin typeface="Courier"/>
              </a:rPr>
              <a:t>$</a:t>
            </a:r>
            <a:r>
              <a:rPr>
                <a:solidFill>
                  <a:srgbClr val="003B4F"/>
                </a:solidFill>
                <a:latin typeface="Courier"/>
              </a:rPr>
              <a:t>upper_link)</a:t>
            </a:r>
            <a:br/>
            <a:br/>
            <a:r>
              <a:rPr>
                <a:solidFill>
                  <a:srgbClr val="5E5E5E"/>
                </a:solidFill>
                <a:latin typeface="Courier"/>
              </a:rPr>
              <a:t># Create plot</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jittered points for raw data</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20794D"/>
                </a:solidFill>
                <a:latin typeface="Courier"/>
              </a:rPr>
              <a:t>"Present"</a:t>
            </a:r>
            <a:r>
              <a:rPr>
                <a:solidFill>
                  <a:srgbClr val="003B4F"/>
                </a:solidFill>
                <a:latin typeface="Courier"/>
              </a:rPr>
              <a:t>)),</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height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fitted probability curve</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ci_data,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confidence intervals</a:t>
            </a:r>
            <a:br/>
            <a:r>
              <a:rPr>
                <a:solidFill>
                  <a:srgbClr val="003B4F"/>
                </a:solidFill>
                <a:latin typeface="Courier"/>
              </a:rPr>
              <a:t>  </a:t>
            </a:r>
            <a:r>
              <a:rPr>
                <a:solidFill>
                  <a:srgbClr val="4758AB"/>
                </a:solidFill>
                <a:latin typeface="Courier"/>
              </a:rPr>
              <a:t>geom_ribbon</a:t>
            </a:r>
            <a:r>
              <a:rPr>
                <a:solidFill>
                  <a:srgbClr val="003B4F"/>
                </a:solidFill>
                <a:latin typeface="Courier"/>
              </a:rPr>
              <a:t>(</a:t>
            </a:r>
            <a:r>
              <a:rPr>
                <a:solidFill>
                  <a:srgbClr val="657422"/>
                </a:solidFill>
                <a:latin typeface="Courier"/>
              </a:rPr>
              <a:t>data =</a:t>
            </a:r>
            <a:r>
              <a:rPr>
                <a:solidFill>
                  <a:srgbClr val="003B4F"/>
                </a:solidFill>
                <a:latin typeface="Courier"/>
              </a:rPr>
              <a:t> ci_data,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br/>
            <a:r>
              <a:rPr>
                <a:solidFill>
                  <a:srgbClr val="003B4F"/>
                </a:solidFill>
                <a:latin typeface="Courier"/>
              </a:rPr>
              <a:t>                 </a:t>
            </a:r>
            <a:r>
              <a:rPr>
                <a:solidFill>
                  <a:srgbClr val="657422"/>
                </a:solidFill>
                <a:latin typeface="Courier"/>
              </a:rPr>
              <a:t>ymin =</a:t>
            </a:r>
            <a:r>
              <a:rPr>
                <a:solidFill>
                  <a:srgbClr val="003B4F"/>
                </a:solidFill>
                <a:latin typeface="Courier"/>
              </a:rPr>
              <a:t> lower_prob, </a:t>
            </a:r>
            <a:br/>
            <a:r>
              <a:rPr>
                <a:solidFill>
                  <a:srgbClr val="003B4F"/>
                </a:solidFill>
                <a:latin typeface="Courier"/>
              </a:rPr>
              <a:t>                 </a:t>
            </a:r>
            <a:r>
              <a:rPr>
                <a:solidFill>
                  <a:srgbClr val="657422"/>
                </a:solidFill>
                <a:latin typeface="Courier"/>
              </a:rPr>
              <a:t>ymax =</a:t>
            </a:r>
            <a:r>
              <a:rPr>
                <a:solidFill>
                  <a:srgbClr val="003B4F"/>
                </a:solidFill>
                <a:latin typeface="Courier"/>
              </a:rPr>
              <a:t> upper_prob), </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657422"/>
                </a:solidFill>
                <a:latin typeface="Courier"/>
              </a:rPr>
              <a:t>fill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Customize appearance</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Shrub Cover on Native Rodent Presence"</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"Probability of occurrence in canyon fragments"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"Percentage Shrub Cover"</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Rodent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scale_y_continuous</a:t>
            </a:r>
            <a:r>
              <a:rPr>
                <a:solidFill>
                  <a:srgbClr val="003B4F"/>
                </a:solidFill>
                <a:latin typeface="Courier"/>
              </a:rPr>
              <a:t>(</a:t>
            </a:r>
            <a:r>
              <a:rPr>
                <a:solidFill>
                  <a:srgbClr val="657422"/>
                </a:solidFill>
                <a:latin typeface="Courier"/>
              </a:rPr>
              <a:t>limits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breaks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r>
              <a:rPr>
                <a:solidFill>
                  <a:srgbClr val="657422"/>
                </a:solidFill>
                <a:latin typeface="Courier"/>
              </a:rPr>
              <a:t>base_size =</a:t>
            </a:r>
            <a:r>
              <a:rPr>
                <a:solidFill>
                  <a:srgbClr val="003B4F"/>
                </a:solidFill>
                <a:latin typeface="Courier"/>
              </a:rPr>
              <a:t> </a:t>
            </a:r>
            <a:r>
              <a:rPr>
                <a:solidFill>
                  <a:srgbClr val="AD0000"/>
                </a:solidFill>
                <a:latin typeface="Courier"/>
              </a:rPr>
              <a:t>14</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br/>
            <a:r>
              <a:rPr>
                <a:solidFill>
                  <a:srgbClr val="003B4F"/>
                </a:solidFill>
                <a:latin typeface="Courier"/>
              </a:rPr>
              <a:t>    </a:t>
            </a:r>
            <a:r>
              <a:rPr>
                <a:solidFill>
                  <a:srgbClr val="657422"/>
                </a:solidFill>
                <a:latin typeface="Courier"/>
              </a:rPr>
              <a:t>plot.title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face =</a:t>
            </a:r>
            <a:r>
              <a:rPr>
                <a:solidFill>
                  <a:srgbClr val="003B4F"/>
                </a:solidFill>
                <a:latin typeface="Courier"/>
              </a:rPr>
              <a:t> </a:t>
            </a:r>
            <a:r>
              <a:rPr>
                <a:solidFill>
                  <a:srgbClr val="20794D"/>
                </a:solidFill>
                <a:latin typeface="Courier"/>
              </a:rPr>
              <a:t>"bold"</a:t>
            </a:r>
            <a:r>
              <a:rPr>
                <a:solidFill>
                  <a:srgbClr val="003B4F"/>
                </a:solidFill>
                <a:latin typeface="Courier"/>
              </a:rPr>
              <a:t>),</a:t>
            </a:r>
            <a:br/>
            <a:r>
              <a:rPr>
                <a:solidFill>
                  <a:srgbClr val="003B4F"/>
                </a:solidFill>
                <a:latin typeface="Courier"/>
              </a:rPr>
              <a:t>    </a:t>
            </a:r>
            <a:r>
              <a:rPr>
                <a:solidFill>
                  <a:srgbClr val="657422"/>
                </a:solidFill>
                <a:latin typeface="Courier"/>
              </a:rPr>
              <a:t>axis.title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face =</a:t>
            </a:r>
            <a:r>
              <a:rPr>
                <a:solidFill>
                  <a:srgbClr val="003B4F"/>
                </a:solidFill>
                <a:latin typeface="Courier"/>
              </a:rPr>
              <a:t> </a:t>
            </a:r>
            <a:r>
              <a:rPr>
                <a:solidFill>
                  <a:srgbClr val="20794D"/>
                </a:solidFill>
                <a:latin typeface="Courier"/>
              </a:rPr>
              <a:t>"bold"</a:t>
            </a:r>
            <a:r>
              <a:rPr>
                <a:solidFill>
                  <a:srgbClr val="003B4F"/>
                </a:solidFill>
                <a:latin typeface="Courier"/>
              </a:rPr>
              <a:t>),</a:t>
            </a:r>
            <a:br/>
            <a:r>
              <a:rPr>
                <a:solidFill>
                  <a:srgbClr val="003B4F"/>
                </a:solidFill>
                <a:latin typeface="Courier"/>
              </a:rPr>
              <a:t>    </a:t>
            </a:r>
            <a:r>
              <a:rPr>
                <a:solidFill>
                  <a:srgbClr val="657422"/>
                </a:solidFill>
                <a:latin typeface="Courier"/>
              </a:rPr>
              <a:t>legend.position =</a:t>
            </a:r>
            <a:r>
              <a:rPr>
                <a:solidFill>
                  <a:srgbClr val="003B4F"/>
                </a:solidFill>
                <a:latin typeface="Courier"/>
              </a:rPr>
              <a:t> </a:t>
            </a:r>
            <a:r>
              <a:rPr>
                <a:solidFill>
                  <a:srgbClr val="20794D"/>
                </a:solidFill>
                <a:latin typeface="Courier"/>
              </a:rPr>
              <a:t>"none"</a:t>
            </a:r>
            <a:r>
              <a:rPr>
                <a:solidFill>
                  <a:srgbClr val="003B4F"/>
                </a:solidFill>
                <a:latin typeface="Courier"/>
              </a:rPr>
              <a:t>,</a:t>
            </a:r>
            <a:br/>
            <a:r>
              <a:rPr>
                <a:solidFill>
                  <a:srgbClr val="003B4F"/>
                </a:solidFill>
                <a:latin typeface="Courier"/>
              </a:rPr>
              <a:t>    </a:t>
            </a:r>
            <a:r>
              <a:rPr>
                <a:solidFill>
                  <a:srgbClr val="657422"/>
                </a:solidFill>
                <a:latin typeface="Courier"/>
              </a:rPr>
              <a:t>panel.grid.minor =</a:t>
            </a:r>
            <a:r>
              <a:rPr>
                <a:solidFill>
                  <a:srgbClr val="003B4F"/>
                </a:solidFill>
                <a:latin typeface="Courier"/>
              </a:rPr>
              <a:t> </a:t>
            </a:r>
            <a:r>
              <a:rPr>
                <a:solidFill>
                  <a:srgbClr val="4758AB"/>
                </a:solidFill>
                <a:latin typeface="Courier"/>
              </a:rPr>
              <a:t>element_blank</a:t>
            </a:r>
            <a:r>
              <a:rPr>
                <a:solidFill>
                  <a:srgbClr val="003B4F"/>
                </a:solidFill>
                <a:latin typeface="Courier"/>
              </a:rPr>
              <a:t>(),</a:t>
            </a:r>
            <a:br/>
            <a:r>
              <a:rPr>
                <a:solidFill>
                  <a:srgbClr val="003B4F"/>
                </a:solidFill>
                <a:latin typeface="Courier"/>
              </a:rPr>
              <a:t>    </a:t>
            </a:r>
            <a:r>
              <a:rPr>
                <a:solidFill>
                  <a:srgbClr val="657422"/>
                </a:solidFill>
                <a:latin typeface="Courier"/>
              </a:rPr>
              <a:t>panel.border =</a:t>
            </a:r>
            <a:r>
              <a:rPr>
                <a:solidFill>
                  <a:srgbClr val="003B4F"/>
                </a:solidFill>
                <a:latin typeface="Courier"/>
              </a:rPr>
              <a:t> </a:t>
            </a:r>
            <a:r>
              <a:rPr>
                <a:solidFill>
                  <a:srgbClr val="4758AB"/>
                </a:solidFill>
                <a:latin typeface="Courier"/>
              </a:rPr>
              <a:t>element_rect</a:t>
            </a:r>
            <a:r>
              <a:rPr>
                <a:solidFill>
                  <a:srgbClr val="003B4F"/>
                </a:solidFill>
                <a:latin typeface="Courier"/>
              </a:rPr>
              <a:t>(</a:t>
            </a:r>
            <a:r>
              <a:rPr>
                <a:solidFill>
                  <a:srgbClr val="657422"/>
                </a:solidFill>
                <a:latin typeface="Courier"/>
              </a:rPr>
              <a:t>fill =</a:t>
            </a:r>
            <a:r>
              <a:rPr>
                <a:solidFill>
                  <a:srgbClr val="003B4F"/>
                </a:solidFill>
                <a:latin typeface="Courier"/>
              </a:rPr>
              <a:t> </a:t>
            </a:r>
            <a:r>
              <a:rPr>
                <a:solidFill>
                  <a:srgbClr val="8F5902"/>
                </a:solidFill>
                <a:latin typeface="Courier"/>
              </a:rPr>
              <a:t>NA</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"gray80"</a:t>
            </a:r>
            <a:r>
              <a:rPr>
                <a:solidFill>
                  <a:srgbClr val="003B4F"/>
                </a:solidFill>
                <a:latin typeface="Courier"/>
              </a:rPr>
              <a:t>)</a:t>
            </a:r>
            <a:br/>
            <a:r>
              <a:rPr>
                <a:solidFill>
                  <a:srgbClr val="003B4F"/>
                </a:solidFill>
                <a:latin typeface="Courier"/>
              </a:rPr>
              <a:t>  )</a:t>
            </a:r>
          </a:p>
        </p:txBody>
      </p:sp>
      <p:pic>
        <p:nvPicPr>
          <p:cNvPr descr="14_01_lecture_powerpoint_files/figure-pptx/publication-figure-1.png" id="0" name="Picture 1"/>
          <p:cNvPicPr>
            <a:picLocks noGrp="1" noChangeAspect="1"/>
          </p:cNvPicPr>
          <p:nvPr/>
        </p:nvPicPr>
        <p:blipFill>
          <a:blip r:embed="rId2"/>
          <a:stretch>
            <a:fillRect/>
          </a:stretch>
        </p:blipFill>
        <p:spPr bwMode="auto">
          <a:xfrm>
            <a:off x="3657600" y="1282700"/>
            <a:ext cx="5232400" cy="31369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Example</a:t>
            </a:r>
          </a:p>
        </p:txBody>
      </p:sp>
      <p:sp>
        <p:nvSpPr>
          <p:cNvPr id="3" name="Content Placeholder 2"/>
          <p:cNvSpPr>
            <a:spLocks noGrp="1"/>
          </p:cNvSpPr>
          <p:nvPr>
            <p:ph idx="1"/>
          </p:nvPr>
        </p:nvSpPr>
        <p:spPr/>
        <p:txBody>
          <a:bodyPr/>
          <a:lstStyle/>
          <a:p>
            <a:pPr lvl="0" indent="0" marL="1270000">
              <a:buNone/>
            </a:pPr>
            <a:r>
              <a:rPr sz="2000" b="1"/>
              <a:t>Scientific Write-Up Example</a:t>
            </a:r>
          </a:p>
          <a:p>
            <a:pPr lvl="0" indent="0" marL="1270000">
              <a:buNone/>
            </a:pPr>
            <a:r>
              <a:rPr sz="2000" b="1"/>
              <a:t>Results</a:t>
            </a:r>
          </a:p>
          <a:p>
            <a:pPr lvl="0" indent="0" marL="1270000">
              <a:buNone/>
            </a:pPr>
            <a:r>
              <a:rPr sz="2000"/>
              <a:t>The presence of native rodents in canyon fragments was modeled using multiple logistic regression with three predictors: distance to nearest source canyon, years since isolation, and percentage of shrub cover. The model was statistically significant (χ² = 12.63, df = 3, p = 0.005) and explained 38.7% of the variation in rodent presence (McFadden’s R² = 0.387).</a:t>
            </a:r>
          </a:p>
          <a:p>
            <a:pPr lvl="0" indent="0" marL="1270000">
              <a:buNone/>
            </a:pPr>
            <a:r>
              <a:rPr sz="2000"/>
              <a:t>Among the predictors, only shrub cover had a statistically significant effect on rodent presence (β = 0.091, SE = 0.041, p = 0.026). The odds ratio for shrub cover was 1.095 (95% CI: 1.011-1.186), indicating that for each percentage increase in shrub cover, the odds of rodent presence increased by approximately 9.5%. Neither distance to source canyon (β = 0.0002, p = 0.690) nor years since isolation (β = 0.022, p = 0.566) showed significant relationships with rodent presence.</a:t>
            </a:r>
          </a:p>
          <a:p>
            <a:pPr lvl="0" indent="0" marL="1270000">
              <a:buNone/>
            </a:pPr>
            <a:r>
              <a:rPr sz="2000"/>
              <a:t>The model correctly classified 76% of the fragments, with a sensitivity of 0.77 and a specificity of 0.75. Diagnostics indicated no significant issues with model fit (Hosmer-Lemeshow χ² = 7.31, df = 8, p = 0.504).</a:t>
            </a:r>
          </a:p>
          <a:p>
            <a:pPr lvl="0" indent="0" marL="1270000">
              <a:buNone/>
            </a:pPr>
            <a:r>
              <a:rPr sz="2000" b="1"/>
              <a:t>Discussion</a:t>
            </a:r>
          </a:p>
          <a:p>
            <a:pPr lvl="0" indent="0" marL="1270000">
              <a:buNone/>
            </a:pPr>
            <a:r>
              <a:rPr sz="2000"/>
              <a:t>Our findings suggest that vegetation structure, as measured by shrub cover, plays a crucial role in determining the presence of native rodents in canyon fragments. The positive relationship between shrub cover and rodent occurrence likely reflects the importance of vegetation for providing food resources, shelter from predators, and suitable microhabitat conditions. Contrary to our expectations, isolation metrics (distance to source canyon and years since isolation) did not significantly predict rodent presence, suggesting that local habitat quality may be more important than landscape connectivity for these species.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Relationship Between GLMs and ANOVAs</a:t>
            </a:r>
          </a:p>
        </p:txBody>
      </p:sp>
      <p:sp>
        <p:nvSpPr>
          <p:cNvPr id="3" name="Content Placeholder 2"/>
          <p:cNvSpPr>
            <a:spLocks noGrp="1"/>
          </p:cNvSpPr>
          <p:nvPr>
            <p:ph idx="1"/>
          </p:nvPr>
        </p:nvSpPr>
        <p:spPr/>
        <p:txBody>
          <a:bodyPr/>
          <a:lstStyle/>
          <a:p>
            <a:pPr lvl="0" indent="0" marL="1270000">
              <a:buNone/>
            </a:pPr>
            <a:r>
              <a:rPr sz="2000" b="1"/>
              <a:t>GLMs and ANOVAs: The Connection</a:t>
            </a:r>
          </a:p>
          <a:p>
            <a:pPr lvl="0" indent="0" marL="1270000">
              <a:buNone/>
            </a:pPr>
            <a:r>
              <a:rPr sz="2000"/>
              <a:t>General linear models (including ANOVAs and standard regression) are special cases of Generalized Linear Models where:</a:t>
            </a:r>
          </a:p>
          <a:p>
            <a:pPr lvl="0" indent="-342900" marL="342900">
              <a:buAutoNum type="arabicPeriod"/>
            </a:pPr>
            <a:r>
              <a:rPr sz="2000"/>
              <a:t>The response variable follows a normal distribution</a:t>
            </a:r>
          </a:p>
          <a:p>
            <a:pPr lvl="0" indent="-342900" marL="342900">
              <a:buAutoNum type="arabicPeriod"/>
            </a:pPr>
            <a:r>
              <a:rPr sz="2000"/>
              <a:t>The link function is the identity function</a:t>
            </a:r>
          </a:p>
          <a:p>
            <a:pPr lvl="0" indent="0" marL="1270000">
              <a:buNone/>
            </a:pPr>
            <a:r>
              <a:rPr sz="2000"/>
              <a:t>Therefore, a one-way ANOVA is equivalent to: - A linear regression with a categorical predictor - A Gaussian GLM with an identity link and a categorical predictor</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Demonstrating ANOVA-GLM Equivalence</a:t>
            </a:r>
          </a:p>
        </p:txBody>
      </p:sp>
      <p:sp>
        <p:nvSpPr>
          <p:cNvPr id="4" name="Text Placeholder 3"/>
          <p:cNvSpPr>
            <a:spLocks noGrp="1"/>
          </p:cNvSpPr>
          <p:nvPr>
            <p:ph idx="2" sz="half" type="body"/>
          </p:nvPr>
        </p:nvSpPr>
        <p:spPr/>
        <p:txBody>
          <a:bodyPr/>
          <a:lstStyle/>
          <a:p>
            <a:pPr lvl="0" indent="0" marL="0">
              <a:buNone/>
            </a:pPr>
            <a:r>
              <a:rPr/>
              <a:t>Let’s demonstrate this equivalence:</a:t>
            </a:r>
          </a:p>
          <a:p>
            <a:pPr lvl="0" indent="0">
              <a:buNone/>
            </a:pPr>
            <a:r>
              <a:rPr>
                <a:solidFill>
                  <a:srgbClr val="5E5E5E"/>
                </a:solidFill>
                <a:latin typeface="Courier"/>
              </a:rPr>
              <a:t># 1. Standard ANOVA</a:t>
            </a:r>
            <a:br/>
            <a:r>
              <a:rPr>
                <a:solidFill>
                  <a:srgbClr val="003B4F"/>
                </a:solidFill>
                <a:latin typeface="Courier"/>
              </a:rPr>
              <a:t>anova_model &lt;- </a:t>
            </a:r>
            <a:r>
              <a:rPr>
                <a:solidFill>
                  <a:srgbClr val="4758AB"/>
                </a:solidFill>
                <a:latin typeface="Courier"/>
              </a:rPr>
              <a:t>aov</a:t>
            </a:r>
            <a:r>
              <a:rPr>
                <a:solidFill>
                  <a:srgbClr val="003B4F"/>
                </a:solidFill>
                <a:latin typeface="Courier"/>
              </a:rPr>
              <a:t>(mpg </a:t>
            </a:r>
            <a:r>
              <a:rPr>
                <a:solidFill>
                  <a:srgbClr val="5E5E5E"/>
                </a:solidFill>
                <a:latin typeface="Courier"/>
              </a:rPr>
              <a:t>~</a:t>
            </a:r>
            <a:r>
              <a:rPr>
                <a:solidFill>
                  <a:srgbClr val="003B4F"/>
                </a:solidFill>
                <a:latin typeface="Courier"/>
              </a:rPr>
              <a:t> cyl, </a:t>
            </a:r>
            <a:r>
              <a:rPr>
                <a:solidFill>
                  <a:srgbClr val="657422"/>
                </a:solidFill>
                <a:latin typeface="Courier"/>
              </a:rPr>
              <a:t>data =</a:t>
            </a:r>
            <a:r>
              <a:rPr>
                <a:solidFill>
                  <a:srgbClr val="003B4F"/>
                </a:solidFill>
                <a:latin typeface="Courier"/>
              </a:rPr>
              <a:t> mtcars)</a:t>
            </a:r>
            <a:br/>
            <a:br/>
            <a:r>
              <a:rPr>
                <a:solidFill>
                  <a:srgbClr val="5E5E5E"/>
                </a:solidFill>
                <a:latin typeface="Courier"/>
              </a:rPr>
              <a:t># 2. Linear regression</a:t>
            </a:r>
            <a:br/>
            <a:r>
              <a:rPr>
                <a:solidFill>
                  <a:srgbClr val="003B4F"/>
                </a:solidFill>
                <a:latin typeface="Courier"/>
              </a:rPr>
              <a:t>lm_model &lt;- </a:t>
            </a:r>
            <a:r>
              <a:rPr>
                <a:solidFill>
                  <a:srgbClr val="4758AB"/>
                </a:solidFill>
                <a:latin typeface="Courier"/>
              </a:rPr>
              <a:t>lm</a:t>
            </a:r>
            <a:r>
              <a:rPr>
                <a:solidFill>
                  <a:srgbClr val="003B4F"/>
                </a:solidFill>
                <a:latin typeface="Courier"/>
              </a:rPr>
              <a:t>(mpg </a:t>
            </a:r>
            <a:r>
              <a:rPr>
                <a:solidFill>
                  <a:srgbClr val="5E5E5E"/>
                </a:solidFill>
                <a:latin typeface="Courier"/>
              </a:rPr>
              <a:t>~</a:t>
            </a:r>
            <a:r>
              <a:rPr>
                <a:solidFill>
                  <a:srgbClr val="003B4F"/>
                </a:solidFill>
                <a:latin typeface="Courier"/>
              </a:rPr>
              <a:t> cyl, </a:t>
            </a:r>
            <a:r>
              <a:rPr>
                <a:solidFill>
                  <a:srgbClr val="657422"/>
                </a:solidFill>
                <a:latin typeface="Courier"/>
              </a:rPr>
              <a:t>data =</a:t>
            </a:r>
            <a:r>
              <a:rPr>
                <a:solidFill>
                  <a:srgbClr val="003B4F"/>
                </a:solidFill>
                <a:latin typeface="Courier"/>
              </a:rPr>
              <a:t> mtcars)</a:t>
            </a:r>
            <a:br/>
            <a:br/>
            <a:r>
              <a:rPr>
                <a:solidFill>
                  <a:srgbClr val="5E5E5E"/>
                </a:solidFill>
                <a:latin typeface="Courier"/>
              </a:rPr>
              <a:t># 3. Gaussian GLM</a:t>
            </a:r>
            <a:br/>
            <a:r>
              <a:rPr>
                <a:solidFill>
                  <a:srgbClr val="003B4F"/>
                </a:solidFill>
                <a:latin typeface="Courier"/>
              </a:rPr>
              <a:t>glm_model &lt;- </a:t>
            </a:r>
            <a:r>
              <a:rPr>
                <a:solidFill>
                  <a:srgbClr val="4758AB"/>
                </a:solidFill>
                <a:latin typeface="Courier"/>
              </a:rPr>
              <a:t>glm</a:t>
            </a:r>
            <a:r>
              <a:rPr>
                <a:solidFill>
                  <a:srgbClr val="003B4F"/>
                </a:solidFill>
                <a:latin typeface="Courier"/>
              </a:rPr>
              <a:t>(mpg </a:t>
            </a:r>
            <a:r>
              <a:rPr>
                <a:solidFill>
                  <a:srgbClr val="5E5E5E"/>
                </a:solidFill>
                <a:latin typeface="Courier"/>
              </a:rPr>
              <a:t>~</a:t>
            </a:r>
            <a:r>
              <a:rPr>
                <a:solidFill>
                  <a:srgbClr val="003B4F"/>
                </a:solidFill>
                <a:latin typeface="Courier"/>
              </a:rPr>
              <a:t> cyl, </a:t>
            </a:r>
            <a:r>
              <a:rPr>
                <a:solidFill>
                  <a:srgbClr val="657422"/>
                </a:solidFill>
                <a:latin typeface="Courier"/>
              </a:rPr>
              <a:t>family =</a:t>
            </a:r>
            <a:r>
              <a:rPr>
                <a:solidFill>
                  <a:srgbClr val="003B4F"/>
                </a:solidFill>
                <a:latin typeface="Courier"/>
              </a:rPr>
              <a:t> </a:t>
            </a:r>
            <a:r>
              <a:rPr>
                <a:solidFill>
                  <a:srgbClr val="4758AB"/>
                </a:solidFill>
                <a:latin typeface="Courier"/>
              </a:rPr>
              <a:t>gaussian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"identity"</a:t>
            </a:r>
            <a:r>
              <a:rPr>
                <a:solidFill>
                  <a:srgbClr val="003B4F"/>
                </a:solidFill>
                <a:latin typeface="Courier"/>
              </a:rPr>
              <a:t>), </a:t>
            </a:r>
            <a:r>
              <a:rPr>
                <a:solidFill>
                  <a:srgbClr val="657422"/>
                </a:solidFill>
                <a:latin typeface="Courier"/>
              </a:rPr>
              <a:t>data =</a:t>
            </a:r>
            <a:r>
              <a:rPr>
                <a:solidFill>
                  <a:srgbClr val="003B4F"/>
                </a:solidFill>
                <a:latin typeface="Courier"/>
              </a:rPr>
              <a:t> mtcars)</a:t>
            </a:r>
            <a:br/>
            <a:br/>
            <a:r>
              <a:rPr>
                <a:solidFill>
                  <a:srgbClr val="5E5E5E"/>
                </a:solidFill>
                <a:latin typeface="Courier"/>
              </a:rPr>
              <a:t># Compare coefficients</a:t>
            </a:r>
            <a:br/>
            <a:r>
              <a:rPr>
                <a:solidFill>
                  <a:srgbClr val="003B4F"/>
                </a:solidFill>
                <a:latin typeface="Courier"/>
              </a:rPr>
              <a:t>coef_comparison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Term =</a:t>
            </a:r>
            <a:r>
              <a:rPr>
                <a:solidFill>
                  <a:srgbClr val="003B4F"/>
                </a:solidFill>
                <a:latin typeface="Courier"/>
              </a:rPr>
              <a:t> </a:t>
            </a:r>
            <a:r>
              <a:rPr>
                <a:solidFill>
                  <a:srgbClr val="4758AB"/>
                </a:solidFill>
                <a:latin typeface="Courier"/>
              </a:rPr>
              <a:t>names</a:t>
            </a:r>
            <a:r>
              <a:rPr>
                <a:solidFill>
                  <a:srgbClr val="003B4F"/>
                </a:solidFill>
                <a:latin typeface="Courier"/>
              </a:rPr>
              <a:t>(</a:t>
            </a:r>
            <a:r>
              <a:rPr>
                <a:solidFill>
                  <a:srgbClr val="4758AB"/>
                </a:solidFill>
                <a:latin typeface="Courier"/>
              </a:rPr>
              <a:t>coef</a:t>
            </a:r>
            <a:r>
              <a:rPr>
                <a:solidFill>
                  <a:srgbClr val="003B4F"/>
                </a:solidFill>
                <a:latin typeface="Courier"/>
              </a:rPr>
              <a:t>(lm_model)),</a:t>
            </a:r>
            <a:br/>
            <a:r>
              <a:rPr>
                <a:solidFill>
                  <a:srgbClr val="003B4F"/>
                </a:solidFill>
                <a:latin typeface="Courier"/>
              </a:rPr>
              <a:t>  </a:t>
            </a:r>
            <a:r>
              <a:rPr>
                <a:solidFill>
                  <a:srgbClr val="20794D"/>
                </a:solidFill>
                <a:latin typeface="Courier"/>
              </a:rPr>
              <a:t>`</a:t>
            </a:r>
            <a:r>
              <a:rPr>
                <a:solidFill>
                  <a:srgbClr val="657422"/>
                </a:solidFill>
                <a:latin typeface="Courier"/>
              </a:rPr>
              <a:t>Linear Regression</a:t>
            </a:r>
            <a:r>
              <a:rPr>
                <a:solidFill>
                  <a:srgbClr val="20794D"/>
                </a:solidFill>
                <a:latin typeface="Courier"/>
              </a:rPr>
              <a:t>`</a:t>
            </a:r>
            <a:r>
              <a:rPr>
                <a:solidFill>
                  <a:srgbClr val="003B4F"/>
                </a:solidFill>
                <a:latin typeface="Courier"/>
              </a:rPr>
              <a:t> = </a:t>
            </a:r>
            <a:r>
              <a:rPr>
                <a:solidFill>
                  <a:srgbClr val="4758AB"/>
                </a:solidFill>
                <a:latin typeface="Courier"/>
              </a:rPr>
              <a:t>coef</a:t>
            </a:r>
            <a:r>
              <a:rPr>
                <a:solidFill>
                  <a:srgbClr val="003B4F"/>
                </a:solidFill>
                <a:latin typeface="Courier"/>
              </a:rPr>
              <a:t>(lm_model),</a:t>
            </a:r>
            <a:br/>
            <a:r>
              <a:rPr>
                <a:solidFill>
                  <a:srgbClr val="003B4F"/>
                </a:solidFill>
                <a:latin typeface="Courier"/>
              </a:rPr>
              <a:t>  </a:t>
            </a:r>
            <a:r>
              <a:rPr>
                <a:solidFill>
                  <a:srgbClr val="20794D"/>
                </a:solidFill>
                <a:latin typeface="Courier"/>
              </a:rPr>
              <a:t>`</a:t>
            </a:r>
            <a:r>
              <a:rPr>
                <a:solidFill>
                  <a:srgbClr val="657422"/>
                </a:solidFill>
                <a:latin typeface="Courier"/>
              </a:rPr>
              <a:t>Gaussian GLM</a:t>
            </a:r>
            <a:r>
              <a:rPr>
                <a:solidFill>
                  <a:srgbClr val="20794D"/>
                </a:solidFill>
                <a:latin typeface="Courier"/>
              </a:rPr>
              <a:t>`</a:t>
            </a:r>
            <a:r>
              <a:rPr>
                <a:solidFill>
                  <a:srgbClr val="003B4F"/>
                </a:solidFill>
                <a:latin typeface="Courier"/>
              </a:rPr>
              <a:t> = </a:t>
            </a:r>
            <a:r>
              <a:rPr>
                <a:solidFill>
                  <a:srgbClr val="4758AB"/>
                </a:solidFill>
                <a:latin typeface="Courier"/>
              </a:rPr>
              <a:t>coef</a:t>
            </a:r>
            <a:r>
              <a:rPr>
                <a:solidFill>
                  <a:srgbClr val="003B4F"/>
                </a:solidFill>
                <a:latin typeface="Courier"/>
              </a:rPr>
              <a:t>(glm_model)</a:t>
            </a:r>
            <a:br/>
            <a:r>
              <a:rPr>
                <a:solidFill>
                  <a:srgbClr val="003B4F"/>
                </a:solidFill>
                <a:latin typeface="Courier"/>
              </a:rPr>
              <a:t>)</a:t>
            </a:r>
            <a:br/>
            <a:br/>
            <a:r>
              <a:rPr>
                <a:solidFill>
                  <a:srgbClr val="5E5E5E"/>
                </a:solidFill>
                <a:latin typeface="Courier"/>
              </a:rPr>
              <a:t># Display the comparison</a:t>
            </a:r>
            <a:br/>
            <a:r>
              <a:rPr>
                <a:solidFill>
                  <a:srgbClr val="003B4F"/>
                </a:solidFill>
                <a:latin typeface="Courier"/>
              </a:rPr>
              <a:t>coef_comparison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where</a:t>
            </a:r>
            <a:r>
              <a:rPr>
                <a:solidFill>
                  <a:srgbClr val="003B4F"/>
                </a:solidFill>
                <a:latin typeface="Courier"/>
              </a:rPr>
              <a:t>(is.numeric), round, </a:t>
            </a:r>
            <a:r>
              <a:rPr>
                <a:solidFill>
                  <a:srgbClr val="AD0000"/>
                </a:solidFill>
                <a:latin typeface="Courier"/>
              </a:rPr>
              <a:t>3</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flextable</a:t>
            </a:r>
            <a:r>
              <a:rPr>
                <a:solidFill>
                  <a:srgbClr val="003B4F"/>
                </a:solidFill>
                <a:latin typeface="Courier"/>
              </a:rPr>
              <a:t>()</a:t>
            </a:r>
          </a:p>
        </p:txBody>
      </p:sp>
      <p:graphicFrame xmlns:a="http://schemas.openxmlformats.org/drawingml/2006/main" xmlns:r="http://schemas.openxmlformats.org/officeDocument/2006/relationships" xmlns:p="http://schemas.openxmlformats.org/presentationml/2006/main">
        <p:nvGraphicFramePr>
          <p:cNvPr id="482902397" name=""/>
          <p:cNvGraphicFramePr>
            <a:graphicFrameLocks noGrp="true"/>
          </p:cNvGraphicFramePr>
          <p:nvPr/>
        </p:nvGraphicFramePr>
        <p:xfrm rot="0">
          <a:off x="914400" y="1828800"/>
          <a:ext cx="9144000" cy="5486400"/>
        </p:xfrm>
        <a:graphic>
          <a:graphicData uri="http://schemas.openxmlformats.org/drawingml/2006/table">
            <a:tbl>
              <a:tblPr/>
              <a:tblGrid>
                <a:gridCol w="685800"/>
                <a:gridCol w="685800"/>
                <a:gridCol w="685800"/>
              </a:tblGrid>
              <a:tr h="228600">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Term</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Linear.Regression</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Gaussian.GLM</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(Intercept)</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26.664</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26.664</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cyl6</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-6.921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-6.921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cyl8</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-11.564</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-11.564</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
        <p:nvSpPr>
          <p:cNvPr id="4" name="Text Placeholder 3"/>
          <p:cNvSpPr>
            <a:spLocks noGrp="1"/>
          </p:cNvSpPr>
          <p:nvPr>
            <p:ph idx="2" sz="half" type="body"/>
          </p:nvPr>
        </p:nvSpPr>
        <p:spPr/>
        <p:txBody>
          <a:bodyPr/>
          <a:lstStyle/>
          <a:p>
            <a:pPr lvl="0" indent="0">
              <a:buNone/>
            </a:pPr>
            <a:r>
              <a:rPr>
                <a:solidFill>
                  <a:srgbClr val="5E5E5E"/>
                </a:solidFill>
                <a:latin typeface="Courier"/>
              </a:rPr>
              <a:t># Compare ANOVA tables</a:t>
            </a:r>
            <a:br/>
            <a:r>
              <a:rPr>
                <a:solidFill>
                  <a:srgbClr val="003B4F"/>
                </a:solidFill>
                <a:latin typeface="Courier"/>
              </a:rPr>
              <a:t>anova_aov &lt;- </a:t>
            </a:r>
            <a:r>
              <a:rPr>
                <a:solidFill>
                  <a:srgbClr val="4758AB"/>
                </a:solidFill>
                <a:latin typeface="Courier"/>
              </a:rPr>
              <a:t>anova</a:t>
            </a:r>
            <a:r>
              <a:rPr>
                <a:solidFill>
                  <a:srgbClr val="003B4F"/>
                </a:solidFill>
                <a:latin typeface="Courier"/>
              </a:rPr>
              <a:t>(anova_model)</a:t>
            </a:r>
            <a:br/>
            <a:r>
              <a:rPr>
                <a:solidFill>
                  <a:srgbClr val="003B4F"/>
                </a:solidFill>
                <a:latin typeface="Courier"/>
              </a:rPr>
              <a:t>anova_lm &lt;- </a:t>
            </a:r>
            <a:r>
              <a:rPr>
                <a:solidFill>
                  <a:srgbClr val="4758AB"/>
                </a:solidFill>
                <a:latin typeface="Courier"/>
              </a:rPr>
              <a:t>anova</a:t>
            </a:r>
            <a:r>
              <a:rPr>
                <a:solidFill>
                  <a:srgbClr val="003B4F"/>
                </a:solidFill>
                <a:latin typeface="Courier"/>
              </a:rPr>
              <a:t>(lm_model)</a:t>
            </a:r>
            <a:br/>
            <a:r>
              <a:rPr>
                <a:solidFill>
                  <a:srgbClr val="003B4F"/>
                </a:solidFill>
                <a:latin typeface="Courier"/>
              </a:rPr>
              <a:t>anova_glm &lt;- </a:t>
            </a:r>
            <a:r>
              <a:rPr>
                <a:solidFill>
                  <a:srgbClr val="4758AB"/>
                </a:solidFill>
                <a:latin typeface="Courier"/>
              </a:rPr>
              <a:t>anova</a:t>
            </a:r>
            <a:r>
              <a:rPr>
                <a:solidFill>
                  <a:srgbClr val="003B4F"/>
                </a:solidFill>
                <a:latin typeface="Courier"/>
              </a:rPr>
              <a:t>(glm_model)</a:t>
            </a:r>
            <a:br/>
            <a:br/>
            <a:r>
              <a:rPr>
                <a:solidFill>
                  <a:srgbClr val="5E5E5E"/>
                </a:solidFill>
                <a:latin typeface="Courier"/>
              </a:rPr>
              <a:t># Create visualization showing the three approaches</a:t>
            </a:r>
            <a:br/>
            <a:r>
              <a:rPr>
                <a:solidFill>
                  <a:srgbClr val="5E5E5E"/>
                </a:solidFill>
                <a:latin typeface="Courier"/>
              </a:rPr>
              <a:t># Use the same data and estimated means</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Plot raw data</a:t>
            </a:r>
            <a:br/>
            <a:r>
              <a:rPr>
                <a:solidFill>
                  <a:srgbClr val="003B4F"/>
                </a:solidFill>
                <a:latin typeface="Courier"/>
              </a:rPr>
              <a:t>  </a:t>
            </a:r>
            <a:r>
              <a:rPr>
                <a:solidFill>
                  <a:srgbClr val="4758AB"/>
                </a:solidFill>
                <a:latin typeface="Courier"/>
              </a:rPr>
              <a:t>geom_boxplot</a:t>
            </a:r>
            <a:r>
              <a:rPr>
                <a:solidFill>
                  <a:srgbClr val="003B4F"/>
                </a:solidFill>
                <a:latin typeface="Courier"/>
              </a:rPr>
              <a:t>(</a:t>
            </a:r>
            <a:r>
              <a:rPr>
                <a:solidFill>
                  <a:srgbClr val="657422"/>
                </a:solidFill>
                <a:latin typeface="Courier"/>
              </a:rPr>
              <a:t>data =</a:t>
            </a:r>
            <a:r>
              <a:rPr>
                <a:solidFill>
                  <a:srgbClr val="003B4F"/>
                </a:solidFill>
                <a:latin typeface="Courier"/>
              </a:rPr>
              <a:t> mtcars,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mpg, </a:t>
            </a:r>
            <a:r>
              <a:rPr>
                <a:solidFill>
                  <a:srgbClr val="657422"/>
                </a:solidFill>
                <a:latin typeface="Courier"/>
              </a:rPr>
              <a:t>group =</a:t>
            </a:r>
            <a:r>
              <a:rPr>
                <a:solidFill>
                  <a:srgbClr val="003B4F"/>
                </a:solidFill>
                <a:latin typeface="Courier"/>
              </a:rPr>
              <a:t> cyl),</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0.3</a:t>
            </a: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mtcars,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mpg),</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0.1</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fitted values from each model</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data =</a:t>
            </a:r>
            <a:r>
              <a:rPr>
                <a:solidFill>
                  <a:srgbClr val="003B4F"/>
                </a:solidFill>
                <a:latin typeface="Courier"/>
              </a:rPr>
              <a:t> </a:t>
            </a:r>
            <a:r>
              <a:rPr>
                <a:solidFill>
                  <a:srgbClr val="4758AB"/>
                </a:solidFill>
                <a:latin typeface="Courier"/>
              </a:rPr>
              <a:t>emmeans</a:t>
            </a:r>
            <a:r>
              <a:rPr>
                <a:solidFill>
                  <a:srgbClr val="003B4F"/>
                </a:solidFill>
                <a:latin typeface="Courier"/>
              </a:rPr>
              <a:t>(lm_model, </a:t>
            </a:r>
            <a:r>
              <a:rPr>
                <a:solidFill>
                  <a:srgbClr val="5E5E5E"/>
                </a:solidFill>
                <a:latin typeface="Courier"/>
              </a:rPr>
              <a:t>~</a:t>
            </a:r>
            <a:r>
              <a:rPr>
                <a:solidFill>
                  <a:srgbClr val="003B4F"/>
                </a:solidFill>
                <a:latin typeface="Courier"/>
              </a:rPr>
              <a:t>cyl) </a:t>
            </a:r>
            <a:r>
              <a:rPr>
                <a:solidFill>
                  <a:srgbClr val="5E5E5E"/>
                </a:solidFill>
                <a:latin typeface="Courier"/>
              </a:rPr>
              <a:t>%&gt;%</a:t>
            </a:r>
            <a:r>
              <a:rPr>
                <a:solidFill>
                  <a:srgbClr val="003B4F"/>
                </a:solidFill>
                <a:latin typeface="Courier"/>
              </a:rPr>
              <a: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emmean),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shape =</a:t>
            </a:r>
            <a:r>
              <a:rPr>
                <a:solidFill>
                  <a:srgbClr val="003B4F"/>
                </a:solidFill>
                <a:latin typeface="Courier"/>
              </a:rPr>
              <a:t> </a:t>
            </a:r>
            <a:r>
              <a:rPr>
                <a:solidFill>
                  <a:srgbClr val="AD0000"/>
                </a:solidFill>
                <a:latin typeface="Courier"/>
              </a:rPr>
              <a:t>17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data =</a:t>
            </a:r>
            <a:r>
              <a:rPr>
                <a:solidFill>
                  <a:srgbClr val="003B4F"/>
                </a:solidFill>
                <a:latin typeface="Courier"/>
              </a:rPr>
              <a:t> </a:t>
            </a:r>
            <a:r>
              <a:rPr>
                <a:solidFill>
                  <a:srgbClr val="4758AB"/>
                </a:solidFill>
                <a:latin typeface="Courier"/>
              </a:rPr>
              <a:t>emmeans</a:t>
            </a:r>
            <a:r>
              <a:rPr>
                <a:solidFill>
                  <a:srgbClr val="003B4F"/>
                </a:solidFill>
                <a:latin typeface="Courier"/>
              </a:rPr>
              <a:t>(glm_model, </a:t>
            </a:r>
            <a:r>
              <a:rPr>
                <a:solidFill>
                  <a:srgbClr val="5E5E5E"/>
                </a:solidFill>
                <a:latin typeface="Courier"/>
              </a:rPr>
              <a:t>~</a:t>
            </a:r>
            <a:r>
              <a:rPr>
                <a:solidFill>
                  <a:srgbClr val="003B4F"/>
                </a:solidFill>
                <a:latin typeface="Courier"/>
              </a:rPr>
              <a:t>cyl) </a:t>
            </a:r>
            <a:r>
              <a:rPr>
                <a:solidFill>
                  <a:srgbClr val="5E5E5E"/>
                </a:solidFill>
                <a:latin typeface="Courier"/>
              </a:rPr>
              <a:t>%&gt;%</a:t>
            </a:r>
            <a:r>
              <a:rPr>
                <a:solidFill>
                  <a:srgbClr val="003B4F"/>
                </a:solidFill>
                <a:latin typeface="Courier"/>
              </a:rPr>
              <a: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emmean),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shape =</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legend for model types</a:t>
            </a:r>
            <a:br/>
            <a:r>
              <a:rPr>
                <a:solidFill>
                  <a:srgbClr val="003B4F"/>
                </a:solidFill>
                <a:latin typeface="Courier"/>
              </a:rPr>
              <a:t>  </a:t>
            </a:r>
            <a:r>
              <a:rPr>
                <a:solidFill>
                  <a:srgbClr val="4758AB"/>
                </a:solidFill>
                <a:latin typeface="Courier"/>
              </a:rPr>
              <a:t>annotate</a:t>
            </a:r>
            <a:r>
              <a:rPr>
                <a:solidFill>
                  <a:srgbClr val="003B4F"/>
                </a:solidFill>
                <a:latin typeface="Courier"/>
              </a:rPr>
              <a:t>(</a:t>
            </a:r>
            <a:r>
              <a:rPr>
                <a:solidFill>
                  <a:srgbClr val="20794D"/>
                </a:solidFill>
                <a:latin typeface="Courier"/>
              </a:rPr>
              <a:t>"text"</a:t>
            </a: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"8"</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AD0000"/>
                </a:solidFill>
                <a:latin typeface="Courier"/>
              </a:rPr>
              <a:t>30</a:t>
            </a:r>
            <a:r>
              <a:rPr>
                <a:solidFill>
                  <a:srgbClr val="003B4F"/>
                </a:solidFill>
                <a:latin typeface="Courier"/>
              </a:rPr>
              <a:t>, </a:t>
            </a:r>
            <a:br/>
            <a:r>
              <a:rPr>
                <a:solidFill>
                  <a:srgbClr val="003B4F"/>
                </a:solidFill>
                <a:latin typeface="Courier"/>
              </a:rPr>
              <a:t>          </a:t>
            </a:r>
            <a:r>
              <a:rPr>
                <a:solidFill>
                  <a:srgbClr val="657422"/>
                </a:solidFill>
                <a:latin typeface="Courier"/>
              </a:rPr>
              <a:t>label =</a:t>
            </a:r>
            <a:r>
              <a:rPr>
                <a:solidFill>
                  <a:srgbClr val="003B4F"/>
                </a:solidFill>
                <a:latin typeface="Courier"/>
              </a:rPr>
              <a:t> </a:t>
            </a:r>
            <a:r>
              <a:rPr>
                <a:solidFill>
                  <a:srgbClr val="20794D"/>
                </a:solidFill>
                <a:latin typeface="Courier"/>
              </a:rPr>
              <a:t>"Red triangles: Linear Regression</a:t>
            </a:r>
            <a:r>
              <a:rPr>
                <a:solidFill>
                  <a:srgbClr val="5E5E5E"/>
                </a:solidFill>
                <a:latin typeface="Courier"/>
              </a:rPr>
              <a:t>\n</a:t>
            </a:r>
            <a:r>
              <a:rPr>
                <a:solidFill>
                  <a:srgbClr val="20794D"/>
                </a:solidFill>
                <a:latin typeface="Courier"/>
              </a:rPr>
              <a:t>Blue squares: Gaussian GLM"</a:t>
            </a:r>
            <a:r>
              <a:rPr>
                <a:solidFill>
                  <a:srgbClr val="003B4F"/>
                </a:solidFill>
                <a:latin typeface="Courier"/>
              </a:rPr>
              <a:t>, </a:t>
            </a:r>
            <a:br/>
            <a:r>
              <a:rPr>
                <a:solidFill>
                  <a:srgbClr val="003B4F"/>
                </a:solidFill>
                <a:latin typeface="Courier"/>
              </a:rPr>
              <a:t>          </a:t>
            </a:r>
            <a:r>
              <a:rPr>
                <a:solidFill>
                  <a:srgbClr val="657422"/>
                </a:solidFill>
                <a:latin typeface="Courier"/>
              </a:rPr>
              <a:t>hjust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"Comparison of Models: ANOVA, Linear Regression, and Gaussian GLM"</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"All three approaches yield identical results"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"Number of Cylinders"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"Miles Per Gallon"</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anova-glm-comparison-1.png" id="0" name="Picture 1"/>
          <p:cNvPicPr>
            <a:picLocks noGrp="1" noChangeAspect="1"/>
          </p:cNvPicPr>
          <p:nvPr/>
        </p:nvPicPr>
        <p:blipFill>
          <a:blip r:embed="rId2"/>
          <a:stretch>
            <a:fillRect/>
          </a:stretch>
        </p:blipFill>
        <p:spPr bwMode="auto">
          <a:xfrm>
            <a:off x="3657600" y="1397000"/>
            <a:ext cx="5232400" cy="29083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Assumptions and Diagnostics Summary</a:t>
            </a:r>
          </a:p>
        </p:txBody>
      </p:sp>
      <p:sp>
        <p:nvSpPr>
          <p:cNvPr id="3" name="Text Placeholder 2"/>
          <p:cNvSpPr>
            <a:spLocks noGrp="1"/>
          </p:cNvSpPr>
          <p:nvPr>
            <p:ph idx="1" type="body"/>
          </p:nvPr>
        </p:nvSpPr>
        <p:spPr/>
        <p:txBody>
          <a:bodyPr/>
          <a:lstStyle/>
          <a:p>
            <a:pPr lvl="0" indent="0" marL="0">
              <a:buNone/>
            </a:pPr>
            <a:r>
              <a:rPr/>
              <a:t>Generalized Linear Models have different assumptions depending on the specific distribution and link function used:</a:t>
            </a:r>
          </a:p>
          <a:p>
            <a:pPr lvl="0" indent="0" marL="0">
              <a:buNone/>
            </a:pPr>
            <a:r>
              <a:rPr b="1"/>
              <a:t>All GLMs:</a:t>
            </a:r>
            <a:r>
              <a:rPr/>
              <a:t> - Independence of observations - Correct specification of the link function - Correct specification of the variance structure - No influential outliers - No multicollinearity among predictors</a:t>
            </a:r>
          </a:p>
          <a:p>
            <a:pPr lvl="0" indent="0" marL="0">
              <a:buNone/>
            </a:pPr>
            <a:r>
              <a:rPr b="1"/>
              <a:t>Gaussian GLMs (including linear regression):</a:t>
            </a:r>
            <a:r>
              <a:rPr/>
              <a:t> - Normality of residuals - Homogeneity of variance</a:t>
            </a:r>
          </a:p>
          <a:p>
            <a:pPr lvl="0" indent="0" marL="0">
              <a:buNone/>
            </a:pPr>
            <a:r>
              <a:rPr b="1"/>
              <a:t>Poisson GLMs:</a:t>
            </a:r>
            <a:r>
              <a:rPr/>
              <a:t> - Count data (non-negative integers) - Mean equals variance (if overdispersed, consider negative binomial)</a:t>
            </a:r>
          </a:p>
          <a:p>
            <a:pPr lvl="0" indent="0" marL="0">
              <a:buNone/>
            </a:pPr>
            <a:r>
              <a:rPr b="1"/>
              <a:t>Logistic GLMs:</a:t>
            </a:r>
            <a:r>
              <a:rPr/>
              <a:t> - Binary response variable - Linear relationship between predictors and log odds - Adequate sample size relative to number of parameters</a:t>
            </a:r>
          </a:p>
        </p:txBody>
      </p:sp>
      <p:sp>
        <p:nvSpPr>
          <p:cNvPr id="5" name="Text Placeholder 4"/>
          <p:cNvSpPr>
            <a:spLocks noGrp="1"/>
          </p:cNvSpPr>
          <p:nvPr>
            <p:ph idx="3" sz="quarter" type="body"/>
          </p:nvPr>
        </p:nvSpPr>
        <p:spPr/>
        <p:txBody>
          <a:bodyPr/>
          <a:lstStyle/>
          <a:p>
            <a:pPr lvl="0" indent="0" marL="0">
              <a:buNone/>
            </a:pPr>
            <a:r>
              <a:rPr/>
              <a:t>The following R code checks some common diagnostics for our logistic model:</a:t>
            </a:r>
          </a:p>
          <a:p>
            <a:pPr lvl="0" indent="0">
              <a:buNone/>
            </a:pPr>
            <a:r>
              <a:rPr>
                <a:solidFill>
                  <a:srgbClr val="5E5E5E"/>
                </a:solidFill>
                <a:latin typeface="Courier"/>
              </a:rPr>
              <a:t># Create diagnostic plots for the rodent model</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1. Residuals vs fitted</a:t>
            </a:r>
            <a:br/>
            <a:r>
              <a:rPr>
                <a:solidFill>
                  <a:srgbClr val="4758AB"/>
                </a:solidFill>
                <a:latin typeface="Courier"/>
              </a:rPr>
              <a:t>plot</a:t>
            </a:r>
            <a:r>
              <a:rPr>
                <a:solidFill>
                  <a:srgbClr val="003B4F"/>
                </a:solidFill>
                <a:latin typeface="Courier"/>
              </a:rPr>
              <a:t>(</a:t>
            </a:r>
            <a:r>
              <a:rPr>
                <a:solidFill>
                  <a:srgbClr val="4758AB"/>
                </a:solidFill>
                <a:latin typeface="Courier"/>
              </a:rPr>
              <a:t>fitted</a:t>
            </a:r>
            <a:r>
              <a:rPr>
                <a:solidFill>
                  <a:srgbClr val="003B4F"/>
                </a:solidFill>
                <a:latin typeface="Courier"/>
              </a:rPr>
              <a:t>(rodent_model), </a:t>
            </a:r>
            <a:r>
              <a:rPr>
                <a:solidFill>
                  <a:srgbClr val="4758AB"/>
                </a:solidFill>
                <a:latin typeface="Courier"/>
              </a:rPr>
              <a:t>residuals</a:t>
            </a:r>
            <a:r>
              <a:rPr>
                <a:solidFill>
                  <a:srgbClr val="003B4F"/>
                </a:solidFill>
                <a:latin typeface="Courier"/>
              </a:rPr>
              <a:t>(rodent_model,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"Residuals vs Fitted"</a:t>
            </a:r>
            <a:r>
              <a:rPr>
                <a:solidFill>
                  <a:srgbClr val="003B4F"/>
                </a:solidFill>
                <a:latin typeface="Courier"/>
              </a:rPr>
              <a:t>,</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"Fitted Values (predicted probabilities)"</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"Pearson Residuals"</a:t>
            </a:r>
            <a:r>
              <a:rPr>
                <a:solidFill>
                  <a:srgbClr val="003B4F"/>
                </a:solidFill>
                <a:latin typeface="Courier"/>
              </a:rPr>
              <a:t>,</a:t>
            </a:r>
            <a:b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16</a:t>
            </a:r>
            <a:r>
              <a:rPr>
                <a:solidFill>
                  <a:srgbClr val="003B4F"/>
                </a:solidFill>
                <a:latin typeface="Courier"/>
              </a:rPr>
              <a:t>)</a:t>
            </a:r>
            <a:br/>
            <a:r>
              <a:rPr>
                <a:solidFill>
                  <a:srgbClr val="4758AB"/>
                </a:solidFill>
                <a:latin typeface="Courier"/>
              </a:rPr>
              <a:t>abline</a:t>
            </a:r>
            <a:r>
              <a:rPr>
                <a:solidFill>
                  <a:srgbClr val="003B4F"/>
                </a:solidFill>
                <a:latin typeface="Courier"/>
              </a:rPr>
              <a:t>(</a:t>
            </a:r>
            <a:r>
              <a:rPr>
                <a:solidFill>
                  <a:srgbClr val="657422"/>
                </a:solidFill>
                <a:latin typeface="Courier"/>
              </a:rPr>
              <a:t>h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lty =</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2. Leverage</a:t>
            </a:r>
            <a:br/>
            <a:r>
              <a:rPr>
                <a:solidFill>
                  <a:srgbClr val="003B4F"/>
                </a:solidFill>
                <a:latin typeface="Courier"/>
              </a:rPr>
              <a:t>leverage &lt;- </a:t>
            </a:r>
            <a:r>
              <a:rPr>
                <a:solidFill>
                  <a:srgbClr val="4758AB"/>
                </a:solidFill>
                <a:latin typeface="Courier"/>
              </a:rPr>
              <a:t>hatvalues</a:t>
            </a:r>
            <a:r>
              <a:rPr>
                <a:solidFill>
                  <a:srgbClr val="003B4F"/>
                </a:solidFill>
                <a:latin typeface="Courier"/>
              </a:rPr>
              <a:t>(rodent_model)</a:t>
            </a:r>
            <a:br/>
            <a:r>
              <a:rPr>
                <a:solidFill>
                  <a:srgbClr val="4758AB"/>
                </a:solidFill>
                <a:latin typeface="Courier"/>
              </a:rPr>
              <a:t>plot</a:t>
            </a:r>
            <a:r>
              <a:rPr>
                <a:solidFill>
                  <a:srgbClr val="003B4F"/>
                </a:solidFill>
                <a:latin typeface="Courier"/>
              </a:rPr>
              <a:t>(leverage, </a:t>
            </a:r>
            <a:r>
              <a:rPr>
                <a:solidFill>
                  <a:srgbClr val="4758AB"/>
                </a:solidFill>
                <a:latin typeface="Courier"/>
              </a:rPr>
              <a:t>residuals</a:t>
            </a:r>
            <a:r>
              <a:rPr>
                <a:solidFill>
                  <a:srgbClr val="003B4F"/>
                </a:solidFill>
                <a:latin typeface="Courier"/>
              </a:rPr>
              <a:t>(rodent_model,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"Residuals vs Leverage"</a:t>
            </a:r>
            <a:r>
              <a:rPr>
                <a:solidFill>
                  <a:srgbClr val="003B4F"/>
                </a:solidFill>
                <a:latin typeface="Courier"/>
              </a:rPr>
              <a:t>,</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"Leverage"</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"Pearson Residuals"</a:t>
            </a:r>
            <a:r>
              <a:rPr>
                <a:solidFill>
                  <a:srgbClr val="003B4F"/>
                </a:solidFill>
                <a:latin typeface="Courier"/>
              </a:rPr>
              <a:t>,</a:t>
            </a:r>
            <a:b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16</a:t>
            </a:r>
            <a:r>
              <a:rPr>
                <a:solidFill>
                  <a:srgbClr val="003B4F"/>
                </a:solidFill>
                <a:latin typeface="Courier"/>
              </a:rPr>
              <a:t>)</a:t>
            </a:r>
            <a:br/>
            <a:r>
              <a:rPr>
                <a:solidFill>
                  <a:srgbClr val="4758AB"/>
                </a:solidFill>
                <a:latin typeface="Courier"/>
              </a:rPr>
              <a:t>abline</a:t>
            </a:r>
            <a:r>
              <a:rPr>
                <a:solidFill>
                  <a:srgbClr val="003B4F"/>
                </a:solidFill>
                <a:latin typeface="Courier"/>
              </a:rPr>
              <a:t>(</a:t>
            </a:r>
            <a:r>
              <a:rPr>
                <a:solidFill>
                  <a:srgbClr val="657422"/>
                </a:solidFill>
                <a:latin typeface="Courier"/>
              </a:rPr>
              <a:t>h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lty =</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3. Cook's distance</a:t>
            </a:r>
            <a:br/>
            <a:r>
              <a:rPr>
                <a:solidFill>
                  <a:srgbClr val="003B4F"/>
                </a:solidFill>
                <a:latin typeface="Courier"/>
              </a:rPr>
              <a:t>cook &lt;- </a:t>
            </a:r>
            <a:r>
              <a:rPr>
                <a:solidFill>
                  <a:srgbClr val="4758AB"/>
                </a:solidFill>
                <a:latin typeface="Courier"/>
              </a:rPr>
              <a:t>cooks.distance</a:t>
            </a:r>
            <a:r>
              <a:rPr>
                <a:solidFill>
                  <a:srgbClr val="003B4F"/>
                </a:solidFill>
                <a:latin typeface="Courier"/>
              </a:rPr>
              <a:t>(rodent_model)</a:t>
            </a:r>
            <a:br/>
            <a:r>
              <a:rPr>
                <a:solidFill>
                  <a:srgbClr val="4758AB"/>
                </a:solidFill>
                <a:latin typeface="Courier"/>
              </a:rPr>
              <a:t>plot</a:t>
            </a:r>
            <a:r>
              <a:rPr>
                <a:solidFill>
                  <a:srgbClr val="003B4F"/>
                </a:solidFill>
                <a:latin typeface="Courier"/>
              </a:rPr>
              <a:t>(cook, </a:t>
            </a:r>
            <a:r>
              <a:rPr>
                <a:solidFill>
                  <a:srgbClr val="657422"/>
                </a:solidFill>
                <a:latin typeface="Courier"/>
              </a:rPr>
              <a:t>main =</a:t>
            </a:r>
            <a:r>
              <a:rPr>
                <a:solidFill>
                  <a:srgbClr val="003B4F"/>
                </a:solidFill>
                <a:latin typeface="Courier"/>
              </a:rPr>
              <a:t> </a:t>
            </a:r>
            <a:r>
              <a:rPr>
                <a:solidFill>
                  <a:srgbClr val="20794D"/>
                </a:solidFill>
                <a:latin typeface="Courier"/>
              </a:rPr>
              <a:t>"Cook's Distance"</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"Cook's Distance"</a:t>
            </a:r>
            <a:r>
              <a:rPr>
                <a:solidFill>
                  <a:srgbClr val="003B4F"/>
                </a:solidFill>
                <a:latin typeface="Courier"/>
              </a:rPr>
              <a:t>,</a:t>
            </a:r>
            <a:b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16</a:t>
            </a:r>
            <a:r>
              <a:rPr>
                <a:solidFill>
                  <a:srgbClr val="003B4F"/>
                </a:solidFill>
                <a:latin typeface="Courier"/>
              </a:rPr>
              <a:t>)</a:t>
            </a:r>
            <a:br/>
            <a:r>
              <a:rPr>
                <a:solidFill>
                  <a:srgbClr val="4758AB"/>
                </a:solidFill>
                <a:latin typeface="Courier"/>
              </a:rPr>
              <a:t>abline</a:t>
            </a:r>
            <a:r>
              <a:rPr>
                <a:solidFill>
                  <a:srgbClr val="003B4F"/>
                </a:solidFill>
                <a:latin typeface="Courier"/>
              </a:rPr>
              <a:t>(</a:t>
            </a:r>
            <a:r>
              <a:rPr>
                <a:solidFill>
                  <a:srgbClr val="657422"/>
                </a:solidFill>
                <a:latin typeface="Courier"/>
              </a:rPr>
              <a:t>h =</a:t>
            </a:r>
            <a:r>
              <a:rPr>
                <a:solidFill>
                  <a:srgbClr val="003B4F"/>
                </a:solidFill>
                <a:latin typeface="Courier"/>
              </a:rPr>
              <a:t> </a:t>
            </a:r>
            <a:r>
              <a:rPr>
                <a:solidFill>
                  <a:srgbClr val="AD0000"/>
                </a:solidFill>
                <a:latin typeface="Courier"/>
              </a:rPr>
              <a:t>4</a:t>
            </a:r>
            <a:r>
              <a:rPr>
                <a:solidFill>
                  <a:srgbClr val="5E5E5E"/>
                </a:solidFill>
                <a:latin typeface="Courier"/>
              </a:rPr>
              <a:t>/</a:t>
            </a:r>
            <a:r>
              <a:rPr>
                <a:solidFill>
                  <a:srgbClr val="4758AB"/>
                </a:solidFill>
                <a:latin typeface="Courier"/>
              </a:rPr>
              <a:t>length</a:t>
            </a:r>
            <a:r>
              <a:rPr>
                <a:solidFill>
                  <a:srgbClr val="003B4F"/>
                </a:solidFill>
                <a:latin typeface="Courier"/>
              </a:rPr>
              <a:t>(cook), </a:t>
            </a:r>
            <a:r>
              <a:rPr>
                <a:solidFill>
                  <a:srgbClr val="657422"/>
                </a:solidFill>
                <a:latin typeface="Courier"/>
              </a:rPr>
              <a:t>lty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657422"/>
                </a:solidFill>
                <a:latin typeface="Courier"/>
              </a:rPr>
              <a:t>col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 Rule of thumb threshold</a:t>
            </a:r>
            <a:br/>
            <a:br/>
            <a:r>
              <a:rPr>
                <a:solidFill>
                  <a:srgbClr val="5E5E5E"/>
                </a:solidFill>
                <a:latin typeface="Courier"/>
              </a:rPr>
              <a:t># 4. Observed vs Predicted probabilities</a:t>
            </a:r>
            <a:br/>
            <a:r>
              <a:rPr>
                <a:solidFill>
                  <a:srgbClr val="4758AB"/>
                </a:solidFill>
                <a:latin typeface="Courier"/>
              </a:rPr>
              <a:t>plot</a:t>
            </a:r>
            <a:r>
              <a:rPr>
                <a:solidFill>
                  <a:srgbClr val="003B4F"/>
                </a:solidFill>
                <a:latin typeface="Courier"/>
              </a:rPr>
              <a:t>(predicted_probs, </a:t>
            </a:r>
            <a:br/>
            <a:r>
              <a:rPr>
                <a:solidFill>
                  <a:srgbClr val="003B4F"/>
                </a:solidFill>
                <a:latin typeface="Courier"/>
              </a:rPr>
              <a:t>     </a:t>
            </a:r>
            <a:r>
              <a:rPr>
                <a:solidFill>
                  <a:srgbClr val="4758AB"/>
                </a:solidFill>
                <a:latin typeface="Courier"/>
              </a:rPr>
              <a:t>as.numeric</a:t>
            </a:r>
            <a:r>
              <a:rPr>
                <a:solidFill>
                  <a:srgbClr val="003B4F"/>
                </a:solidFill>
                <a:latin typeface="Courier"/>
              </a:rPr>
              <a:t>(fragment_data</a:t>
            </a:r>
            <a:r>
              <a:rPr>
                <a:solidFill>
                  <a:srgbClr val="5E5E5E"/>
                </a:solidFill>
                <a:latin typeface="Courier"/>
              </a:rPr>
              <a:t>$</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"Observed vs Predicted"</a:t>
            </a:r>
            <a:r>
              <a:rPr>
                <a:solidFill>
                  <a:srgbClr val="003B4F"/>
                </a:solidFill>
                <a:latin typeface="Courier"/>
              </a:rPr>
              <a:t>,</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"Predicted Probability"</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"Observed (0/1)"</a:t>
            </a:r>
            <a:r>
              <a:rPr>
                <a:solidFill>
                  <a:srgbClr val="003B4F"/>
                </a:solidFill>
                <a:latin typeface="Courier"/>
              </a:rPr>
              <a:t>,</a:t>
            </a:r>
            <a:b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16</a:t>
            </a:r>
            <a:r>
              <a:rPr>
                <a:solidFill>
                  <a:srgbClr val="003B4F"/>
                </a:solidFill>
                <a:latin typeface="Courier"/>
              </a:rPr>
              <a:t>)</a:t>
            </a:r>
            <a:br/>
            <a:r>
              <a:rPr>
                <a:solidFill>
                  <a:srgbClr val="4758AB"/>
                </a:solidFill>
                <a:latin typeface="Courier"/>
              </a:rPr>
              <a:t>curve</a:t>
            </a:r>
            <a:r>
              <a:rPr>
                <a:solidFill>
                  <a:srgbClr val="003B4F"/>
                </a:solidFill>
                <a:latin typeface="Courier"/>
              </a:rPr>
              <a:t>(I, </a:t>
            </a:r>
            <a:r>
              <a:rPr>
                <a:solidFill>
                  <a:srgbClr val="657422"/>
                </a:solidFill>
                <a:latin typeface="Courier"/>
              </a:rPr>
              <a:t>from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to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add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657422"/>
                </a:solidFill>
                <a:latin typeface="Courier"/>
              </a:rPr>
              <a:t>col =</a:t>
            </a:r>
            <a:r>
              <a:rPr>
                <a:solidFill>
                  <a:srgbClr val="003B4F"/>
                </a:solidFill>
                <a:latin typeface="Courier"/>
              </a:rPr>
              <a:t> </a:t>
            </a:r>
            <a:r>
              <a:rPr>
                <a:solidFill>
                  <a:srgbClr val="20794D"/>
                </a:solidFill>
                <a:latin typeface="Courier"/>
              </a:rPr>
              <a:t>"red"</a:t>
            </a:r>
            <a:r>
              <a:rPr>
                <a:solidFill>
                  <a:srgbClr val="003B4F"/>
                </a:solidFill>
                <a:latin typeface="Courier"/>
              </a:rPr>
              <a:t>)</a:t>
            </a:r>
          </a:p>
        </p:txBody>
      </p:sp>
      <p:pic>
        <p:nvPicPr>
          <p:cNvPr descr="14_01_lecture_powerpoint_files/figure-pptx/diagnostic-summary-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and Conclusions</a:t>
            </a:r>
          </a:p>
        </p:txBody>
      </p:sp>
      <p:sp>
        <p:nvSpPr>
          <p:cNvPr id="3" name="Content Placeholder 2"/>
          <p:cNvSpPr>
            <a:spLocks noGrp="1"/>
          </p:cNvSpPr>
          <p:nvPr>
            <p:ph idx="1"/>
          </p:nvPr>
        </p:nvSpPr>
        <p:spPr/>
        <p:txBody>
          <a:bodyPr/>
          <a:lstStyle/>
          <a:p>
            <a:pPr lvl="0" indent="0" marL="0">
              <a:buNone/>
            </a:pPr>
            <a:r>
              <a:rPr/>
              <a:t>Generalized Linear Models (GLMs) provide a powerful and flexible framework for analyzing a wide range of data types in biology:</a:t>
            </a:r>
          </a:p>
          <a:p>
            <a:pPr lvl="0" indent="-342900" marL="342900">
              <a:buAutoNum type="arabicPeriod"/>
            </a:pPr>
            <a:r>
              <a:rPr b="1"/>
              <a:t>Gaussian GLMs</a:t>
            </a:r>
            <a:r>
              <a:rPr/>
              <a:t> with identity link function are equivalent to standard linear models and ANOVAs, suitable for normally distributed continuous responses.</a:t>
            </a:r>
          </a:p>
          <a:p>
            <a:pPr lvl="0" indent="-342900" marL="342900">
              <a:buAutoNum type="arabicPeriod"/>
            </a:pPr>
            <a:r>
              <a:rPr b="1"/>
              <a:t>Poisson GLMs</a:t>
            </a:r>
            <a:r>
              <a:rPr/>
              <a:t> with log link function are appropriate for count data, but be cautious of overdispersion.</a:t>
            </a:r>
          </a:p>
          <a:p>
            <a:pPr lvl="0" indent="-342900" marL="342900">
              <a:buAutoNum type="arabicPeriod"/>
            </a:pPr>
            <a:r>
              <a:rPr b="1"/>
              <a:t>Logistic GLMs</a:t>
            </a:r>
            <a:r>
              <a:rPr/>
              <a:t> with logit link function are useful for binary responses, modeling the probability of success or presence.</a:t>
            </a:r>
          </a:p>
          <a:p>
            <a:pPr lvl="0" indent="0" marL="0">
              <a:buNone/>
            </a:pPr>
            <a:r>
              <a:rPr/>
              <a:t>Key advantages of GLMs include:</a:t>
            </a:r>
          </a:p>
          <a:p>
            <a:pPr lvl="0"/>
            <a:r>
              <a:rPr/>
              <a:t>Ability to handle various types of response variables beyond normal distributions</a:t>
            </a:r>
          </a:p>
          <a:p>
            <a:pPr lvl="0"/>
            <a:r>
              <a:rPr/>
              <a:t>Unified framework for linear modeling</a:t>
            </a:r>
          </a:p>
          <a:p>
            <a:pPr lvl="0"/>
            <a:r>
              <a:rPr/>
              <a:t>Flexibility in specifying the link function to match the data structure</a:t>
            </a:r>
          </a:p>
          <a:p>
            <a:pPr lvl="0"/>
            <a:r>
              <a:rPr/>
              <a:t>Interpretable parameters, though interpretation differs by model type</a:t>
            </a:r>
          </a:p>
          <a:p>
            <a:pPr lvl="0" indent="0" marL="0">
              <a:buNone/>
            </a:pPr>
            <a:r>
              <a:rPr/>
              <a:t>When working with GLMs:</a:t>
            </a:r>
          </a:p>
          <a:p>
            <a:pPr lvl="0" indent="-342900" marL="342900">
              <a:buAutoNum type="arabicPeriod"/>
            </a:pPr>
            <a:r>
              <a:rPr/>
              <a:t>Choose the appropriate distribution family based on your response variable</a:t>
            </a:r>
          </a:p>
          <a:p>
            <a:pPr lvl="0" indent="-342900" marL="342900">
              <a:buAutoNum type="arabicPeriod"/>
            </a:pPr>
            <a:r>
              <a:rPr/>
              <a:t>Verify model assumptions through diagnostic plots</a:t>
            </a:r>
          </a:p>
          <a:p>
            <a:pPr lvl="0" indent="-342900" marL="342900">
              <a:buAutoNum type="arabicPeriod"/>
            </a:pPr>
            <a:r>
              <a:rPr/>
              <a:t>Watch for overdispersion in count data</a:t>
            </a:r>
          </a:p>
          <a:p>
            <a:pPr lvl="0" indent="-342900" marL="342900">
              <a:buAutoNum type="arabicPeriod"/>
            </a:pPr>
            <a:r>
              <a:rPr/>
              <a:t>Use odds ratios to interpret logistic regression results</a:t>
            </a:r>
          </a:p>
          <a:p>
            <a:pPr lvl="0" indent="-342900" marL="342900">
              <a:buAutoNum type="arabicPeriod"/>
            </a:pPr>
            <a:r>
              <a:rPr/>
              <a:t>Compare competing models using likelihood ratio tests and information criteria</a:t>
            </a:r>
          </a:p>
          <a:p>
            <a:pPr lvl="0" indent="0" marL="0">
              <a:buNone/>
            </a:pPr>
            <a:r>
              <a:rPr/>
              <a:t>This framework allows biologists to appropriately model many types of data encountered in ecological, behavioral, and physiological research.</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Agresti, A. (1996). An Introduction to Categorical Data Analysis. Wiley, New York.</a:t>
            </a:r>
          </a:p>
          <a:p>
            <a:pPr lvl="0" indent="0" marL="0">
              <a:buNone/>
            </a:pPr>
            <a:r>
              <a:rPr/>
              <a:t>Bolger, D. T., Alberts, A. C., Sauvajot, R. M., Potenza, P., McCalvin, C., Tran, D., Mazzoni, S., &amp; Soulé, M. E. (1997). Response of rodents to habitat fragmentation in coastal southern California. Ecological Applications, 7(2), 552-563.</a:t>
            </a:r>
          </a:p>
          <a:p>
            <a:pPr lvl="0" indent="0" marL="0">
              <a:buNone/>
            </a:pPr>
            <a:r>
              <a:rPr/>
              <a:t>Christensen, R. (1997). Log-linear Models and Logistic Regression. Springer, New York.</a:t>
            </a:r>
          </a:p>
          <a:p>
            <a:pPr lvl="0" indent="0" marL="0">
              <a:buNone/>
            </a:pPr>
            <a:r>
              <a:rPr/>
              <a:t>Hosmer, D. W., &amp; Lemeshow, S. (1989). Applied Logistic Regression. Wiley, New York.</a:t>
            </a:r>
          </a:p>
          <a:p>
            <a:pPr lvl="0" indent="0" marL="0">
              <a:buNone/>
            </a:pPr>
            <a:r>
              <a:rPr/>
              <a:t>McCullagh, P., &amp; Nelder, J. A. (1989). Generalized Linear Models. Chapman and Hall, London.</a:t>
            </a:r>
          </a:p>
          <a:p>
            <a:pPr lvl="0" indent="0" marL="0">
              <a:buNone/>
            </a:pPr>
            <a:r>
              <a:rPr/>
              <a:t>Polis, G. A., Hurd, S. D., Jackson, C. T., &amp; Piñero, F. S. (1998). Multifactor analysis of ecosystem patterns on islands in the Gulf of California. Ecological Monographs, 68, 490-502.</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14 - Generalized Linear Models</dc:title>
  <dc:creator>Bill Perry</dc:creator>
  <cp:keywords/>
  <dcterms:created xsi:type="dcterms:W3CDTF">2025-09-10T16:39:30Z</dcterms:created>
  <dcterms:modified xsi:type="dcterms:W3CDTF">2025-09-10T16:39:30Z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