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01_lecture_powerpoint_files/figure-pptx/summary-gaussian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14_01_lecture_powerpoint_files/figure-pptx/summarygaussian_2a-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Species</a:t>
            </a:r>
            <a:br/>
            <a:r>
              <a:rPr i="1">
                <a:solidFill>
                  <a:srgbClr val="5E5E5E"/>
                </a:solidFill>
                <a:latin typeface="Courier"/>
              </a:rPr>
              <a:t>##               LR Chisq Df Pr(&gt;Chisq)    </a:t>
            </a:r>
            <a:br/>
            <a:r>
              <a:rPr i="1">
                <a:solidFill>
                  <a:srgbClr val="5E5E5E"/>
                </a:solidFill>
                <a:latin typeface="Courier"/>
              </a:rPr>
              <a:t>## size_category     2571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Species ~ size_category, family = poisson(link = "log"), 
##     data = gala)
## 
## Coefficients:
##                     Estimate Std. Error z value Pr(&gt;|z|)    
## (Intercept)          2.67101    0.07930   33.68   &lt;2e-16 ***
## size_categoryMedium  1.33784    0.08833   15.15   &lt;2e-16 ***
## size_categoryLarge   2.84300    0.08285   34.31   &lt;2e-16 ***
## ---
## Signif. codes:  0 '***' 0.001 '**' 0.01 '*' 0.05 '.' 0.1 ' ' 1
## 
## (Dispersion parameter for poisson family taken to be 1)
## 
##     Null deviance: 3510.73  on 29  degrees of freedom
## Residual deviance:  939.74  on 27  degrees of freedom
## AIC: 1106.6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0.2624 0.02320 Inf    1 -15.146  &lt;.0001
##  Small / Large  0.0583 0.00483 Inf    1 -34.313  &lt;.0001
##  Medium / Large 0.2220 0.01010 Inf    1 -32.935  &lt;.0001
## 
## P value adjustment: tukey method for comparing a family of 3 estimates 
## Tests are performed on the log scale
##  size_category  rate   SE  df asymp.LCL asymp.UCL .group
##  Small          14.5 1.15 Inf      12.4      16.9  a    
##  Medium         55.1 2.14 Inf      51.0      59.4   b   
##  Large         248.1 5.95 Inf     236.7     260.1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01_lecture_powerpoint_files/figure-pptx/gala-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d>
                      <m:dPr>
                        <m:begChr m:val="("/>
                        <m:sepChr m:val=""/>
                        <m:endChr m:val=")"/>
                        <m:grow/>
                      </m:dPr>
                      <m:e>
                        <m:r>
                          <m:t>x</m:t>
                        </m:r>
                      </m:e>
                    </m:d>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a:r>
                  <a:rPr/>
                  <a:t>To linearize this relationship, we use the logit link function:</a:t>
                </a:r>
              </a:p>
              <a:p>
                <a:pPr lvl="1"/>
                <a14:m>
                  <m:oMath xmlns:m="http://schemas.openxmlformats.org/officeDocument/2006/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14_01_lecture_powerpoint_files/figure-pptx/logistic-curv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2025-12-01T17:41:55Z</dcterms:created>
  <dcterms:modified xsi:type="dcterms:W3CDTF">2025-12-01T17:41:55Z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