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2" Type="http://schemas.openxmlformats.org/officeDocument/2006/relationships/viewProps" Target="viewProps.xml" /><Relationship Id="rId31" Type="http://schemas.openxmlformats.org/officeDocument/2006/relationships/presProps" Target="presProps.xml" /><Relationship Id="rId1" Type="http://schemas.openxmlformats.org/officeDocument/2006/relationships/slideMaster" Target="slideMasters/slideMaster1.xml" /><Relationship Id="rId34" Type="http://schemas.openxmlformats.org/officeDocument/2006/relationships/tableStyles" Target="tableStyles.xml" /><Relationship Id="rId3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Review of ANOVAs</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Bartlets Test</a:t>
            </a:r>
          </a:p>
          <a:p>
            <a:pPr lvl="1"/>
            <a:r>
              <a:rPr/>
              <a:t>Normality of Residuals</a:t>
            </a:r>
          </a:p>
          <a:p>
            <a:pPr lvl="1"/>
            <a:r>
              <a:rPr/>
              <a:t>Independence</a:t>
            </a:r>
          </a:p>
        </p:txBody>
      </p:sp>
      <p:sp>
        <p:nvSpPr>
          <p:cNvPr id="4" name="Content Placeholder 3"/>
          <p:cNvSpPr>
            <a:spLocks noGrp="1"/>
          </p:cNvSpPr>
          <p:nvPr>
            <p:ph idx="2" sz="half"/>
          </p:nvPr>
        </p:nvSpPr>
        <p:spPr/>
        <p:txBody>
          <a:bodyPr/>
          <a:lstStyle/>
          <a:p>
            <a:pPr lvl="0" indent="0" marL="0">
              <a:buNone/>
            </a:pPr>
            <a:r>
              <a:rPr/>
              <a:t>NEED IMAGE FOR REVIEW</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indent="0" marL="0">
              <a:buNone/>
            </a:pPr>
            <a:r>
              <a:rPr/>
              <a:t>Logistic Regression</a:t>
            </a:r>
          </a:p>
          <a:p>
            <a:pPr lvl="0"/>
            <a:r>
              <a:rPr/>
              <a:t>when the outcome is yes or no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 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01_lecture_powerpoint_files/figure-pptx/glm-distributions-1.png" id="0" name="Picture 1"/>
          <p:cNvPicPr>
            <a:picLocks noGrp="1" noChangeAspect="1"/>
          </p:cNvPicPr>
          <p:nvPr/>
        </p:nvPicPr>
        <p:blipFill>
          <a:blip r:embed="rId2"/>
          <a:stretch>
            <a:fillRect/>
          </a:stretch>
        </p:blipFill>
        <p:spPr bwMode="auto">
          <a:xfrm>
            <a:off x="6121400" y="1790700"/>
            <a:ext cx="2781300" cy="1714500"/>
          </a:xfrm>
          <a:prstGeom prst="rect">
            <a:avLst/>
          </a:prstGeom>
          <a:noFill/>
          <a:ln w="9525">
            <a:noFill/>
            <a:headEnd/>
            <a:tailEnd/>
          </a:ln>
        </p:spPr>
      </p:pic>
      <p:sp>
        <p:nvSpPr>
          <p:cNvPr id="1" name="TextBox 3"/>
          <p:cNvSpPr txBo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GLMs consist of three components:</a:t>
                </a:r>
              </a:p>
              <a:p>
                <a:pPr lvl="0" indent="-342900" marL="342900">
                  <a:buAutoNum type="arabicPeriod"/>
                </a:pPr>
                <a:r>
                  <a:rPr b="1"/>
                  <a:t>Random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d>
                        <m:dPr>
                          <m:begChr m:val="("/>
                          <m:sepChr m:val=""/>
                          <m:endChr m:val=")"/>
                          <m:grow/>
                        </m:dPr>
                        <m:e>
                          <m:r>
                            <m:t>μ</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a:t>
            </a:r>
            <a:r>
              <a:rPr>
                <a:latin typeface="Courier"/>
              </a:rPr>
              <a:t>mtcars</a:t>
            </a:r>
            <a:r>
              <a:rPr/>
              <a:t> dataset, modeling miles per gallon (mpg) by the number of cylinders (cyl).</a:t>
            </a:r>
          </a:p>
          <a:p>
            <a:pPr lvl="0" indent="0">
              <a:buNone/>
            </a:pPr>
            <a:r>
              <a:rPr>
                <a:solidFill>
                  <a:srgbClr val="5E5E5E"/>
                </a:solidFill>
                <a:latin typeface="Courier"/>
              </a:rPr>
              <a:t># Convert cylinders to a factor</a:t>
            </a:r>
            <a:br/>
            <a:r>
              <a:rPr>
                <a:solidFill>
                  <a:srgbClr val="003B4F"/>
                </a:solidFill>
                <a:latin typeface="Courier"/>
              </a:rPr>
              <a:t>mtcars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br/>
            <a:r>
              <a:rPr>
                <a:solidFill>
                  <a:srgbClr val="5E5E5E"/>
                </a:solidFill>
                <a:latin typeface="Courier"/>
              </a:rPr>
              <a:t># Fit a standard linear model</a:t>
            </a:r>
            <a:br/>
            <a:r>
              <a:rPr>
                <a:solidFill>
                  <a:srgbClr val="003B4F"/>
                </a:solidFill>
                <a:latin typeface="Courier"/>
              </a:rPr>
              <a:t>model_lm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Fit a Gaussian GLM</a:t>
            </a:r>
            <a:br/>
            <a:r>
              <a:rPr>
                <a:solidFill>
                  <a:srgbClr val="003B4F"/>
                </a:solidFill>
                <a:latin typeface="Courier"/>
              </a:rPr>
              <a:t>model_gaussian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a:t>
            </a:r>
            <a:br/>
            <a:br/>
            <a:r>
              <a:rPr>
                <a:solidFill>
                  <a:srgbClr val="5E5E5E"/>
                </a:solidFill>
                <a:latin typeface="Courier"/>
              </a:rPr>
              <a:t># Compare the coefficients</a:t>
            </a:r>
            <a:br/>
            <a:r>
              <a:rPr>
                <a:solidFill>
                  <a:srgbClr val="003B4F"/>
                </a:solidFill>
                <a:latin typeface="Courier"/>
              </a:rPr>
              <a:t>coef_lm &lt;- </a:t>
            </a:r>
            <a:r>
              <a:rPr>
                <a:solidFill>
                  <a:srgbClr val="4758AB"/>
                </a:solidFill>
                <a:latin typeface="Courier"/>
              </a:rPr>
              <a:t>coefficients</a:t>
            </a:r>
            <a:r>
              <a:rPr>
                <a:solidFill>
                  <a:srgbClr val="003B4F"/>
                </a:solidFill>
                <a:latin typeface="Courier"/>
              </a:rPr>
              <a:t>(model_lm)</a:t>
            </a:r>
            <a:br/>
            <a:r>
              <a:rPr>
                <a:solidFill>
                  <a:srgbClr val="003B4F"/>
                </a:solidFill>
                <a:latin typeface="Courier"/>
              </a:rPr>
              <a:t>coef_glm &lt;- </a:t>
            </a:r>
            <a:r>
              <a:rPr>
                <a:solidFill>
                  <a:srgbClr val="4758AB"/>
                </a:solidFill>
                <a:latin typeface="Courier"/>
              </a:rPr>
              <a:t>coefficients</a:t>
            </a:r>
            <a:r>
              <a:rPr>
                <a:solidFill>
                  <a:srgbClr val="003B4F"/>
                </a:solidFill>
                <a:latin typeface="Courier"/>
              </a:rPr>
              <a:t>(model_gaussian)</a:t>
            </a:r>
            <a:br/>
            <a:br/>
            <a:r>
              <a:rPr>
                <a:solidFill>
                  <a:srgbClr val="5E5E5E"/>
                </a:solidFill>
                <a:latin typeface="Courier"/>
              </a:rPr>
              <a:t># Check if they're the same</a:t>
            </a:r>
            <a:br/>
            <a:r>
              <a:rPr>
                <a:solidFill>
                  <a:srgbClr val="4758AB"/>
                </a:solidFill>
                <a:latin typeface="Courier"/>
              </a:rPr>
              <a:t>all.equal</a:t>
            </a:r>
            <a:r>
              <a:rPr>
                <a:solidFill>
                  <a:srgbClr val="003B4F"/>
                </a:solidFill>
                <a:latin typeface="Courier"/>
              </a:rPr>
              <a:t>(coef_lm, coef_glm)</a:t>
            </a:r>
          </a:p>
          <a:p>
            <a:pPr lvl="0" indent="0">
              <a:buNone/>
            </a:pPr>
            <a:r>
              <a:rPr>
                <a:latin typeface="Courier"/>
              </a:rPr>
              <a:t>[1] TRUE</a:t>
            </a:r>
          </a:p>
        </p:txBody>
      </p:sp>
      <p:sp>
        <p:nvSpPr>
          <p:cNvPr id="4" name="Content Placeholder 3"/>
          <p:cNvSpPr>
            <a:spLocks noGrp="1"/>
          </p:cNvSpPr>
          <p:nvPr>
            <p:ph idx="2" sz="half"/>
          </p:nvPr>
        </p:nvSpPr>
        <p:spPr/>
        <p:txBody>
          <a:bodyPr/>
          <a:lstStyle/>
          <a:p>
            <a:pPr lvl="0" indent="0" marL="0">
              <a:buNone/>
            </a:pPr>
            <a:r>
              <a:rPr/>
              <a:t>Let’s look at the summary of our Gaussian GLM:</a:t>
            </a:r>
          </a:p>
          <a:p>
            <a:pPr lvl="0" indent="0">
              <a:buNone/>
            </a:pPr>
            <a:r>
              <a:rPr>
                <a:solidFill>
                  <a:srgbClr val="4758AB"/>
                </a:solidFill>
                <a:latin typeface="Courier"/>
              </a:rPr>
              <a:t>summary</a:t>
            </a:r>
            <a:r>
              <a:rPr>
                <a:solidFill>
                  <a:srgbClr val="003B4F"/>
                </a:solidFill>
                <a:latin typeface="Courier"/>
              </a:rPr>
              <a:t>(model_gaussian)</a:t>
            </a:r>
          </a:p>
          <a:p>
            <a:pPr lvl="0" indent="0">
              <a:buNone/>
            </a:pPr>
            <a:r>
              <a:rPr>
                <a:latin typeface="Courier"/>
              </a:rPr>
              <a:t>
Call:
glm(formula = mpg ~ cyl, family = gaussian(link = "identity"), 
    data = mtcars)
Coefficients:
            Estimate Std. Error t value Pr(&gt;|t|)    
(Intercept)  26.6636     0.9718  27.437  &lt; 2e-16 ***
cyl6         -6.9208     1.5583  -4.441 0.000119 ***
cyl8        -11.5636     1.2986  -8.905 8.57e-10 ***
---
Signif. codes:  0 '***' 0.001 '**' 0.01 '*' 0.05 '.' 0.1 ' ' 1
(Dispersion parameter for gaussian family taken to be 10.38837)
    Null deviance: 1126.05  on 31  degrees of freedom
Residual deviance:  301.26  on 29  degrees of freedom
AIC: 170.56
Number of Fisher Scoring iterations: 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p:sp>
        <p:nvSpPr>
          <p:cNvPr id="3" name="Text Placeholder 2"/>
          <p:cNvSpPr>
            <a:spLocks noGrp="1"/>
          </p:cNvSpPr>
          <p:nvPr>
            <p:ph idx="1" type="body"/>
          </p:nvPr>
        </p:nvSpPr>
        <p:spPr/>
        <p:txBody>
          <a:bodyPr/>
          <a:lstStyle/>
          <a:p>
            <a:pPr lvl="0" indent="0" marL="0">
              <a:buNone/>
            </a:pPr>
            <a:r>
              <a:rPr/>
              <a:t>Now let’s perform an ANOVA on our GLM model using the </a:t>
            </a:r>
            <a:r>
              <a:rPr>
                <a:latin typeface="Courier"/>
              </a:rPr>
              <a:t>car</a:t>
            </a:r>
            <a:r>
              <a:rPr/>
              <a:t> package:</a:t>
            </a:r>
          </a:p>
          <a:p>
            <a:pPr lvl="0" indent="0">
              <a:buNone/>
            </a:pPr>
            <a:r>
              <a:rPr>
                <a:solidFill>
                  <a:srgbClr val="4758AB"/>
                </a:solidFill>
                <a:latin typeface="Courier"/>
              </a:rPr>
              <a:t>Anova</a:t>
            </a:r>
            <a:r>
              <a:rPr>
                <a:solidFill>
                  <a:srgbClr val="003B4F"/>
                </a:solidFill>
                <a:latin typeface="Courier"/>
              </a:rPr>
              <a:t>(model_gaussian,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"F"</a:t>
            </a:r>
            <a:r>
              <a:rPr>
                <a:solidFill>
                  <a:srgbClr val="003B4F"/>
                </a:solidFill>
                <a:latin typeface="Courier"/>
              </a:rPr>
              <a:t>)</a:t>
            </a:r>
          </a:p>
          <a:p>
            <a:pPr lvl="0" indent="0">
              <a:buNone/>
            </a:pPr>
            <a:r>
              <a:rPr>
                <a:latin typeface="Courier"/>
              </a:rPr>
              <a:t>Analysis of Deviance Table (Type III tests)
Response: mpg
Error estimate based on Pearson residuals 
          Sum Sq Df F values    Pr(&gt;F)    
cyl       824.78  2   39.697 4.979e-09 ***
Residuals 301.26 29                       
---
Signif. codes:  0 '***' 0.001 '**' 0.01 '*' 0.05 '.' 0.1 ' ' 1</a:t>
            </a:r>
          </a:p>
        </p:txBody>
      </p:sp>
      <p:sp>
        <p:nvSpPr>
          <p:cNvPr id="5" name="Text Placeholder 4"/>
          <p:cNvSpPr>
            <a:spLocks noGrp="1"/>
          </p:cNvSpPr>
          <p:nvPr>
            <p:ph idx="3" sz="quarter" type="body"/>
          </p:nvPr>
        </p:nvSpPr>
        <p:spPr/>
        <p:txBody>
          <a:bodyPr/>
          <a:lstStyle/>
          <a:p>
            <a:pPr lvl="0" indent="0" marL="0">
              <a:buNone/>
            </a:pPr>
            <a:r>
              <a:rPr/>
              <a:t>Visualizing the results:</a:t>
            </a:r>
          </a:p>
          <a:p>
            <a:pPr lvl="0" indent="0">
              <a:buNone/>
            </a:pPr>
            <a:r>
              <a:rPr>
                <a:solidFill>
                  <a:srgbClr val="5E5E5E"/>
                </a:solidFill>
                <a:latin typeface="Courier"/>
              </a:rPr>
              <a:t># Get estimated means</a:t>
            </a:r>
            <a:br/>
            <a:r>
              <a:rPr>
                <a:solidFill>
                  <a:srgbClr val="003B4F"/>
                </a:solidFill>
                <a:latin typeface="Courier"/>
              </a:rPr>
              <a:t>emm_gaussian &lt;- </a:t>
            </a:r>
            <a:r>
              <a:rPr>
                <a:solidFill>
                  <a:srgbClr val="4758AB"/>
                </a:solidFill>
                <a:latin typeface="Courier"/>
              </a:rPr>
              <a:t>emmeans</a:t>
            </a:r>
            <a:r>
              <a:rPr>
                <a:solidFill>
                  <a:srgbClr val="003B4F"/>
                </a:solidFill>
                <a:latin typeface="Courier"/>
              </a:rPr>
              <a:t>(model_gaussian, </a:t>
            </a:r>
            <a:r>
              <a:rPr>
                <a:solidFill>
                  <a:srgbClr val="5E5E5E"/>
                </a:solidFill>
                <a:latin typeface="Courier"/>
              </a:rPr>
              <a:t>~</a:t>
            </a:r>
            <a:r>
              <a:rPr>
                <a:solidFill>
                  <a:srgbClr val="003B4F"/>
                </a:solidFill>
                <a:latin typeface="Courier"/>
              </a:rPr>
              <a:t> cyl)</a:t>
            </a:r>
            <a:br/>
            <a:r>
              <a:rPr>
                <a:solidFill>
                  <a:srgbClr val="003B4F"/>
                </a:solidFill>
                <a:latin typeface="Courier"/>
              </a:rPr>
              <a:t>emm_df &lt;- </a:t>
            </a:r>
            <a:r>
              <a:rPr>
                <a:solidFill>
                  <a:srgbClr val="4758AB"/>
                </a:solidFill>
                <a:latin typeface="Courier"/>
              </a:rPr>
              <a:t>as.data.frame</a:t>
            </a:r>
            <a:r>
              <a:rPr>
                <a:solidFill>
                  <a:srgbClr val="003B4F"/>
                </a:solidFill>
                <a:latin typeface="Courier"/>
              </a:rPr>
              <a:t>(emm_gaussian)</a:t>
            </a:r>
            <a:br/>
            <a:br/>
            <a:r>
              <a:rPr>
                <a:solidFill>
                  <a:srgbClr val="5E5E5E"/>
                </a:solidFill>
                <a:latin typeface="Courier"/>
              </a:rPr>
              <a:t># Create plot of data with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lower.CL, </a:t>
            </a:r>
            <a:br/>
            <a:r>
              <a:rPr>
                <a:solidFill>
                  <a:srgbClr val="003B4F"/>
                </a:solidFill>
                <a:latin typeface="Courier"/>
              </a:rPr>
              <a:t>                    </a:t>
            </a:r>
            <a:r>
              <a:rPr>
                <a:solidFill>
                  <a:srgbClr val="657422"/>
                </a:solidFill>
                <a:latin typeface="Courier"/>
              </a:rPr>
              <a:t>ymax =</a:t>
            </a:r>
            <a:r>
              <a:rPr>
                <a:solidFill>
                  <a:srgbClr val="003B4F"/>
                </a:solidFill>
                <a:latin typeface="Courier"/>
              </a:rPr>
              <a:t> upper.CL),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MPG"</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"Red points show estimated means with 95% CIs"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gaussian-plot-1.png" id="0" name="Picture 1"/>
          <p:cNvPicPr>
            <a:picLocks noGrp="1" noChangeAspect="1"/>
          </p:cNvPicPr>
          <p:nvPr/>
        </p:nvPicPr>
        <p:blipFill>
          <a:blip r:embed="rId2"/>
          <a:stretch>
            <a:fillRect/>
          </a:stretch>
        </p:blipFill>
        <p:spPr bwMode="auto">
          <a:xfrm>
            <a:off x="4749800" y="1676400"/>
            <a:ext cx="4038600" cy="2527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1270000">
              <a:buNone/>
            </a:pPr>
            <a:r>
              <a:rPr sz="2000" b="1"/>
              <a:t>Equivalence of Linear Models and Gaussian GLMs</a:t>
            </a:r>
          </a:p>
          <a:p>
            <a:pPr lvl="0" indent="0" marL="1270000">
              <a:buNone/>
            </a:pPr>
            <a:r>
              <a:rPr sz="2000"/>
              <a:t>When we use a Gaussian distribution with an identity link, GLM gives identical results to standard linear regression. This can be seen in the coefficient values and overall model statistics.</a:t>
            </a:r>
          </a:p>
          <a:p>
            <a:pPr lvl="0" indent="0" marL="1270000">
              <a:buNone/>
            </a:pPr>
            <a:r>
              <a:rPr sz="2000"/>
              <a:t>The key difference is that GLMs provide a framework that extends to non-normal distributions.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Poisson GLMs are appropriate for count data. The Poisson distribution assumes that the variance equals the mean.</a:t>
            </a:r>
          </a:p>
          <a:p>
            <a:pPr lvl="0" indent="0" marL="0">
              <a:buNone/>
            </a:pPr>
            <a:r>
              <a:rPr/>
              <a:t>For this example, we’ll use the quarter-mile time (</a:t>
            </a:r>
            <a:r>
              <a:rPr>
                <a:latin typeface="Courier"/>
              </a:rPr>
              <a:t>qsec</a:t>
            </a:r>
            <a:r>
              <a:rPr/>
              <a:t>) from the </a:t>
            </a:r>
            <a:r>
              <a:rPr>
                <a:latin typeface="Courier"/>
              </a:rPr>
              <a:t>mtcars</a:t>
            </a:r>
            <a:r>
              <a:rPr/>
              <a:t> dataset, rounded to create a count-like variable.</a:t>
            </a:r>
          </a:p>
          <a:p>
            <a:pPr lvl="0" indent="0">
              <a:buNone/>
            </a:pPr>
            <a:r>
              <a:rPr>
                <a:solidFill>
                  <a:srgbClr val="5E5E5E"/>
                </a:solidFill>
                <a:latin typeface="Courier"/>
              </a:rPr>
              <a:t># Prepare data for Poisson model</a:t>
            </a:r>
            <a:br/>
            <a:r>
              <a:rPr>
                <a:solidFill>
                  <a:srgbClr val="003B4F"/>
                </a:solidFill>
                <a:latin typeface="Courier"/>
              </a:rPr>
              <a:t>mtcars_count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r>
              <a:rPr>
                <a:solidFill>
                  <a:srgbClr val="003B4F"/>
                </a:solidFill>
                <a:latin typeface="Courier"/>
              </a:rPr>
              <a:t>    </a:t>
            </a:r>
            <a:r>
              <a:rPr>
                <a:solidFill>
                  <a:srgbClr val="657422"/>
                </a:solidFill>
                <a:latin typeface="Courier"/>
              </a:rPr>
              <a:t>qsec_round =</a:t>
            </a:r>
            <a:r>
              <a:rPr>
                <a:solidFill>
                  <a:srgbClr val="003B4F"/>
                </a:solidFill>
                <a:latin typeface="Courier"/>
              </a:rPr>
              <a:t> </a:t>
            </a:r>
            <a:r>
              <a:rPr>
                <a:solidFill>
                  <a:srgbClr val="4758AB"/>
                </a:solidFill>
                <a:latin typeface="Courier"/>
              </a:rPr>
              <a:t>round</a:t>
            </a:r>
            <a:r>
              <a:rPr>
                <a:solidFill>
                  <a:srgbClr val="003B4F"/>
                </a:solidFill>
                <a:latin typeface="Courier"/>
              </a:rPr>
              <a:t>(qsec)  </a:t>
            </a:r>
            <a:r>
              <a:rPr>
                <a:solidFill>
                  <a:srgbClr val="5E5E5E"/>
                </a:solidFill>
                <a:latin typeface="Courier"/>
              </a:rPr>
              <a:t># Create a count-like variable</a:t>
            </a:r>
            <a:br/>
            <a:r>
              <a:rPr>
                <a:solidFill>
                  <a:srgbClr val="003B4F"/>
                </a:solidFill>
                <a:latin typeface="Courier"/>
              </a:rPr>
              <a:t>  )</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(mtcars_count[, </a:t>
            </a:r>
            <a:r>
              <a:rPr>
                <a:solidFill>
                  <a:srgbClr val="4758AB"/>
                </a:solidFill>
                <a:latin typeface="Courier"/>
              </a:rPr>
              <a:t>c</a:t>
            </a:r>
            <a:r>
              <a:rPr>
                <a:solidFill>
                  <a:srgbClr val="003B4F"/>
                </a:solidFill>
                <a:latin typeface="Courier"/>
              </a:rPr>
              <a:t>(</a:t>
            </a:r>
            <a:r>
              <a:rPr>
                <a:solidFill>
                  <a:srgbClr val="20794D"/>
                </a:solidFill>
                <a:latin typeface="Courier"/>
              </a:rPr>
              <a:t>"cyl"</a:t>
            </a:r>
            <a:r>
              <a:rPr>
                <a:solidFill>
                  <a:srgbClr val="003B4F"/>
                </a:solidFill>
                <a:latin typeface="Courier"/>
              </a:rPr>
              <a:t>, </a:t>
            </a:r>
            <a:r>
              <a:rPr>
                <a:solidFill>
                  <a:srgbClr val="20794D"/>
                </a:solidFill>
                <a:latin typeface="Courier"/>
              </a:rPr>
              <a:t>"qsec"</a:t>
            </a:r>
            <a:r>
              <a:rPr>
                <a:solidFill>
                  <a:srgbClr val="003B4F"/>
                </a:solidFill>
                <a:latin typeface="Courier"/>
              </a:rPr>
              <a:t>, </a:t>
            </a:r>
            <a:r>
              <a:rPr>
                <a:solidFill>
                  <a:srgbClr val="20794D"/>
                </a:solidFill>
                <a:latin typeface="Courier"/>
              </a:rPr>
              <a:t>"qsec_round"</a:t>
            </a:r>
            <a:r>
              <a:rPr>
                <a:solidFill>
                  <a:srgbClr val="003B4F"/>
                </a:solidFill>
                <a:latin typeface="Courier"/>
              </a:rPr>
              <a:t>)])</a:t>
            </a:r>
          </a:p>
          <a:p>
            <a:pPr lvl="0" indent="0">
              <a:buNone/>
            </a:pPr>
            <a:r>
              <a:rPr>
                <a:latin typeface="Courier"/>
              </a:rPr>
              <a:t>                  cyl  qsec qsec_round
Mazda RX4           6 16.46         16
Mazda RX4 Wag       6 17.02         17
Datsun 710          4 18.61         19
Hornet 4 Drive      6 19.44         19
Hornet Sportabout   8 17.02         17
Valiant             6 20.22         20</a:t>
            </a:r>
          </a:p>
          <a:p>
            <a:pPr lvl="0" indent="0" marL="0">
              <a:buNone/>
            </a:pPr>
            <a:r>
              <a:rPr/>
              <a:t>Now let’s fit a Poisson GLM to model the relationship between the rounded quarter-mile time and the number of cylinders:</a:t>
            </a:r>
          </a:p>
          <a:p>
            <a:pPr lvl="0" indent="0">
              <a:buNone/>
            </a:pPr>
            <a:r>
              <a:rPr>
                <a:solidFill>
                  <a:srgbClr val="5E5E5E"/>
                </a:solidFill>
                <a:latin typeface="Courier"/>
              </a:rPr>
              <a:t># Fit a Poisson GLM</a:t>
            </a:r>
            <a:br/>
            <a:r>
              <a:rPr>
                <a:solidFill>
                  <a:srgbClr val="003B4F"/>
                </a:solidFill>
                <a:latin typeface="Courier"/>
              </a:rPr>
              <a:t>model_poisson &lt;- </a:t>
            </a:r>
            <a:r>
              <a:rPr>
                <a:solidFill>
                  <a:srgbClr val="4758AB"/>
                </a:solidFill>
                <a:latin typeface="Courier"/>
              </a:rPr>
              <a:t>glm</a:t>
            </a:r>
            <a:r>
              <a:rPr>
                <a:solidFill>
                  <a:srgbClr val="003B4F"/>
                </a:solidFill>
                <a:latin typeface="Courier"/>
              </a:rPr>
              <a:t>(qsec_round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Look at the model summary</a:t>
            </a:r>
            <a:br/>
            <a:r>
              <a:rPr>
                <a:solidFill>
                  <a:srgbClr val="4758AB"/>
                </a:solidFill>
                <a:latin typeface="Courier"/>
              </a:rPr>
              <a:t>summary</a:t>
            </a:r>
            <a:r>
              <a:rPr>
                <a:solidFill>
                  <a:srgbClr val="003B4F"/>
                </a:solidFill>
                <a:latin typeface="Courier"/>
              </a:rPr>
              <a:t>(model_poisson)</a:t>
            </a:r>
          </a:p>
          <a:p>
            <a:pPr lvl="0" indent="0">
              <a:buNone/>
            </a:pPr>
            <a:r>
              <a:rPr>
                <a:latin typeface="Courier"/>
              </a:rPr>
              <a:t>
Call:
glm(formula = qsec_round ~ cyl, family = poisson(link = "log"), 
    data = mtcars_count)
Coefficients:
            Estimate Std. Error z value Pr(&gt;|z|)    
(Intercept)  2.95869    0.06868  43.079   &lt;2e-16 ***
cyl6        -0.07629    0.11277  -0.676    0.499    
cyl8        -0.14243    0.09482  -1.502    0.133    
---
Signif. codes:  0 '***' 0.001 '**' 0.01 '*' 0.05 '.' 0.1 ' ' 1
(Dispersion parameter for poisson family taken to be 1)
    Null deviance: 5.6979  on 31  degrees of freedom
Residual deviance: 3.4487  on 29  degrees of freedom
AIC: 160.62
Number of Fisher Scoring iterations: 3</a:t>
            </a:r>
          </a:p>
        </p:txBody>
      </p:sp>
      <p:sp>
        <p:nvSpPr>
          <p:cNvPr id="4" name="Content Placeholder 3"/>
          <p:cNvSpPr>
            <a:spLocks noGrp="1"/>
          </p:cNvSpPr>
          <p:nvPr>
            <p:ph idx="2" sz="half"/>
          </p:nvPr>
        </p:nvSpPr>
        <p:spPr/>
        <p:txBody>
          <a:bodyPr/>
          <a:lstStyle/>
          <a:p>
            <a:pPr lvl="0" indent="0" marL="0">
              <a:buNone/>
            </a:pPr>
            <a:r>
              <a:rPr/>
              <a:t>Let’s check for overdispersion, which is common in count data:</a:t>
            </a:r>
          </a:p>
          <a:p>
            <a:pPr lvl="0" indent="0">
              <a:buNone/>
            </a:pPr>
            <a:r>
              <a:rPr>
                <a:solidFill>
                  <a:srgbClr val="5E5E5E"/>
                </a:solidFill>
                <a:latin typeface="Courier"/>
              </a:rPr>
              <a:t># Calculate dispersion parameter</a:t>
            </a:r>
            <a:br/>
            <a:r>
              <a:rPr>
                <a:solidFill>
                  <a:srgbClr val="003B4F"/>
                </a:solidFill>
                <a:latin typeface="Courier"/>
              </a:rPr>
              <a:t>dispersion_poisson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(dispersion_poisson,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Dispersion parameter: 0.12 </a:t>
            </a:r>
          </a:p>
          <a:p>
            <a:pPr lvl="0" indent="0">
              <a:buNone/>
            </a:pPr>
            <a:r>
              <a:rPr>
                <a:solidFill>
                  <a:srgbClr val="5E5E5E"/>
                </a:solidFill>
                <a:latin typeface="Courier"/>
              </a:rPr>
              <a:t># Should be close to 1 for a well-fitting Poisson model</a:t>
            </a:r>
            <a:br/>
            <a:r>
              <a:rPr>
                <a:solidFill>
                  <a:srgbClr val="5E5E5E"/>
                </a:solidFill>
                <a:latin typeface="Courier"/>
              </a:rPr>
              <a:t># If &gt; 1.5, may indicate overdispersion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Poisson GLM: Visualization and Interpretation</a:t>
            </a:r>
          </a:p>
        </p:txBody>
      </p:sp>
      <p:sp>
        <p:nvSpPr>
          <p:cNvPr id="3" name="Text Placeholder 2"/>
          <p:cNvSpPr>
            <a:spLocks noGrp="1"/>
          </p:cNvSpPr>
          <p:nvPr>
            <p:ph idx="1" type="body"/>
          </p:nvPr>
        </p:nvSpPr>
        <p:spPr/>
        <p:txBody>
          <a:bodyPr/>
          <a:lstStyle/>
          <a:p>
            <a:pPr lvl="0" indent="0">
              <a:buNone/>
            </a:pPr>
            <a:r>
              <a:rPr>
                <a:solidFill>
                  <a:srgbClr val="5E5E5E"/>
                </a:solidFill>
                <a:latin typeface="Courier"/>
              </a:rPr>
              <a:t># Get estimated means on the response scale</a:t>
            </a:r>
            <a:br/>
            <a:r>
              <a:rPr>
                <a:solidFill>
                  <a:srgbClr val="003B4F"/>
                </a:solidFill>
                <a:latin typeface="Courier"/>
              </a:rPr>
              <a:t>emm_poisson &lt;- </a:t>
            </a:r>
            <a:r>
              <a:rPr>
                <a:solidFill>
                  <a:srgbClr val="4758AB"/>
                </a:solidFill>
                <a:latin typeface="Courier"/>
              </a:rPr>
              <a:t>emmeans</a:t>
            </a:r>
            <a:r>
              <a:rPr>
                <a:solidFill>
                  <a:srgbClr val="003B4F"/>
                </a:solidFill>
                <a:latin typeface="Courier"/>
              </a:rPr>
              <a:t>(model_poisson, </a:t>
            </a:r>
            <a:r>
              <a:rPr>
                <a:solidFill>
                  <a:srgbClr val="5E5E5E"/>
                </a:solidFill>
                <a:latin typeface="Courier"/>
              </a:rPr>
              <a:t>~</a:t>
            </a:r>
            <a:r>
              <a:rPr>
                <a:solidFill>
                  <a:srgbClr val="003B4F"/>
                </a:solidFill>
                <a:latin typeface="Courier"/>
              </a:rPr>
              <a:t> cyl,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emm_poisson_df &lt;- </a:t>
            </a:r>
            <a:r>
              <a:rPr>
                <a:solidFill>
                  <a:srgbClr val="4758AB"/>
                </a:solidFill>
                <a:latin typeface="Courier"/>
              </a:rPr>
              <a:t>as.data.frame</a:t>
            </a:r>
            <a:r>
              <a:rPr>
                <a:solidFill>
                  <a:srgbClr val="003B4F"/>
                </a:solidFill>
                <a:latin typeface="Courier"/>
              </a:rPr>
              <a:t>(emm_poisson)</a:t>
            </a:r>
            <a:br/>
            <a:br/>
            <a:r>
              <a:rPr>
                <a:solidFill>
                  <a:srgbClr val="5E5E5E"/>
                </a:solidFill>
                <a:latin typeface="Courier"/>
              </a:rPr>
              <a:t># Create visualization</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mtcars_count,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qsec_round),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rate),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asymp.LCL, </a:t>
            </a:r>
            <a:br/>
            <a:r>
              <a:rPr>
                <a:solidFill>
                  <a:srgbClr val="003B4F"/>
                </a:solidFill>
                <a:latin typeface="Courier"/>
              </a:rPr>
              <a:t>                    </a:t>
            </a:r>
            <a:r>
              <a:rPr>
                <a:solidFill>
                  <a:srgbClr val="657422"/>
                </a:solidFill>
                <a:latin typeface="Courier"/>
              </a:rPr>
              <a:t>ymax =</a:t>
            </a:r>
            <a:r>
              <a:rPr>
                <a:solidFill>
                  <a:srgbClr val="003B4F"/>
                </a:solidFill>
                <a:latin typeface="Courier"/>
              </a:rPr>
              <a:t> asymp.UCL),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Quarter-Mile Time"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"Poisson GLM with log link"</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"Quarter-Mile Time (rounded)"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poisson-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1270000">
              <a:buNone/>
            </a:pPr>
            <a:r>
              <a:rPr sz="2000" b="1"/>
              <a:t>Interpreting Poisson GLM Coefficients</a:t>
            </a:r>
          </a:p>
          <a:p>
            <a:pPr lvl="0" indent="0" marL="1270000">
              <a:buNone/>
            </a:pPr>
            <a:r>
              <a:rPr sz="2000"/>
              <a:t>In a Poisson GLM with a log link function:</a:t>
            </a:r>
          </a:p>
          <a:p>
            <a:pPr lvl="0" indent="-342900" marL="342900">
              <a:buAutoNum type="arabicPeriod"/>
            </a:pPr>
            <a:r>
              <a:rPr sz="2000"/>
              <a:t>The coefficients represent changes in the </a:t>
            </a:r>
            <a:r>
              <a:rPr sz="2000" b="1"/>
              <a:t>log</a:t>
            </a:r>
            <a:r>
              <a:rPr sz="2000"/>
              <a:t> of the expected count</a:t>
            </a:r>
          </a:p>
          <a:p>
            <a:pPr lvl="0" indent="-342900" marL="342900">
              <a:buAutoNum type="arabicPeriod"/>
            </a:pPr>
            <a:r>
              <a:rPr sz="2000"/>
              <a:t>When exponentiated (</a:t>
            </a:r>
            <a:r>
              <a:rPr sz="2000">
                <a:latin typeface="Courier"/>
              </a:rPr>
              <a:t>exp(coef)</a:t>
            </a:r>
            <a:r>
              <a:rPr sz="2000"/>
              <a:t>), they represent multiplicative effects</a:t>
            </a:r>
          </a:p>
          <a:p>
            <a:pPr lvl="0" indent="-342900" marL="342900">
              <a:buAutoNum type="arabicPeriod"/>
            </a:pPr>
            <a:r>
              <a:rPr sz="2000"/>
              <a:t>For example, </a:t>
            </a:r>
            <a:r>
              <a:rPr sz="2000">
                <a:latin typeface="Courier"/>
              </a:rPr>
              <a:t>exp(coef)</a:t>
            </a:r>
            <a:r>
              <a:rPr sz="2000"/>
              <a:t> = 0.90 means the expected count is 90% of the reference level</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Model Assumptions with DHARMa</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Simulate residuals using DHARMa</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 </a:t>
            </a:r>
            <a:r>
              <a:rPr>
                <a:solidFill>
                  <a:srgbClr val="5E5E5E"/>
                </a:solidFill>
                <a:latin typeface="Courier"/>
              </a:rPr>
              <a:t># For reproducibility</a:t>
            </a:r>
            <a:br/>
            <a:r>
              <a:rPr>
                <a:solidFill>
                  <a:srgbClr val="003B4F"/>
                </a:solidFill>
                <a:latin typeface="Courier"/>
              </a:rPr>
              <a:t>simulation_poisson &lt;- </a:t>
            </a:r>
            <a:r>
              <a:rPr>
                <a:solidFill>
                  <a:srgbClr val="4758AB"/>
                </a:solidFill>
                <a:latin typeface="Courier"/>
              </a:rPr>
              <a:t>simulateResiduals</a:t>
            </a:r>
            <a:r>
              <a:rPr>
                <a:solidFill>
                  <a:srgbClr val="003B4F"/>
                </a:solidFill>
                <a:latin typeface="Courier"/>
              </a:rPr>
              <a:t>(</a:t>
            </a:r>
            <a:r>
              <a:rPr>
                <a:solidFill>
                  <a:srgbClr val="657422"/>
                </a:solidFill>
                <a:latin typeface="Courier"/>
              </a:rPr>
              <a:t>fittedModel =</a:t>
            </a:r>
            <a:r>
              <a:rPr>
                <a:solidFill>
                  <a:srgbClr val="003B4F"/>
                </a:solidFill>
                <a:latin typeface="Courier"/>
              </a:rPr>
              <a:t> model_poisson, </a:t>
            </a:r>
            <a:r>
              <a:rPr>
                <a:solidFill>
                  <a:srgbClr val="657422"/>
                </a:solidFill>
                <a:latin typeface="Courier"/>
              </a:rPr>
              <a:t>n =</a:t>
            </a:r>
            <a:r>
              <a:rPr>
                <a:solidFill>
                  <a:srgbClr val="003B4F"/>
                </a:solidFill>
                <a:latin typeface="Courier"/>
              </a:rPr>
              <a:t> </a:t>
            </a:r>
            <a:r>
              <a:rPr>
                <a:solidFill>
                  <a:srgbClr val="AD0000"/>
                </a:solidFill>
                <a:latin typeface="Courier"/>
              </a:rPr>
              <a:t>1000</a:t>
            </a:r>
            <a:r>
              <a:rPr>
                <a:solidFill>
                  <a:srgbClr val="003B4F"/>
                </a:solidFill>
                <a:latin typeface="Courier"/>
              </a:rPr>
              <a:t>)</a:t>
            </a:r>
            <a:br/>
            <a:br/>
            <a:r>
              <a:rPr>
                <a:solidFill>
                  <a:srgbClr val="5E5E5E"/>
                </a:solidFill>
                <a:latin typeface="Courier"/>
              </a:rPr>
              <a:t># Plot diagnostic plots</a:t>
            </a:r>
            <a:br/>
            <a:r>
              <a:rPr>
                <a:solidFill>
                  <a:srgbClr val="4758AB"/>
                </a:solidFill>
                <a:latin typeface="Courier"/>
              </a:rPr>
              <a:t>plot</a:t>
            </a:r>
            <a:r>
              <a:rPr>
                <a:solidFill>
                  <a:srgbClr val="003B4F"/>
                </a:solidFill>
                <a:latin typeface="Courier"/>
              </a:rPr>
              <a:t>(simulation_poisson)</a:t>
            </a:r>
          </a:p>
        </p:txBody>
      </p:sp>
      <p:pic>
        <p:nvPicPr>
          <p:cNvPr descr="14_01_lecture_powerpoint_files/figure-pptx/poisson-diagnostics-1.png" id="0" name="Picture 1"/>
          <p:cNvPicPr>
            <a:picLocks noGrp="1" noChangeAspect="1"/>
          </p:cNvPicPr>
          <p:nvPr/>
        </p:nvPicPr>
        <p:blipFill>
          <a:blip r:embed="rId2"/>
          <a:stretch>
            <a:fillRect/>
          </a:stretch>
        </p:blipFill>
        <p:spPr bwMode="auto">
          <a:xfrm>
            <a:off x="4102100" y="952500"/>
            <a:ext cx="4343400" cy="3797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count data shows more variability than expected under a Poisson distribution (variance &gt; mean), we may need to use a negative binomial model instead.</a:t>
            </a:r>
          </a:p>
          <a:p>
            <a:pPr lvl="0" indent="0">
              <a:buNone/>
            </a:pPr>
            <a:r>
              <a:rPr>
                <a:solidFill>
                  <a:srgbClr val="5E5E5E"/>
                </a:solidFill>
                <a:latin typeface="Courier"/>
              </a:rPr>
              <a:t># If we detected overdispersion, we could fit a negative binomial model</a:t>
            </a:r>
            <a:br/>
            <a:r>
              <a:rPr>
                <a:solidFill>
                  <a:srgbClr val="5E5E5E"/>
                </a:solidFill>
                <a:latin typeface="Courier"/>
              </a:rPr>
              <a:t># This is just for demonstration - our data may not actually need this</a:t>
            </a:r>
            <a:br/>
            <a:br/>
            <a:r>
              <a:rPr>
                <a:solidFill>
                  <a:srgbClr val="5E5E5E"/>
                </a:solidFill>
                <a:latin typeface="Courier"/>
              </a:rPr>
              <a:t># Fit negative binomial model</a:t>
            </a:r>
            <a:br/>
            <a:r>
              <a:rPr>
                <a:solidFill>
                  <a:srgbClr val="003B4F"/>
                </a:solidFill>
                <a:latin typeface="Courier"/>
              </a:rPr>
              <a:t>model_nb &lt;- </a:t>
            </a:r>
            <a:r>
              <a:rPr>
                <a:solidFill>
                  <a:srgbClr val="4758AB"/>
                </a:solidFill>
                <a:latin typeface="Courier"/>
              </a:rPr>
              <a:t>glm.nb</a:t>
            </a:r>
            <a:r>
              <a:rPr>
                <a:solidFill>
                  <a:srgbClr val="003B4F"/>
                </a:solidFill>
                <a:latin typeface="Courier"/>
              </a:rPr>
              <a:t>(qsec_round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Compare summaries</a:t>
            </a:r>
            <a:br/>
            <a:r>
              <a:rPr>
                <a:solidFill>
                  <a:srgbClr val="4758AB"/>
                </a:solidFill>
                <a:latin typeface="Courier"/>
              </a:rPr>
              <a:t>summary</a:t>
            </a:r>
            <a:r>
              <a:rPr>
                <a:solidFill>
                  <a:srgbClr val="003B4F"/>
                </a:solidFill>
                <a:latin typeface="Courier"/>
              </a:rPr>
              <a:t>(model_nb)</a:t>
            </a:r>
          </a:p>
          <a:p>
            <a:pPr lvl="0" indent="0">
              <a:buNone/>
            </a:pPr>
            <a:r>
              <a:rPr>
                <a:latin typeface="Courier"/>
              </a:rPr>
              <a:t>
Call:
glm.nb(formula = qsec_round ~ cyl, data = mtcars_count, init.theta = 2935650.009, 
    link = log)
Coefficients:
            Estimate Std. Error z value Pr(&gt;|z|)    
(Intercept)  2.95869    0.06868  43.079   &lt;2e-16 ***
cyl6        -0.07629    0.11277  -0.676    0.499    
cyl8        -0.14243    0.09482  -1.502    0.133    
---
Signif. codes:  0 '***' 0.001 '**' 0.01 '*' 0.05 '.' 0.1 ' ' 1
(Dispersion parameter for Negative Binomial(2935650) family taken to be 1)
    Null deviance: 5.6979  on 31  degrees of freedom
Residual deviance: 3.4486  on 29  degrees of freedom
AIC: 162.62
Number of Fisher Scoring iterations: 1
              Theta:  2935650 
          Std. Err.:  121368753 
Warning while fitting theta: iteration limit reached 
 2 x log-likelihood:  -154.616 </a:t>
            </a:r>
          </a:p>
          <a:p>
            <a:pPr lvl="0" indent="0" marL="0">
              <a:buNone/>
            </a:pPr>
            <a:r>
              <a:rPr/>
              <a:t>The negative binomial model includes an additional dispersion parameter (theta) that allows the variance to be larger than the mean.</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a:p>
            <a:pPr lvl="0" indent="0">
              <a:buNone/>
            </a:pPr>
            <a:r>
              <a:rPr>
                <a:solidFill>
                  <a:srgbClr val="5E5E5E"/>
                </a:solidFill>
                <a:latin typeface="Courier"/>
              </a:rPr>
              <a:t># Create predictions from both models</a:t>
            </a:r>
            <a:br/>
            <a:r>
              <a:rPr>
                <a:solidFill>
                  <a:srgbClr val="003B4F"/>
                </a:solidFill>
                <a:latin typeface="Courier"/>
              </a:rPr>
              <a:t>mtcars_count</a:t>
            </a:r>
            <a:r>
              <a:rPr>
                <a:solidFill>
                  <a:srgbClr val="5E5E5E"/>
                </a:solidFill>
                <a:latin typeface="Courier"/>
              </a:rPr>
              <a:t>$</a:t>
            </a:r>
            <a:r>
              <a:rPr>
                <a:solidFill>
                  <a:srgbClr val="003B4F"/>
                </a:solidFill>
                <a:latin typeface="Courier"/>
              </a:rPr>
              <a:t>pred_poisson &lt;- </a:t>
            </a:r>
            <a:r>
              <a:rPr>
                <a:solidFill>
                  <a:srgbClr val="4758AB"/>
                </a:solidFill>
                <a:latin typeface="Courier"/>
              </a:rPr>
              <a:t>predict</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mtcars_count</a:t>
            </a:r>
            <a:r>
              <a:rPr>
                <a:solidFill>
                  <a:srgbClr val="5E5E5E"/>
                </a:solidFill>
                <a:latin typeface="Courier"/>
              </a:rPr>
              <a:t>$</a:t>
            </a:r>
            <a:r>
              <a:rPr>
                <a:solidFill>
                  <a:srgbClr val="003B4F"/>
                </a:solidFill>
                <a:latin typeface="Courier"/>
              </a:rPr>
              <a:t>pred_nb &lt;- </a:t>
            </a:r>
            <a:r>
              <a:rPr>
                <a:solidFill>
                  <a:srgbClr val="4758AB"/>
                </a:solidFill>
                <a:latin typeface="Courier"/>
              </a:rPr>
              <a:t>predict</a:t>
            </a:r>
            <a:r>
              <a:rPr>
                <a:solidFill>
                  <a:srgbClr val="003B4F"/>
                </a:solidFill>
                <a:latin typeface="Courier"/>
              </a:rPr>
              <a:t>(model_nb,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Compare predictions</a:t>
            </a:r>
            <a:br/>
            <a:r>
              <a:rPr>
                <a:solidFill>
                  <a:srgbClr val="4758AB"/>
                </a:solidFill>
                <a:latin typeface="Courier"/>
              </a:rPr>
              <a:t>ggplot</a:t>
            </a:r>
            <a:r>
              <a:rPr>
                <a:solidFill>
                  <a:srgbClr val="003B4F"/>
                </a:solidFill>
                <a:latin typeface="Courier"/>
              </a:rPr>
              <a:t>(mtcars_count)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pred_poisson, </a:t>
            </a:r>
            <a:r>
              <a:rPr>
                <a:solidFill>
                  <a:srgbClr val="657422"/>
                </a:solidFill>
                <a:latin typeface="Courier"/>
              </a:rPr>
              <a:t>y =</a:t>
            </a:r>
            <a:r>
              <a:rPr>
                <a:solidFill>
                  <a:srgbClr val="003B4F"/>
                </a:solidFill>
                <a:latin typeface="Courier"/>
              </a:rPr>
              <a:t> pred_nb, </a:t>
            </a:r>
            <a:r>
              <a:rPr>
                <a:solidFill>
                  <a:srgbClr val="657422"/>
                </a:solidFill>
                <a:latin typeface="Courier"/>
              </a:rPr>
              <a:t>color =</a:t>
            </a:r>
            <a:r>
              <a:rPr>
                <a:solidFill>
                  <a:srgbClr val="003B4F"/>
                </a:solidFill>
                <a:latin typeface="Courier"/>
              </a:rPr>
              <a:t> cyl)) </a:t>
            </a:r>
            <a:r>
              <a:rPr>
                <a:solidFill>
                  <a:srgbClr val="5E5E5E"/>
                </a:solidFill>
                <a:latin typeface="Courier"/>
              </a:rPr>
              <a:t>+</a:t>
            </a:r>
            <a:br/>
            <a:r>
              <a:rPr>
                <a:solidFill>
                  <a:srgbClr val="003B4F"/>
                </a:solidFill>
                <a:latin typeface="Courier"/>
              </a:rPr>
              <a:t>  </a:t>
            </a:r>
            <a:r>
              <a:rPr>
                <a:solidFill>
                  <a:srgbClr val="4758AB"/>
                </a:solidFill>
                <a:latin typeface="Courier"/>
              </a:rPr>
              <a:t>geom_abline</a:t>
            </a:r>
            <a:r>
              <a:rPr>
                <a:solidFill>
                  <a:srgbClr val="003B4F"/>
                </a:solidFill>
                <a:latin typeface="Courier"/>
              </a:rPr>
              <a:t>(</a:t>
            </a:r>
            <a:r>
              <a:rPr>
                <a:solidFill>
                  <a:srgbClr val="657422"/>
                </a:solidFill>
                <a:latin typeface="Courier"/>
              </a:rPr>
              <a:t>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slope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Poisson and Negative Binomial Predictions"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"Poisson Predictions"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"Negative Binomial Predictions"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compare-models-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indent="0" marL="0">
                  <a:buNone/>
                </a:pPr>
                <a:r>
                  <a:rPr/>
                  <a:t>Let’s examine the simple logistic regression model:</a:t>
                </a:r>
              </a:p>
              <a:p>
                <a:pPr lvl="0" indent="0" marL="0">
                  <a:buNone/>
                </a:pPr>
                <a14:m>
                  <m:oMathPara xmlns:m="http://schemas.openxmlformats.org/officeDocument/2006/math">
                    <m:oMathParaPr>
                      <m:jc m:val="center"/>
                    </m:oMathParaPr>
                    <m:oMath>
                      <m:r>
                        <m:t>π</m:t>
                      </m:r>
                      <m:d>
                        <m:dPr>
                          <m:begChr m:val="("/>
                          <m:sepChr m:val=""/>
                          <m:endChr m:val=")"/>
                          <m:grow/>
                        </m:dPr>
                        <m:e>
                          <m:r>
                            <m:t>x</m:t>
                          </m:r>
                        </m:e>
                      </m:d>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m:oMathPara>
                </a14:m>
              </a:p>
              <a:p>
                <a:pPr lvl="0" indent="0" marL="0">
                  <a:buNone/>
                </a:pPr>
                <a:r>
                  <a:rPr/>
                  <a:t>Where: - </a:t>
                </a:r>
                <a14:m>
                  <m:oMath xmlns:m="http://schemas.openxmlformats.org/officeDocument/2006/math">
                    <m:r>
                      <m:t>π</m:t>
                    </m:r>
                    <m:d>
                      <m:dPr>
                        <m:begChr m:val="("/>
                        <m:sepChr m:val=""/>
                        <m:endChr m:val=")"/>
                        <m:grow/>
                      </m:dPr>
                      <m:e>
                        <m:r>
                          <m:t>x</m:t>
                        </m:r>
                      </m:e>
                    </m:d>
                  </m:oMath>
                </a14:m>
                <a:r>
                  <a:rPr/>
                  <a:t> is the probability that Y = 1 given X = x - </a:t>
                </a:r>
                <a14:m>
                  <m:oMath xmlns:m="http://schemas.openxmlformats.org/officeDocument/2006/math">
                    <m:sSub>
                      <m:e>
                        <m:r>
                          <m:t>β</m:t>
                        </m:r>
                      </m:e>
                      <m:sub>
                        <m:r>
                          <m:t>0</m:t>
                        </m:r>
                      </m:sub>
                    </m:sSub>
                  </m:oMath>
                </a14:m>
                <a:r>
                  <a:rPr/>
                  <a:t> is the intercept - </a:t>
                </a:r>
                <a14:m>
                  <m:oMath xmlns:m="http://schemas.openxmlformats.org/officeDocument/2006/math">
                    <m:sSub>
                      <m:e>
                        <m:r>
                          <m:t>β</m:t>
                        </m:r>
                      </m:e>
                      <m:sub>
                        <m:r>
                          <m:t>1</m:t>
                        </m:r>
                      </m:sub>
                    </m:sSub>
                  </m:oMath>
                </a14:m>
                <a:r>
                  <a:rPr/>
                  <a:t> is the slope (rate of change in </a:t>
                </a:r>
                <a14:m>
                  <m:oMath xmlns:m="http://schemas.openxmlformats.org/officeDocument/2006/math">
                    <m:r>
                      <m:t>π</m:t>
                    </m:r>
                    <m:d>
                      <m:dPr>
                        <m:begChr m:val="("/>
                        <m:sepChr m:val=""/>
                        <m:endChr m:val=")"/>
                        <m:grow/>
                      </m:dPr>
                      <m:e>
                        <m:r>
                          <m:t>x</m:t>
                        </m:r>
                      </m:e>
                    </m:d>
                  </m:oMath>
                </a14:m>
                <a:r>
                  <a:rPr/>
                  <a:t> for a unit change in X)</a:t>
                </a:r>
              </a:p>
              <a:p>
                <a:pPr lvl="0" indent="0" marL="0">
                  <a:buNone/>
                </a:pPr>
                <a:r>
                  <a:rPr/>
                  <a:t>To linearize this relationship, we use the logit link function:</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r>
                        <m:rPr>
                          <m:sty m:val="p"/>
                        </m:rPr>
                        <m:t>log</m:t>
                      </m:r>
                      <m:d>
                        <m:dPr>
                          <m:begChr m:val="("/>
                          <m:sepChr m:val=""/>
                          <m:endChr m:val=")"/>
                          <m:grow/>
                        </m:dPr>
                        <m:e>
                          <m:f>
                            <m:fPr>
                              <m:type m:val="bar"/>
                            </m:fPr>
                            <m:num>
                              <m:r>
                                <m:t>π</m:t>
                              </m:r>
                              <m:d>
                                <m:dPr>
                                  <m:begChr m:val="("/>
                                  <m:sepChr m:val=""/>
                                  <m:endChr m:val=")"/>
                                  <m:grow/>
                                </m:dPr>
                                <m:e>
                                  <m:r>
                                    <m:t>x</m:t>
                                  </m:r>
                                </m:e>
                              </m:d>
                            </m:num>
                            <m:den>
                              <m:r>
                                <m:t>1</m:t>
                              </m:r>
                              <m:r>
                                <m:rPr>
                                  <m:sty m:val="p"/>
                                </m:rPr>
                                <m:t>−</m:t>
                              </m:r>
                              <m:r>
                                <m:t>π</m:t>
                              </m:r>
                              <m:d>
                                <m:dPr>
                                  <m:begChr m:val="("/>
                                  <m:sepChr m:val=""/>
                                  <m:endChr m:val=")"/>
                                  <m:grow/>
                                </m:dPr>
                                <m:e>
                                  <m:r>
                                    <m:t>x</m:t>
                                  </m:r>
                                </m:e>
                              </m:d>
                            </m:den>
                          </m:f>
                        </m:e>
                      </m:d>
                      <m:r>
                        <m:rPr>
                          <m:sty m:val="p"/>
                        </m:rPr>
                        <m:t>=</m:t>
                      </m:r>
                      <m:sSub>
                        <m:e>
                          <m:r>
                            <m:t>β</m:t>
                          </m:r>
                        </m:e>
                        <m:sub>
                          <m:r>
                            <m:t>0</m:t>
                          </m:r>
                        </m:sub>
                      </m:sSub>
                      <m:r>
                        <m:rPr>
                          <m:sty m:val="p"/>
                        </m:rPr>
                        <m:t>+</m:t>
                      </m:r>
                      <m:sSub>
                        <m:e>
                          <m:r>
                            <m:t>β</m:t>
                          </m:r>
                        </m:e>
                        <m:sub>
                          <m:r>
                            <m:t>1</m:t>
                          </m:r>
                        </m:sub>
                      </m:sSub>
                      <m:r>
                        <m:t>x</m:t>
                      </m:r>
                    </m:oMath>
                  </m:oMathPara>
                </a14:m>
              </a:p>
              <a:p>
                <a:pPr lvl="0" indent="0" marL="0">
                  <a:buNone/>
                </a:pPr>
                <a:r>
                  <a:rPr/>
                  <a:t>This transforms the probability (which is bounded between 0 and 1) to a linear function that can range from -∞ to +∞.</a:t>
                </a:r>
              </a:p>
            </p:txBody>
          </p:sp>
        </mc:Choice>
      </mc:AlternateContent>
      <p:sp>
        <p:nvSpPr>
          <p:cNvPr id="5" name="Text Placeholder 4"/>
          <p:cNvSpPr>
            <a:spLocks noGrp="1"/>
          </p:cNvSpPr>
          <p:nvPr>
            <p:ph idx="3" sz="quarter" type="body"/>
          </p:nvPr>
        </p:nvSpPr>
        <p:spPr/>
        <p:txBody>
          <a:bodyPr/>
          <a:lstStyle/>
          <a:p>
            <a:pPr lvl="0" indent="0">
              <a:buNone/>
            </a:pPr>
            <a:r>
              <a:rPr>
                <a:solidFill>
                  <a:srgbClr val="5E5E5E"/>
                </a:solidFill>
                <a:latin typeface="Courier"/>
              </a:rPr>
              <a:t># Create data for sigmoid curve</a:t>
            </a:r>
            <a:br/>
            <a:r>
              <a:rPr>
                <a:solidFill>
                  <a:srgbClr val="003B4F"/>
                </a:solidFill>
                <a:latin typeface="Courier"/>
              </a:rPr>
              <a:t>sigmoid_data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5E5E5E"/>
                </a:solidFill>
                <a:latin typeface="Courier"/>
              </a:rPr>
              <a:t>-</a:t>
            </a:r>
            <a:r>
              <a:rPr>
                <a:solidFill>
                  <a:srgbClr val="AD0000"/>
                </a:solidFill>
                <a:latin typeface="Courier"/>
              </a:rPr>
              <a:t>6</a:t>
            </a:r>
            <a:r>
              <a:rPr>
                <a:solidFill>
                  <a:srgbClr val="003B4F"/>
                </a:solidFill>
                <a:latin typeface="Courier"/>
              </a:rPr>
              <a:t>, </a:t>
            </a:r>
            <a:r>
              <a:rPr>
                <a:solidFill>
                  <a:srgbClr val="AD0000"/>
                </a:solidFill>
                <a:latin typeface="Courier"/>
              </a:rPr>
              <a:t>6</a:t>
            </a: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r>
              <a:rPr>
                <a:solidFill>
                  <a:srgbClr val="003B4F"/>
                </a:solidFill>
                <a:latin typeface="Courier"/>
              </a:rPr>
              <a:t>sigmoid_data</a:t>
            </a:r>
            <a:r>
              <a:rPr>
                <a:solidFill>
                  <a:srgbClr val="5E5E5E"/>
                </a:solidFill>
                <a:latin typeface="Courier"/>
              </a:rPr>
              <a:t>$</a:t>
            </a:r>
            <a:r>
              <a:rPr>
                <a:solidFill>
                  <a:srgbClr val="003B4F"/>
                </a:solidFill>
                <a:latin typeface="Courier"/>
              </a:rPr>
              <a:t>p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sigmoid_data</a:t>
            </a:r>
            <a:r>
              <a:rPr>
                <a:solidFill>
                  <a:srgbClr val="5E5E5E"/>
                </a:solidFill>
                <a:latin typeface="Courier"/>
              </a:rPr>
              <a:t>$</a:t>
            </a:r>
            <a:r>
              <a:rPr>
                <a:solidFill>
                  <a:srgbClr val="003B4F"/>
                </a:solidFill>
                <a:latin typeface="Courier"/>
              </a:rPr>
              <a:t>x))</a:t>
            </a:r>
            <a:br/>
            <a:br/>
            <a:r>
              <a:rPr>
                <a:solidFill>
                  <a:srgbClr val="5E5E5E"/>
                </a:solidFill>
                <a:latin typeface="Courier"/>
              </a:rPr>
              <a:t># Plot the sigmoid curve</a:t>
            </a:r>
            <a:br/>
            <a:r>
              <a:rPr>
                <a:solidFill>
                  <a:srgbClr val="4758AB"/>
                </a:solidFill>
                <a:latin typeface="Courier"/>
              </a:rPr>
              <a:t>ggplot</a:t>
            </a:r>
            <a:r>
              <a:rPr>
                <a:solidFill>
                  <a:srgbClr val="003B4F"/>
                </a:solidFill>
                <a:latin typeface="Courier"/>
              </a:rPr>
              <a:t>(sigmoid_data, </a:t>
            </a:r>
            <a:r>
              <a:rPr>
                <a:solidFill>
                  <a:srgbClr val="4758AB"/>
                </a:solidFill>
                <a:latin typeface="Courier"/>
              </a:rPr>
              <a:t>aes</a:t>
            </a:r>
            <a:r>
              <a:rPr>
                <a:solidFill>
                  <a:srgbClr val="003B4F"/>
                </a:solidFill>
                <a:latin typeface="Courier"/>
              </a:rPr>
              <a:t>(x, p))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geom_vline</a:t>
            </a:r>
            <a:r>
              <a:rPr>
                <a:solidFill>
                  <a:srgbClr val="003B4F"/>
                </a:solidFill>
                <a:latin typeface="Courier"/>
              </a:rPr>
              <a:t>(</a:t>
            </a:r>
            <a:r>
              <a:rPr>
                <a:solidFill>
                  <a:srgbClr val="657422"/>
                </a:solidFill>
                <a:latin typeface="Courier"/>
              </a:rPr>
              <a:t>xintercept =</a:t>
            </a:r>
            <a:r>
              <a:rPr>
                <a:solidFill>
                  <a:srgbClr val="003B4F"/>
                </a:solidFill>
                <a:latin typeface="Courier"/>
              </a:rPr>
              <a:t> </a:t>
            </a:r>
            <a:r>
              <a:rPr>
                <a:solidFill>
                  <a:srgbClr val="AD0000"/>
                </a:solidFill>
                <a:latin typeface="Courier"/>
              </a:rPr>
              <a:t>0</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"Logistic Function"</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"Mapping from linear predictor to probability"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"Linear predictor (β₀ + β₁x)"</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π(x)"</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ogistic-curve-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we’ll model the presence/absence of lizards (</a:t>
            </a:r>
            <a:r>
              <a:rPr i="1"/>
              <a:t>Uta</a:t>
            </a:r>
            <a:r>
              <a:rPr/>
              <a:t>) on islands in the Gulf of California based on perimeter/area ratio.</a:t>
            </a:r>
          </a:p>
          <a:p>
            <a:pPr lvl="0" indent="0">
              <a:buNone/>
            </a:pPr>
            <a:r>
              <a:rPr>
                <a:solidFill>
                  <a:srgbClr val="5E5E5E"/>
                </a:solidFill>
                <a:latin typeface="Courier"/>
              </a:rPr>
              <a:t># Create a simulated dataset based on the described study</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island_data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island_id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19</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AD0000"/>
                </a:solidFill>
                <a:latin typeface="Courier"/>
              </a:rPr>
              <a:t>40</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AD0000"/>
                </a:solidFill>
                <a:latin typeface="Courier"/>
              </a:rPr>
              <a:t>50</a:t>
            </a:r>
            <a:r>
              <a:rPr>
                <a:solidFill>
                  <a:srgbClr val="003B4F"/>
                </a:solidFill>
                <a:latin typeface="Courier"/>
              </a:rPr>
              <a:t>, </a:t>
            </a:r>
            <a:r>
              <a:rPr>
                <a:solidFill>
                  <a:srgbClr val="AD0000"/>
                </a:solidFill>
                <a:latin typeface="Courier"/>
              </a:rPr>
              <a:t>55</a:t>
            </a:r>
            <a:r>
              <a:rPr>
                <a:solidFill>
                  <a:srgbClr val="003B4F"/>
                </a:solidFill>
                <a:latin typeface="Courier"/>
              </a:rPr>
              <a:t>, </a:t>
            </a:r>
            <a:r>
              <a:rPr>
                <a:solidFill>
                  <a:srgbClr val="AD0000"/>
                </a:solidFill>
                <a:latin typeface="Courier"/>
              </a:rPr>
              <a:t>60</a:t>
            </a:r>
            <a:r>
              <a:rPr>
                <a:solidFill>
                  <a:srgbClr val="003B4F"/>
                </a:solidFill>
                <a:latin typeface="Courier"/>
              </a:rPr>
              <a:t>, </a:t>
            </a:r>
            <a:r>
              <a:rPr>
                <a:solidFill>
                  <a:srgbClr val="AD0000"/>
                </a:solidFill>
                <a:latin typeface="Courier"/>
              </a:rPr>
              <a:t>65</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a:t>
            </a:r>
            <a:br/>
            <a:r>
              <a:rPr>
                <a:solidFill>
                  <a:srgbClr val="003B4F"/>
                </a:solidFill>
                <a:latin typeface="Courier"/>
              </a:rPr>
              <a:t>  </a:t>
            </a:r>
            <a:r>
              <a:rPr>
                <a:solidFill>
                  <a:srgbClr val="657422"/>
                </a:solidFill>
                <a:latin typeface="Courier"/>
              </a:rPr>
              <a:t>uta_present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a:t>
            </a:r>
            <a:b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uta_present =</a:t>
            </a:r>
            <a:r>
              <a:rPr>
                <a:solidFill>
                  <a:srgbClr val="003B4F"/>
                </a:solidFill>
                <a:latin typeface="Courier"/>
              </a:rPr>
              <a:t> </a:t>
            </a:r>
            <a:r>
              <a:rPr>
                <a:solidFill>
                  <a:srgbClr val="4758AB"/>
                </a:solidFill>
                <a:latin typeface="Courier"/>
              </a:rPr>
              <a:t>factor</a:t>
            </a:r>
            <a:r>
              <a:rPr>
                <a:solidFill>
                  <a:srgbClr val="003B4F"/>
                </a:solidFill>
                <a:latin typeface="Courier"/>
              </a:rPr>
              <a:t>(uta_present,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p>
          <a:p>
            <a:pPr lvl="0" indent="0">
              <a:buNone/>
            </a:pPr>
            <a:r>
              <a:rPr>
                <a:latin typeface="Courier"/>
              </a:rPr>
              <a:t>
Call:
glm(formula = uta_present ~ pa_ratio, family = binomial(link = "logit"), 
    data = island_data)
Coefficients:
              Estimate Std. Error z value Pr(&gt;|z|)
(Intercept)    241.039 191755.596   0.001    0.999
pa_ratio        -8.766   6965.289  -0.001    0.999
(Dispersion parameter for binomial family taken to be 1)
    Null deviance: 2.6287e+01  on 18  degrees of freedom
Residual deviance: 2.4292e-09  on 17  degrees of freedom
AIC: 4
Number of Fisher Scoring iterations: 25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a:p>
            <a:pPr lvl="0" indent="0">
              <a:buNone/>
            </a:pPr>
            <a:r>
              <a:rPr>
                <a:solidFill>
                  <a:srgbClr val="5E5E5E"/>
                </a:solidFill>
                <a:latin typeface="Courier"/>
              </a:rPr>
              <a:t># Create a dataframe for predictions</a:t>
            </a:r>
            <a:br/>
            <a:r>
              <a:rPr>
                <a:solidFill>
                  <a:srgbClr val="003B4F"/>
                </a:solidFill>
                <a:latin typeface="Courier"/>
              </a:rPr>
              <a:t>pred_data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4758AB"/>
                </a:solidFill>
                <a:latin typeface="Courier"/>
              </a:rPr>
              <a:t>max</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br/>
            <a:r>
              <a:rPr>
                <a:solidFill>
                  <a:srgbClr val="5E5E5E"/>
                </a:solidFill>
                <a:latin typeface="Courier"/>
              </a:rPr>
              <a:t># Get predicted probabilities</a:t>
            </a:r>
            <a:br/>
            <a:r>
              <a:rPr>
                <a:solidFill>
                  <a:srgbClr val="003B4F"/>
                </a:solidFill>
                <a:latin typeface="Courier"/>
              </a:rPr>
              <a:t>pred_data</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(lizard_model, </a:t>
            </a:r>
            <a:br/>
            <a:r>
              <a:rPr>
                <a:solidFill>
                  <a:srgbClr val="003B4F"/>
                </a:solidFill>
                <a:latin typeface="Courier"/>
              </a:rPr>
              <a:t>                         </a:t>
            </a:r>
            <a:r>
              <a:rPr>
                <a:solidFill>
                  <a:srgbClr val="657422"/>
                </a:solidFill>
                <a:latin typeface="Courier"/>
              </a:rPr>
              <a:t>newdata =</a:t>
            </a:r>
            <a:r>
              <a:rPr>
                <a:solidFill>
                  <a:srgbClr val="003B4F"/>
                </a:solidFill>
                <a:latin typeface="Courier"/>
              </a:rPr>
              <a:t> pred_data,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observed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predicted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 (optional)</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"Probability of Uta Presence vs. Perimeter/Area Ratio"</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"Perimeter/Area Ratio"</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izard-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We want to test the null hypothesis that β₁ = 0, meaning there’s no relationship between P/A ratio and lizard presence.</a:t>
            </a:r>
          </a:p>
          <a:p>
            <a:pPr lvl="0" indent="0" marL="0">
              <a:buNone/>
            </a:pPr>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5E5E5E"/>
                </a:solidFill>
                <a:latin typeface="Courier"/>
              </a:rPr>
              <a:t># Reduced model (intercept only)</a:t>
            </a:r>
            <a:b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Likelihood ratio test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uta_present ~ 1
Model 2: uta_present ~ pa_ratio
  Resid. Df Resid. Dev Df Deviance  Pr(&gt;Chi)    
1        18     26.287                          
2        17      0.000  1   26.287 2.943e-07 ***
---
Signif. codes:  0 '***' 0.001 '**' 0.01 '*' 0.05 '.' 0.1 ' ' 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1270000">
              <a:buNone/>
            </a:pPr>
            <a:r>
              <a:rPr sz="2000" b="1"/>
              <a:t>Working with Odds Ratios</a:t>
            </a:r>
          </a:p>
          <a:p>
            <a:pPr lvl="0" indent="0" marL="1270000">
              <a:buNone/>
            </a:pPr>
            <a:r>
              <a:rPr sz="2000"/>
              <a:t>The odds ratio represents how the odds of the event (e.g., lizard presence) change with a unit increase in the predictor.</a:t>
            </a:r>
          </a:p>
          <a:p>
            <a:pPr lvl="0"/>
            <a:r>
              <a:rPr sz="2000" b="1"/>
              <a:t>Odds ratio = exp(β₁)</a:t>
            </a:r>
          </a:p>
          <a:p>
            <a:pPr lvl="0"/>
            <a:r>
              <a:rPr sz="2000"/>
              <a:t>If odds ratio &gt; 1: Increasing the predictor increases the odds of event</a:t>
            </a:r>
          </a:p>
          <a:p>
            <a:pPr lvl="0"/>
            <a:r>
              <a:rPr sz="2000"/>
              <a:t>If odds ratio &lt; 1: Increasing the predictor decreases the odds of event</a:t>
            </a:r>
          </a:p>
          <a:p>
            <a:pPr lvl="0"/>
            <a:r>
              <a:rPr sz="2000"/>
              <a:t>If odds ratio = 1: No effect of predictor on odds of event</a:t>
            </a:r>
          </a:p>
          <a:p>
            <a:pPr lvl="0" indent="0">
              <a:buNone/>
            </a:pPr>
            <a:r>
              <a:rPr>
                <a:solidFill>
                  <a:srgbClr val="5E5E5E"/>
                </a:solidFill>
                <a:latin typeface="Courier"/>
              </a:rPr>
              <a:t># Calculate odds ratio and confidence interval</a:t>
            </a:r>
            <a:b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Odds Ratio: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95% CI: 0 to Inf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solidFill>
                  <a:srgbClr val="5E5E5E"/>
                </a:solidFill>
                <a:latin typeface="Courier"/>
              </a:rPr>
              <a:t># Calculate Hosmer-Lemeshow statistic</a:t>
            </a:r>
            <a:br/>
            <a:r>
              <a:rPr>
                <a:solidFill>
                  <a:srgbClr val="5E5E5E"/>
                </a:solidFill>
                <a:latin typeface="Courier"/>
              </a:rPr>
              <a:t># This would normally require an additional package like 'ResourceSelection'</a:t>
            </a:r>
            <a:br/>
            <a:r>
              <a:rPr>
                <a:solidFill>
                  <a:srgbClr val="5E5E5E"/>
                </a:solidFill>
                <a:latin typeface="Courier"/>
              </a:rPr>
              <a:t># Instead, we'll use a simpler approximation and other diagnostics</a:t>
            </a:r>
            <a:br/>
            <a:br/>
            <a:r>
              <a:rPr>
                <a:solidFill>
                  <a:srgbClr val="5E5E5E"/>
                </a:solidFill>
                <a:latin typeface="Courier"/>
              </a:rPr>
              <a:t># Calculate Pearson residuals</a:t>
            </a:r>
            <a:br/>
            <a:r>
              <a:rPr>
                <a:solidFill>
                  <a:srgbClr val="003B4F"/>
                </a:solidFill>
                <a:latin typeface="Courier"/>
              </a:rPr>
              <a:t>pearson_resid &lt;- </a:t>
            </a:r>
            <a:r>
              <a:rPr>
                <a:solidFill>
                  <a:srgbClr val="4758AB"/>
                </a:solidFill>
                <a:latin typeface="Courier"/>
              </a:rPr>
              <a:t>residuals</a:t>
            </a:r>
            <a:r>
              <a:rPr>
                <a:solidFill>
                  <a:srgbClr val="003B4F"/>
                </a:solidFill>
                <a:latin typeface="Courier"/>
              </a:rPr>
              <a:t>(lizard_model,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pearson_chi2 &lt;- </a:t>
            </a:r>
            <a:r>
              <a:rPr>
                <a:solidFill>
                  <a:srgbClr val="4758AB"/>
                </a:solidFill>
                <a:latin typeface="Courier"/>
              </a:rPr>
              <a:t>sum</a:t>
            </a:r>
            <a:r>
              <a:rPr>
                <a:solidFill>
                  <a:srgbClr val="003B4F"/>
                </a:solidFill>
                <a:latin typeface="Courier"/>
              </a:rPr>
              <a:t>(pearson_resid</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df_resid &lt;- lizard_model</a:t>
            </a:r>
            <a:r>
              <a:rPr>
                <a:solidFill>
                  <a:srgbClr val="5E5E5E"/>
                </a:solidFill>
                <a:latin typeface="Courier"/>
              </a:rPr>
              <a:t>$</a:t>
            </a:r>
            <a:r>
              <a:rPr>
                <a:solidFill>
                  <a:srgbClr val="003B4F"/>
                </a:solidFill>
                <a:latin typeface="Courier"/>
              </a:rPr>
              <a:t>df.residual</a:t>
            </a:r>
            <a:br/>
            <a:br/>
            <a:r>
              <a:rPr>
                <a:solidFill>
                  <a:srgbClr val="5E5E5E"/>
                </a:solidFill>
                <a:latin typeface="Courier"/>
              </a:rPr>
              <a:t># Calculate deviance</a:t>
            </a:r>
            <a:br/>
            <a:r>
              <a:rPr>
                <a:solidFill>
                  <a:srgbClr val="003B4F"/>
                </a:solidFill>
                <a:latin typeface="Courier"/>
              </a:rPr>
              <a:t>deviance_g2 &lt;- lizard_model</a:t>
            </a:r>
            <a:r>
              <a:rPr>
                <a:solidFill>
                  <a:srgbClr val="5E5E5E"/>
                </a:solidFill>
                <a:latin typeface="Courier"/>
              </a:rPr>
              <a:t>$</a:t>
            </a:r>
            <a:r>
              <a:rPr>
                <a:solidFill>
                  <a:srgbClr val="003B4F"/>
                </a:solidFill>
                <a:latin typeface="Courier"/>
              </a:rPr>
              <a:t>deviance</a:t>
            </a:r>
            <a:br/>
            <a:r>
              <a:rPr>
                <a:solidFill>
                  <a:srgbClr val="003B4F"/>
                </a:solidFill>
                <a:latin typeface="Courier"/>
              </a:rPr>
              <a:t>null_deviance &lt;- lizard_model</a:t>
            </a:r>
            <a:r>
              <a:rPr>
                <a:solidFill>
                  <a:srgbClr val="5E5E5E"/>
                </a:solidFill>
                <a:latin typeface="Courier"/>
              </a:rPr>
              <a:t>$</a:t>
            </a:r>
            <a:r>
              <a:rPr>
                <a:solidFill>
                  <a:srgbClr val="003B4F"/>
                </a:solidFill>
                <a:latin typeface="Courier"/>
              </a:rPr>
              <a:t>null.deviance</a:t>
            </a:r>
            <a:br/>
            <a:br/>
            <a:r>
              <a:rPr>
                <a:solidFill>
                  <a:srgbClr val="5E5E5E"/>
                </a:solidFill>
                <a:latin typeface="Courier"/>
              </a:rPr>
              <a:t># Calculate McFadden's pseudo-R²</a:t>
            </a:r>
            <a:br/>
            <a:r>
              <a:rPr>
                <a:solidFill>
                  <a:srgbClr val="003B4F"/>
                </a:solidFill>
                <a:latin typeface="Courier"/>
              </a:rPr>
              <a:t>r2_mcfadden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(deviance_g2 </a:t>
            </a:r>
            <a:r>
              <a:rPr>
                <a:solidFill>
                  <a:srgbClr val="5E5E5E"/>
                </a:solidFill>
                <a:latin typeface="Courier"/>
              </a:rPr>
              <a:t>/</a:t>
            </a:r>
            <a:r>
              <a:rPr>
                <a:solidFill>
                  <a:srgbClr val="003B4F"/>
                </a:solidFill>
                <a:latin typeface="Courier"/>
              </a:rPr>
              <a:t> null_deviance)</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"Pearson χ²:"</a:t>
            </a:r>
            <a:r>
              <a:rPr>
                <a:solidFill>
                  <a:srgbClr val="003B4F"/>
                </a:solidFill>
                <a:latin typeface="Courier"/>
              </a:rPr>
              <a:t>, </a:t>
            </a:r>
            <a:r>
              <a:rPr>
                <a:solidFill>
                  <a:srgbClr val="4758AB"/>
                </a:solidFill>
                <a:latin typeface="Courier"/>
              </a:rPr>
              <a:t>round</a:t>
            </a:r>
            <a:r>
              <a:rPr>
                <a:solidFill>
                  <a:srgbClr val="003B4F"/>
                </a:solidFill>
                <a:latin typeface="Courier"/>
              </a:rPr>
              <a:t>(pearson_chi2,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(pearson_chi2,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Pearson χ²: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"Deviance G²:"</a:t>
            </a:r>
            <a:r>
              <a:rPr>
                <a:solidFill>
                  <a:srgbClr val="003B4F"/>
                </a:solidFill>
                <a:latin typeface="Courier"/>
              </a:rPr>
              <a:t>, </a:t>
            </a:r>
            <a:r>
              <a:rPr>
                <a:solidFill>
                  <a:srgbClr val="4758AB"/>
                </a:solidFill>
                <a:latin typeface="Courier"/>
              </a:rPr>
              <a:t>round</a:t>
            </a:r>
            <a:r>
              <a:rPr>
                <a:solidFill>
                  <a:srgbClr val="003B4F"/>
                </a:solidFill>
                <a:latin typeface="Courier"/>
              </a:rPr>
              <a:t>(deviance_g2,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(deviance_g2,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Deviance G²: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"McFadden's R²:"</a:t>
            </a:r>
            <a:r>
              <a:rPr>
                <a:solidFill>
                  <a:srgbClr val="003B4F"/>
                </a:solidFill>
                <a:latin typeface="Courier"/>
              </a:rPr>
              <a:t>, </a:t>
            </a:r>
            <a:r>
              <a:rPr>
                <a:solidFill>
                  <a:srgbClr val="4758AB"/>
                </a:solidFill>
                <a:latin typeface="Courier"/>
              </a:rPr>
              <a:t>round</a:t>
            </a:r>
            <a:r>
              <a:rPr>
                <a:solidFill>
                  <a:srgbClr val="003B4F"/>
                </a:solidFill>
                <a:latin typeface="Courier"/>
              </a:rPr>
              <a:t>(r2_mcfadden,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McFadden's R²: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solidFill>
                      <a:srgbClr val="5E5E5E"/>
                    </a:solidFill>
                    <a:latin typeface="Courier"/>
                  </a:rPr>
                  <a:t># Simulate data for the rodent example</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n &lt;- </a:t>
                </a:r>
                <a:r>
                  <a:rPr>
                    <a:solidFill>
                      <a:srgbClr val="AD0000"/>
                    </a:solidFill>
                    <a:latin typeface="Courier"/>
                  </a:rPr>
                  <a:t>25</a:t>
                </a:r>
                <a:r>
                  <a:rPr>
                    <a:solidFill>
                      <a:srgbClr val="003B4F"/>
                    </a:solidFill>
                    <a:latin typeface="Courier"/>
                  </a:rPr>
                  <a:t>  </a:t>
                </a:r>
                <a:r>
                  <a:rPr>
                    <a:solidFill>
                      <a:srgbClr val="5E5E5E"/>
                    </a:solidFill>
                    <a:latin typeface="Courier"/>
                  </a:rPr>
                  <a:t># 25 canyon fragments</a:t>
                </a:r>
                <a:br/>
                <a:br/>
                <a:r>
                  <a:rPr>
                    <a:solidFill>
                      <a:srgbClr val="5E5E5E"/>
                    </a:solidFill>
                    <a:latin typeface="Courier"/>
                  </a:rPr>
                  <a:t># Create predictor variables</a:t>
                </a:r>
                <a:br/>
                <a:r>
                  <a:rPr>
                    <a:solidFill>
                      <a:srgbClr val="003B4F"/>
                    </a:solidFill>
                    <a:latin typeface="Courier"/>
                  </a:rPr>
                  <a:t>fragment_data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fragment_id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"F"</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a:t>
                </a:r>
                <a:br/>
                <a:r>
                  <a:rPr>
                    <a:solidFill>
                      <a:srgbClr val="003B4F"/>
                    </a:solidFill>
                    <a:latin typeface="Courier"/>
                  </a:rPr>
                  <a:t>  </a:t>
                </a:r>
                <a:r>
                  <a:rPr>
                    <a:solidFill>
                      <a:srgbClr val="657422"/>
                    </a:solidFill>
                    <a:latin typeface="Courier"/>
                  </a:rPr>
                  <a:t>distance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0</a:t>
                </a:r>
                <a:r>
                  <a:rPr>
                    <a:solidFill>
                      <a:srgbClr val="003B4F"/>
                    </a:solidFill>
                    <a:latin typeface="Courier"/>
                  </a:rPr>
                  <a:t>, </a:t>
                </a:r>
                <a:r>
                  <a:rPr>
                    <a:solidFill>
                      <a:srgbClr val="AD0000"/>
                    </a:solidFill>
                    <a:latin typeface="Courier"/>
                  </a:rPr>
                  <a:t>3000</a:t>
                </a:r>
                <a:r>
                  <a:rPr>
                    <a:solidFill>
                      <a:srgbClr val="003B4F"/>
                    </a:solidFill>
                    <a:latin typeface="Courier"/>
                  </a:rPr>
                  <a:t>),            </a:t>
                </a:r>
                <a:r>
                  <a:rPr>
                    <a:solidFill>
                      <a:srgbClr val="5E5E5E"/>
                    </a:solidFill>
                    <a:latin typeface="Courier"/>
                  </a:rPr>
                  <a:t># Distance to source canyon (m)</a:t>
                </a:r>
                <a:br/>
                <a:r>
                  <a:rPr>
                    <a:solidFill>
                      <a:srgbClr val="003B4F"/>
                    </a:solidFill>
                    <a:latin typeface="Courier"/>
                  </a:rPr>
                  <a:t>  </a:t>
                </a:r>
                <a:r>
                  <a:rPr>
                    <a:solidFill>
                      <a:srgbClr val="657422"/>
                    </a:solidFill>
                    <a:latin typeface="Courier"/>
                  </a:rPr>
                  <a:t>age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5</a:t>
                </a:r>
                <a:r>
                  <a:rPr>
                    <a:solidFill>
                      <a:srgbClr val="003B4F"/>
                    </a:solidFill>
                    <a:latin typeface="Courier"/>
                  </a:rPr>
                  <a:t>, </a:t>
                </a:r>
                <a:r>
                  <a:rPr>
                    <a:solidFill>
                      <a:srgbClr val="AD0000"/>
                    </a:solidFill>
                    <a:latin typeface="Courier"/>
                  </a:rPr>
                  <a:t>80</a:t>
                </a:r>
                <a:r>
                  <a:rPr>
                    <a:solidFill>
                      <a:srgbClr val="003B4F"/>
                    </a:solidFill>
                    <a:latin typeface="Courier"/>
                  </a:rPr>
                  <a:t>),                   </a:t>
                </a:r>
                <a:r>
                  <a:rPr>
                    <a:solidFill>
                      <a:srgbClr val="5E5E5E"/>
                    </a:solidFill>
                    <a:latin typeface="Courier"/>
                  </a:rPr>
                  <a:t># Years since isolation</a:t>
                </a:r>
                <a:br/>
                <a:r>
                  <a:rPr>
                    <a:solidFill>
                      <a:srgbClr val="003B4F"/>
                    </a:solidFill>
                    <a:latin typeface="Courier"/>
                  </a:rPr>
                  <a:t>  </a:t>
                </a:r>
                <a:r>
                  <a:rPr>
                    <a:solidFill>
                      <a:srgbClr val="657422"/>
                    </a:solidFill>
                    <a:latin typeface="Courier"/>
                  </a:rPr>
                  <a:t>shrub_cover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10</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5E5E5E"/>
                    </a:solidFill>
                    <a:latin typeface="Courier"/>
                  </a:rPr>
                  <a:t># Percentage shrub cover</a:t>
                </a:r>
                <a:br/>
                <a:r>
                  <a:rPr>
                    <a:solidFill>
                      <a:srgbClr val="003B4F"/>
                    </a:solidFill>
                    <a:latin typeface="Courier"/>
                  </a:rPr>
                  <a:t>)</a:t>
                </a:r>
                <a:br/>
                <a:br/>
                <a:r>
                  <a:rPr>
                    <a:solidFill>
                      <a:srgbClr val="5E5E5E"/>
                    </a:solidFill>
                    <a:latin typeface="Courier"/>
                  </a:rPr>
                  <a:t># Generate response variable (rodent presence)</a:t>
                </a:r>
                <a:br/>
                <a:r>
                  <a:rPr>
                    <a:solidFill>
                      <a:srgbClr val="5E5E5E"/>
                    </a:solidFill>
                    <a:latin typeface="Courier"/>
                  </a:rPr>
                  <a:t># Higher probability with higher shrub cover, slight effect of age</a:t>
                </a:r>
                <a:br/>
                <a:r>
                  <a:rPr>
                    <a:solidFill>
                      <a:srgbClr val="003B4F"/>
                    </a:solidFill>
                    <a:latin typeface="Courier"/>
                  </a:rPr>
                  <a:t>linear_pred &lt;- </a:t>
                </a:r>
                <a:r>
                  <a:rPr>
                    <a:solidFill>
                      <a:srgbClr val="5E5E5E"/>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0.0001</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distance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0.02</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age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0.09</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shrub_cover</a:t>
                </a:r>
                <a:br/>
                <a:r>
                  <a:rPr>
                    <a:solidFill>
                      <a:srgbClr val="003B4F"/>
                    </a:solidFill>
                    <a:latin typeface="Courier"/>
                  </a:rPr>
                  <a:t>prob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linear_pred))</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rbinom</a:t>
                </a:r>
                <a:r>
                  <a:rPr>
                    <a:solidFill>
                      <a:srgbClr val="003B4F"/>
                    </a:solidFill>
                    <a:latin typeface="Courier"/>
                  </a:rPr>
                  <a:t>(n, </a:t>
                </a:r>
                <a:r>
                  <a:rPr>
                    <a:solidFill>
                      <a:srgbClr val="AD0000"/>
                    </a:solidFill>
                    <a:latin typeface="Courier"/>
                  </a:rPr>
                  <a:t>1</a:t>
                </a:r>
                <a:r>
                  <a:rPr>
                    <a:solidFill>
                      <a:srgbClr val="003B4F"/>
                    </a:solidFill>
                    <a:latin typeface="Courier"/>
                  </a:rPr>
                  <a:t>, prob)</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factor</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multiple logistic regression model</a:t>
                </a:r>
                <a:br/>
                <a:r>
                  <a:rPr>
                    <a:solidFill>
                      <a:srgbClr val="003B4F"/>
                    </a:solidFill>
                    <a:latin typeface="Courier"/>
                  </a:rPr>
                  <a:t>rodent_model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(rodent_model)</a:t>
                </a:r>
              </a:p>
              <a:p>
                <a:pPr lvl="0" indent="0">
                  <a:buNone/>
                </a:pPr>
                <a:r>
                  <a:rPr>
                    <a:latin typeface="Courier"/>
                  </a:rPr>
                  <a:t>
Call:
glm(formula = rodent_present ~ distance + age + shrub_cover, 
    family = binomial(link = "logit"), data = fragment_data)
Coefficients:
              Estimate Std. Error z value Pr(&gt;|z|)  
(Intercept) -12.278261   7.911491  -1.552   0.1207  
distance      0.002062   0.001716   1.202   0.2294  
age           0.068744   0.059665   1.152   0.2493  
shrub_cover   0.193001   0.116035   1.663   0.0963 .
---
Signif. codes:  0 '***' 0.001 '**' 0.01 '*' 0.05 '.' 0.1 ' ' 1
(Dispersion parameter for binomial family taken to be 1)
    Null deviance: 27.5540  on 24  degrees of freedom
Residual deviance:  9.2737  on 21  degrees of freedom
AIC: 17.274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solidFill>
                  <a:srgbClr val="5E5E5E"/>
                </a:solidFill>
                <a:latin typeface="Courier"/>
              </a:rPr>
              <a:t># Test distance</a:t>
            </a:r>
            <a:br/>
            <a:r>
              <a:rPr>
                <a:solidFill>
                  <a:srgbClr val="003B4F"/>
                </a:solidFill>
                <a:latin typeface="Courier"/>
              </a:rPr>
              <a:t>model_no_distance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(model_no_distance,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age + shrub_cover
Model 2: rodent_present ~ distance + age + shrub_cover
  Resid. Df Resid. Dev Df Deviance Pr(&gt;Chi)
1        22    11.3831                     
2        21     9.2737  1   2.1094   0.1464</a:t>
            </a:r>
          </a:p>
          <a:p>
            <a:pPr lvl="0" indent="0">
              <a:buNone/>
            </a:pPr>
            <a:r>
              <a:rPr>
                <a:solidFill>
                  <a:srgbClr val="5E5E5E"/>
                </a:solidFill>
                <a:latin typeface="Courier"/>
              </a:rPr>
              <a:t># Test age</a:t>
            </a:r>
            <a:br/>
            <a:r>
              <a:rPr>
                <a:solidFill>
                  <a:srgbClr val="003B4F"/>
                </a:solidFill>
                <a:latin typeface="Courier"/>
              </a:rPr>
              <a:t>model_no_age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(model_no_age,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shrub_cover
Model 2: rodent_present ~ distance + age + shrub_cover
  Resid. Df Resid. Dev Df Deviance Pr(&gt;Chi)
1        22    11.0533                     
2        21     9.2737  1   1.7796   0.1822</a:t>
            </a:r>
          </a:p>
          <a:p>
            <a:pPr lvl="0" indent="0">
              <a:buNone/>
            </a:pPr>
            <a:r>
              <a:rPr>
                <a:solidFill>
                  <a:srgbClr val="5E5E5E"/>
                </a:solidFill>
                <a:latin typeface="Courier"/>
              </a:rPr>
              <a:t># Test shrub cover</a:t>
            </a:r>
            <a:br/>
            <a:r>
              <a:rPr>
                <a:solidFill>
                  <a:srgbClr val="003B4F"/>
                </a:solidFill>
                <a:latin typeface="Courier"/>
              </a:rPr>
              <a:t>model_no_shrub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(model_no_shrub,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age
Model 2: rodent_present ~ distance + age + shrub_cover
  Resid. Df Resid. Dev Df Deviance  Pr(&gt;Chi)    
1        22    26.7315                          
2        21     9.2737  1   17.458 2.938e-05 ***
---
Signif. codes:  0 '***' 0.001 '**' 0.01 '*' 0.05 '.' 0.1 ' '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solidFill>
                  <a:srgbClr val="5E5E5E"/>
                </a:solidFill>
                <a:latin typeface="Courier"/>
              </a:rPr>
              <a:t># Calculate odds ratios and CIs</a:t>
            </a:r>
            <a:br/>
            <a:r>
              <a:rPr>
                <a:solidFill>
                  <a:srgbClr val="003B4F"/>
                </a:solidFill>
                <a:latin typeface="Courier"/>
              </a:rPr>
              <a:t>coefs &lt;- </a:t>
            </a:r>
            <a:r>
              <a:rPr>
                <a:solidFill>
                  <a:srgbClr val="4758AB"/>
                </a:solidFill>
                <a:latin typeface="Courier"/>
              </a:rPr>
              <a:t>coef</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 Exclude intercept</a:t>
            </a:r>
            <a:br/>
            <a:r>
              <a:rPr>
                <a:solidFill>
                  <a:srgbClr val="003B4F"/>
                </a:solidFill>
                <a:latin typeface="Courier"/>
              </a:rPr>
              <a:t>odds_ratios &lt;- </a:t>
            </a:r>
            <a:r>
              <a:rPr>
                <a:solidFill>
                  <a:srgbClr val="4758AB"/>
                </a:solidFill>
                <a:latin typeface="Courier"/>
              </a:rPr>
              <a:t>exp</a:t>
            </a:r>
            <a:r>
              <a:rPr>
                <a:solidFill>
                  <a:srgbClr val="003B4F"/>
                </a:solidFill>
                <a:latin typeface="Courier"/>
              </a:rPr>
              <a:t>(coefs)</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  </a:t>
            </a:r>
            <a:r>
              <a:rPr>
                <a:solidFill>
                  <a:srgbClr val="5E5E5E"/>
                </a:solidFill>
                <a:latin typeface="Courier"/>
              </a:rPr>
              <a:t># Exclude intercept</a:t>
            </a:r>
            <a:br/>
            <a:br/>
            <a:r>
              <a:rPr>
                <a:solidFill>
                  <a:srgbClr val="5E5E5E"/>
                </a:solidFill>
                <a:latin typeface="Courier"/>
              </a:rPr>
              <a:t># Create a data frame for display</a:t>
            </a:r>
            <a:br/>
            <a:r>
              <a:rPr>
                <a:solidFill>
                  <a:srgbClr val="003B4F"/>
                </a:solidFill>
                <a:latin typeface="Courier"/>
              </a:rPr>
              <a:t>or_df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Predictor =</a:t>
            </a:r>
            <a:r>
              <a:rPr>
                <a:solidFill>
                  <a:srgbClr val="003B4F"/>
                </a:solidFill>
                <a:latin typeface="Courier"/>
              </a:rPr>
              <a:t> </a:t>
            </a:r>
            <a:r>
              <a:rPr>
                <a:solidFill>
                  <a:srgbClr val="4758AB"/>
                </a:solidFill>
                <a:latin typeface="Courier"/>
              </a:rPr>
              <a:t>names</a:t>
            </a:r>
            <a:r>
              <a:rPr>
                <a:solidFill>
                  <a:srgbClr val="003B4F"/>
                </a:solidFill>
                <a:latin typeface="Courier"/>
              </a:rPr>
              <a:t>(coefs),</a:t>
            </a:r>
            <a:br/>
            <a:r>
              <a:rPr>
                <a:solidFill>
                  <a:srgbClr val="003B4F"/>
                </a:solidFill>
                <a:latin typeface="Courier"/>
              </a:rPr>
              <a:t>  </a:t>
            </a:r>
            <a:r>
              <a:rPr>
                <a:solidFill>
                  <a:srgbClr val="657422"/>
                </a:solidFill>
                <a:latin typeface="Courier"/>
              </a:rPr>
              <a:t>OddsRatio =</a:t>
            </a:r>
            <a:r>
              <a:rPr>
                <a:solidFill>
                  <a:srgbClr val="003B4F"/>
                </a:solidFill>
                <a:latin typeface="Courier"/>
              </a:rPr>
              <a:t> odds_ratios,</a:t>
            </a:r>
            <a:br/>
            <a:r>
              <a:rPr>
                <a:solidFill>
                  <a:srgbClr val="003B4F"/>
                </a:solidFill>
                <a:latin typeface="Courier"/>
              </a:rPr>
              <a:t>  </a:t>
            </a:r>
            <a:r>
              <a:rPr>
                <a:solidFill>
                  <a:srgbClr val="657422"/>
                </a:solidFill>
                <a:latin typeface="Courier"/>
              </a:rPr>
              <a:t>LowerCI =</a:t>
            </a:r>
            <a:r>
              <a:rPr>
                <a:solidFill>
                  <a:srgbClr val="003B4F"/>
                </a:solidFill>
                <a:latin typeface="Courier"/>
              </a:rPr>
              <a:t> ci[,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UpperCI =</a:t>
            </a:r>
            <a:r>
              <a:rPr>
                <a:solidFill>
                  <a:srgbClr val="003B4F"/>
                </a:solidFill>
                <a:latin typeface="Courier"/>
              </a:rPr>
              <a:t> ci[, </a:t>
            </a:r>
            <a:r>
              <a:rPr>
                <a:solidFill>
                  <a:srgbClr val="AD0000"/>
                </a:solidFill>
                <a:latin typeface="Courier"/>
              </a:rPr>
              <a:t>2</a:t>
            </a:r>
            <a:r>
              <a:rPr>
                <a:solidFill>
                  <a:srgbClr val="003B4F"/>
                </a:solidFill>
                <a:latin typeface="Courier"/>
              </a:rPr>
              <a:t>]</a:t>
            </a:r>
            <a:br/>
            <a:r>
              <a:rPr>
                <a:solidFill>
                  <a:srgbClr val="003B4F"/>
                </a:solidFill>
                <a:latin typeface="Courier"/>
              </a:rPr>
              <a:t>)</a:t>
            </a:r>
            <a:br/>
            <a:br/>
            <a:r>
              <a:rPr>
                <a:solidFill>
                  <a:srgbClr val="5E5E5E"/>
                </a:solidFill>
                <a:latin typeface="Courier"/>
              </a:rPr>
              <a:t># Display formatted table</a:t>
            </a:r>
            <a:br/>
            <a:r>
              <a:rPr>
                <a:solidFill>
                  <a:srgbClr val="003B4F"/>
                </a:solidFill>
                <a:latin typeface="Courier"/>
              </a:rPr>
              <a:t>or_df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4</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CI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a:t>
            </a:r>
            <a:r>
              <a:rPr>
                <a:solidFill>
                  <a:srgbClr val="003B4F"/>
                </a:solidFill>
                <a:latin typeface="Courier"/>
              </a:rPr>
              <a:t>, LowerCI, </a:t>
            </a:r>
            <a:r>
              <a:rPr>
                <a:solidFill>
                  <a:srgbClr val="20794D"/>
                </a:solidFill>
                <a:latin typeface="Courier"/>
              </a:rPr>
              <a:t>", "</a:t>
            </a:r>
            <a:r>
              <a:rPr>
                <a:solidFill>
                  <a:srgbClr val="003B4F"/>
                </a:solidFill>
                <a:latin typeface="Courier"/>
              </a:rPr>
              <a:t>, UpperCI, </a:t>
            </a:r>
            <a:r>
              <a:rPr>
                <a:solidFill>
                  <a:srgbClr val="20794D"/>
                </a:solidFill>
                <a:latin typeface="Courier"/>
              </a:rPr>
              <a:t>")"</a:t>
            </a:r>
            <a:r>
              <a:rPr>
                <a:solidFill>
                  <a:srgbClr val="003B4F"/>
                </a:solidFill>
                <a:latin typeface="Courier"/>
              </a:rPr>
              <a:t>))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(Predictor, OddsRatio, CI)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599988959"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Predictor</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OddsRatio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CI</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distance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1.0021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(0.9994, 1.0069)</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age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1.0712</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(0.9721, 1.2577)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shrub_cover</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1.2129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(1.0645, 1.7909)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Multiple Logistic Regression</a:t>
            </a:r>
          </a:p>
        </p:txBody>
      </p:sp>
      <p:sp>
        <p:nvSpPr>
          <p:cNvPr id="3" name="Text Placeholder 2"/>
          <p:cNvSpPr>
            <a:spLocks noGrp="1"/>
          </p:cNvSpPr>
          <p:nvPr>
            <p:ph idx="1" type="body"/>
          </p:nvPr>
        </p:nvSpPr>
        <p:spPr/>
        <p:txBody>
          <a:bodyPr/>
          <a:lstStyle/>
          <a:p>
            <a:pPr lvl="0" indent="0" marL="0">
              <a:buNone/>
            </a:pPr>
            <a:r>
              <a:rPr/>
              <a:t>For multiple predictors, we can visualize the effect of each predictor while holding others constant at their mean or median values.</a:t>
            </a:r>
          </a:p>
          <a:p>
            <a:pPr lvl="0" indent="0">
              <a:buNone/>
            </a:pPr>
            <a:r>
              <a:rPr>
                <a:solidFill>
                  <a:srgbClr val="5E5E5E"/>
                </a:solidFill>
                <a:latin typeface="Courier"/>
              </a:rPr>
              <a:t># Create a function to generate prediction data for one variable</a:t>
            </a:r>
            <a:br/>
            <a:r>
              <a:rPr>
                <a:solidFill>
                  <a:srgbClr val="003B4F"/>
                </a:solidFill>
                <a:latin typeface="Courier"/>
              </a:rPr>
              <a:t>predict_for_var &lt;- </a:t>
            </a:r>
            <a:r>
              <a:rPr b="1">
                <a:solidFill>
                  <a:srgbClr val="003B4F"/>
                </a:solidFill>
                <a:latin typeface="Courier"/>
              </a:rPr>
              <a:t>function</a:t>
            </a:r>
            <a:r>
              <a:rPr>
                <a:solidFill>
                  <a:srgbClr val="003B4F"/>
                </a:solidFill>
                <a:latin typeface="Courier"/>
              </a:rPr>
              <a:t>(var_name, model, data) {</a:t>
            </a:r>
            <a:br/>
            <a:r>
              <a:rPr>
                <a:solidFill>
                  <a:srgbClr val="003B4F"/>
                </a:solidFill>
                <a:latin typeface="Courier"/>
              </a:rPr>
              <a:t>  </a:t>
            </a:r>
            <a:r>
              <a:rPr>
                <a:solidFill>
                  <a:srgbClr val="5E5E5E"/>
                </a:solidFill>
                <a:latin typeface="Courier"/>
              </a:rPr>
              <a:t># Create grid of values for the variable of interest</a:t>
            </a:r>
            <a:br/>
            <a:r>
              <a:rPr>
                <a:solidFill>
                  <a:srgbClr val="003B4F"/>
                </a:solidFill>
                <a:latin typeface="Courier"/>
              </a:rPr>
              <a:t>  pred_df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(data[[var_name]]), </a:t>
            </a:r>
            <a:r>
              <a:rPr>
                <a:solidFill>
                  <a:srgbClr val="4758AB"/>
                </a:solidFill>
                <a:latin typeface="Courier"/>
              </a:rPr>
              <a:t>max</a:t>
            </a:r>
            <a:r>
              <a:rPr>
                <a:solidFill>
                  <a:srgbClr val="003B4F"/>
                </a:solidFill>
                <a:latin typeface="Courier"/>
              </a:rPr>
              <a:t>(data[[var_name]]),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names</a:t>
            </a:r>
            <a:r>
              <a:rPr>
                <a:solidFill>
                  <a:srgbClr val="003B4F"/>
                </a:solidFill>
                <a:latin typeface="Courier"/>
              </a:rPr>
              <a:t>(pred_df) &lt;- var_name</a:t>
            </a:r>
            <a:br/>
            <a:r>
              <a:rPr>
                <a:solidFill>
                  <a:srgbClr val="003B4F"/>
                </a:solidFill>
                <a:latin typeface="Courier"/>
              </a:rPr>
              <a:t>  </a:t>
            </a:r>
            <a:br/>
            <a:r>
              <a:rPr>
                <a:solidFill>
                  <a:srgbClr val="003B4F"/>
                </a:solidFill>
                <a:latin typeface="Courier"/>
              </a:rPr>
              <a:t>  </a:t>
            </a:r>
            <a:r>
              <a:rPr>
                <a:solidFill>
                  <a:srgbClr val="5E5E5E"/>
                </a:solidFill>
                <a:latin typeface="Courier"/>
              </a:rPr>
              <a:t># Add mean values for other predictors</a:t>
            </a:r>
            <a:br/>
            <a:r>
              <a:rPr>
                <a:solidFill>
                  <a:srgbClr val="003B4F"/>
                </a:solidFill>
                <a:latin typeface="Courier"/>
              </a:rPr>
              <a:t>  </a:t>
            </a:r>
            <a:r>
              <a:rPr b="1">
                <a:solidFill>
                  <a:srgbClr val="003B4F"/>
                </a:solidFill>
                <a:latin typeface="Courier"/>
              </a:rPr>
              <a:t>for</a:t>
            </a:r>
            <a:r>
              <a:rPr>
                <a:solidFill>
                  <a:srgbClr val="003B4F"/>
                </a:solidFill>
                <a:latin typeface="Courier"/>
              </a:rPr>
              <a:t> (other_var </a:t>
            </a:r>
            <a:r>
              <a:rPr b="1">
                <a:solidFill>
                  <a:srgbClr val="003B4F"/>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"distance"</a:t>
            </a:r>
            <a:r>
              <a:rPr>
                <a:solidFill>
                  <a:srgbClr val="003B4F"/>
                </a:solidFill>
                <a:latin typeface="Courier"/>
              </a:rPr>
              <a:t>, </a:t>
            </a:r>
            <a:r>
              <a:rPr>
                <a:solidFill>
                  <a:srgbClr val="20794D"/>
                </a:solidFill>
                <a:latin typeface="Courier"/>
              </a:rPr>
              <a:t>"age"</a:t>
            </a:r>
            <a:r>
              <a:rPr>
                <a:solidFill>
                  <a:srgbClr val="003B4F"/>
                </a:solidFill>
                <a:latin typeface="Courier"/>
              </a:rPr>
              <a:t>, </a:t>
            </a:r>
            <a:r>
              <a:rPr>
                <a:solidFill>
                  <a:srgbClr val="20794D"/>
                </a:solidFill>
                <a:latin typeface="Courier"/>
              </a:rPr>
              <a:t>"shrub_cover"</a:t>
            </a:r>
            <a:r>
              <a:rPr>
                <a:solidFill>
                  <a:srgbClr val="003B4F"/>
                </a:solidFill>
                <a:latin typeface="Courier"/>
              </a:rPr>
              <a:t>)) {</a:t>
            </a:r>
            <a:br/>
            <a:r>
              <a:rPr>
                <a:solidFill>
                  <a:srgbClr val="003B4F"/>
                </a:solidFill>
                <a:latin typeface="Courier"/>
              </a:rPr>
              <a:t>    </a:t>
            </a:r>
            <a:r>
              <a:rPr b="1">
                <a:solidFill>
                  <a:srgbClr val="003B4F"/>
                </a:solidFill>
                <a:latin typeface="Courier"/>
              </a:rPr>
              <a:t>if</a:t>
            </a:r>
            <a:r>
              <a:rPr>
                <a:solidFill>
                  <a:srgbClr val="003B4F"/>
                </a:solidFill>
                <a:latin typeface="Courier"/>
              </a:rPr>
              <a:t> (other_var </a:t>
            </a:r>
            <a:r>
              <a:rPr>
                <a:solidFill>
                  <a:srgbClr val="5E5E5E"/>
                </a:solidFill>
                <a:latin typeface="Courier"/>
              </a:rPr>
              <a:t>!=</a:t>
            </a:r>
            <a:r>
              <a:rPr>
                <a:solidFill>
                  <a:srgbClr val="003B4F"/>
                </a:solidFill>
                <a:latin typeface="Courier"/>
              </a:rPr>
              <a:t> var_name) {</a:t>
            </a:r>
            <a:br/>
            <a:r>
              <a:rPr>
                <a:solidFill>
                  <a:srgbClr val="003B4F"/>
                </a:solidFill>
                <a:latin typeface="Courier"/>
              </a:rPr>
              <a:t>      pred_df[[other_var]] &lt;- </a:t>
            </a:r>
            <a:r>
              <a:rPr>
                <a:solidFill>
                  <a:srgbClr val="4758AB"/>
                </a:solidFill>
                <a:latin typeface="Courier"/>
              </a:rPr>
              <a:t>mean</a:t>
            </a:r>
            <a:r>
              <a:rPr>
                <a:solidFill>
                  <a:srgbClr val="003B4F"/>
                </a:solidFill>
                <a:latin typeface="Courier"/>
              </a:rPr>
              <a:t>(data[[other_var]])</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Add predictions</a:t>
            </a:r>
            <a:br/>
            <a:r>
              <a:rPr>
                <a:solidFill>
                  <a:srgbClr val="003B4F"/>
                </a:solidFill>
                <a:latin typeface="Courier"/>
              </a:rPr>
              <a:t>  pred_df</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(model, </a:t>
            </a:r>
            <a:r>
              <a:rPr>
                <a:solidFill>
                  <a:srgbClr val="657422"/>
                </a:solidFill>
                <a:latin typeface="Courier"/>
              </a:rPr>
              <a:t>newdata =</a:t>
            </a:r>
            <a:r>
              <a:rPr>
                <a:solidFill>
                  <a:srgbClr val="003B4F"/>
                </a:solidFill>
                <a:latin typeface="Courier"/>
              </a:rPr>
              <a:t> pred_df,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return</a:t>
            </a:r>
            <a:r>
              <a:rPr>
                <a:solidFill>
                  <a:srgbClr val="003B4F"/>
                </a:solidFill>
                <a:latin typeface="Courier"/>
              </a:rPr>
              <a:t>(pred_df)</a:t>
            </a:r>
            <a:br/>
            <a:r>
              <a:rPr>
                <a:solidFill>
                  <a:srgbClr val="003B4F"/>
                </a:solidFill>
                <a:latin typeface="Courier"/>
              </a:rPr>
              <a:t>}</a:t>
            </a:r>
            <a:br/>
            <a:br/>
            <a:r>
              <a:rPr>
                <a:solidFill>
                  <a:srgbClr val="5E5E5E"/>
                </a:solidFill>
                <a:latin typeface="Courier"/>
              </a:rPr>
              <a:t># Generate prediction data for each variable</a:t>
            </a:r>
            <a:br/>
            <a:r>
              <a:rPr>
                <a:solidFill>
                  <a:srgbClr val="003B4F"/>
                </a:solidFill>
                <a:latin typeface="Courier"/>
              </a:rPr>
              <a:t>pred_distance &lt;- </a:t>
            </a:r>
            <a:r>
              <a:rPr>
                <a:solidFill>
                  <a:srgbClr val="4758AB"/>
                </a:solidFill>
                <a:latin typeface="Courier"/>
              </a:rPr>
              <a:t>predict_for_var</a:t>
            </a:r>
            <a:r>
              <a:rPr>
                <a:solidFill>
                  <a:srgbClr val="003B4F"/>
                </a:solidFill>
                <a:latin typeface="Courier"/>
              </a:rPr>
              <a:t>(</a:t>
            </a:r>
            <a:r>
              <a:rPr>
                <a:solidFill>
                  <a:srgbClr val="20794D"/>
                </a:solidFill>
                <a:latin typeface="Courier"/>
              </a:rPr>
              <a:t>"distance"</a:t>
            </a:r>
            <a:r>
              <a:rPr>
                <a:solidFill>
                  <a:srgbClr val="003B4F"/>
                </a:solidFill>
                <a:latin typeface="Courier"/>
              </a:rPr>
              <a:t>, rodent_model, fragment_data)</a:t>
            </a:r>
            <a:br/>
            <a:r>
              <a:rPr>
                <a:solidFill>
                  <a:srgbClr val="003B4F"/>
                </a:solidFill>
                <a:latin typeface="Courier"/>
              </a:rPr>
              <a:t>pred_age &lt;- </a:t>
            </a:r>
            <a:r>
              <a:rPr>
                <a:solidFill>
                  <a:srgbClr val="4758AB"/>
                </a:solidFill>
                <a:latin typeface="Courier"/>
              </a:rPr>
              <a:t>predict_for_var</a:t>
            </a:r>
            <a:r>
              <a:rPr>
                <a:solidFill>
                  <a:srgbClr val="003B4F"/>
                </a:solidFill>
                <a:latin typeface="Courier"/>
              </a:rPr>
              <a:t>(</a:t>
            </a:r>
            <a:r>
              <a:rPr>
                <a:solidFill>
                  <a:srgbClr val="20794D"/>
                </a:solidFill>
                <a:latin typeface="Courier"/>
              </a:rPr>
              <a:t>"age"</a:t>
            </a:r>
            <a:r>
              <a:rPr>
                <a:solidFill>
                  <a:srgbClr val="003B4F"/>
                </a:solidFill>
                <a:latin typeface="Courier"/>
              </a:rPr>
              <a:t>, rodent_model, fragment_data)</a:t>
            </a:r>
            <a:br/>
            <a:r>
              <a:rPr>
                <a:solidFill>
                  <a:srgbClr val="003B4F"/>
                </a:solidFill>
                <a:latin typeface="Courier"/>
              </a:rPr>
              <a:t>pred_shrub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Create plots</a:t>
            </a:r>
            <a:br/>
            <a:r>
              <a:rPr>
                <a:solidFill>
                  <a:srgbClr val="003B4F"/>
                </a:solidFill>
                <a:latin typeface="Courier"/>
              </a:rPr>
              <a:t>p1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pred_distance,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Distance"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"Distance to Source (m)"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p2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pred_age,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"darkgreen"</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Age"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"Years Since Isolation"</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p3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pred_shrub,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"Shrub Cover (%)"</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5E5E5E"/>
                </a:solidFill>
                <a:latin typeface="Courier"/>
              </a:rPr>
              <a:t># Combine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visualize-effects-1.png" id="0" name="Picture 1"/>
          <p:cNvPicPr>
            <a:picLocks noGrp="1" noChangeAspect="1"/>
          </p:cNvPicPr>
          <p:nvPr/>
        </p:nvPicPr>
        <p:blipFill>
          <a:blip r:embed="rId2"/>
          <a:stretch>
            <a:fillRect/>
          </a:stretch>
        </p:blipFill>
        <p:spPr bwMode="auto">
          <a:xfrm>
            <a:off x="127000" y="2184400"/>
            <a:ext cx="4432300" cy="14732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This visualization shows the effect of each predictor on the probability of rodent presence, while holding the other predictors constant at their mean values.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Assumptions and Diagnostics of Logistic Regression</a:t>
            </a:r>
          </a:p>
        </p:txBody>
      </p:sp>
      <p:sp>
        <p:nvSpPr>
          <p:cNvPr id="4" name="Text Placeholder 3"/>
          <p:cNvSpPr>
            <a:spLocks noGrp="1"/>
          </p:cNvSpPr>
          <p:nvPr>
            <p:ph idx="2" sz="half" type="body"/>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Let’s check the diagnostics for our multiple logistic regression model:</a:t>
            </a:r>
          </a:p>
          <a:p>
            <a:pPr lvl="0" indent="0">
              <a:buNone/>
            </a:pPr>
            <a:r>
              <a:rPr>
                <a:solidFill>
                  <a:srgbClr val="5E5E5E"/>
                </a:solidFill>
                <a:latin typeface="Courier"/>
              </a:rPr>
              <a:t># 1. Check for linearity between predictors and log odds</a:t>
            </a:r>
            <a:br/>
            <a:r>
              <a:rPr>
                <a:solidFill>
                  <a:srgbClr val="5E5E5E"/>
                </a:solidFill>
                <a:latin typeface="Courier"/>
              </a:rPr>
              <a:t># Use bins of X variables and plot log odds</a:t>
            </a:r>
            <a:br/>
            <a:r>
              <a:rPr>
                <a:solidFill>
                  <a:srgbClr val="003B4F"/>
                </a:solidFill>
                <a:latin typeface="Courier"/>
              </a:rPr>
              <a:t>check_linearity &lt;- </a:t>
            </a:r>
            <a:r>
              <a:rPr b="1">
                <a:solidFill>
                  <a:srgbClr val="003B4F"/>
                </a:solidFill>
                <a:latin typeface="Courier"/>
              </a:rPr>
              <a:t>function</a:t>
            </a:r>
            <a:r>
              <a:rPr>
                <a:solidFill>
                  <a:srgbClr val="003B4F"/>
                </a:solidFill>
                <a:latin typeface="Courier"/>
              </a:rPr>
              <a:t>(model, data, var) {</a:t>
            </a:r>
            <a:br/>
            <a:r>
              <a:rPr>
                <a:solidFill>
                  <a:srgbClr val="003B4F"/>
                </a:solidFill>
                <a:latin typeface="Courier"/>
              </a:rPr>
              <a:t>  </a:t>
            </a:r>
            <a:r>
              <a:rPr>
                <a:solidFill>
                  <a:srgbClr val="5E5E5E"/>
                </a:solidFill>
                <a:latin typeface="Courier"/>
              </a:rPr>
              <a:t># Create bins of predictor</a:t>
            </a:r>
            <a:br/>
            <a:r>
              <a:rPr>
                <a:solidFill>
                  <a:srgbClr val="003B4F"/>
                </a:solidFill>
                <a:latin typeface="Courier"/>
              </a:rPr>
              <a:t>  n_bins &lt;- </a:t>
            </a:r>
            <a:r>
              <a:rPr>
                <a:solidFill>
                  <a:srgbClr val="AD0000"/>
                </a:solidFill>
                <a:latin typeface="Courier"/>
              </a:rPr>
              <a:t>5</a:t>
            </a:r>
            <a:br/>
            <a:r>
              <a:rPr>
                <a:solidFill>
                  <a:srgbClr val="003B4F"/>
                </a:solidFill>
                <a:latin typeface="Courier"/>
              </a:rPr>
              <a:t>  data</a:t>
            </a:r>
            <a:r>
              <a:rPr>
                <a:solidFill>
                  <a:srgbClr val="5E5E5E"/>
                </a:solidFill>
                <a:latin typeface="Courier"/>
              </a:rPr>
              <a:t>$</a:t>
            </a:r>
            <a:r>
              <a:rPr>
                <a:solidFill>
                  <a:srgbClr val="003B4F"/>
                </a:solidFill>
                <a:latin typeface="Courier"/>
              </a:rPr>
              <a:t>bin &lt;- </a:t>
            </a:r>
            <a:r>
              <a:rPr>
                <a:solidFill>
                  <a:srgbClr val="4758AB"/>
                </a:solidFill>
                <a:latin typeface="Courier"/>
              </a:rPr>
              <a:t>cut</a:t>
            </a:r>
            <a:r>
              <a:rPr>
                <a:solidFill>
                  <a:srgbClr val="003B4F"/>
                </a:solidFill>
                <a:latin typeface="Courier"/>
              </a:rPr>
              <a:t>(data[[var]], </a:t>
            </a:r>
            <a:r>
              <a:rPr>
                <a:solidFill>
                  <a:srgbClr val="657422"/>
                </a:solidFill>
                <a:latin typeface="Courier"/>
              </a:rPr>
              <a:t>breaks =</a:t>
            </a:r>
            <a:r>
              <a:rPr>
                <a:solidFill>
                  <a:srgbClr val="003B4F"/>
                </a:solidFill>
                <a:latin typeface="Courier"/>
              </a:rPr>
              <a:t> n_bins)</a:t>
            </a:r>
            <a:br/>
            <a:r>
              <a:rPr>
                <a:solidFill>
                  <a:srgbClr val="003B4F"/>
                </a:solidFill>
                <a:latin typeface="Courier"/>
              </a:rPr>
              <a:t>  </a:t>
            </a:r>
            <a:br/>
            <a:r>
              <a:rPr>
                <a:solidFill>
                  <a:srgbClr val="003B4F"/>
                </a:solidFill>
                <a:latin typeface="Courier"/>
              </a:rPr>
              <a:t>  </a:t>
            </a:r>
            <a:r>
              <a:rPr>
                <a:solidFill>
                  <a:srgbClr val="5E5E5E"/>
                </a:solidFill>
                <a:latin typeface="Courier"/>
              </a:rPr>
              <a:t># Calculate log odds for each bin</a:t>
            </a:r>
            <a:br/>
            <a:r>
              <a:rPr>
                <a:solidFill>
                  <a:srgbClr val="003B4F"/>
                </a:solidFill>
                <a:latin typeface="Courier"/>
              </a:rPr>
              <a:t>  bin_summary &lt;- 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(bin)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mean_var =</a:t>
            </a:r>
            <a:r>
              <a:rPr>
                <a:solidFill>
                  <a:srgbClr val="003B4F"/>
                </a:solidFill>
                <a:latin typeface="Courier"/>
              </a:rPr>
              <a:t> </a:t>
            </a:r>
            <a:r>
              <a:rPr>
                <a:solidFill>
                  <a:srgbClr val="4758AB"/>
                </a:solidFill>
                <a:latin typeface="Courier"/>
              </a:rPr>
              <a:t>mean</a:t>
            </a:r>
            <a:r>
              <a:rPr>
                <a:solidFill>
                  <a:srgbClr val="003B4F"/>
                </a:solidFill>
                <a:latin typeface="Courier"/>
              </a:rPr>
              <a:t>(</a:t>
            </a:r>
            <a:r>
              <a:rPr>
                <a:solidFill>
                  <a:srgbClr val="5E5E5E"/>
                </a:solidFill>
                <a:latin typeface="Courier"/>
              </a:rPr>
              <a:t>!!</a:t>
            </a:r>
            <a:r>
              <a:rPr>
                <a:solidFill>
                  <a:srgbClr val="4758AB"/>
                </a:solidFill>
                <a:latin typeface="Courier"/>
              </a:rPr>
              <a:t>sym</a:t>
            </a:r>
            <a:r>
              <a:rPr>
                <a:solidFill>
                  <a:srgbClr val="003B4F"/>
                </a:solidFill>
                <a:latin typeface="Courier"/>
              </a:rPr>
              <a:t>(var)),</a:t>
            </a:r>
            <a:br/>
            <a:r>
              <a:rPr>
                <a:solidFill>
                  <a:srgbClr val="003B4F"/>
                </a:solidFill>
                <a:latin typeface="Courier"/>
              </a:rPr>
              <a:t>      </a:t>
            </a:r>
            <a:r>
              <a:rPr>
                <a:solidFill>
                  <a:srgbClr val="657422"/>
                </a:solidFill>
                <a:latin typeface="Courier"/>
              </a:rPr>
              <a:t>successes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failures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"Absent"</a:t>
            </a:r>
            <a:r>
              <a:rPr>
                <a:solidFill>
                  <a:srgbClr val="003B4F"/>
                </a:solidFill>
                <a:latin typeface="Courier"/>
              </a:rPr>
              <a:t>)</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successes </a:t>
            </a:r>
            <a:r>
              <a:rPr>
                <a:solidFill>
                  <a:srgbClr val="5E5E5E"/>
                </a:solidFill>
                <a:latin typeface="Courier"/>
              </a:rPr>
              <a:t>/</a:t>
            </a:r>
            <a:r>
              <a:rPr>
                <a:solidFill>
                  <a:srgbClr val="003B4F"/>
                </a:solidFill>
                <a:latin typeface="Courier"/>
              </a:rPr>
              <a:t> n,</a:t>
            </a:r>
            <a:br/>
            <a:r>
              <a:rPr>
                <a:solidFill>
                  <a:srgbClr val="003B4F"/>
                </a:solidFill>
                <a:latin typeface="Courier"/>
              </a:rPr>
              <a:t>      </a:t>
            </a:r>
            <a:r>
              <a:rPr>
                <a:solidFill>
                  <a:srgbClr val="657422"/>
                </a:solidFill>
                <a:latin typeface="Courier"/>
              </a:rPr>
              <a:t>logodds =</a:t>
            </a:r>
            <a:r>
              <a:rPr>
                <a:solidFill>
                  <a:srgbClr val="003B4F"/>
                </a:solidFill>
                <a:latin typeface="Courier"/>
              </a:rPr>
              <a:t> </a:t>
            </a:r>
            <a:r>
              <a:rPr>
                <a:solidFill>
                  <a:srgbClr val="4758AB"/>
                </a:solidFill>
                <a:latin typeface="Courier"/>
              </a:rPr>
              <a:t>log</a:t>
            </a:r>
            <a:r>
              <a:rPr>
                <a:solidFill>
                  <a:srgbClr val="003B4F"/>
                </a:solidFill>
                <a:latin typeface="Courier"/>
              </a:rPr>
              <a:t>(p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p))</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Create plot</a:t>
            </a:r>
            <a:br/>
            <a:r>
              <a:rPr>
                <a:solidFill>
                  <a:srgbClr val="003B4F"/>
                </a:solidFill>
                <a:latin typeface="Courier"/>
              </a:rPr>
              <a:t>  </a:t>
            </a:r>
            <a:r>
              <a:rPr>
                <a:solidFill>
                  <a:srgbClr val="4758AB"/>
                </a:solidFill>
                <a:latin typeface="Courier"/>
              </a:rPr>
              <a:t>ggplot</a:t>
            </a:r>
            <a:r>
              <a:rPr>
                <a:solidFill>
                  <a:srgbClr val="003B4F"/>
                </a:solidFill>
                <a:latin typeface="Courier"/>
              </a:rPr>
              <a:t>(bin_summary,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mean_var, </a:t>
            </a:r>
            <a:r>
              <a:rPr>
                <a:solidFill>
                  <a:srgbClr val="657422"/>
                </a:solidFill>
                <a:latin typeface="Courier"/>
              </a:rPr>
              <a:t>y =</a:t>
            </a:r>
            <a:r>
              <a:rPr>
                <a:solidFill>
                  <a:srgbClr val="003B4F"/>
                </a:solidFill>
                <a:latin typeface="Courier"/>
              </a:rPr>
              <a:t> logodds))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"Linearity Check:"</a:t>
            </a:r>
            <a:r>
              <a:rPr>
                <a:solidFill>
                  <a:srgbClr val="003B4F"/>
                </a:solidFill>
                <a:latin typeface="Courier"/>
              </a:rPr>
              <a:t>, var),</a:t>
            </a:r>
            <a:br/>
            <a:r>
              <a:rPr>
                <a:solidFill>
                  <a:srgbClr val="003B4F"/>
                </a:solidFill>
                <a:latin typeface="Courier"/>
              </a:rPr>
              <a:t>         </a:t>
            </a:r>
            <a:r>
              <a:rPr>
                <a:solidFill>
                  <a:srgbClr val="657422"/>
                </a:solidFill>
                <a:latin typeface="Courier"/>
              </a:rPr>
              <a:t>x =</a:t>
            </a:r>
            <a:r>
              <a:rPr>
                <a:solidFill>
                  <a:srgbClr val="003B4F"/>
                </a:solidFill>
                <a:latin typeface="Courier"/>
              </a:rPr>
              <a:t> var,</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"Log Odds"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r>
              <a:rPr>
                <a:solidFill>
                  <a:srgbClr val="003B4F"/>
                </a:solidFill>
                <a:latin typeface="Courier"/>
              </a:rPr>
              <a:t>}</a:t>
            </a:r>
            <a:br/>
            <a:br/>
            <a:r>
              <a:rPr>
                <a:solidFill>
                  <a:srgbClr val="5E5E5E"/>
                </a:solidFill>
                <a:latin typeface="Courier"/>
              </a:rPr>
              <a:t># Create diagnostic plots for each variable</a:t>
            </a:r>
            <a:br/>
            <a:r>
              <a:rPr>
                <a:solidFill>
                  <a:srgbClr val="003B4F"/>
                </a:solidFill>
                <a:latin typeface="Courier"/>
              </a:rPr>
              <a:t>p1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"distance"</a:t>
            </a:r>
            <a:r>
              <a:rPr>
                <a:solidFill>
                  <a:srgbClr val="003B4F"/>
                </a:solidFill>
                <a:latin typeface="Courier"/>
              </a:rPr>
              <a:t>)</a:t>
            </a:r>
            <a:br/>
            <a:r>
              <a:rPr>
                <a:solidFill>
                  <a:srgbClr val="003B4F"/>
                </a:solidFill>
                <a:latin typeface="Courier"/>
              </a:rPr>
              <a:t>p2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"age"</a:t>
            </a:r>
            <a:r>
              <a:rPr>
                <a:solidFill>
                  <a:srgbClr val="003B4F"/>
                </a:solidFill>
                <a:latin typeface="Courier"/>
              </a:rPr>
              <a:t>)</a:t>
            </a:r>
            <a:br/>
            <a:r>
              <a:rPr>
                <a:solidFill>
                  <a:srgbClr val="003B4F"/>
                </a:solidFill>
                <a:latin typeface="Courier"/>
              </a:rPr>
              <a:t>p3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"shrub_cover"</a:t>
            </a:r>
            <a:r>
              <a:rPr>
                <a:solidFill>
                  <a:srgbClr val="003B4F"/>
                </a:solidFill>
                <a:latin typeface="Courier"/>
              </a:rPr>
              <a:t>)</a:t>
            </a:r>
            <a:br/>
            <a:br/>
            <a:r>
              <a:rPr>
                <a:solidFill>
                  <a:srgbClr val="5E5E5E"/>
                </a:solidFill>
                <a:latin typeface="Courier"/>
              </a:rPr>
              <a:t># Arrange the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diagnostics-1.png" id="0" name="Picture 1"/>
          <p:cNvPicPr>
            <a:picLocks noGrp="1" noChangeAspect="1"/>
          </p:cNvPicPr>
          <p:nvPr/>
        </p:nvPicPr>
        <p:blipFill>
          <a:blip r:embed="rId2"/>
          <a:stretch>
            <a:fillRect/>
          </a:stretch>
        </p:blipFill>
        <p:spPr bwMode="auto">
          <a:xfrm>
            <a:off x="3835400" y="952500"/>
            <a:ext cx="4876800" cy="3797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we often want to find the most parsimonious model. We can use:</a:t>
            </a:r>
          </a:p>
          <a:p>
            <a:pPr lvl="0" indent="-342900" marL="342900">
              <a:buAutoNum type="arabicPeriod"/>
            </a:pPr>
            <a:r>
              <a:rPr/>
              <a:t>Likelihood ratio tests for nested models</a:t>
            </a:r>
          </a:p>
          <a:p>
            <a:pPr lvl="0" indent="-342900" marL="342900">
              <a:buAutoNum type="arabicPeriod"/>
            </a:pPr>
            <a:r>
              <a:rPr/>
              <a:t>Information criteria (AIC, BIC) for non-nested models</a:t>
            </a:r>
          </a:p>
          <a:p>
            <a:pPr lvl="0" indent="-342900" marL="342900">
              <a:buAutoNum type="arabicPeriod"/>
            </a:pPr>
            <a:r>
              <a:rPr/>
              <a:t>Classification metrics like accuracy, sensitivity, and specificity</a:t>
            </a:r>
          </a:p>
          <a:p>
            <a:pPr lvl="0" indent="0" marL="0">
              <a:buNone/>
            </a:pPr>
            <a:r>
              <a:rPr/>
              <a:t>Let’s compare models and calculate AIC values:</a:t>
            </a:r>
          </a:p>
          <a:p>
            <a:pPr lvl="0" indent="0">
              <a:buNone/>
            </a:pPr>
            <a:r>
              <a:rPr>
                <a:solidFill>
                  <a:srgbClr val="5E5E5E"/>
                </a:solidFill>
                <a:latin typeface="Courier"/>
              </a:rPr>
              <a:t># Calculate AIC for our models</a:t>
            </a:r>
            <a:br/>
            <a:r>
              <a:rPr>
                <a:solidFill>
                  <a:srgbClr val="003B4F"/>
                </a:solidFill>
                <a:latin typeface="Courier"/>
              </a:rPr>
              <a:t>models &lt;- </a:t>
            </a:r>
            <a:r>
              <a:rPr>
                <a:solidFill>
                  <a:srgbClr val="4758AB"/>
                </a:solidFill>
                <a:latin typeface="Courier"/>
              </a:rPr>
              <a:t>list</a:t>
            </a:r>
            <a:r>
              <a:rPr>
                <a:solidFill>
                  <a:srgbClr val="003B4F"/>
                </a:solidFill>
                <a:latin typeface="Courier"/>
              </a:rPr>
              <a:t>(</a:t>
            </a:r>
            <a:br/>
            <a:r>
              <a:rPr>
                <a:solidFill>
                  <a:srgbClr val="003B4F"/>
                </a:solidFill>
                <a:latin typeface="Courier"/>
              </a:rPr>
              <a:t>  </a:t>
            </a:r>
            <a:r>
              <a:rPr>
                <a:solidFill>
                  <a:srgbClr val="20794D"/>
                </a:solidFill>
                <a:latin typeface="Courier"/>
              </a:rPr>
              <a:t>"Full"</a:t>
            </a:r>
            <a:r>
              <a:rPr>
                <a:solidFill>
                  <a:srgbClr val="003B4F"/>
                </a:solidFill>
                <a:latin typeface="Courier"/>
              </a:rPr>
              <a:t> = rodent_model,</a:t>
            </a:r>
            <a:br/>
            <a:r>
              <a:rPr>
                <a:solidFill>
                  <a:srgbClr val="003B4F"/>
                </a:solidFill>
                <a:latin typeface="Courier"/>
              </a:rPr>
              <a:t>  </a:t>
            </a:r>
            <a:r>
              <a:rPr>
                <a:solidFill>
                  <a:srgbClr val="20794D"/>
                </a:solidFill>
                <a:latin typeface="Courier"/>
              </a:rPr>
              <a:t>"No Distance"</a:t>
            </a:r>
            <a:r>
              <a:rPr>
                <a:solidFill>
                  <a:srgbClr val="003B4F"/>
                </a:solidFill>
                <a:latin typeface="Courier"/>
              </a:rPr>
              <a:t> = model_no_distance,</a:t>
            </a:r>
            <a:br/>
            <a:r>
              <a:rPr>
                <a:solidFill>
                  <a:srgbClr val="003B4F"/>
                </a:solidFill>
                <a:latin typeface="Courier"/>
              </a:rPr>
              <a:t>  </a:t>
            </a:r>
            <a:r>
              <a:rPr>
                <a:solidFill>
                  <a:srgbClr val="20794D"/>
                </a:solidFill>
                <a:latin typeface="Courier"/>
              </a:rPr>
              <a:t>"No Age"</a:t>
            </a:r>
            <a:r>
              <a:rPr>
                <a:solidFill>
                  <a:srgbClr val="003B4F"/>
                </a:solidFill>
                <a:latin typeface="Courier"/>
              </a:rPr>
              <a:t> = model_no_age,</a:t>
            </a:r>
            <a:br/>
            <a:r>
              <a:rPr>
                <a:solidFill>
                  <a:srgbClr val="003B4F"/>
                </a:solidFill>
                <a:latin typeface="Courier"/>
              </a:rPr>
              <a:t>  </a:t>
            </a:r>
            <a:r>
              <a:rPr>
                <a:solidFill>
                  <a:srgbClr val="20794D"/>
                </a:solidFill>
                <a:latin typeface="Courier"/>
              </a:rPr>
              <a:t>"No Shrub"</a:t>
            </a:r>
            <a:r>
              <a:rPr>
                <a:solidFill>
                  <a:srgbClr val="003B4F"/>
                </a:solidFill>
                <a:latin typeface="Courier"/>
              </a:rPr>
              <a:t> = model_no_shrub,</a:t>
            </a:r>
            <a:br/>
            <a:r>
              <a:rPr>
                <a:solidFill>
                  <a:srgbClr val="003B4F"/>
                </a:solidFill>
                <a:latin typeface="Courier"/>
              </a:rPr>
              <a:t>  </a:t>
            </a:r>
            <a:r>
              <a:rPr>
                <a:solidFill>
                  <a:srgbClr val="20794D"/>
                </a:solidFill>
                <a:latin typeface="Courier"/>
              </a:rPr>
              <a:t>"Intercept Only"</a:t>
            </a:r>
            <a:r>
              <a:rPr>
                <a:solidFill>
                  <a:srgbClr val="003B4F"/>
                </a:solidFill>
                <a:latin typeface="Courier"/>
              </a:rPr>
              <a:t> =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binomial)</a:t>
            </a:r>
            <a:br/>
            <a:r>
              <a:rPr>
                <a:solidFill>
                  <a:srgbClr val="003B4F"/>
                </a:solidFill>
                <a:latin typeface="Courier"/>
              </a:rPr>
              <a:t>)</a:t>
            </a:r>
            <a:br/>
            <a:br/>
            <a:r>
              <a:rPr>
                <a:solidFill>
                  <a:srgbClr val="5E5E5E"/>
                </a:solidFill>
                <a:latin typeface="Courier"/>
              </a:rPr>
              <a:t># Calculate AIC and BIC</a:t>
            </a:r>
            <a:br/>
            <a:r>
              <a:rPr>
                <a:solidFill>
                  <a:srgbClr val="003B4F"/>
                </a:solidFill>
                <a:latin typeface="Courier"/>
              </a:rPr>
              <a:t>model_comparison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Model =</a:t>
            </a:r>
            <a:r>
              <a:rPr>
                <a:solidFill>
                  <a:srgbClr val="003B4F"/>
                </a:solidFill>
                <a:latin typeface="Courier"/>
              </a:rPr>
              <a:t> </a:t>
            </a:r>
            <a:r>
              <a:rPr>
                <a:solidFill>
                  <a:srgbClr val="4758AB"/>
                </a:solidFill>
                <a:latin typeface="Courier"/>
              </a:rPr>
              <a:t>names</a:t>
            </a:r>
            <a:r>
              <a:rPr>
                <a:solidFill>
                  <a:srgbClr val="003B4F"/>
                </a:solidFill>
                <a:latin typeface="Courier"/>
              </a:rPr>
              <a:t>(models),</a:t>
            </a:r>
            <a:br/>
            <a:r>
              <a:rPr>
                <a:solidFill>
                  <a:srgbClr val="003B4F"/>
                </a:solidFill>
                <a:latin typeface="Courier"/>
              </a:rPr>
              <a:t>  </a:t>
            </a:r>
            <a:r>
              <a:rPr>
                <a:solidFill>
                  <a:srgbClr val="657422"/>
                </a:solidFill>
                <a:latin typeface="Courier"/>
              </a:rPr>
              <a:t>Parameters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a:t>
            </a:r>
            <a:r>
              <a:rPr>
                <a:solidFill>
                  <a:srgbClr val="4758AB"/>
                </a:solidFill>
                <a:latin typeface="Courier"/>
              </a:rPr>
              <a:t>length</a:t>
            </a:r>
            <a:r>
              <a:rPr>
                <a:solidFill>
                  <a:srgbClr val="003B4F"/>
                </a:solidFill>
                <a:latin typeface="Courier"/>
              </a:rPr>
              <a:t>(</a:t>
            </a:r>
            <a:r>
              <a:rPr>
                <a:solidFill>
                  <a:srgbClr val="4758AB"/>
                </a:solidFill>
                <a:latin typeface="Courier"/>
              </a:rPr>
              <a:t>coef</a:t>
            </a:r>
            <a:r>
              <a:rPr>
                <a:solidFill>
                  <a:srgbClr val="003B4F"/>
                </a:solidFill>
                <a:latin typeface="Courier"/>
              </a:rPr>
              <a:t>(m))),</a:t>
            </a:r>
            <a:br/>
            <a:r>
              <a:rPr>
                <a:solidFill>
                  <a:srgbClr val="003B4F"/>
                </a:solidFill>
                <a:latin typeface="Courier"/>
              </a:rPr>
              <a:t>  </a:t>
            </a:r>
            <a:r>
              <a:rPr>
                <a:solidFill>
                  <a:srgbClr val="657422"/>
                </a:solidFill>
                <a:latin typeface="Courier"/>
              </a:rPr>
              <a:t>AIC =</a:t>
            </a:r>
            <a:r>
              <a:rPr>
                <a:solidFill>
                  <a:srgbClr val="003B4F"/>
                </a:solidFill>
                <a:latin typeface="Courier"/>
              </a:rPr>
              <a:t> </a:t>
            </a:r>
            <a:r>
              <a:rPr>
                <a:solidFill>
                  <a:srgbClr val="4758AB"/>
                </a:solidFill>
                <a:latin typeface="Courier"/>
              </a:rPr>
              <a:t>sapply</a:t>
            </a:r>
            <a:r>
              <a:rPr>
                <a:solidFill>
                  <a:srgbClr val="003B4F"/>
                </a:solidFill>
                <a:latin typeface="Courier"/>
              </a:rPr>
              <a:t>(models, AIC),</a:t>
            </a:r>
            <a:br/>
            <a:r>
              <a:rPr>
                <a:solidFill>
                  <a:srgbClr val="003B4F"/>
                </a:solidFill>
                <a:latin typeface="Courier"/>
              </a:rPr>
              <a:t>  </a:t>
            </a:r>
            <a:r>
              <a:rPr>
                <a:solidFill>
                  <a:srgbClr val="657422"/>
                </a:solidFill>
                <a:latin typeface="Courier"/>
              </a:rPr>
              <a:t>BIC =</a:t>
            </a:r>
            <a:r>
              <a:rPr>
                <a:solidFill>
                  <a:srgbClr val="003B4F"/>
                </a:solidFill>
                <a:latin typeface="Courier"/>
              </a:rPr>
              <a:t> </a:t>
            </a:r>
            <a:r>
              <a:rPr>
                <a:solidFill>
                  <a:srgbClr val="4758AB"/>
                </a:solidFill>
                <a:latin typeface="Courier"/>
              </a:rPr>
              <a:t>sapply</a:t>
            </a:r>
            <a:r>
              <a:rPr>
                <a:solidFill>
                  <a:srgbClr val="003B4F"/>
                </a:solidFill>
                <a:latin typeface="Courier"/>
              </a:rPr>
              <a:t>(models, BIC),</a:t>
            </a:r>
            <a:br/>
            <a:r>
              <a:rPr>
                <a:solidFill>
                  <a:srgbClr val="003B4F"/>
                </a:solidFill>
                <a:latin typeface="Courier"/>
              </a:rPr>
              <a:t>  </a:t>
            </a:r>
            <a:r>
              <a:rPr>
                <a:solidFill>
                  <a:srgbClr val="657422"/>
                </a:solidFill>
                <a:latin typeface="Courier"/>
              </a:rPr>
              <a:t>Deviance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m</a:t>
            </a:r>
            <a:r>
              <a:rPr>
                <a:solidFill>
                  <a:srgbClr val="5E5E5E"/>
                </a:solidFill>
                <a:latin typeface="Courier"/>
              </a:rPr>
              <a:t>$</a:t>
            </a:r>
            <a:r>
              <a:rPr>
                <a:solidFill>
                  <a:srgbClr val="003B4F"/>
                </a:solidFill>
                <a:latin typeface="Courier"/>
              </a:rPr>
              <a:t>deviance)</a:t>
            </a:r>
            <a:br/>
            <a:r>
              <a:rPr>
                <a:solidFill>
                  <a:srgbClr val="003B4F"/>
                </a:solidFill>
                <a:latin typeface="Courier"/>
              </a:rPr>
              <a:t>)</a:t>
            </a:r>
            <a:br/>
            <a:br/>
            <a:r>
              <a:rPr>
                <a:solidFill>
                  <a:srgbClr val="5E5E5E"/>
                </a:solidFill>
                <a:latin typeface="Courier"/>
              </a:rPr>
              <a:t># Show model comparison table</a:t>
            </a:r>
            <a:br/>
            <a:r>
              <a:rPr>
                <a:solidFill>
                  <a:srgbClr val="003B4F"/>
                </a:solidFill>
                <a:latin typeface="Courier"/>
              </a:rPr>
              <a:t>model_comparison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(AIC)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332823540"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Model</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Parameters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AIC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BIC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Deviance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Age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20.71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Full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22.15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9.27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Distance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21.04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 Only</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29.55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30.77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27.55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Shrub</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32.73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36.39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Content Placeholder 3"/>
          <p:cNvSpPr>
            <a:spLocks noGrp="1"/>
          </p:cNvSpPr>
          <p:nvPr>
            <p:ph idx="2" sz="half"/>
          </p:nvPr>
        </p:nvSpPr>
        <p:spPr/>
        <p:txBody>
          <a:bodyPr/>
          <a:lstStyle/>
          <a:p>
            <a:pPr lvl="0" indent="0" marL="0">
              <a:buNone/>
            </a:pPr>
            <a:r>
              <a:rPr/>
              <a:t>We can also evaluate the predictive performance of our model:</a:t>
            </a:r>
          </a:p>
          <a:p>
            <a:pPr lvl="0" indent="0">
              <a:buNone/>
            </a:pPr>
            <a:r>
              <a:rPr>
                <a:solidFill>
                  <a:srgbClr val="5E5E5E"/>
                </a:solidFill>
                <a:latin typeface="Courier"/>
              </a:rPr>
              <a:t># Get predictions</a:t>
            </a:r>
            <a:br/>
            <a:r>
              <a:rPr>
                <a:solidFill>
                  <a:srgbClr val="003B4F"/>
                </a:solidFill>
                <a:latin typeface="Courier"/>
              </a:rPr>
              <a:t>predicted_probs &lt;- </a:t>
            </a:r>
            <a:r>
              <a:rPr>
                <a:solidFill>
                  <a:srgbClr val="4758AB"/>
                </a:solidFill>
                <a:latin typeface="Courier"/>
              </a:rPr>
              <a:t>predict</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predicted_class &lt;- </a:t>
            </a:r>
            <a:r>
              <a:rPr>
                <a:solidFill>
                  <a:srgbClr val="4758AB"/>
                </a:solidFill>
                <a:latin typeface="Courier"/>
              </a:rPr>
              <a:t>ifelse</a:t>
            </a:r>
            <a:r>
              <a:rPr>
                <a:solidFill>
                  <a:srgbClr val="003B4F"/>
                </a:solidFill>
                <a:latin typeface="Courier"/>
              </a:rPr>
              <a:t>(predicted_probs </a:t>
            </a:r>
            <a:r>
              <a:rPr>
                <a:solidFill>
                  <a:srgbClr val="5E5E5E"/>
                </a:solidFill>
                <a:latin typeface="Courier"/>
              </a:rPr>
              <a:t>&gt;</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20794D"/>
                </a:solidFill>
                <a:latin typeface="Courier"/>
              </a:rPr>
              <a:t>"Absent"</a:t>
            </a:r>
            <a:r>
              <a:rPr>
                <a:solidFill>
                  <a:srgbClr val="003B4F"/>
                </a:solidFill>
                <a:latin typeface="Courier"/>
              </a:rPr>
              <a:t>)</a:t>
            </a:r>
            <a:br/>
            <a:br/>
            <a:r>
              <a:rPr>
                <a:solidFill>
                  <a:srgbClr val="5E5E5E"/>
                </a:solidFill>
                <a:latin typeface="Courier"/>
              </a:rPr>
              <a:t># Create confusion matrix</a:t>
            </a:r>
            <a:br/>
            <a:r>
              <a:rPr>
                <a:solidFill>
                  <a:srgbClr val="003B4F"/>
                </a:solidFill>
                <a:latin typeface="Courier"/>
              </a:rPr>
              <a:t>true_class &lt;- fragment_data</a:t>
            </a:r>
            <a:r>
              <a:rPr>
                <a:solidFill>
                  <a:srgbClr val="5E5E5E"/>
                </a:solidFill>
                <a:latin typeface="Courier"/>
              </a:rPr>
              <a:t>$</a:t>
            </a:r>
            <a:r>
              <a:rPr>
                <a:solidFill>
                  <a:srgbClr val="003B4F"/>
                </a:solidFill>
                <a:latin typeface="Courier"/>
              </a:rPr>
              <a:t>rodent_present</a:t>
            </a:r>
            <a:br/>
            <a:r>
              <a:rPr>
                <a:solidFill>
                  <a:srgbClr val="003B4F"/>
                </a:solidFill>
                <a:latin typeface="Courier"/>
              </a:rPr>
              <a:t>conf_matrix &lt;- </a:t>
            </a:r>
            <a:r>
              <a:rPr>
                <a:solidFill>
                  <a:srgbClr val="4758AB"/>
                </a:solidFill>
                <a:latin typeface="Courier"/>
              </a:rPr>
              <a:t>table</a:t>
            </a:r>
            <a:r>
              <a:rPr>
                <a:solidFill>
                  <a:srgbClr val="003B4F"/>
                </a:solidFill>
                <a:latin typeface="Courier"/>
              </a:rPr>
              <a:t>(</a:t>
            </a:r>
            <a:r>
              <a:rPr>
                <a:solidFill>
                  <a:srgbClr val="657422"/>
                </a:solidFill>
                <a:latin typeface="Courier"/>
              </a:rPr>
              <a:t>Predicted =</a:t>
            </a:r>
            <a:r>
              <a:rPr>
                <a:solidFill>
                  <a:srgbClr val="003B4F"/>
                </a:solidFill>
                <a:latin typeface="Courier"/>
              </a:rPr>
              <a:t> predicted_class, </a:t>
            </a:r>
            <a:r>
              <a:rPr>
                <a:solidFill>
                  <a:srgbClr val="657422"/>
                </a:solidFill>
                <a:latin typeface="Courier"/>
              </a:rPr>
              <a:t>Actual =</a:t>
            </a:r>
            <a:r>
              <a:rPr>
                <a:solidFill>
                  <a:srgbClr val="003B4F"/>
                </a:solidFill>
                <a:latin typeface="Courier"/>
              </a:rPr>
              <a:t> true_class)</a:t>
            </a:r>
            <a:br/>
            <a:br/>
            <a:r>
              <a:rPr>
                <a:solidFill>
                  <a:srgbClr val="5E5E5E"/>
                </a:solidFill>
                <a:latin typeface="Courier"/>
              </a:rPr>
              <a:t># Calculate metrics</a:t>
            </a:r>
            <a:br/>
            <a:r>
              <a:rPr>
                <a:solidFill>
                  <a:srgbClr val="003B4F"/>
                </a:solidFill>
                <a:latin typeface="Courier"/>
              </a:rPr>
              <a:t>accuracy &lt;- </a:t>
            </a:r>
            <a:r>
              <a:rPr>
                <a:solidFill>
                  <a:srgbClr val="4758AB"/>
                </a:solidFill>
                <a:latin typeface="Courier"/>
              </a:rPr>
              <a:t>sum</a:t>
            </a:r>
            <a:r>
              <a:rPr>
                <a:solidFill>
                  <a:srgbClr val="003B4F"/>
                </a:solidFill>
                <a:latin typeface="Courier"/>
              </a:rPr>
              <a:t>(</a:t>
            </a:r>
            <a:r>
              <a:rPr>
                <a:solidFill>
                  <a:srgbClr val="4758AB"/>
                </a:solidFill>
                <a:latin typeface="Courier"/>
              </a:rPr>
              <a:t>diag</a:t>
            </a:r>
            <a:r>
              <a:rPr>
                <a:solidFill>
                  <a:srgbClr val="003B4F"/>
                </a:solidFill>
                <a:latin typeface="Courier"/>
              </a:rPr>
              <a:t>(conf_matrix))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a:t>
            </a:r>
            <a:br/>
            <a:r>
              <a:rPr>
                <a:solidFill>
                  <a:srgbClr val="003B4F"/>
                </a:solidFill>
                <a:latin typeface="Courier"/>
              </a:rPr>
              <a:t>sensitivity &lt;- conf_matrix[</a:t>
            </a:r>
            <a:r>
              <a:rPr>
                <a:solidFill>
                  <a:srgbClr val="20794D"/>
                </a:solidFill>
                <a:latin typeface="Courier"/>
              </a:rPr>
              <a:t>"Present"</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"Present"</a:t>
            </a:r>
            <a:r>
              <a:rPr>
                <a:solidFill>
                  <a:srgbClr val="003B4F"/>
                </a:solidFill>
                <a:latin typeface="Courier"/>
              </a:rPr>
              <a:t>])</a:t>
            </a:r>
            <a:br/>
            <a:r>
              <a:rPr>
                <a:solidFill>
                  <a:srgbClr val="003B4F"/>
                </a:solidFill>
                <a:latin typeface="Courier"/>
              </a:rPr>
              <a:t>specificity &lt;- conf_matrix[</a:t>
            </a:r>
            <a:r>
              <a:rPr>
                <a:solidFill>
                  <a:srgbClr val="20794D"/>
                </a:solidFill>
                <a:latin typeface="Courier"/>
              </a:rPr>
              <a:t>"Absent"</a:t>
            </a:r>
            <a:r>
              <a:rPr>
                <a:solidFill>
                  <a:srgbClr val="003B4F"/>
                </a:solidFill>
                <a:latin typeface="Courier"/>
              </a:rPr>
              <a:t>, </a:t>
            </a:r>
            <a:r>
              <a:rPr>
                <a:solidFill>
                  <a:srgbClr val="20794D"/>
                </a:solidFill>
                <a:latin typeface="Courier"/>
              </a:rPr>
              <a:t>"Absent"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"Absent"</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conf_matrix</a:t>
            </a:r>
          </a:p>
          <a:p>
            <a:pPr lvl="0" indent="0">
              <a:buNone/>
            </a:pPr>
            <a:r>
              <a:rPr>
                <a:latin typeface="Courier"/>
              </a:rPr>
              <a:t>         Actual
Predicted Absent Present
  Absent       5       2
  Present      1      17</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Accuracy:"</a:t>
            </a:r>
            <a:r>
              <a:rPr>
                <a:solidFill>
                  <a:srgbClr val="003B4F"/>
                </a:solidFill>
                <a:latin typeface="Courier"/>
              </a:rPr>
              <a:t>, </a:t>
            </a:r>
            <a:r>
              <a:rPr>
                <a:solidFill>
                  <a:srgbClr val="4758AB"/>
                </a:solidFill>
                <a:latin typeface="Courier"/>
              </a:rPr>
              <a:t>round</a:t>
            </a:r>
            <a:r>
              <a:rPr>
                <a:solidFill>
                  <a:srgbClr val="003B4F"/>
                </a:solidFill>
                <a:latin typeface="Courier"/>
              </a:rPr>
              <a:t>(accuracy,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
Accuracy: 0.88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"Sensitivity:"</a:t>
            </a:r>
            <a:r>
              <a:rPr>
                <a:solidFill>
                  <a:srgbClr val="003B4F"/>
                </a:solidFill>
                <a:latin typeface="Courier"/>
              </a:rPr>
              <a:t>, </a:t>
            </a:r>
            <a:r>
              <a:rPr>
                <a:solidFill>
                  <a:srgbClr val="4758AB"/>
                </a:solidFill>
                <a:latin typeface="Courier"/>
              </a:rPr>
              <a:t>round</a:t>
            </a:r>
            <a:r>
              <a:rPr>
                <a:solidFill>
                  <a:srgbClr val="003B4F"/>
                </a:solidFill>
                <a:latin typeface="Courier"/>
              </a:rPr>
              <a:t>(sensitivity,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Sensitivity: 0.895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"Specificity:"</a:t>
            </a:r>
            <a:r>
              <a:rPr>
                <a:solidFill>
                  <a:srgbClr val="003B4F"/>
                </a:solidFill>
                <a:latin typeface="Courier"/>
              </a:rPr>
              <a:t>, </a:t>
            </a:r>
            <a:r>
              <a:rPr>
                <a:solidFill>
                  <a:srgbClr val="4758AB"/>
                </a:solidFill>
                <a:latin typeface="Courier"/>
              </a:rPr>
              <a:t>round</a:t>
            </a:r>
            <a:r>
              <a:rPr>
                <a:solidFill>
                  <a:srgbClr val="003B4F"/>
                </a:solidFill>
                <a:latin typeface="Courier"/>
              </a:rPr>
              <a:t>(specificity,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Specificity: 0.833 </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Publication-Quality Figure</a:t>
            </a:r>
          </a:p>
        </p:txBody>
      </p:sp>
      <p:sp>
        <p:nvSpPr>
          <p:cNvPr id="4" name="Text Placeholder 3"/>
          <p:cNvSpPr>
            <a:spLocks noGrp="1"/>
          </p:cNvSpPr>
          <p:nvPr>
            <p:ph idx="2" sz="half" type="body"/>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a:buNone/>
            </a:pPr>
            <a:r>
              <a:rPr>
                <a:solidFill>
                  <a:srgbClr val="5E5E5E"/>
                </a:solidFill>
                <a:latin typeface="Courier"/>
              </a:rPr>
              <a:t># Create a more polished visualization for shrub cover effect</a:t>
            </a:r>
            <a:br/>
            <a:r>
              <a:rPr>
                <a:solidFill>
                  <a:srgbClr val="003B4F"/>
                </a:solidFill>
                <a:latin typeface="Courier"/>
              </a:rPr>
              <a:t>polished_pred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Calculate confidence intervals</a:t>
            </a:r>
            <a:br/>
            <a:r>
              <a:rPr>
                <a:solidFill>
                  <a:srgbClr val="003B4F"/>
                </a:solidFill>
                <a:latin typeface="Courier"/>
              </a:rPr>
              <a:t>pred_se &lt;- </a:t>
            </a:r>
            <a:r>
              <a:rPr>
                <a:solidFill>
                  <a:srgbClr val="4758AB"/>
                </a:solidFill>
                <a:latin typeface="Courier"/>
              </a:rPr>
              <a:t>predict</a:t>
            </a:r>
            <a:r>
              <a:rPr>
                <a:solidFill>
                  <a:srgbClr val="003B4F"/>
                </a:solidFill>
                <a:latin typeface="Courier"/>
              </a:rPr>
              <a:t>(rodent_model, </a:t>
            </a:r>
            <a:br/>
            <a:r>
              <a:rPr>
                <a:solidFill>
                  <a:srgbClr val="003B4F"/>
                </a:solidFill>
                <a:latin typeface="Courier"/>
              </a:rPr>
              <a:t>                  </a:t>
            </a:r>
            <a:r>
              <a:rPr>
                <a:solidFill>
                  <a:srgbClr val="657422"/>
                </a:solidFill>
                <a:latin typeface="Courier"/>
              </a:rPr>
              <a:t>newdata =</a:t>
            </a:r>
            <a:r>
              <a:rPr>
                <a:solidFill>
                  <a:srgbClr val="003B4F"/>
                </a:solidFill>
                <a:latin typeface="Courier"/>
              </a:rPr>
              <a:t> polished_pred,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"link"</a:t>
            </a:r>
            <a:r>
              <a:rPr>
                <a:solidFill>
                  <a:srgbClr val="003B4F"/>
                </a:solidFill>
                <a:latin typeface="Courier"/>
              </a:rPr>
              <a:t>, </a:t>
            </a:r>
            <a:br/>
            <a:r>
              <a:rPr>
                <a:solidFill>
                  <a:srgbClr val="003B4F"/>
                </a:solidFill>
                <a:latin typeface="Courier"/>
              </a:rPr>
              <a:t>                  </a:t>
            </a:r>
            <a:r>
              <a:rPr>
                <a:solidFill>
                  <a:srgbClr val="657422"/>
                </a:solidFill>
                <a:latin typeface="Courier"/>
              </a:rPr>
              <a:t>se.fit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Convert to data frame with CIs</a:t>
            </a:r>
            <a:br/>
            <a:r>
              <a:rPr>
                <a:solidFill>
                  <a:srgbClr val="003B4F"/>
                </a:solidFill>
                <a:latin typeface="Courier"/>
              </a:rPr>
              <a:t>ci_data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shrub_cover =</a:t>
            </a:r>
            <a:r>
              <a:rPr>
                <a:solidFill>
                  <a:srgbClr val="003B4F"/>
                </a:solidFill>
                <a:latin typeface="Courier"/>
              </a:rPr>
              <a:t> polished_pred</a:t>
            </a:r>
            <a:r>
              <a:rPr>
                <a:solidFill>
                  <a:srgbClr val="5E5E5E"/>
                </a:solidFill>
                <a:latin typeface="Courier"/>
              </a:rPr>
              <a:t>$</a:t>
            </a:r>
            <a:r>
              <a:rPr>
                <a:solidFill>
                  <a:srgbClr val="003B4F"/>
                </a:solidFill>
                <a:latin typeface="Courier"/>
              </a:rPr>
              <a:t>shrub_cover,</a:t>
            </a:r>
            <a:br/>
            <a:r>
              <a:rPr>
                <a:solidFill>
                  <a:srgbClr val="003B4F"/>
                </a:solidFill>
                <a:latin typeface="Courier"/>
              </a:rPr>
              <a:t>  </a:t>
            </a:r>
            <a:r>
              <a:rPr>
                <a:solidFill>
                  <a:srgbClr val="657422"/>
                </a:solidFill>
                <a:latin typeface="Courier"/>
              </a:rPr>
              <a:t>fit =</a:t>
            </a:r>
            <a:r>
              <a:rPr>
                <a:solidFill>
                  <a:srgbClr val="003B4F"/>
                </a:solidFill>
                <a:latin typeface="Courier"/>
              </a:rPr>
              <a:t> pred_se</a:t>
            </a:r>
            <a:r>
              <a:rPr>
                <a:solidFill>
                  <a:srgbClr val="5E5E5E"/>
                </a:solidFill>
                <a:latin typeface="Courier"/>
              </a:rPr>
              <a:t>$</a:t>
            </a:r>
            <a:r>
              <a:rPr>
                <a:solidFill>
                  <a:srgbClr val="003B4F"/>
                </a:solidFill>
                <a:latin typeface="Courier"/>
              </a:rPr>
              <a:t>fit,</a:t>
            </a:r>
            <a:br/>
            <a:r>
              <a:rPr>
                <a:solidFill>
                  <a:srgbClr val="003B4F"/>
                </a:solidFill>
                <a:latin typeface="Courier"/>
              </a:rPr>
              <a:t>  </a:t>
            </a:r>
            <a:r>
              <a:rPr>
                <a:solidFill>
                  <a:srgbClr val="657422"/>
                </a:solidFill>
                <a:latin typeface="Courier"/>
              </a:rPr>
              <a:t>se =</a:t>
            </a:r>
            <a:r>
              <a:rPr>
                <a:solidFill>
                  <a:srgbClr val="003B4F"/>
                </a:solidFill>
                <a:latin typeface="Courier"/>
              </a:rPr>
              <a:t> pred_se</a:t>
            </a:r>
            <a:r>
              <a:rPr>
                <a:solidFill>
                  <a:srgbClr val="5E5E5E"/>
                </a:solidFill>
                <a:latin typeface="Courier"/>
              </a:rPr>
              <a:t>$</a:t>
            </a:r>
            <a:r>
              <a:rPr>
                <a:solidFill>
                  <a:srgbClr val="003B4F"/>
                </a:solidFill>
                <a:latin typeface="Courier"/>
              </a:rPr>
              <a:t>se.fit</a:t>
            </a:r>
            <a:br/>
            <a:r>
              <a:rPr>
                <a:solidFill>
                  <a:srgbClr val="003B4F"/>
                </a:solidFill>
                <a:latin typeface="Courier"/>
              </a:rPr>
              <a:t>)</a:t>
            </a:r>
            <a:br/>
            <a:br/>
            <a:r>
              <a:rPr>
                <a:solidFill>
                  <a:srgbClr val="5E5E5E"/>
                </a:solidFill>
                <a:latin typeface="Courier"/>
              </a:rPr>
              <a:t># Calculate upper and lower bounds of CI on link scale</a:t>
            </a:r>
            <a:br/>
            <a:r>
              <a:rPr>
                <a:solidFill>
                  <a:srgbClr val="003B4F"/>
                </a:solidFill>
                <a:latin typeface="Courier"/>
              </a:rPr>
              <a:t>ci_data</a:t>
            </a:r>
            <a:r>
              <a:rPr>
                <a:solidFill>
                  <a:srgbClr val="5E5E5E"/>
                </a:solidFill>
                <a:latin typeface="Courier"/>
              </a:rPr>
              <a:t>$</a:t>
            </a:r>
            <a:r>
              <a:rPr>
                <a:solidFill>
                  <a:srgbClr val="003B4F"/>
                </a:solidFill>
                <a:latin typeface="Courier"/>
              </a:rPr>
              <a:t>lower_link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r>
              <a:rPr>
                <a:solidFill>
                  <a:srgbClr val="003B4F"/>
                </a:solidFill>
                <a:latin typeface="Courier"/>
              </a:rPr>
              <a:t>ci_data</a:t>
            </a:r>
            <a:r>
              <a:rPr>
                <a:solidFill>
                  <a:srgbClr val="5E5E5E"/>
                </a:solidFill>
                <a:latin typeface="Courier"/>
              </a:rPr>
              <a:t>$</a:t>
            </a:r>
            <a:r>
              <a:rPr>
                <a:solidFill>
                  <a:srgbClr val="003B4F"/>
                </a:solidFill>
                <a:latin typeface="Courier"/>
              </a:rPr>
              <a:t>upper_link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br/>
            <a:r>
              <a:rPr>
                <a:solidFill>
                  <a:srgbClr val="5E5E5E"/>
                </a:solidFill>
                <a:latin typeface="Courier"/>
              </a:rPr>
              <a:t># Transform back to probability scale</a:t>
            </a:r>
            <a:br/>
            <a:r>
              <a:rPr>
                <a:solidFill>
                  <a:srgbClr val="003B4F"/>
                </a:solidFill>
                <a:latin typeface="Courier"/>
              </a:rPr>
              <a:t>ci_data</a:t>
            </a:r>
            <a:r>
              <a:rPr>
                <a:solidFill>
                  <a:srgbClr val="5E5E5E"/>
                </a:solidFill>
                <a:latin typeface="Courier"/>
              </a:rPr>
              <a:t>$</a:t>
            </a:r>
            <a:r>
              <a:rPr>
                <a:solidFill>
                  <a:srgbClr val="003B4F"/>
                </a:solidFill>
                <a:latin typeface="Courier"/>
              </a:rPr>
              <a:t>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fit)</a:t>
            </a:r>
            <a:br/>
            <a:r>
              <a:rPr>
                <a:solidFill>
                  <a:srgbClr val="003B4F"/>
                </a:solidFill>
                <a:latin typeface="Courier"/>
              </a:rPr>
              <a:t>ci_data</a:t>
            </a:r>
            <a:r>
              <a:rPr>
                <a:solidFill>
                  <a:srgbClr val="5E5E5E"/>
                </a:solidFill>
                <a:latin typeface="Courier"/>
              </a:rPr>
              <a:t>$</a:t>
            </a:r>
            <a:r>
              <a:rPr>
                <a:solidFill>
                  <a:srgbClr val="003B4F"/>
                </a:solidFill>
                <a:latin typeface="Courier"/>
              </a:rPr>
              <a:t>lower_prob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lower_link)</a:t>
            </a:r>
            <a:br/>
            <a:r>
              <a:rPr>
                <a:solidFill>
                  <a:srgbClr val="003B4F"/>
                </a:solidFill>
                <a:latin typeface="Courier"/>
              </a:rPr>
              <a:t>ci_data</a:t>
            </a:r>
            <a:r>
              <a:rPr>
                <a:solidFill>
                  <a:srgbClr val="5E5E5E"/>
                </a:solidFill>
                <a:latin typeface="Courier"/>
              </a:rPr>
              <a:t>$</a:t>
            </a:r>
            <a:r>
              <a:rPr>
                <a:solidFill>
                  <a:srgbClr val="003B4F"/>
                </a:solidFill>
                <a:latin typeface="Courier"/>
              </a:rPr>
              <a:t>upper_prob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upper_link)</a:t>
            </a:r>
            <a:br/>
            <a:br/>
            <a:r>
              <a:rPr>
                <a:solidFill>
                  <a:srgbClr val="5E5E5E"/>
                </a:solidFill>
                <a:latin typeface="Courier"/>
              </a:rPr>
              <a:t># Create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a:t>
            </a:r>
            <a:br/>
            <a:r>
              <a:rPr>
                <a:solidFill>
                  <a:srgbClr val="003B4F"/>
                </a:solidFill>
                <a:latin typeface="Courier"/>
              </a:rPr>
              <a:t>  </a:t>
            </a:r>
            <a:r>
              <a:rPr>
                <a:solidFill>
                  <a:srgbClr val="4758AB"/>
                </a:solidFill>
                <a:latin typeface="Courier"/>
              </a:rPr>
              <a:t>geom_ribbon</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ymin =</a:t>
            </a:r>
            <a:r>
              <a:rPr>
                <a:solidFill>
                  <a:srgbClr val="003B4F"/>
                </a:solidFill>
                <a:latin typeface="Courier"/>
              </a:rPr>
              <a:t> lower_prob, </a:t>
            </a:r>
            <a:br/>
            <a:r>
              <a:rPr>
                <a:solidFill>
                  <a:srgbClr val="003B4F"/>
                </a:solidFill>
                <a:latin typeface="Courier"/>
              </a:rPr>
              <a:t>                 </a:t>
            </a:r>
            <a:r>
              <a:rPr>
                <a:solidFill>
                  <a:srgbClr val="657422"/>
                </a:solidFill>
                <a:latin typeface="Courier"/>
              </a:rPr>
              <a:t>ymax =</a:t>
            </a:r>
            <a:r>
              <a:rPr>
                <a:solidFill>
                  <a:srgbClr val="003B4F"/>
                </a:solidFill>
                <a:latin typeface="Courier"/>
              </a:rPr>
              <a:t> upper_prob),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Customize appearance</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 on Native Rodent Presence"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"Probability of occurrence in canyon fragments"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"Percentage Shrub Cover"</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Rodent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14</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panel.border =</a:t>
            </a:r>
            <a:r>
              <a:rPr>
                <a:solidFill>
                  <a:srgbClr val="003B4F"/>
                </a:solidFill>
                <a:latin typeface="Courier"/>
              </a:rPr>
              <a:t> </a:t>
            </a:r>
            <a:r>
              <a:rPr>
                <a:solidFill>
                  <a:srgbClr val="4758AB"/>
                </a:solidFill>
                <a:latin typeface="Courier"/>
              </a:rPr>
              <a:t>element_rect</a:t>
            </a:r>
            <a:r>
              <a:rPr>
                <a:solidFill>
                  <a:srgbClr val="003B4F"/>
                </a:solidFill>
                <a:latin typeface="Courier"/>
              </a:rPr>
              <a:t>(</a:t>
            </a:r>
            <a:r>
              <a:rPr>
                <a:solidFill>
                  <a:srgbClr val="657422"/>
                </a:solidFill>
                <a:latin typeface="Courier"/>
              </a:rPr>
              <a:t>fill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"gray80"</a:t>
            </a:r>
            <a:r>
              <a:rPr>
                <a:solidFill>
                  <a:srgbClr val="003B4F"/>
                </a:solidFill>
                <a:latin typeface="Courier"/>
              </a:rPr>
              <a:t>)</a:t>
            </a:r>
            <a:br/>
            <a:r>
              <a:rPr>
                <a:solidFill>
                  <a:srgbClr val="003B4F"/>
                </a:solidFill>
                <a:latin typeface="Courier"/>
              </a:rPr>
              <a:t>  )</a:t>
            </a:r>
          </a:p>
        </p:txBody>
      </p:sp>
      <p:pic>
        <p:nvPicPr>
          <p:cNvPr descr="14_01_lecture_powerpoint_files/figure-pptx/publication-figure-1.png" id="0" name="Picture 1"/>
          <p:cNvPicPr>
            <a:picLocks noGrp="1" noChangeAspect="1"/>
          </p:cNvPicPr>
          <p:nvPr/>
        </p:nvPicPr>
        <p:blipFill>
          <a:blip r:embed="rId2"/>
          <a:stretch>
            <a:fillRect/>
          </a:stretch>
        </p:blipFill>
        <p:spPr bwMode="auto">
          <a:xfrm>
            <a:off x="3657600" y="1282700"/>
            <a:ext cx="5232400" cy="3136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1270000">
              <a:buNone/>
            </a:pPr>
            <a:r>
              <a:rPr sz="2000" b="1"/>
              <a:t>GLMs and ANOVAs: The Connection</a:t>
            </a:r>
          </a:p>
          <a:p>
            <a:pPr lvl="0" indent="0" marL="1270000">
              <a:buNone/>
            </a:pPr>
            <a:r>
              <a:rPr sz="2000"/>
              <a:t>General linear models (including ANOVAs and standard regression) are special cases of Generalized Linear Models where:</a:t>
            </a:r>
          </a:p>
          <a:p>
            <a:pPr lvl="0" indent="-342900" marL="342900">
              <a:buAutoNum type="arabicPeriod"/>
            </a:pPr>
            <a:r>
              <a:rPr sz="2000"/>
              <a:t>The response variable follows a normal distribution</a:t>
            </a:r>
          </a:p>
          <a:p>
            <a:pPr lvl="0" indent="-342900" marL="342900">
              <a:buAutoNum type="arabicPeriod"/>
            </a:pPr>
            <a:r>
              <a:rPr sz="2000"/>
              <a:t>The link function is the identity function</a:t>
            </a:r>
          </a:p>
          <a:p>
            <a:pPr lvl="0" indent="0" marL="1270000">
              <a:buNone/>
            </a:pPr>
            <a:r>
              <a:rPr sz="2000"/>
              <a:t>Therefore, a one-way ANOVA is equivalent to: - A linear regression with a categorical predictor - A Gaussian GLM with an identity link and a categorical predictor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Demonstrating ANOVA-GLM Equivalence</a:t>
            </a:r>
          </a:p>
        </p:txBody>
      </p:sp>
      <p:sp>
        <p:nvSpPr>
          <p:cNvPr id="4" name="Text Placeholder 3"/>
          <p:cNvSpPr>
            <a:spLocks noGrp="1"/>
          </p:cNvSpPr>
          <p:nvPr>
            <p:ph idx="2" sz="half" type="body"/>
          </p:nvPr>
        </p:nvSpPr>
        <p:spPr/>
        <p:txBody>
          <a:bodyPr/>
          <a:lstStyle/>
          <a:p>
            <a:pPr lvl="0" indent="0" marL="0">
              <a:buNone/>
            </a:pPr>
            <a:r>
              <a:rPr/>
              <a:t>Let’s demonstrate this equivalence:</a:t>
            </a:r>
          </a:p>
          <a:p>
            <a:pPr lvl="0" indent="0">
              <a:buNone/>
            </a:pPr>
            <a:r>
              <a:rPr>
                <a:solidFill>
                  <a:srgbClr val="5E5E5E"/>
                </a:solidFill>
                <a:latin typeface="Courier"/>
              </a:rPr>
              <a:t># 1. Standard ANOVA</a:t>
            </a:r>
            <a:br/>
            <a:r>
              <a:rPr>
                <a:solidFill>
                  <a:srgbClr val="003B4F"/>
                </a:solidFill>
                <a:latin typeface="Courier"/>
              </a:rPr>
              <a:t>anova_model &lt;- </a:t>
            </a:r>
            <a:r>
              <a:rPr>
                <a:solidFill>
                  <a:srgbClr val="4758AB"/>
                </a:solidFill>
                <a:latin typeface="Courier"/>
              </a:rPr>
              <a:t>aov</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2. Linear regression</a:t>
            </a:r>
            <a:br/>
            <a:r>
              <a:rPr>
                <a:solidFill>
                  <a:srgbClr val="003B4F"/>
                </a:solidFill>
                <a:latin typeface="Courier"/>
              </a:rPr>
              <a:t>lm_model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3. Gaussian GLM</a:t>
            </a:r>
            <a:br/>
            <a:r>
              <a:rPr>
                <a:solidFill>
                  <a:srgbClr val="003B4F"/>
                </a:solidFill>
                <a:latin typeface="Courier"/>
              </a:rPr>
              <a:t>glm_model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 </a:t>
            </a:r>
            <a:r>
              <a:rPr>
                <a:solidFill>
                  <a:srgbClr val="657422"/>
                </a:solidFill>
                <a:latin typeface="Courier"/>
              </a:rPr>
              <a:t>data =</a:t>
            </a:r>
            <a:r>
              <a:rPr>
                <a:solidFill>
                  <a:srgbClr val="003B4F"/>
                </a:solidFill>
                <a:latin typeface="Courier"/>
              </a:rPr>
              <a:t> mtcars)</a:t>
            </a:r>
            <a:br/>
            <a:br/>
            <a:r>
              <a:rPr>
                <a:solidFill>
                  <a:srgbClr val="5E5E5E"/>
                </a:solidFill>
                <a:latin typeface="Courier"/>
              </a:rPr>
              <a:t># Compare coefficients</a:t>
            </a:r>
            <a:br/>
            <a:r>
              <a:rPr>
                <a:solidFill>
                  <a:srgbClr val="003B4F"/>
                </a:solidFill>
                <a:latin typeface="Courier"/>
              </a:rPr>
              <a:t>coef_comparison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Term =</a:t>
            </a:r>
            <a:r>
              <a:rPr>
                <a:solidFill>
                  <a:srgbClr val="003B4F"/>
                </a:solidFill>
                <a:latin typeface="Courier"/>
              </a:rPr>
              <a:t> </a:t>
            </a:r>
            <a:r>
              <a:rPr>
                <a:solidFill>
                  <a:srgbClr val="4758AB"/>
                </a:solidFill>
                <a:latin typeface="Courier"/>
              </a:rPr>
              <a:t>names</a:t>
            </a:r>
            <a:r>
              <a:rPr>
                <a:solidFill>
                  <a:srgbClr val="003B4F"/>
                </a:solidFill>
                <a:latin typeface="Courier"/>
              </a:rPr>
              <a:t>(</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Linear Regression</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Gaussian GLM</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(glm_model)</a:t>
            </a:r>
            <a:br/>
            <a:r>
              <a:rPr>
                <a:solidFill>
                  <a:srgbClr val="003B4F"/>
                </a:solidFill>
                <a:latin typeface="Courier"/>
              </a:rPr>
              <a:t>)</a:t>
            </a:r>
            <a:br/>
            <a:br/>
            <a:r>
              <a:rPr>
                <a:solidFill>
                  <a:srgbClr val="5E5E5E"/>
                </a:solidFill>
                <a:latin typeface="Courier"/>
              </a:rPr>
              <a:t># Display the comparison</a:t>
            </a:r>
            <a:br/>
            <a:r>
              <a:rPr>
                <a:solidFill>
                  <a:srgbClr val="003B4F"/>
                </a:solidFill>
                <a:latin typeface="Courier"/>
              </a:rPr>
              <a:t>coef_comparison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3</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482902397"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Term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Linear.Regression</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Gaussian.GLM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cyl6</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Text Placeholder 3"/>
          <p:cNvSpPr>
            <a:spLocks noGrp="1"/>
          </p:cNvSpPr>
          <p:nvPr>
            <p:ph idx="2" sz="half" type="body"/>
          </p:nvPr>
        </p:nvSpPr>
        <p:spPr/>
        <p:txBody>
          <a:bodyPr/>
          <a:lstStyle/>
          <a:p>
            <a:pPr lvl="0" indent="0">
              <a:buNone/>
            </a:pPr>
            <a:r>
              <a:rPr>
                <a:solidFill>
                  <a:srgbClr val="5E5E5E"/>
                </a:solidFill>
                <a:latin typeface="Courier"/>
              </a:rPr>
              <a:t># Compare ANOVA tables</a:t>
            </a:r>
            <a:br/>
            <a:r>
              <a:rPr>
                <a:solidFill>
                  <a:srgbClr val="003B4F"/>
                </a:solidFill>
                <a:latin typeface="Courier"/>
              </a:rPr>
              <a:t>anova_aov &lt;- </a:t>
            </a:r>
            <a:r>
              <a:rPr>
                <a:solidFill>
                  <a:srgbClr val="4758AB"/>
                </a:solidFill>
                <a:latin typeface="Courier"/>
              </a:rPr>
              <a:t>anova</a:t>
            </a:r>
            <a:r>
              <a:rPr>
                <a:solidFill>
                  <a:srgbClr val="003B4F"/>
                </a:solidFill>
                <a:latin typeface="Courier"/>
              </a:rPr>
              <a:t>(anova_model)</a:t>
            </a:r>
            <a:br/>
            <a:r>
              <a:rPr>
                <a:solidFill>
                  <a:srgbClr val="003B4F"/>
                </a:solidFill>
                <a:latin typeface="Courier"/>
              </a:rPr>
              <a:t>anova_lm &lt;- </a:t>
            </a:r>
            <a:r>
              <a:rPr>
                <a:solidFill>
                  <a:srgbClr val="4758AB"/>
                </a:solidFill>
                <a:latin typeface="Courier"/>
              </a:rPr>
              <a:t>anova</a:t>
            </a:r>
            <a:r>
              <a:rPr>
                <a:solidFill>
                  <a:srgbClr val="003B4F"/>
                </a:solidFill>
                <a:latin typeface="Courier"/>
              </a:rPr>
              <a:t>(lm_model)</a:t>
            </a:r>
            <a:br/>
            <a:r>
              <a:rPr>
                <a:solidFill>
                  <a:srgbClr val="003B4F"/>
                </a:solidFill>
                <a:latin typeface="Courier"/>
              </a:rPr>
              <a:t>anova_glm &lt;- </a:t>
            </a:r>
            <a:r>
              <a:rPr>
                <a:solidFill>
                  <a:srgbClr val="4758AB"/>
                </a:solidFill>
                <a:latin typeface="Courier"/>
              </a:rPr>
              <a:t>anova</a:t>
            </a:r>
            <a:r>
              <a:rPr>
                <a:solidFill>
                  <a:srgbClr val="003B4F"/>
                </a:solidFill>
                <a:latin typeface="Courier"/>
              </a:rPr>
              <a:t>(glm_model)</a:t>
            </a:r>
            <a:br/>
            <a:br/>
            <a:r>
              <a:rPr>
                <a:solidFill>
                  <a:srgbClr val="5E5E5E"/>
                </a:solidFill>
                <a:latin typeface="Courier"/>
              </a:rPr>
              <a:t># Create visualization showing the three approaches</a:t>
            </a:r>
            <a:br/>
            <a:r>
              <a:rPr>
                <a:solidFill>
                  <a:srgbClr val="5E5E5E"/>
                </a:solidFill>
                <a:latin typeface="Courier"/>
              </a:rPr>
              <a:t># Use the same data and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r>
              <a:rPr>
                <a:solidFill>
                  <a:srgbClr val="657422"/>
                </a:solidFill>
                <a:latin typeface="Courier"/>
              </a:rPr>
              <a:t>group =</a:t>
            </a:r>
            <a:r>
              <a:rPr>
                <a:solidFill>
                  <a:srgbClr val="003B4F"/>
                </a:solidFill>
                <a:latin typeface="Courier"/>
              </a:rPr>
              <a:t> cyl),</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0.3</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0.1</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values from each model</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(glm_model,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legend for model types</a:t>
            </a:r>
            <a:br/>
            <a:r>
              <a:rPr>
                <a:solidFill>
                  <a:srgbClr val="003B4F"/>
                </a:solidFill>
                <a:latin typeface="Courier"/>
              </a:rPr>
              <a:t>  </a:t>
            </a:r>
            <a:r>
              <a:rPr>
                <a:solidFill>
                  <a:srgbClr val="4758AB"/>
                </a:solidFill>
                <a:latin typeface="Courier"/>
              </a:rPr>
              <a:t>annotate</a:t>
            </a:r>
            <a:r>
              <a:rPr>
                <a:solidFill>
                  <a:srgbClr val="003B4F"/>
                </a:solidFill>
                <a:latin typeface="Courier"/>
              </a:rPr>
              <a:t>(</a:t>
            </a:r>
            <a:r>
              <a:rPr>
                <a:solidFill>
                  <a:srgbClr val="20794D"/>
                </a:solidFill>
                <a:latin typeface="Courier"/>
              </a:rPr>
              <a:t>"text"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"8"</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AD0000"/>
                </a:solidFill>
                <a:latin typeface="Courier"/>
              </a:rPr>
              <a:t>30</a:t>
            </a:r>
            <a:r>
              <a:rPr>
                <a:solidFill>
                  <a:srgbClr val="003B4F"/>
                </a:solidFill>
                <a:latin typeface="Courier"/>
              </a:rPr>
              <a:t>, </a:t>
            </a:r>
            <a:br/>
            <a:r>
              <a:rPr>
                <a:solidFill>
                  <a:srgbClr val="003B4F"/>
                </a:solidFill>
                <a:latin typeface="Courier"/>
              </a:rPr>
              <a:t>          </a:t>
            </a:r>
            <a:r>
              <a:rPr>
                <a:solidFill>
                  <a:srgbClr val="657422"/>
                </a:solidFill>
                <a:latin typeface="Courier"/>
              </a:rPr>
              <a:t>label =</a:t>
            </a:r>
            <a:r>
              <a:rPr>
                <a:solidFill>
                  <a:srgbClr val="003B4F"/>
                </a:solidFill>
                <a:latin typeface="Courier"/>
              </a:rPr>
              <a:t> </a:t>
            </a:r>
            <a:r>
              <a:rPr>
                <a:solidFill>
                  <a:srgbClr val="20794D"/>
                </a:solidFill>
                <a:latin typeface="Courier"/>
              </a:rPr>
              <a:t>"Red triangles: Linear Regression</a:t>
            </a:r>
            <a:r>
              <a:rPr>
                <a:solidFill>
                  <a:srgbClr val="5E5E5E"/>
                </a:solidFill>
                <a:latin typeface="Courier"/>
              </a:rPr>
              <a:t>\n</a:t>
            </a:r>
            <a:r>
              <a:rPr>
                <a:solidFill>
                  <a:srgbClr val="20794D"/>
                </a:solidFill>
                <a:latin typeface="Courier"/>
              </a:rPr>
              <a:t>Blue squares: Gaussian GLM"</a:t>
            </a:r>
            <a:r>
              <a:rPr>
                <a:solidFill>
                  <a:srgbClr val="003B4F"/>
                </a:solidFill>
                <a:latin typeface="Courier"/>
              </a:rPr>
              <a:t>, </a:t>
            </a:r>
            <a:b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Models: ANOVA, Linear Regression, and Gaussian GLM"</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"All three approaches yield identical results"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anova-glm-comparison-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indent="0" marL="0">
              <a:buNone/>
            </a:pPr>
            <a:r>
              <a:rPr/>
              <a:t>Generalized Linear Models have different assumptions depending on the specific distribution and link function used:</a:t>
            </a:r>
          </a:p>
          <a:p>
            <a:pPr lvl="0" indent="0" marL="0">
              <a:buNone/>
            </a:pPr>
            <a:r>
              <a:rPr b="1"/>
              <a:t>All GLMs:</a:t>
            </a:r>
            <a:r>
              <a:rPr/>
              <a:t> - Independence of observations - Correct specification of the link function - Correct specification of the variance structure - No influential outliers - No multicollinearity among predictors</a:t>
            </a:r>
          </a:p>
          <a:p>
            <a:pPr lvl="0" indent="0" marL="0">
              <a:buNone/>
            </a:pPr>
            <a:r>
              <a:rPr b="1"/>
              <a:t>Gaussian GLMs (including linear regression):</a:t>
            </a:r>
            <a:r>
              <a:rPr/>
              <a:t> - Normality of residuals - Homogeneity of variance</a:t>
            </a:r>
          </a:p>
          <a:p>
            <a:pPr lvl="0" indent="0" marL="0">
              <a:buNone/>
            </a:pPr>
            <a:r>
              <a:rPr b="1"/>
              <a:t>Poisson GLMs:</a:t>
            </a:r>
            <a:r>
              <a:rPr/>
              <a:t> - Count data (non-negative integers) - Mean equals variance (if overdispersed, consider negative binomial)</a:t>
            </a:r>
          </a:p>
          <a:p>
            <a:pPr lvl="0" indent="0" marL="0">
              <a:buNone/>
            </a:pPr>
            <a:r>
              <a:rPr b="1"/>
              <a:t>Logistic GLMs:</a:t>
            </a:r>
            <a:r>
              <a:rPr/>
              <a:t> - Binary response variable - Linear relationship between predictors and log odds - 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The following R code checks some common diagnostics for our logistic model:</a:t>
            </a:r>
          </a:p>
          <a:p>
            <a:pPr lvl="0" indent="0">
              <a:buNone/>
            </a:pPr>
            <a:r>
              <a:rPr>
                <a:solidFill>
                  <a:srgbClr val="5E5E5E"/>
                </a:solidFill>
                <a:latin typeface="Courier"/>
              </a:rPr>
              <a:t># Create diagnostic plots for the rodent model</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1. Residuals vs fitted</a:t>
            </a:r>
            <a:br/>
            <a:r>
              <a:rPr>
                <a:solidFill>
                  <a:srgbClr val="4758AB"/>
                </a:solidFill>
                <a:latin typeface="Courier"/>
              </a:rPr>
              <a:t>plot</a:t>
            </a:r>
            <a:r>
              <a:rPr>
                <a:solidFill>
                  <a:srgbClr val="003B4F"/>
                </a:solidFill>
                <a:latin typeface="Courier"/>
              </a:rPr>
              <a:t>(</a:t>
            </a:r>
            <a:r>
              <a:rPr>
                <a:solidFill>
                  <a:srgbClr val="4758AB"/>
                </a:solidFill>
                <a:latin typeface="Courier"/>
              </a:rPr>
              <a:t>fitted</a:t>
            </a:r>
            <a:r>
              <a:rPr>
                <a:solidFill>
                  <a:srgbClr val="003B4F"/>
                </a:solidFill>
                <a:latin typeface="Courier"/>
              </a:rPr>
              <a:t>(rodent_model),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Fitted"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"Fitted Values (predicted probabilities)"</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2. Leverage</a:t>
            </a:r>
            <a:br/>
            <a:r>
              <a:rPr>
                <a:solidFill>
                  <a:srgbClr val="003B4F"/>
                </a:solidFill>
                <a:latin typeface="Courier"/>
              </a:rPr>
              <a:t>leverage &lt;- </a:t>
            </a:r>
            <a:r>
              <a:rPr>
                <a:solidFill>
                  <a:srgbClr val="4758AB"/>
                </a:solidFill>
                <a:latin typeface="Courier"/>
              </a:rPr>
              <a:t>hatvalues</a:t>
            </a:r>
            <a:r>
              <a:rPr>
                <a:solidFill>
                  <a:srgbClr val="003B4F"/>
                </a:solidFill>
                <a:latin typeface="Courier"/>
              </a:rPr>
              <a:t>(rodent_model)</a:t>
            </a:r>
            <a:br/>
            <a:r>
              <a:rPr>
                <a:solidFill>
                  <a:srgbClr val="4758AB"/>
                </a:solidFill>
                <a:latin typeface="Courier"/>
              </a:rPr>
              <a:t>plot</a:t>
            </a:r>
            <a:r>
              <a:rPr>
                <a:solidFill>
                  <a:srgbClr val="003B4F"/>
                </a:solidFill>
                <a:latin typeface="Courier"/>
              </a:rPr>
              <a:t>(leverage,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Leverage"</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"Leverage"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3. Cook's distance</a:t>
            </a:r>
            <a:br/>
            <a:r>
              <a:rPr>
                <a:solidFill>
                  <a:srgbClr val="003B4F"/>
                </a:solidFill>
                <a:latin typeface="Courier"/>
              </a:rPr>
              <a:t>cook &lt;- </a:t>
            </a:r>
            <a:r>
              <a:rPr>
                <a:solidFill>
                  <a:srgbClr val="4758AB"/>
                </a:solidFill>
                <a:latin typeface="Courier"/>
              </a:rPr>
              <a:t>cooks.distance</a:t>
            </a:r>
            <a:r>
              <a:rPr>
                <a:solidFill>
                  <a:srgbClr val="003B4F"/>
                </a:solidFill>
                <a:latin typeface="Courier"/>
              </a:rPr>
              <a:t>(rodent_model)</a:t>
            </a:r>
            <a:br/>
            <a:r>
              <a:rPr>
                <a:solidFill>
                  <a:srgbClr val="4758AB"/>
                </a:solidFill>
                <a:latin typeface="Courier"/>
              </a:rPr>
              <a:t>plot</a:t>
            </a:r>
            <a:r>
              <a:rPr>
                <a:solidFill>
                  <a:srgbClr val="003B4F"/>
                </a:solidFill>
                <a:latin typeface="Courier"/>
              </a:rPr>
              <a:t>(cook, </a:t>
            </a:r>
            <a:r>
              <a:rPr>
                <a:solidFill>
                  <a:srgbClr val="657422"/>
                </a:solidFill>
                <a:latin typeface="Courier"/>
              </a:rPr>
              <a:t>main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4</a:t>
            </a:r>
            <a:r>
              <a:rPr>
                <a:solidFill>
                  <a:srgbClr val="5E5E5E"/>
                </a:solidFill>
                <a:latin typeface="Courier"/>
              </a:rPr>
              <a:t>/</a:t>
            </a:r>
            <a:r>
              <a:rPr>
                <a:solidFill>
                  <a:srgbClr val="4758AB"/>
                </a:solidFill>
                <a:latin typeface="Courier"/>
              </a:rPr>
              <a:t>length</a:t>
            </a:r>
            <a:r>
              <a:rPr>
                <a:solidFill>
                  <a:srgbClr val="003B4F"/>
                </a:solidFill>
                <a:latin typeface="Courier"/>
              </a:rPr>
              <a:t>(cook),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 Rule of thumb threshold</a:t>
            </a:r>
            <a:br/>
            <a:br/>
            <a:r>
              <a:rPr>
                <a:solidFill>
                  <a:srgbClr val="5E5E5E"/>
                </a:solidFill>
                <a:latin typeface="Courier"/>
              </a:rPr>
              <a:t># 4. Observed vs Predicted probabilities</a:t>
            </a:r>
            <a:br/>
            <a:r>
              <a:rPr>
                <a:solidFill>
                  <a:srgbClr val="4758AB"/>
                </a:solidFill>
                <a:latin typeface="Courier"/>
              </a:rPr>
              <a:t>plot</a:t>
            </a:r>
            <a:r>
              <a:rPr>
                <a:solidFill>
                  <a:srgbClr val="003B4F"/>
                </a:solidFill>
                <a:latin typeface="Courier"/>
              </a:rPr>
              <a:t>(predicted_probs, </a:t>
            </a:r>
            <a:br/>
            <a:r>
              <a:rPr>
                <a:solidFill>
                  <a:srgbClr val="003B4F"/>
                </a:solidFill>
                <a:latin typeface="Courier"/>
              </a:rPr>
              <a:t>     </a:t>
            </a:r>
            <a:r>
              <a:rPr>
                <a:solidFill>
                  <a:srgbClr val="4758AB"/>
                </a:solidFill>
                <a:latin typeface="Courier"/>
              </a:rPr>
              <a:t>as.numeric</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"Observed vs Predicted"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"Predicted Probability"</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"Observed (0/1)"</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curve</a:t>
            </a:r>
            <a:r>
              <a:rPr>
                <a:solidFill>
                  <a:srgbClr val="003B4F"/>
                </a:solidFill>
                <a:latin typeface="Courier"/>
              </a:rPr>
              <a:t>(I, </a:t>
            </a:r>
            <a:r>
              <a:rPr>
                <a:solidFill>
                  <a:srgbClr val="657422"/>
                </a:solidFill>
                <a:latin typeface="Courier"/>
              </a:rPr>
              <a:t>from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to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add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a:t>
            </a:r>
          </a:p>
        </p:txBody>
      </p:sp>
      <p:pic>
        <p:nvPicPr>
          <p:cNvPr descr="14_01_lecture_powerpoint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with identity link function are equivalent to standard linear models and ANOVAs, suitable for normally distributed continuous responses.</a:t>
            </a:r>
          </a:p>
          <a:p>
            <a:pPr lvl="0" indent="-342900" marL="342900">
              <a:buAutoNum type="arabicPeriod"/>
            </a:pPr>
            <a:r>
              <a:rPr b="1"/>
              <a:t>Poisson GLMs</a:t>
            </a:r>
            <a:r>
              <a:rPr/>
              <a:t> with log link function are appropriate for count data, but be cautious of overdispersion.</a:t>
            </a:r>
          </a:p>
          <a:p>
            <a:pPr lvl="0" indent="-342900" marL="342900">
              <a:buAutoNum type="arabicPeriod"/>
            </a:pPr>
            <a:r>
              <a:rPr b="1"/>
              <a:t>Logistic GLMs</a:t>
            </a:r>
            <a:r>
              <a:rPr/>
              <a:t> with logit link function are useful for binary responses, modeling the probability of success or presence.</a:t>
            </a:r>
          </a:p>
          <a:p>
            <a:pPr lvl="0" indent="0" marL="0">
              <a:buNone/>
            </a:pPr>
            <a:r>
              <a:rPr/>
              <a:t>Key advantages of GLMs include:</a:t>
            </a:r>
          </a:p>
          <a:p>
            <a:pPr lvl="0"/>
            <a:r>
              <a:rPr/>
              <a:t>Ability to handle various types of response variables beyond normal distributions</a:t>
            </a:r>
          </a:p>
          <a:p>
            <a:pPr lvl="0"/>
            <a:r>
              <a:rPr/>
              <a:t>Unified framework for linear modeling</a:t>
            </a:r>
          </a:p>
          <a:p>
            <a:pPr lvl="0"/>
            <a:r>
              <a:rPr/>
              <a:t>Flexibility in specifying the link function to match the data structure</a:t>
            </a:r>
          </a:p>
          <a:p>
            <a:pPr lvl="0"/>
            <a:r>
              <a:rPr/>
              <a:t>Interpretable parameters, though interpretation differs by model type</a:t>
            </a:r>
          </a:p>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a:t>
            </a:r>
          </a:p>
          <a:p>
            <a:pPr lvl="0" indent="0" marL="0">
              <a:buNone/>
            </a:pPr>
            <a:r>
              <a:rPr/>
              <a:t>Bolger, D. T., Alberts, A. C., Sauvajot, R. M., Potenza, P., McCalvin, C., Tran, D., Mazzoni, S., &amp; Soulé, M. E. (1997). Response of rodents to habitat fragmentation in coastal southern California. Ecological Applications, 7(2), 552-563.</a:t>
            </a:r>
          </a:p>
          <a:p>
            <a:pPr lvl="0" indent="0" marL="0">
              <a:buNone/>
            </a:pPr>
            <a:r>
              <a:rPr/>
              <a:t>Christensen, R. (1997). Log-linear Models and Logistic Regression. Springer, New York.</a:t>
            </a:r>
          </a:p>
          <a:p>
            <a:pPr lvl="0" indent="0" marL="0">
              <a:buNone/>
            </a:pPr>
            <a:r>
              <a:rPr/>
              <a:t>Hosmer, D. W., &amp; Lemeshow, S. (1989). Applied Logistic Regression. Wiley, New York.</a:t>
            </a:r>
          </a:p>
          <a:p>
            <a:pPr lvl="0" indent="0" marL="0">
              <a:buNone/>
            </a:pPr>
            <a:r>
              <a:rPr/>
              <a:t>McCullagh, P., &amp; Nelder, J. A. (1989). Generalized Linear Models. Chapman and Hall, London.</a:t>
            </a:r>
          </a:p>
          <a:p>
            <a:pPr lvl="0" indent="0" marL="0">
              <a:buNone/>
            </a:pPr>
            <a:r>
              <a:rPr/>
              <a:t>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2025-10-22T03:01:30Z</dcterms:created>
  <dcterms:modified xsi:type="dcterms:W3CDTF">2025-10-22T03:01:30Z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