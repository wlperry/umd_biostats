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4" Type="http://schemas.openxmlformats.org/officeDocument/2006/relationships/viewProps" Target="viewProps.xml" /><Relationship Id="rId4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6" Type="http://schemas.openxmlformats.org/officeDocument/2006/relationships/tableStyles" Target="tableStyles.xml" /><Relationship Id="rId4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Model II Regression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Tabular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C3 grasses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images/clipboard-71600493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yi: value of Y for ith observation X1 = xi1, X2 = xi2,…, Xp = xip</a:t>
                </a:r>
              </a:p>
              <a:p>
                <a:pPr lvl="0"/>
                <a:r>
                  <a:rPr/>
                  <a:t>β0: population intercept, the mean value of Y when X1 = 0, X2 = 0,…, Xp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β1: partial population slope, change in Y per unit change in X1 holding other X-vars constant</a:t>
                </a:r>
              </a:p>
              <a:p>
                <a:pPr lvl="0"/>
                <a:r>
                  <a:rPr/>
                  <a:t>β2: partial population slope, change in Y per unit change in X2 holding other X-vars constant</a:t>
                </a:r>
              </a:p>
              <a:p>
                <a:pPr lvl="0"/>
                <a:r>
                  <a:rPr/>
                  <a:t>βp: partial population slope, change in Y per unit change in Xp holding other X-vars constant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εi: unexplained error - difference bw yi and value predicted by model (ŷi)</a:t>
                </a:r>
              </a:p>
              <a:p>
                <a:pPr lvl="0"/>
                <a:r>
                  <a:rPr/>
                  <a:t>NPP = β0 + β1(lat) + β2 (long) + β3 (soil fertility) + εi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∑(yi-ŷi)2, the SS (vertical distance) between observed yi and predicted ŷi for each xij</a:t>
                </a:r>
              </a:p>
              <a:p>
                <a:pPr lvl="0"/>
                <a:r>
                  <a:rPr/>
                  <a:t>ε estimated as residuals: εi = yi-ŷi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3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SStotal partitioned into SSregression and SSresidual</a:t></a:r></a:p><a:p><a:pPr lvl="0" /><a:r><a:rPr /><a:t>SSregression is variance in Y explained by model</a:t></a:r></a:p><a:p><a:pPr lvl="0" /><a:r><a:rPr /><a:t>SSresidual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SS converted to non-additive MS (SS/df)</a:t></a:r></a:p><a:p><a:pPr lvl="0" /><a:r><a:rPr /><a:t>MSresidual: estimate population variance</a:t></a:r></a:p><a:p><a:pPr lvl="0" /><a:r><a:rPr /><a:t>MSregression: estimate population variance + variation due to strength of X-Y relationships</a:t></a:r></a:p><a:p><a:pPr lvl="0" /><a:r><a:rPr /><a:t>MS do not depend on sample size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Hos usually tested in MLR:</a:t>
            </a:r>
          </a:p>
          <a:p>
            <a:pPr lvl="0"/>
            <a:r>
              <a:rPr/>
              <a:t>“Basic” Ho: all partial regression slopes equal 0; β1 = β2 = … = βp = 0</a:t>
            </a:r>
          </a:p>
          <a:p>
            <a:pPr lvl="0"/>
            <a:r>
              <a:rPr/>
              <a:t>If “basic” Ho true, MSregression and MSresidual estimate variance and their ratio (F-ratio) = 1</a:t>
            </a:r>
          </a:p>
          <a:p>
            <a:pPr lvl="0"/>
            <a:r>
              <a:rPr/>
              <a:t>If “basic” Ho false (at least one β ≠ 0) MSregression estimates variance + partial regression slope and their ratio (F-ratio)</a:t>
            </a:r>
          </a:p>
          <a:p>
            <a:pPr lvl="0"/>
            <a:r>
              <a:rPr/>
              <a:t>will be &gt; 1 - F-ratio compared to F-distribution for p-value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Also: is any specific β = 0 (explanatory role)?</a:t>
            </a:r>
          </a:p>
          <a:p>
            <a:pPr lvl="0"/>
            <a:r>
              <a:rPr/>
              <a:t>E.g., does LAT have effect on NPP?</a:t>
            </a:r>
          </a:p>
          <a:p>
            <a:pPr lvl="0"/>
            <a:r>
              <a:rPr/>
              <a:t>These Hs tested through model comparison</a:t>
            </a:r>
          </a:p>
          <a:p>
            <a:pPr lvl="0"/>
            <a:r>
              <a:rPr/>
              <a:t>Model w 3 predictors X1, X2,X3 (model 1):</a:t>
            </a:r>
          </a:p>
          <a:p>
            <a:pPr lvl="0"/>
            <a:r>
              <a:rPr/>
              <a:t>yi= β0 +β1xi1+β2xi2+β3xi3+ εi</a:t>
            </a:r>
          </a:p>
          <a:p>
            <a:pPr lvl="0"/>
            <a:r>
              <a:rPr/>
              <a:t>To test Ho that β1 = 0 compare fit of model 1 to model 2:</a:t>
            </a:r>
          </a:p>
          <a:p>
            <a:pPr lvl="0"/>
            <a:r>
              <a:rPr/>
              <a:t>yi= β0 +β2xi2+β3xi3+ εi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SSregression of mod1=mod2, cannot reject Ho β1 = 0</a:t>
                </a:r>
              </a:p>
              <a:p>
                <a:pPr lvl="0"/>
                <a:r>
                  <a:rPr/>
                  <a:t>If SSregression of mod1 &gt; mod2, evidence to reject Ho β1 = 0</a:t>
                </a:r>
              </a:p>
              <a:p>
                <a:pPr lvl="0"/>
                <a:r>
                  <a:rPr/>
                  <a:t>SS for β1 is SSextraβ1 = Full SSregression - Reduced SSregression</a:t>
                </a:r>
              </a:p>
              <a:p>
                <a:pPr lvl="0"/>
                <a:r>
                  <a:rPr/>
                  <a:t>Use partial F-test to test Ho β1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(r2)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r2 values can not be used to directly compare models</a:t>
                </a:r>
              </a:p>
              <a:p>
                <a:pPr lvl="0"/>
                <a:r>
                  <a:rPr/>
                  <a:t>r2 values will always increase as predictors added</a:t>
                </a:r>
              </a:p>
              <a:p>
                <a:pPr lvl="0"/>
                <a:r>
                  <a:rPr/>
                  <a:t>r2 values with different transformation will differ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pic>
        <p:nvPicPr>
          <p:cNvPr descr="images/clipboard-26506686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66900"/>
            <a:ext cx="2781300" cy="2057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images/clipboard-30939484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More observations than predictor variables</a:t>
            </a:r>
          </a:p>
          <a:p>
            <a:pPr lvl="0"/>
            <a:r>
              <a:rPr/>
              <a:t>Ideally at least 10x observations than predictors to avoid “overfitting”</a:t>
            </a:r>
          </a:p>
          <a:p>
            <a:pPr lvl="0"/>
            <a:r>
              <a:rPr/>
              <a:t>Uncorrelated predictor variables (assessed using scatterplot matrix; VIFs)</a:t>
            </a:r>
          </a:p>
          <a:p>
            <a:pPr lvl="0"/>
            <a:r>
              <a:rPr/>
              <a:t>Linear relationship between Y and each X, holding others constant (non-linearity assessed by AV plots)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</p:txBody>
      </p:sp>
      <p:pic>
        <p:nvPicPr>
          <p:cNvPr descr="images/clipboard-285405608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2362200"/>
            <a:ext cx="5232400" cy="96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Collinearity can be detected by:</a:t>
            </a:r>
          </a:p>
          <a:p>
            <a:pPr lvl="0"/>
            <a:r>
              <a:rPr/>
              <a:t>Variance inflation Factors:</a:t>
            </a:r>
          </a:p>
          <a:p>
            <a:pPr lvl="1"/>
            <a:r>
              <a:rPr/>
              <a:t>VIF for Xj=1/ (1-r2 )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</a:t>
            </a:r>
          </a:p>
          <a:p>
            <a:pPr lvl="1"/>
            <a:r>
              <a:rPr/>
              <a:t>thing and are redundant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Predictors can be modeled as:</a:t>
                </a:r>
              </a:p>
              <a:p>
                <a:pPr lvl="0"/>
                <a:r>
                  <a:rPr/>
                  <a:t>additive (effect of temp, plus precip, plus fertility) or</a:t>
                </a:r>
              </a:p>
              <a:p>
                <a:pPr lvl="0"/>
                <a:r>
                  <a:rPr/>
                  <a:t>multiplicative (interactive)</a:t>
                </a:r>
              </a:p>
              <a:p>
                <a:pPr lvl="0"/>
                <a:r>
                  <a:rPr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X1 is different for different levels of X2 (and vice versa); measured by β3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“Curvature” of the regression (hyper)plane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424177268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27300" y="609600"/>
            <a:ext cx="40259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2n; 6 params= 64 terms; 7 params=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accommodates continuous and categorical variables (gender, vegetation type, etc.) Categorical vars as “dummy vars”, n of dummy variables = n-1 categories</a:t>
            </a:r>
          </a:p>
          <a:p>
            <a:pPr lvl="0" indent="0" marL="0">
              <a:buNone/>
            </a:pPr>
            <a:r>
              <a:rPr b="1"/>
              <a:t>Sex M/F:</a:t>
            </a:r>
          </a:p>
          <a:p>
            <a:pPr lvl="0"/>
            <a:r>
              <a:rPr/>
              <a:t>Need 1 dummy var with two values (0, 1)</a:t>
            </a:r>
          </a:p>
          <a:p>
            <a:pPr lvl="0" indent="0" marL="0">
              <a:buNone/>
            </a:pPr>
            <a:r>
              <a:rPr b="1"/>
              <a:t>Fertility L/M/H:</a:t>
            </a:r>
          </a:p>
          <a:p>
            <a:pPr lvl="0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have multiple predictors (and interactions!)</a:t>
            </a:r>
          </a:p>
          <a:p>
            <a:pPr lvl="0"/>
            <a:r>
              <a:rPr/>
              <a:t>how to choose “best” model?</a:t>
            </a:r>
          </a:p>
          <a:p>
            <a:pPr lvl="0"/>
            <a:r>
              <a:rPr/>
              <a:t>Which predictors to include?</a:t>
            </a:r>
          </a:p>
          <a:p>
            <a:pPr lvl="0"/>
            <a:r>
              <a:rPr/>
              <a:t>Occam’s razor: “best” model balances complexity with fit to data</a:t>
            </a:r>
          </a:p>
          <a:p>
            <a:pPr lvl="0" indent="0" marL="0">
              <a:buNone/>
            </a:pPr>
            <a:r>
              <a:rPr/>
              <a:t>To chose:</a:t>
            </a:r>
          </a:p>
          <a:p>
            <a:pPr lvl="0"/>
            <a:r>
              <a:rPr/>
              <a:t>compare “nested” models</a:t>
            </a:r>
          </a:p>
          <a:p>
            <a:pPr lvl="0" indent="0" marL="0">
              <a:buNone/>
            </a:pPr>
            <a:r>
              <a:rPr/>
              <a:t>Overfitting</a:t>
            </a:r>
          </a:p>
          <a:p>
            <a:pPr lvl="0"/>
            <a:r>
              <a:rPr/>
              <a:t>getting high r2 just by having more (useless predictors)</a:t>
            </a:r>
          </a:p>
          <a:p>
            <a:pPr lvl="0"/>
            <a:r>
              <a:rPr/>
              <a:t>so r2 is not a good way of choosing between nested models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d>
                                <m:dPr>
                                  <m:begChr m:val="("/>
                                  <m:endChr m:val=")"/>
                                  <m:sepChr m:val=""/>
                                  <m:grow/>
                                </m:dPr>
                                <m:e>
                                  <m:r>
                                    <m:t>p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1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ln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S</m:t>
                              </m:r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  <m:sty m:val="p"/>
                                    </m:rPr>
                                    <m:t>Residual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n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But how to compare models?</a:t>
            </a:r>
          </a:p>
          <a:p>
            <a:pPr lvl="0"/>
            <a:r>
              <a:rPr/>
              <a:t>Can fit all possible models</a:t>
            </a:r>
          </a:p>
          <a:p>
            <a:pPr lvl="1"/>
            <a:r>
              <a:rPr/>
              <a:t>compare AICs or adj- r2,</a:t>
            </a:r>
          </a:p>
          <a:p>
            <a:pPr lvl="1"/>
            <a:r>
              <a:rPr/>
              <a:t>tedious w lots of predictors</a:t>
            </a:r>
          </a:p>
          <a:p>
            <a:pPr lvl="0"/>
            <a:r>
              <a:rPr/>
              <a:t>Automated forward (and backward) stepwise procedures: start w no terms (all terms), add (remove) terms w largest (smallest)</a:t>
            </a:r>
          </a:p>
          <a:p>
            <a:pPr lvl="1"/>
            <a:r>
              <a:rPr/>
              <a:t>partial F statistic</a:t>
            </a:r>
          </a:p>
          <a:p>
            <a:pPr lvl="0" indent="0" marL="0">
              <a:buNone/>
            </a:pPr>
            <a:r>
              <a:rPr/>
              <a:t>We will use manual form of backward selection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0"/>
            <a:r>
              <a:rPr/>
              <a:t>Standardize all vars (mean = 0, sd= 1)</a:t>
            </a:r>
          </a:p>
          <a:p>
            <a:pPr lvl="0"/>
            <a:r>
              <a:rPr/>
              <a:t>Scales are identical and larger PRS mean more important variable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partial r2 values:</a:t>
            </a:r>
          </a:p>
        </p:txBody>
      </p:sp>
      <p:pic>
        <p:nvPicPr>
          <p:cNvPr descr="images/clipboard-252191658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62200"/>
            <a:ext cx="2781300" cy="1066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Reporting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Results are easiest to report in tabular format</a:t>
            </a:r>
          </a:p>
        </p:txBody>
      </p:sp>
      <p:pic>
        <p:nvPicPr>
          <p:cNvPr descr="images/clipboard-82916668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238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Reporting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Results are easiest to report in tabular format</a:t>
            </a:r>
          </a:p>
        </p:txBody>
      </p:sp>
      <p:pic>
        <p:nvPicPr>
          <p:cNvPr descr="images/clipboard-280742867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24100"/>
            <a:ext cx="2781300" cy="115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2025-08-10T18:11:43Z</dcterms:created>
  <dcterms:modified xsi:type="dcterms:W3CDTF">2025-08-10T18:11:43Z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