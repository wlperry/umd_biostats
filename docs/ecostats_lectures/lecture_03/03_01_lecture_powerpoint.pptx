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3_01_lecture_powerpoint_standalone.html" TargetMode="External" /><Relationship Id="rId3" Type="http://schemas.openxmlformats.org/officeDocument/2006/relationships/hyperlink" Target="03_01_lecture_powerpoint.docx" TargetMode="External" /><Relationship Id="rId4" Type="http://schemas.openxmlformats.org/officeDocument/2006/relationships/hyperlink" Target="03_01_lecture_powerpoint.pptx" TargetMode="External" /><Relationship Id="rId5" Type="http://schemas.openxmlformats.org/officeDocument/2006/relationships/hyperlink" Target="03_01_lecture_powerpoint.pdf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Download this lecture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📄 Download HTML</a:t>
            </a:r>
            <a:r>
              <a:rPr sz="2000"/>
              <a:t> | </a:t>
            </a:r>
            <a:r>
              <a:rPr sz="2000">
                <a:hlinkClick r:id="rId3"/>
              </a:rPr>
              <a:t>📝 Download Word</a:t>
            </a:r>
            <a:r>
              <a:rPr sz="2000"/>
              <a:t> | </a:t>
            </a:r>
            <a:r>
              <a:rPr sz="2000">
                <a:hlinkClick r:id="rId4"/>
              </a:rPr>
              <a:t>📊 Download PowerPoint</a:t>
            </a:r>
            <a:r>
              <a:rPr sz="2000"/>
              <a:t> | </a:t>
            </a:r>
            <a:r>
              <a:rPr sz="2000">
                <a:hlinkClick r:id="rId5"/>
              </a:rPr>
              <a:t>📄 Download PDF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1"/>
            <a:r>
              <a:rPr/>
              <a:t>How to design a well-organized project structure</a:t>
            </a:r>
          </a:p>
          <a:p>
            <a:pPr lvl="1"/>
            <a:r>
              <a:rPr/>
              <a:t>How to implement good naming conventions</a:t>
            </a:r>
          </a:p>
          <a:p>
            <a:pPr lvl="2"/>
            <a:r>
              <a:rPr/>
              <a:t>Controlled vocabulary</a:t>
            </a:r>
          </a:p>
          <a:p>
            <a:pPr lvl="2"/>
            <a:r>
              <a:rPr/>
              <a:t>Including units in names</a:t>
            </a:r>
          </a:p>
          <a:p>
            <a:pPr lvl="1"/>
            <a:r>
              <a:rPr/>
              <a:t>Create and use metadata effectively</a:t>
            </a:r>
          </a:p>
          <a:p>
            <a:pPr lvl="1"/>
            <a:r>
              <a:rPr/>
              <a:t>Build tidy, well-structured spreadsheets</a:t>
            </a:r>
          </a:p>
          <a:p>
            <a:pPr lvl="1"/>
            <a:r>
              <a:rPr/>
              <a:t>Create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/>
            <a:r>
              <a:rPr/>
              <a:t>TGW - yep its a thing</a:t>
            </a:r>
          </a:p>
          <a:p>
            <a:pPr lvl="0"/>
            <a:r>
              <a:rPr/>
              <a:t>ODO - what do you think it is?</a:t>
            </a:r>
          </a:p>
          <a:p>
            <a:pPr lvl="0"/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- </a:t>
            </a:r>
            <a:r>
              <a:rPr>
                <a:latin typeface="Courier"/>
              </a:rPr>
              <a:t>gray_I3_I8.csv</a:t>
            </a:r>
            <a:r>
              <a:rPr/>
              <a:t> from two different lakes to explore these concepts.. like you did in the homework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entire group of things under consideration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</a:t>
            </a:r>
            <a:r>
              <a:rPr b="1"/>
              <a:t>group whose characteristics are studied passively</a:t>
            </a:r>
            <a:r>
              <a:rPr/>
              <a:t>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</a:t>
            </a:r>
            <a:r>
              <a:rPr b="1"/>
              <a:t>actively manipulate variables to observe effects and establish cause-and-effect relationships (e.g.,</a:t>
            </a:r>
            <a:r>
              <a:rPr/>
              <a:t> manipulate temperature and monitor head width)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 - student rank - 1 2 3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dataset and identify the types of variables it contains.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physics/chemistry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</a:t>
            </a:r>
            <a:r>
              <a:rPr b="1"/>
              <a:t>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Fish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open the fish data </a:t>
            </a:r>
            <a:r>
              <a:rPr sz="2000" b="1">
                <a:latin typeface="Courier"/>
              </a:rPr>
              <a:t>gray_I3_I8.csv</a:t>
            </a:r>
            <a:r>
              <a:rPr sz="2000" b="1"/>
              <a:t> and look at the structure and make a histogram?</a:t>
            </a:r>
          </a:p>
          <a:p>
            <a:pPr lvl="0" indent="0" marL="1270000">
              <a:buNone/>
            </a:pPr>
            <a:r>
              <a:rPr sz="2000"/>
              <a:t>Note the variation around the mean… some could be due to measurement error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using </a:t>
            </a:r>
            <a:r>
              <a:rPr sz="2000">
                <a:latin typeface="Courier"/>
              </a:rPr>
              <a:t>gray_I3_I8.csv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the grayling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"data/gray_I3_I8.csv"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a look at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 b="1"/>
              <a:t>Accuracy</a:t>
            </a:r>
            <a:r>
              <a:rPr/>
              <a:t> is a </a:t>
            </a:r>
            <a:r>
              <a:rPr b="1"/>
              <a:t>function</a:t>
            </a:r>
            <a:r>
              <a:rPr/>
              <a:t> of </a:t>
            </a:r>
            <a:r>
              <a:rPr b="1"/>
              <a:t>both precision and bias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statisticians, </a:t>
            </a:r>
            <a:r>
              <a:rPr b="1"/>
              <a:t>BIAS is usually a more serious problem than low precision because</a:t>
            </a:r>
            <a:r>
              <a:rPr/>
              <a:t>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fish data?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324.494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mean_length
  &lt;chr&gt;       &lt;dbl&gt;
1 I3           266.
2 I8           363.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median_length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median_length
  &lt;chr&gt;         &lt;dbl&gt;
1 I3              266
2 I8              373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standard deviation of fish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var_length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var_length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 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lake  var_length sd_length
  &lt;chr&gt;      &lt;dbl&gt;     &lt;dbl&gt;
1 I3          801.      28.3
2 I8         2739.      52.3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  <a:br/>
            <a:br/>
            <a:r>
              <a:rPr/>
              <a:t>so there is only 2.5% of the data that is outside this range</a:t>
            </a:r>
          </a:p>
          <a:p>
            <a:pPr lvl="0"/>
            <a:r>
              <a:rPr/>
              <a:t>note the similarity to the p &lt; 0.5</a:t>
            </a:r>
          </a:p>
          <a:p>
            <a:pPr lvl="0"/>
            <a:r>
              <a:rPr/>
              <a:t>note that it is 90.91% and that is because the curve is not normal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
 Number of fish: 66 
 Mean length: 265.61 mm
 Standard Deviation: 28.3 mm
 Range for ±2 SD: 209 to 322.21 mm
 Percentage within ±2 SD: 90.91 %</a:t>
            </a:r>
          </a:p>
        </p:txBody>
      </p:sp>
      <p:pic>
        <p:nvPicPr>
          <p:cNvPr descr="03_01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cv_length
  &lt;chr&gt;     &lt;dbl&gt;
1 I3         10.7
2 I8         14.4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lake     q1    q3   iqr
  &lt;chr&gt; &lt;dbl&gt; &lt;dbl&gt; &lt;dbl&gt;
1 I3      256   280    24
2 I8      340   401    61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- it is the same as quartiles but more finely divided and will come into play later 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/>
            <a:r>
              <a:rPr/>
              <a:t>The 25th percentile is the first quartile (Q1)</a:t>
            </a:r>
          </a:p>
          <a:p>
            <a:pPr lvl="0"/>
            <a:r>
              <a:rPr/>
              <a:t>The 50th percentile is the median</a:t>
            </a:r>
          </a:p>
          <a:p>
            <a:pPr lvl="0"/>
            <a:r>
              <a:rPr/>
              <a:t>The 75th percentile is the third quartile (Q3)</a:t>
            </a:r>
          </a:p>
          <a:p>
            <a:pPr lvl="0"/>
            <a:r>
              <a:rPr/>
              <a:t>The IQR is the difference between Q3 and Q1.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percentiles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percentiles &lt;-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4
  lake     sd   iqr ratio_iqr_sd
  &lt;chr&gt; &lt;dbl&gt; &lt;dbl&gt;        &lt;dbl&gt;
1 I3     28.3    24        0.848
2 I8     52.3    61        1.17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  <a:p>
            <a:pPr lvl="0"/>
            <a:r>
              <a:rPr/>
              <a:t>But there are issues and it might not be good…</a:t>
            </a:r>
          </a:p>
          <a:p>
            <a:pPr lvl="1"/>
            <a:r>
              <a:rPr/>
              <a:t>detecting differences in geometric means, not arithmetic means</a:t>
            </a:r>
          </a:p>
          <a:p>
            <a:pPr lvl="2"/>
            <a:r>
              <a:rPr/>
              <a:t>geometric is all values multiplied taken to the nth root</a:t>
            </a:r>
          </a:p>
          <a:p>
            <a:pPr lvl="1"/>
            <a:r>
              <a:rPr/>
              <a:t>Can’t handle zeros without adding arbitrary constants (log(x+1) transformations), which can bias results</a:t>
            </a:r>
            <a:br/>
          </a:p>
          <a:p>
            <a:pPr lvl="0" indent="0">
              <a:buNone/>
            </a:pPr>
            <a:r>
              <a:rPr>
                <a:latin typeface="Courier"/>
              </a:rPr>
              <a:t>Arithmetic mean of original data: 265.6 mm
 Geometric mean (back-transformed mean of logs): NA mm</a:t>
            </a:r>
          </a:p>
        </p:txBody>
      </p:sp>
      <p:pic>
        <p:nvPicPr>
          <p:cNvPr descr="03_01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tranform data to a “normal” distribution we can use the following transformations…</a:t>
            </a:r>
          </a:p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  <a:p>
            <a:pPr lvl="0" indent="0" marL="0">
              <a:buNone/>
            </a:pPr>
            <a:r>
              <a:rPr/>
              <a:t>In a reflection the parameter </a:t>
            </a:r>
            <a:r>
              <a:rPr b="1"/>
              <a:t>k</a:t>
            </a:r>
            <a:r>
              <a:rPr/>
              <a:t> is typically chosen to be a value that’s larger than the maximum value</a:t>
            </a:r>
          </a:p>
        </p:txBody>
      </p:sp>
      <p:pic>
        <p:nvPicPr>
          <p:cNvPr descr="images/clipboard-2483693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01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01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6
  lake   mean median    sd   iqr skewness
  &lt;chr&gt; &lt;dbl&gt;  &lt;dbl&gt; &lt;dbl&gt; &lt;dbl&gt;    &lt;dbl&gt;
1 I3     266.    266  28.3    24   -0.883
2 I8     363.    373  52.3    61   -1.09 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Histogram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01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
 Mean mass with na.rm=TRUE: 351.2289 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mean_mass median_mass sd_mass n_missing
  &lt;chr&gt;     &lt;dbl&gt;       &lt;dbl&gt;   &lt;dbl&gt;     &lt;int&gt;
1 I3         150.         147    42.2         0
2 I8         484.         490   176.          2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Function to take a random sample and calculate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sample_size)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sample_data &lt;-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(data, sample_size)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(sample_data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10 different samples of size 15 from Lake I3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sample numbers and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samples_df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sample_number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sample_means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pic>
        <p:nvPicPr>
          <p:cNvPr descr="03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s is the sample standard deviation</a:t>
                </a:r>
              </a:p>
              <a:p>
                <a:pPr lvl="0"/>
                <a:r>
                  <a:rPr/>
                  <a:t>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</a:t>
                </a:r>
              </a:p>
              <a:p>
                <a:pPr lvl="0"/>
                <a:r>
                  <a:rPr/>
                  <a:t>How much uncertainty is in our estimate</a:t>
                </a:r>
              </a:p>
              <a:p>
                <a:pPr lvl="0"/>
                <a:r>
                  <a:rPr/>
                  <a:t>How much sample means are expected to vary</a:t>
                </a:r>
              </a:p>
              <a:p>
                <a:pPr lvl="0"/>
                <a:r>
                  <a:rPr/>
                  <a:t>How close our sample mean is likely to be to the true population mean</a:t>
                </a:r>
              </a:p>
              <a:p>
                <a:pPr lvl="0" indent="0" marL="0">
                  <a:buNone/>
                </a:pPr>
                <a:r>
                  <a:rPr b="1"/>
                  <a:t>Remember:</a:t>
                </a:r>
              </a:p>
              <a:p>
                <a:pPr lvl="0"/>
                <a:r>
                  <a:rPr/>
                  <a:t>Standard deviation (s) describes the variability in the individual data points</a:t>
                </a:r>
              </a:p>
              <a:p>
                <a:pPr lvl="0"/>
                <a:r>
                  <a:rPr/>
                  <a:t>Standard error (SE) describes the variability in the sample mean itself</a:t>
                </a:r>
              </a:p>
              <a:p>
                <a:pPr lvl="0"/>
                <a:r>
                  <a:rPr/>
                  <a:t>As sample size increases, SE decreases (more precise estimate)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0.429
2 I8           363.      52.3   102     0.513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</a:t>
            </a:r>
          </a:p>
          <a:p>
            <a:pPr lvl="0" indent="-342900" marL="342900">
              <a:buAutoNum type="arabicPeriod"/>
            </a:pPr>
            <a:r>
              <a:rPr/>
              <a:t>It is centered at the population mean (μ)</a:t>
            </a:r>
          </a:p>
          <a:p>
            <a:pPr lvl="0" indent="-342900" marL="342900">
              <a:buAutoNum type="arabicPeriod"/>
            </a:pPr>
            <a:r>
              <a:rPr/>
              <a:t>Its standard deviation is the standard error (σ/√n)</a:t>
            </a:r>
          </a:p>
          <a:p>
            <a:pPr lvl="0" indent="-342900" marL="342900">
              <a:buAutoNum type="arabicPeriod"/>
            </a:pPr>
            <a:r>
              <a:rPr/>
              <a:t>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</a:t>
            </a:r>
          </a:p>
          <a:p>
            <a:pPr lvl="0"/>
            <a:r>
              <a:rPr/>
              <a:t>The narrower the sampling distribution</a:t>
            </a:r>
          </a:p>
          <a:p>
            <a:pPr lvl="0"/>
            <a:r>
              <a:rPr/>
              <a:t>The smaller the standard error</a:t>
            </a:r>
          </a:p>
          <a:p>
            <a:pPr lvl="0"/>
            <a:r>
              <a:rPr/>
              <a:t>The more precise our estimate of the population mean</a:t>
            </a:r>
          </a:p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Number of samples to simulate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num_simulations &lt;-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change the number and examine the range of values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Simulate many samples and calculate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(num_simulations,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mean_of_means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sd_of_means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the sampling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(simulated_df,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sample_mean))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"Full sample 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"Simulated Sampling Distribution of the 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"Based on"</a:t>
            </a:r>
            <a:r>
              <a:rPr>
                <a:solidFill>
                  <a:srgbClr val="003B4F"/>
                </a:solidFill>
                <a:latin typeface="Courier"/>
              </a:rPr>
              <a:t>, num_simulations, </a:t>
            </a:r>
            <a:r>
              <a:rPr>
                <a:solidFill>
                  <a:srgbClr val="20794D"/>
                </a:solidFill>
                <a:latin typeface="Courier"/>
              </a:rPr>
              <a:t>"samples of size"</a:t>
            </a:r>
            <a:r>
              <a:rPr>
                <a:solidFill>
                  <a:srgbClr val="003B4F"/>
                </a:solidFill>
                <a:latin typeface="Courier"/>
              </a:rPr>
              <a:t>, sample_size),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Mean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Plot how SE changes with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results_long &lt;-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(results,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(empirical_se, theoretical_se),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"se_type"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"standard_error"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(results_long,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standard_error,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se_type))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sample_sizes)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vs. 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decreases as sample size increases"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</a:t>
                </a:r>
              </a:p>
              <a:p>
                <a:pPr lvl="0"/>
                <a:r>
                  <a:rPr/>
                  <a:t>The interval extends 2 standard errors below and above the sample mean</a:t>
                </a:r>
              </a:p>
              <a:p>
                <a:pPr lvl="0"/>
                <a:r>
                  <a:rPr/>
                  <a:t>About 95% of such intervals constructed from different samples would contain the true population mean</a:t>
                </a:r>
              </a:p>
              <a:p>
                <a:pPr lvl="0" indent="0" marL="0">
                  <a:buNone/>
                </a:pPr>
                <a:r>
                  <a:rPr/>
                  <a:t>Confidence intervals provide a way to express the precision of our estimates.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95%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(grayling_ci,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ci_lower,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ci_upper),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Fish Length by Lake with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bars represent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00500" y="952500"/>
            <a:ext cx="4559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statistics for different types of error bars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grayling_error_bars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sd_length,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for plotting different error types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grayling_error_bars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error_types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error_type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"95% Confidence Interval"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ci_lower),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one_sd_upper,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ci_upper))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comparison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lake_i3,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error_types,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error_type,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error_type),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"Different Types of Error Bars for Lake I3"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"Comparing SD, SE, and 95% CI"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3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  <a:p>
                <a:pPr lvl="1" indent="-342900" marL="685800">
                  <a:buAutoNum startAt="101" type="romanUcParenR"/>
                </a:pPr>
              </a:p>
            </p:txBody>
          </p:sp>
        </mc:Choice>
      </mc:AlternateContent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2025-10-22T17:00:36Z</dcterms:created>
  <dcterms:modified xsi:type="dcterms:W3CDTF">2025-10-22T17:00:36Z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