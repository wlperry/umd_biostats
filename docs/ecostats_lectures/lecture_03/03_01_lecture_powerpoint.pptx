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0"/>
            <a:r>
              <a:rPr/>
              <a:t>How to design a well-organized project</a:t>
            </a:r>
          </a:p>
          <a:p>
            <a:pPr lvl="0"/>
            <a:r>
              <a:rPr/>
              <a:t>How to 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/>
            <a:r>
              <a:rPr/>
              <a:t>Create and use metadata effectively</a:t>
            </a:r>
          </a:p>
          <a:p>
            <a:pPr lvl="0"/>
            <a:r>
              <a:rPr/>
              <a:t>Build tidy, well-structured spreadsheets</a:t>
            </a:r>
          </a:p>
          <a:p>
            <a:pPr lvl="0"/>
            <a:r>
              <a:rPr/>
              <a:t>Understand data repositories</a:t>
            </a:r>
          </a:p>
          <a:p>
            <a:pPr lvl="0"/>
            <a:r>
              <a:rPr/>
              <a:t>Create effective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 indent="0" marL="0">
              <a:buNone/>
            </a:pPr>
            <a:r>
              <a:rPr/>
              <a:t>TGW - yep its a thing</a:t>
            </a:r>
          </a:p>
          <a:p>
            <a:pPr lvl="0" indent="0" marL="0">
              <a:buNone/>
            </a:pPr>
            <a:r>
              <a:rPr/>
              <a:t>ODO - what do you think it is?</a:t>
            </a:r>
          </a:p>
          <a:p>
            <a:pPr lvl="0" indent="0" marL="0">
              <a:buNone/>
            </a:pPr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Distinguish between different types of biological variables</a:t>
            </a:r>
          </a:p>
          <a:p>
            <a:pPr lvl="0"/>
            <a:r>
              <a:rPr/>
              <a:t>Learn about accuracy, precision, and bias in measurements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fish from two different lakes to explore these concepts..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from our last class. Use the </a:t>
            </a:r>
            <a:r>
              <a:rPr sz="2000">
                <a:latin typeface="Courier"/>
              </a:rPr>
              <a:t>sculpin_df</a:t>
            </a:r>
            <a:r>
              <a:rPr sz="2000"/>
              <a:t> data frame that’s already loaded.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The entire group of things under consideration; the group for which answers obtained from measurements and statistical analysis are pertinent.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measured.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population.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Usually finite but may be very large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Often conceptually infinite (e.g., all possible goldenrod plants that could receive a specific fertilizer treatment)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  <a:p>
            <a:pPr lvl="0" indent="0" marL="0">
              <a:buNone/>
            </a:pPr>
            <a:r>
              <a:rPr/>
              <a:t>The standard deviation formula above includes n-1 in the denominator (rather than n) to provide an unbiased estimate of the population parameter.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fish dataset and identify the types of variables it contains.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/>
              <a:t>Accuracy is a function of both precision and bias. For statisticians, bias is usually a more serious problem than low precision because: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pine needles or fish?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Mean length of all fish: 324.5 mm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6549862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265.6061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362.5980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length of all fish: 324.5 mm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425188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median_length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373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Variance of length: 4225.9 mm²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deviation of length: 65 mm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2945679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var_length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801.104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28.30378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2,739.371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52.33901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</a:t>
            </a:r>
          </a:p>
          <a:p>
            <a:pPr lvl="0" indent="0">
              <a:buNone/>
            </a:pPr>
            <a:r>
              <a:rPr>
                <a:latin typeface="Courier"/>
              </a:rPr>
              <a:t>Number of fish: 66 </a:t>
            </a:r>
          </a:p>
          <a:p>
            <a:pPr lvl="0" indent="0">
              <a:buNone/>
            </a:pPr>
            <a:r>
              <a:rPr>
                <a:latin typeface="Courier"/>
              </a:rPr>
              <a:t>Mean length: 265.61 mm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Deviation: 28.3 mm</a:t>
            </a:r>
          </a:p>
          <a:p>
            <a:pPr lvl="0" indent="0">
              <a:buNone/>
            </a:pPr>
            <a:r>
              <a:rPr>
                <a:latin typeface="Courier"/>
              </a:rPr>
              <a:t>Range for ±2 SD: 209 to 322.21 mm</a:t>
            </a:r>
          </a:p>
          <a:p>
            <a:pPr lvl="0" indent="0">
              <a:buNone/>
            </a:pPr>
            <a:r>
              <a:rPr>
                <a:latin typeface="Courier"/>
              </a:rPr>
              <a:t>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8416788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cv_length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10.65630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14.43444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9022534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q1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q3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iqr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</p:txBody>
      </p:sp>
      <p:pic>
        <p:nvPicPr>
          <p:cNvPr descr="images/clipboard-308628452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71700"/>
            <a:ext cx="27813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19200"/>
            <a:ext cx="5232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19200"/>
            <a:ext cx="5232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5571267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median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iqr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skewness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265.6061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28.30378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-0.8826195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362.5980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373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52.33901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-1.0909961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Density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1603994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517049"/>
                <a:gridCol w="610364"/>
                <a:gridCol w="610364"/>
                <a:gridCol w="990719"/>
              </a:tblGrid>
              <a:tr h="390446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iqr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ratio_iqr_sd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0.85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61.00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 indent="0" marL="0">
              <a:buNone/>
            </a:pPr>
            <a:r>
              <a:rPr/>
              <a:t>The 25th percentile is the first quartile (Q1)</a:t>
            </a:r>
          </a:p>
          <a:p>
            <a:pPr lvl="0" indent="0" marL="0">
              <a:buNone/>
            </a:pPr>
            <a:r>
              <a:rPr/>
              <a:t>The 50th percentile is the median</a:t>
            </a:r>
          </a:p>
          <a:p>
            <a:pPr lvl="0" indent="0" marL="0">
              <a:buNone/>
            </a:pPr>
            <a:r>
              <a:rPr/>
              <a:t>The 75th percentile is the third quartile (Q3)</a:t>
            </a:r>
          </a:p>
          <a:p>
            <a:pPr lvl="0" indent="0" marL="0">
              <a:buNone/>
            </a:pPr>
            <a:r>
              <a:rPr/>
              <a:t>The IQR is the difference between Q3 and Q1.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849871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122711"/>
                <a:gridCol w="618072"/>
              </a:tblGrid>
              <a:tr h="36357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Percentile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9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251.1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22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25th (Q1)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270.8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12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50th (Median)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324.5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22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75th (Q3)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377.0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404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90th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408.6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 na.rm=TRUE: 351.2289 g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9548764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517049"/>
                <a:gridCol w="1021688"/>
                <a:gridCol w="1130419"/>
                <a:gridCol w="819778"/>
                <a:gridCol w="889696"/>
              </a:tblGrid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mean_mass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median_mass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sd_mass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n_missing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150.5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147.0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42.2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483.7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490.0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176.5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sample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</a:t>
            </a:r>
          </a:p>
          <a:p>
            <a:pPr lvl="0" indent="0">
              <a:buNone/>
            </a:pPr>
            <a:r>
              <a:rPr>
                <a:latin typeface="Courier"/>
              </a:rPr>
              <a:t>   sample_number sample_mean
1              1    269.9333
2              2    260.6000
3              3    255.2000
4              4    263.4000
5              5    275.3333
6              6    279.2667
7              7    263.7333
8              8    273.6000
9              9    264.8000
10            10    269.8667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sample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(sample_means)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267.5733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(sample_means)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7.346063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different sample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(samples_df,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(sample_number),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"Overall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"Means of 10 Random Samples from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Number"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 - s is the sample standard deviation - 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 - How much uncertainty is in our estimate - How much sample means are expected to vary - How close our sample mean is likely to be to the true population mean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  <a:r>
              <a:rPr/>
              <a:t> - Standard deviation (s) describes the variability in the individual data points - Standard error (SE) describes the variability in the sample mean itself - As sample size increases, SE decreases (more precise estimate)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for Our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standard error for both lakes: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 3.48
2 I8           363.      52.3   102      5.18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Standard Error</a:t>
            </a:r>
          </a:p>
        </p:txBody>
      </p:sp>
      <p:pic>
        <p:nvPicPr>
          <p:cNvPr descr="03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 1. It is centered at the population mean (μ) 2. Its standard deviation is the standard error (σ/√n) 3. 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 - The narrower the sampling distribution - The smaller the standard error - The more precise our estimate of the population mean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</a:t>
            </a:r>
          </a:p>
          <a:p>
            <a:pPr lvl="0" indent="0">
              <a:buNone/>
            </a:pPr>
            <a:r>
              <a:rPr>
                <a:latin typeface="Courier"/>
              </a:rPr>
              <a:t>  sample_size empirical_se theoretical_se
1           5    12.349407      12.657835
2          10     8.178270       8.950441
3          20     5.558957       6.328918
4          30     3.792177       5.167540
5          50     2.099744       4.002759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 - The interval extends 2 standard errors below and above the sample mean - About 95% of such intervals constructed from different samples would contain the true population mean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Confidence intervals provide a way to express the precision of our estimates.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</p:txBody>
          </p:sp>
        </mc:Choice>
      </mc:AlternateContent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For Further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Try calculating the standard error and confidence intervals for other variables in the dataset</a:t>
            </a:r>
          </a:p>
          <a:p>
            <a:pPr lvl="0"/>
            <a:r>
              <a:rPr/>
              <a:t>Experiment with different sample sizes to see how they affect the precision of estimates</a:t>
            </a:r>
          </a:p>
          <a:p>
            <a:pPr lvl="0"/>
            <a:r>
              <a:rPr/>
              <a:t>Compare the means of the two lakes using confidence intervals - do they overlap?</a:t>
            </a:r>
          </a:p>
          <a:p>
            <a:pPr lvl="0"/>
            <a:r>
              <a:rPr/>
              <a:t>Consider how these concepts extend to other statistics beyond the mean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2025-08-14T19:37:24Z</dcterms:created>
  <dcterms:modified xsi:type="dcterms:W3CDTF">2025-08-14T19:37:24Z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