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50" Type="http://schemas.openxmlformats.org/officeDocument/2006/relationships/viewProps" Target="viewProps.xml" /><Relationship Id="rId4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2" Type="http://schemas.openxmlformats.org/officeDocument/2006/relationships/tableStyles" Target="tableStyles.xml" /><Relationship Id="rId5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3_01_lecture_powerpoint_standalone.html" TargetMode="External" /><Relationship Id="rId3" Type="http://schemas.openxmlformats.org/officeDocument/2006/relationships/hyperlink" Target="03_01_lecture_powerpoint.docx" TargetMode="External" /><Relationship Id="rId4" Type="http://schemas.openxmlformats.org/officeDocument/2006/relationships/hyperlink" Target="03_01_lecture_powerpoint.pptx" TargetMode="External" /><Relationship Id="rId5" Type="http://schemas.openxmlformats.org/officeDocument/2006/relationships/hyperlink" Target="03_01_lecture_powerpoint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Download this lecture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📄 Download HTML</a:t>
            </a:r>
            <a:r>
              <a:rPr sz="2000"/>
              <a:t> | </a:t>
            </a:r>
            <a:r>
              <a:rPr sz="2000">
                <a:hlinkClick r:id="rId3"/>
              </a:rPr>
              <a:t>📝 Download Word</a:t>
            </a:r>
            <a:r>
              <a:rPr sz="2000"/>
              <a:t> | </a:t>
            </a:r>
            <a:r>
              <a:rPr sz="2000">
                <a:hlinkClick r:id="rId4"/>
              </a:rPr>
              <a:t>📊 Download PowerPoint</a:t>
            </a:r>
            <a:r>
              <a:rPr sz="2000"/>
              <a:t> | </a:t>
            </a:r>
            <a:r>
              <a:rPr sz="2000">
                <a:hlinkClick r:id="rId5"/>
              </a:rPr>
              <a:t>📄 Download PDF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- it is the same as quartiles but more finely divided and will come into play later 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/>
            <a:r>
              <a:rPr/>
              <a:t>The 25th percentile is the first quartile (Q1)</a:t>
            </a:r>
          </a:p>
          <a:p>
            <a:pPr lvl="0"/>
            <a:r>
              <a:rPr/>
              <a:t>The 50th percentile is the median</a:t>
            </a:r>
          </a:p>
          <a:p>
            <a:pPr lvl="0"/>
            <a:r>
              <a:rPr/>
              <a:t>The 75th percentile is the third quartile (Q3)</a:t>
            </a:r>
          </a:p>
          <a:p>
            <a:pPr lvl="0"/>
            <a:r>
              <a:rPr/>
              <a:t>The IQR is the difference between Q3 and Q1.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percentiles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percentiles &lt;-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  <a:p>
            <a:pPr lvl="0" indent="0">
              <a:buNone/>
            </a:pPr>
            <a:r>
              <a:rPr>
                <a:latin typeface="Courier"/>
              </a:rPr>
              <a:t>Arithmetic mean of original data: 265.6 mm
 Geometric mean (back-transformed mean of logs): NA mm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32000"/>
            <a:ext cx="2781300" cy="1739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Histogram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  <a:p>
                <a:pPr lvl="0" indent="0" marL="0">
                  <a:buNone/>
                </a:pPr>
                <a:r>
                  <a:rPr b="1"/>
                  <a:t>Remember:</a:t>
                </a:r>
              </a:p>
              <a:p>
                <a:pPr lvl="0"/>
                <a:r>
                  <a:rPr/>
                  <a:t>Standard deviation (s) describes the variability in the individual data points</a:t>
                </a:r>
              </a:p>
              <a:p>
                <a:pPr lvl="0"/>
                <a:r>
                  <a:rPr/>
                  <a:t>Standard error (SE) describes the variability in the sample mean itself</a:t>
                </a:r>
              </a:p>
              <a:p>
                <a:pPr lvl="0"/>
                <a:r>
                  <a:rPr/>
                  <a:t>As sample size increases, SE decreases (more precise estimate)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0.429
2 I8           363.      52.3   102     0.513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change the number and examine the range of values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  <a:p>
                <a:pPr lvl="1" indent="-342900" marL="685800">
                  <a:buAutoNum startAt="101" type="romanUcParenR"/>
                </a:pPr>
              </a:p>
            </p:txBody>
          </p:sp>
        </mc:Choice>
      </mc:AlternateContent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2025-10-06T16:01:05Z</dcterms:created>
  <dcterms:modified xsi:type="dcterms:W3CDTF">2025-10-06T16:01:05Z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