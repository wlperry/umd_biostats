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50" Type="http://schemas.openxmlformats.org/officeDocument/2006/relationships/viewProps" Target="viewProps.xml" /><Relationship Id="rId4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2" Type="http://schemas.openxmlformats.org/officeDocument/2006/relationships/tableStyles" Target="tableStyles.xml" /><Relationship Id="rId5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03_01_lecture_powerpoint_standalone.html" TargetMode="External" /><Relationship Id="rId3" Type="http://schemas.openxmlformats.org/officeDocument/2006/relationships/hyperlink" Target="03_01_lecture_powerpoint.docx" TargetMode="External" /><Relationship Id="rId4" Type="http://schemas.openxmlformats.org/officeDocument/2006/relationships/hyperlink" Target="03_01_lecture_powerpoint.pptx" TargetMode="External" /><Relationship Id="rId5" Type="http://schemas.openxmlformats.org/officeDocument/2006/relationships/hyperlink" Target="03_01_lecture_powerpoint.pdf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3.png" /><Relationship Id="rId2" Type="http://schemas.openxmlformats.org/officeDocument/2006/relationships/image" Target="../media/image2.jp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2.png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3.png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4.png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5.png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6.png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03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Download this lecture</a:t>
            </a:r>
          </a:p>
          <a:p>
            <a:pPr lvl="0" indent="0" marL="1270000">
              <a:buNone/>
            </a:pPr>
            <a:r>
              <a:rPr sz="2000">
                <a:hlinkClick r:id="rId2"/>
              </a:rPr>
              <a:t>📄 Download HTML</a:t>
            </a:r>
            <a:r>
              <a:rPr sz="2000"/>
              <a:t> | </a:t>
            </a:r>
            <a:r>
              <a:rPr sz="2000">
                <a:hlinkClick r:id="rId3"/>
              </a:rPr>
              <a:t>📝 Download Word</a:t>
            </a:r>
            <a:r>
              <a:rPr sz="2000"/>
              <a:t> | </a:t>
            </a:r>
            <a:r>
              <a:rPr sz="2000">
                <a:hlinkClick r:id="rId4"/>
              </a:rPr>
              <a:t>📊 Download PowerPoint</a:t>
            </a:r>
            <a:r>
              <a:rPr sz="2000"/>
              <a:t> | </a:t>
            </a:r>
            <a:r>
              <a:rPr sz="2000">
                <a:hlinkClick r:id="rId5"/>
              </a:rPr>
              <a:t>📄 Download PDF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2: Review of data and graphing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/>
            <a:r>
              <a:rPr/>
              <a:t>We covered</a:t>
            </a:r>
          </a:p>
          <a:p>
            <a:pPr lvl="1"/>
            <a:r>
              <a:rPr/>
              <a:t>How to design a well-organized project structure</a:t>
            </a:r>
          </a:p>
          <a:p>
            <a:pPr lvl="1"/>
            <a:r>
              <a:rPr/>
              <a:t>How to implement good naming conventions</a:t>
            </a:r>
          </a:p>
          <a:p>
            <a:pPr lvl="2"/>
            <a:r>
              <a:rPr/>
              <a:t>Controlled vocabulary</a:t>
            </a:r>
          </a:p>
          <a:p>
            <a:pPr lvl="2"/>
            <a:r>
              <a:rPr/>
              <a:t>Including units in names</a:t>
            </a:r>
          </a:p>
          <a:p>
            <a:pPr lvl="1"/>
            <a:r>
              <a:rPr/>
              <a:t>Create and use metadata effectively</a:t>
            </a:r>
          </a:p>
          <a:p>
            <a:pPr lvl="1"/>
            <a:r>
              <a:rPr/>
              <a:t>Build tidy, well-structured spreadsheets</a:t>
            </a:r>
          </a:p>
          <a:p>
            <a:pPr lvl="1"/>
            <a:r>
              <a:rPr/>
              <a:t>Create visualizations with ggplot2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These are variables - do you know what they mean?</a:t>
            </a:r>
          </a:p>
          <a:p>
            <a:pPr lvl="0"/>
            <a:r>
              <a:rPr/>
              <a:t>TGW - yep its a thing</a:t>
            </a:r>
          </a:p>
          <a:p>
            <a:pPr lvl="0"/>
            <a:r>
              <a:rPr/>
              <a:t>ODO - what do you think it is?</a:t>
            </a:r>
          </a:p>
          <a:p>
            <a:pPr lvl="0"/>
            <a:r>
              <a:rPr/>
              <a:t>NO3 - what is it? Are you sure? Why might you get in legal trouble if you used this?</a:t>
            </a:r>
          </a:p>
        </p:txBody>
      </p:sp>
      <p:pic>
        <p:nvPicPr>
          <p:cNvPr descr="images/clipboard-354461408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5875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3:</a:t>
            </a:r>
            <a:r>
              <a:rPr/>
              <a:t> Descriptive Statistics and Uncertainty in R and Tidyverse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objectives:</a:t>
            </a:r>
          </a:p>
          <a:p>
            <a:pPr lvl="0"/>
            <a:r>
              <a:rPr/>
              <a:t>Understand why statistics is vital in biology</a:t>
            </a:r>
          </a:p>
          <a:p>
            <a:pPr lvl="0"/>
            <a:r>
              <a:rPr/>
              <a:t>Calculate and interpret measures of central tendency (mean, median, geometric mean)</a:t>
            </a:r>
          </a:p>
          <a:p>
            <a:pPr lvl="0"/>
            <a:r>
              <a:rPr/>
              <a:t>Calculate and interpret measures of spread (standard deviation, variance, IQR)</a:t>
            </a:r>
          </a:p>
          <a:p>
            <a:pPr lvl="0"/>
            <a:r>
              <a:rPr/>
              <a:t>Understand data transformations for skewed distributions</a:t>
            </a:r>
          </a:p>
          <a:p>
            <a:pPr lvl="0"/>
            <a:r>
              <a:rPr/>
              <a:t>Visualize descriptive statistics for our data</a:t>
            </a:r>
          </a:p>
          <a:p>
            <a:pPr lvl="0"/>
            <a:r>
              <a:rPr/>
              <a:t>Learn how to handle uncertainty in our data</a:t>
            </a:r>
          </a:p>
          <a:p>
            <a:pPr lvl="0" indent="0" marL="0">
              <a:buNone/>
            </a:pPr>
            <a:r>
              <a:rPr/>
              <a:t>We’ll use a dataset on grayling - </a:t>
            </a:r>
            <a:r>
              <a:rPr>
                <a:latin typeface="Courier"/>
              </a:rPr>
              <a:t>gray_I3_I8.csv</a:t>
            </a:r>
            <a:r>
              <a:rPr/>
              <a:t> from two different lakes to explore these concepts.. like you did in the homework</a:t>
            </a:r>
          </a:p>
        </p:txBody>
      </p:sp>
      <p:pic>
        <p:nvPicPr>
          <p:cNvPr descr="images/grayling.jpe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2108200"/>
            <a:ext cx="4432300" cy="1625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pop_sample_stats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638800" y="1295400"/>
            <a:ext cx="22733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Populations and Samples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Before we dive into descriptive statistics, let’s clarify some fundamental concepts:</a:t>
            </a:r>
          </a:p>
          <a:p>
            <a:pPr lvl="0"/>
            <a:r>
              <a:rPr b="1"/>
              <a:t>Population</a:t>
            </a:r>
            <a:r>
              <a:rPr/>
              <a:t>: entire group of things under consideration</a:t>
            </a:r>
          </a:p>
          <a:p>
            <a:pPr lvl="0"/>
            <a:r>
              <a:rPr b="1"/>
              <a:t>Sample</a:t>
            </a:r>
            <a:r>
              <a:rPr/>
              <a:t>: A subset of the population that is actually measured</a:t>
            </a:r>
          </a:p>
          <a:p>
            <a:pPr lvl="0"/>
            <a:r>
              <a:rPr b="1"/>
              <a:t>Sample unit</a:t>
            </a:r>
            <a:r>
              <a:rPr/>
              <a:t>: The individual thing drawn from the population</a:t>
            </a:r>
          </a:p>
          <a:p>
            <a:pPr lvl="0" indent="0" marL="0">
              <a:buNone/>
            </a:pPr>
            <a:r>
              <a:rPr/>
              <a:t>Types of populations:</a:t>
            </a:r>
          </a:p>
          <a:p>
            <a:pPr lvl="0"/>
            <a:r>
              <a:rPr b="1"/>
              <a:t>Observational population</a:t>
            </a:r>
            <a:r>
              <a:rPr/>
              <a:t>: </a:t>
            </a:r>
            <a:r>
              <a:rPr b="1"/>
              <a:t>group whose characteristics are studied passively</a:t>
            </a:r>
            <a:r>
              <a:rPr/>
              <a:t> (e.g., head width of all corn earworms in a field)</a:t>
            </a:r>
          </a:p>
          <a:p>
            <a:pPr lvl="0"/>
            <a:r>
              <a:rPr b="1"/>
              <a:t>Experimental population</a:t>
            </a:r>
            <a:r>
              <a:rPr/>
              <a:t>: </a:t>
            </a:r>
            <a:r>
              <a:rPr b="1"/>
              <a:t>actively manipulate variables to observe effects and establish cause-and-effect relationships (e.g.,</a:t>
            </a:r>
            <a:r>
              <a:rPr/>
              <a:t> manipulate temperature and monitor head width)</a:t>
            </a:r>
          </a:p>
          <a:p>
            <a:pPr lvl="0" indent="0" marL="0">
              <a:buNone/>
            </a:pPr>
            <a:r>
              <a:rPr/>
              <a:t>Sampling involves</a:t>
            </a:r>
          </a:p>
          <a:p>
            <a:pPr lvl="0"/>
            <a:r>
              <a:rPr b="1"/>
              <a:t>inference</a:t>
            </a:r>
            <a:r>
              <a:rPr/>
              <a:t> - generalizing from what is observed in the sample to what is present in the population.</a:t>
            </a:r>
          </a:p>
          <a:p>
            <a:pPr lvl="0"/>
            <a:r>
              <a:rPr/>
              <a:t>Valid inference requires </a:t>
            </a:r>
            <a:r>
              <a:rPr b="1"/>
              <a:t>random sampling</a:t>
            </a:r>
            <a:r>
              <a:rPr/>
              <a:t>.</a:t>
            </a:r>
          </a:p>
        </p:txBody>
      </p:sp>
      <p:pic>
        <p:nvPicPr>
          <p:cNvPr descr="images/pop_sample_stat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889000"/>
            <a:ext cx="2781300" cy="401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Parameters vs. Statistics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It’s important to distinguish between:</a:t>
            </a:r>
          </a:p>
          <a:p>
            <a:pPr lvl="0"/>
            <a:r>
              <a:rPr b="1"/>
              <a:t>Parameters</a:t>
            </a:r>
            <a:r>
              <a:rPr/>
              <a:t>: True numerical values for a population (usually denoted by Greek letters)</a:t>
            </a:r>
          </a:p>
          <a:p>
            <a:pPr lvl="0"/>
            <a:r>
              <a:rPr b="1"/>
              <a:t>Statistics</a:t>
            </a:r>
            <a:r>
              <a:rPr/>
              <a:t>: Estimates of parameters based on samples (usually denoted by Roman letters)</a:t>
            </a:r>
          </a:p>
          <a:p>
            <a:pPr lvl="0" indent="0" marL="0">
              <a:buNone/>
            </a:pPr>
            <a:r>
              <a:rPr/>
              <a:t>For example:</a:t>
            </a:r>
          </a:p>
          <a:p>
            <a:pPr lvl="0"/>
            <a:r>
              <a:rPr/>
              <a:t>Population mean (μ) is estimated by sample mean (Y̅)</a:t>
            </a:r>
          </a:p>
          <a:p>
            <a:pPr lvl="0"/>
            <a:r>
              <a:rPr/>
              <a:t>Population standard deviation (σ) is estimated by sample standard deviation (s)</a:t>
            </a:r>
          </a:p>
        </p:txBody>
      </p:sp>
      <p:pic>
        <p:nvPicPr>
          <p:cNvPr descr="images/pop_sample_stat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889000"/>
            <a:ext cx="2781300" cy="401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Kinds of Biological Variables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Understanding the type of variable you’re working with is essential for selecting appropriate statistics: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Measurement or Quantitative Variables</a:t>
            </a:r>
          </a:p>
          <a:p>
            <a:pPr lvl="0"/>
            <a:r>
              <a:rPr b="1"/>
              <a:t>Continuous</a:t>
            </a:r>
            <a:r>
              <a:rPr/>
              <a:t>: Any value between extremes of scale is possible (e.g., mass, length)</a:t>
            </a:r>
          </a:p>
          <a:p>
            <a:pPr lvl="0"/>
            <a:r>
              <a:rPr b="1"/>
              <a:t>Discrete (meristic)</a:t>
            </a:r>
            <a:r>
              <a:rPr/>
              <a:t>: Only fixed values (usually integers) between extremes are possible (e.g., bristle number, egg count)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Rank Variables (Ordinal)</a:t>
            </a:r>
          </a:p>
          <a:p>
            <a:pPr lvl="0"/>
            <a:r>
              <a:rPr/>
              <a:t>Assign only order, not quantity - student rank - 1 2 3</a:t>
            </a:r>
          </a:p>
          <a:p>
            <a:pPr lvl="0"/>
            <a:r>
              <a:rPr/>
              <a:t>Nothing implied about relative distance between values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Categorical Variables (Qualitative)</a:t>
            </a:r>
          </a:p>
          <a:p>
            <a:pPr lvl="0"/>
            <a:r>
              <a:rPr/>
              <a:t>No quantitative information (e.g., male/female, living/dead)</a:t>
            </a:r>
          </a:p>
          <a:p>
            <a:pPr lvl="0"/>
            <a:r>
              <a:rPr/>
              <a:t>Some are simplifications of quantitative variables (e.g., color instead of wavelength)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Derived Variables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Derived Variables</a:t>
            </a:r>
          </a:p>
          <a:p>
            <a:pPr lvl="0"/>
            <a:r>
              <a:rPr b="1"/>
              <a:t>Percentages, Proportions</a:t>
            </a:r>
            <a:r>
              <a:rPr/>
              <a:t>: Ratio of some component to total</a:t>
            </a:r>
          </a:p>
          <a:p>
            <a:pPr lvl="0"/>
            <a:r>
              <a:rPr b="1"/>
              <a:t>Ratios</a:t>
            </a:r>
            <a:r>
              <a:rPr/>
              <a:t>: Relation of two variables</a:t>
            </a:r>
          </a:p>
          <a:p>
            <a:pPr lvl="0"/>
            <a:r>
              <a:rPr b="1"/>
              <a:t>Rates</a:t>
            </a:r>
            <a:r>
              <a:rPr/>
              <a:t>: Quantity per unit (time, mass, etc.)</a:t>
            </a:r>
          </a:p>
          <a:p>
            <a:pPr lvl="0"/>
            <a:r>
              <a:rPr b="1"/>
              <a:t>Indices</a:t>
            </a:r>
            <a:r>
              <a:rPr/>
              <a:t>: More complex derived variables (e.g., condition index)</a:t>
            </a:r>
          </a:p>
          <a:p>
            <a:pPr lvl="0" indent="0" marL="0">
              <a:buNone/>
            </a:pPr>
            <a:r>
              <a:rPr/>
              <a:t>Let’s explore our grayling dataset and identify the types of variables it contains.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Why Statistics is Vital in Biology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Biology is fundamentally different from fields like physics/chemistry in that:</a:t>
            </a:r>
          </a:p>
          <a:p>
            <a:pPr lvl="0"/>
            <a:r>
              <a:rPr/>
              <a:t>Most biological phenomena are </a:t>
            </a:r>
            <a:r>
              <a:rPr b="1"/>
              <a:t>probabilistic</a:t>
            </a:r>
            <a:r>
              <a:rPr/>
              <a:t> rather than </a:t>
            </a:r>
            <a:r>
              <a:rPr b="1"/>
              <a:t>deterministic</a:t>
            </a:r>
          </a:p>
          <a:p>
            <a:pPr lvl="1"/>
            <a:r>
              <a:rPr/>
              <a:t>Responses occur with some characteristic probability, </a:t>
            </a:r>
            <a:r>
              <a:rPr b="1"/>
              <a:t>not with certainty</a:t>
            </a:r>
          </a:p>
          <a:p>
            <a:pPr lvl="0"/>
            <a:r>
              <a:rPr/>
              <a:t>All biological material varies, which is essential for evolution (recall Darwin’s postulates):</a:t>
            </a:r>
          </a:p>
          <a:p>
            <a:pPr lvl="1"/>
            <a:r>
              <a:rPr/>
              <a:t>Variation exists within populations</a:t>
            </a:r>
          </a:p>
          <a:p>
            <a:pPr lvl="1"/>
            <a:r>
              <a:rPr/>
              <a:t>Some variation is heritable</a:t>
            </a:r>
          </a:p>
          <a:p>
            <a:pPr lvl="1"/>
            <a:r>
              <a:rPr/>
              <a:t>Some heritable variation affects survival/reproduction</a:t>
            </a:r>
          </a:p>
          <a:p>
            <a:pPr lvl="0"/>
            <a:r>
              <a:rPr/>
              <a:t>Environmental conditions (in nature, lab, or greenhouse) always vary</a:t>
            </a:r>
          </a:p>
          <a:p>
            <a:pPr lvl="0"/>
            <a:r>
              <a:rPr/>
              <a:t>Measurements include error</a:t>
            </a:r>
          </a:p>
          <a:p>
            <a:pPr lvl="0"/>
            <a:r>
              <a:rPr/>
              <a:t>Multiple unmeasured causal factors influence nearly all biological systems</a:t>
            </a:r>
          </a:p>
          <a:p>
            <a:pPr lvl="0" indent="0" marL="0">
              <a:buNone/>
            </a:pPr>
            <a:r>
              <a:rPr/>
              <a:t>Statistics helps us understand biological processes in this variable world by:</a:t>
            </a:r>
          </a:p>
          <a:p>
            <a:pPr lvl="0" indent="-342900" marL="342900">
              <a:buAutoNum type="arabicPeriod"/>
            </a:pPr>
            <a:r>
              <a:rPr/>
              <a:t>Condensing variation into summary form (Descriptive statistics)</a:t>
            </a:r>
          </a:p>
          <a:p>
            <a:pPr lvl="0" indent="-342900" marL="342900">
              <a:buAutoNum type="arabicPeriod"/>
            </a:pPr>
            <a:r>
              <a:rPr/>
              <a:t>Testing whether observations are consistent with predictions (Inferential statistics)</a:t>
            </a:r>
          </a:p>
        </p:txBody>
      </p:sp>
      <p:pic>
        <p:nvPicPr>
          <p:cNvPr descr="03_01_lecture_powerpoint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1: Fish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1: Can you open the fish data </a:t>
            </a:r>
            <a:r>
              <a:rPr sz="2000" b="1">
                <a:latin typeface="Courier"/>
              </a:rPr>
              <a:t>gray_I3_I8.csv</a:t>
            </a:r>
            <a:r>
              <a:rPr sz="2000" b="1"/>
              <a:t> and look at the structure and make a histogram?</a:t>
            </a:r>
          </a:p>
          <a:p>
            <a:pPr lvl="0" indent="0" marL="1270000">
              <a:buNone/>
            </a:pPr>
            <a:r>
              <a:rPr sz="2000"/>
              <a:t>Note the variation around the mean… some could be due to measurement error</a:t>
            </a:r>
          </a:p>
          <a:p>
            <a:pPr lvl="0" indent="0" marL="1270000">
              <a:buNone/>
            </a:pPr>
            <a:r>
              <a:rPr sz="2000"/>
              <a:t>Let’s recreate the basic histogram of fish lengths using </a:t>
            </a:r>
            <a:r>
              <a:rPr sz="2000">
                <a:latin typeface="Courier"/>
              </a:rPr>
              <a:t>gray_I3_I8.csv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 to read in the file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How do you examine the data - what are the ways you think and lets try it!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2: Examining Grayling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2: Can you do this for the pine data we have collected?</a:t>
            </a:r>
          </a:p>
          <a:p>
            <a:pPr lvl="0" indent="0" marL="1270000">
              <a:buNone/>
            </a:pPr>
            <a:r>
              <a:rPr sz="2000"/>
              <a:t>Let’s examine the different data and determine what they are?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 to read in the file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How do you examine the data - what are the ways you think and lets try it!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Load the grayling data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"data/gray_I3_I8.csv"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Take a look at the first few rows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(grayling_df)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6 × 5
   site lake  species         length_mm mass_g
  &lt;dbl&gt; &lt;chr&gt; &lt;chr&gt;               &lt;dbl&gt;  &lt;dbl&gt;
1   113 I3    arctic grayling       266    135
2   113 I3    arctic grayling       290    185
3   113 I3    arctic grayling       262    145
4   113 I3    arctic grayling       275    160
5   113 I3    arctic grayling       240    105
6   113 I3    arctic grayling       265    145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Accuracy, Precision, and Bias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When taking biological measurements, understanding measurement quality is essential:</a:t>
            </a:r>
          </a:p>
          <a:p>
            <a:pPr lvl="0"/>
            <a:r>
              <a:rPr b="1"/>
              <a:t>Accuracy</a:t>
            </a:r>
            <a:r>
              <a:rPr/>
              <a:t>: Closeness of measured value to true value</a:t>
            </a:r>
          </a:p>
          <a:p>
            <a:pPr lvl="0"/>
            <a:r>
              <a:rPr b="1"/>
              <a:t>Precision</a:t>
            </a:r>
            <a:r>
              <a:rPr/>
              <a:t>: Closeness of repeated measurements to each other (repeatability)</a:t>
            </a:r>
          </a:p>
          <a:p>
            <a:pPr lvl="0"/>
            <a:r>
              <a:rPr b="1"/>
              <a:t>Bias</a:t>
            </a:r>
            <a:r>
              <a:rPr/>
              <a:t>: Systematic departure from the true value</a:t>
            </a:r>
          </a:p>
          <a:p>
            <a:pPr lvl="0" indent="0" marL="0">
              <a:buNone/>
            </a:pPr>
            <a:r>
              <a:rPr b="1"/>
              <a:t>Accuracy</a:t>
            </a:r>
            <a:r>
              <a:rPr/>
              <a:t> is a </a:t>
            </a:r>
            <a:r>
              <a:rPr b="1"/>
              <a:t>function</a:t>
            </a:r>
            <a:r>
              <a:rPr/>
              <a:t> of </a:t>
            </a:r>
            <a:r>
              <a:rPr b="1"/>
              <a:t>both precision and bias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For statisticians, </a:t>
            </a:r>
            <a:r>
              <a:rPr b="1"/>
              <a:t>BIAS is usually a more serious problem than low precision because</a:t>
            </a:r>
            <a:r>
              <a:rPr/>
              <a:t>:</a:t>
            </a:r>
          </a:p>
          <a:p>
            <a:pPr lvl="0"/>
            <a:r>
              <a:rPr/>
              <a:t>It’s harder to detect (true value usually unknown)</a:t>
            </a:r>
          </a:p>
          <a:p>
            <a:pPr lvl="0"/>
            <a:r>
              <a:rPr/>
              <a:t>Low precision can be compensated for by increased sample size</a:t>
            </a:r>
          </a:p>
        </p:txBody>
      </p:sp>
      <p:pic>
        <p:nvPicPr>
          <p:cNvPr descr="images/clipboard-2105632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282700"/>
            <a:ext cx="27813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Exercise: Sources of Error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1: What are potential sources of error in fish data?</a:t>
            </a:r>
          </a:p>
          <a:p>
            <a:pPr lvl="0" indent="0" marL="1270000">
              <a:buNone/>
            </a:pPr>
            <a:r>
              <a:rPr sz="2000"/>
              <a:t>For our grayling data, potential sources of measurement error might include:</a:t>
            </a:r>
          </a:p>
          <a:p>
            <a:pPr lvl="0"/>
            <a:r>
              <a:rPr sz="2000"/>
              <a:t>Precision issues:</a:t>
            </a:r>
          </a:p>
          <a:p>
            <a:pPr lvl="1"/>
            <a:r>
              <a:rPr sz="2000"/>
              <a:t>Variations in how fish are measured (e.g., slightly bent fish)</a:t>
            </a:r>
          </a:p>
          <a:p>
            <a:pPr lvl="0"/>
            <a:r>
              <a:rPr sz="2000"/>
              <a:t>Bias issues:</a:t>
            </a:r>
          </a:p>
          <a:p>
            <a:pPr lvl="1"/>
            <a:r>
              <a:rPr sz="2000"/>
              <a:t>Systematic underestimation of length if measurements aren’t taken from the true tip of the snout to the end of the tail</a:t>
            </a:r>
          </a:p>
          <a:p>
            <a:pPr lvl="0"/>
            <a:r>
              <a:rPr sz="2000"/>
              <a:t>Accuracy issues? what could they be?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Measures of Central Tendency - Mean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two most common measures of central tendency are the </a:t>
                </a:r>
                <a:r>
                  <a:rPr b="1"/>
                  <a:t>mean</a:t>
                </a:r>
                <a:r>
                  <a:rPr/>
                  <a:t> and the </a:t>
                </a:r>
                <a:r>
                  <a:rPr b="1"/>
                  <a:t>median</a:t>
                </a:r>
                <a:r>
                  <a:rPr/>
                  <a:t>.</a:t>
                </a:r>
              </a:p>
              <a:p>
                <a:pPr lvl="0" indent="0" marL="0">
                  <a:buNone/>
                </a:pPr>
                <a:r>
                  <a:rPr/>
                  <a:t>The Arithmetic Mean The arithmetic mean is the average of a set of measurements: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‾"/>
                        </m:accPr>
                        <m:e>
                          <m:r>
                            <m:t>Y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ff"/>
                            </m:naryPr>
                            <m:sub>
                              <m:r>
                                <m:t>i</m:t>
                              </m:r>
                              <m:r>
                                <m:rPr>
                                  <m:sty m:val="p"/>
                                </m:rPr>
                                <m:t>=</m:t>
                              </m:r>
                              <m:r>
                                <m:t>1</m:t>
                              </m:r>
                            </m:sub>
                            <m:sup>
                              <m:r>
                                <m:t>n</m:t>
                              </m:r>
                            </m:sup>
                            <m:e>
                              <m:sSub>
                                <m:e>
                                  <m:r>
                                    <m:t>Y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</m:e>
                          </m:nary>
                        </m:num>
                        <m:den>
                          <m:r>
                            <m:t>n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Where: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represents each individual measurement</a:t>
                </a:r>
              </a:p>
              <a:p>
                <a:pPr lvl="0"/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 is the total number of observations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mean length of all fish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(grayling_df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</a:p>
          <a:p>
            <a:pPr lvl="0" indent="0">
              <a:buNone/>
            </a:pPr>
            <a:r>
              <a:rPr>
                <a:latin typeface="Courier"/>
              </a:rPr>
              <a:t>[1] 324.494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mean by lake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(lake)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(length_mm, </a:t>
            </a:r>
            <a:r>
              <a:rPr>
                <a:solidFill>
                  <a:srgbClr val="657422"/>
                </a:solidFill>
                <a:latin typeface="Courier"/>
              </a:rPr>
              <a:t>na.rm=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2
  lake  mean_length
  &lt;chr&gt;       &lt;dbl&gt;
1 I3           266.
2 I8           363.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Measures of Central Tendency - Median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Median</a:t>
            </a:r>
          </a:p>
          <a:p>
            <a:pPr lvl="0"/>
            <a:r>
              <a:rPr/>
              <a:t>The median is the middle value of a sorted dataset.</a:t>
            </a:r>
          </a:p>
          <a:p>
            <a:pPr lvl="0"/>
            <a:r>
              <a:rPr/>
              <a:t>If there is an even number of observations, it’s the average of the two middle values.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median length of all fish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(grayling_df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</a:p>
          <a:p>
            <a:pPr lvl="0" indent="0">
              <a:buNone/>
            </a:pPr>
            <a:r>
              <a:rPr>
                <a:latin typeface="Courier"/>
              </a:rPr>
              <a:t>[1] 324.5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median by lake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(lake)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median_length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(length_mm)) 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2
  lake  median_length
  &lt;chr&gt;         &lt;dbl&gt;
1 I3              266
2 I8              373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Measures of Spread - Variance and Standard Deviation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spread of a distribution tells us how variable the measurements are.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Variance and Standard Deviation</a:t>
                </a:r>
              </a:p>
              <a:p>
                <a:pPr lvl="0" indent="0" marL="0">
                  <a:buNone/>
                </a:pPr>
                <a:r>
                  <a:rPr/>
                  <a:t>The variance is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s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ff"/>
                            </m:naryPr>
                            <m:sub>
                              <m:r>
                                <m:t>i</m:t>
                              </m:r>
                              <m:r>
                                <m:rPr>
                                  <m:sty m:val="p"/>
                                </m:rPr>
                                <m:t>=</m:t>
                              </m:r>
                              <m:r>
                                <m:t>1</m:t>
                              </m:r>
                            </m:sub>
                            <m:sup>
                              <m:r>
                                <m:t>n</m:t>
                              </m:r>
                            </m:sup>
                            <m:e>
                              <m:sSup>
                                <m:e>
                                  <m:d>
                                    <m:dPr>
                                      <m:begChr m:val="("/>
                                      <m:endChr m:val=")"/>
                                      <m:sepChr m:val=""/>
                                      <m:grow/>
                                    </m:dPr>
                                    <m:e>
                                      <m:sSub>
                                        <m:e>
                                          <m:r>
                                            <m:t>Y</m:t>
                                          </m:r>
                                        </m:e>
                                        <m:sub>
                                          <m:r>
                                            <m:t>i</m:t>
                                          </m:r>
                                        </m:sub>
                                      </m:sSub>
                                      <m:r>
                                        <m:rPr>
                                          <m:sty m:val="p"/>
                                        </m:rPr>
                                        <m:t>−</m:t>
                                      </m:r>
                                      <m:acc>
                                        <m:accPr>
                                          <m:chr m:val="‾"/>
                                        </m:accPr>
                                        <m:e>
                                          <m:r>
                                            <m:t>Y</m:t>
                                          </m:r>
                                        </m:e>
                                      </m:acc>
                                    </m:e>
                                  </m:d>
                                </m:e>
                                <m:sup>
                                  <m:r>
                                    <m:t>2</m:t>
                                  </m:r>
                                </m:sup>
                              </m:sSup>
                            </m:e>
                          </m:nary>
                        </m:num>
                        <m:den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The standard deviation is the square root of variance</a:t>
                </a:r>
              </a:p>
              <a:p>
                <a:pPr lvl="0"/>
                <a:r>
                  <a:rPr/>
                  <a:t>measures how far observations typically are from the mean and are in the units of the mean: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s</m:t>
                      </m:r>
                      <m:r>
                        <m:rPr>
                          <m:sty m:val="p"/>
                        </m:rPr>
                        <m:t>=</m:t>
                      </m:r>
                      <m:rad>
                        <m:radPr>
                          <m:degHide m:val="on"/>
                        </m:radPr>
                        <m:deg/>
                        <m:e>
                          <m:f>
                            <m:fPr>
                              <m:type m:val="bar"/>
                            </m:fPr>
                            <m:num>
                              <m:nary>
                                <m:naryPr>
                                  <m:chr m:val="∑"/>
                                  <m:limLoc m:val="undOvr"/>
                                  <m:subHide m:val="off"/>
                                  <m:supHide m:val="off"/>
                                </m:naryPr>
                                <m:sub>
                                  <m:r>
                                    <m:t>i</m:t>
                                  </m:r>
                                  <m:r>
                                    <m:rPr>
                                      <m:sty m:val="p"/>
                                    </m:rPr>
                                    <m:t>=</m:t>
                                  </m:r>
                                  <m:r>
                                    <m:t>1</m:t>
                                  </m:r>
                                </m:sub>
                                <m:sup>
                                  <m:r>
                                    <m:t>n</m:t>
                                  </m:r>
                                </m:sup>
                                <m:e>
                                  <m:sSup>
                                    <m:e>
                                      <m:d>
                                        <m:dPr>
                                          <m:begChr m:val="("/>
                                          <m:endChr m:val=")"/>
                                          <m:sepChr m:val=""/>
                                          <m:grow/>
                                        </m:dPr>
                                        <m:e>
                                          <m:sSub>
                                            <m:e>
                                              <m:r>
                                                <m:t>Y</m:t>
                                              </m:r>
                                            </m:e>
                                            <m:sub>
                                              <m:r>
                                                <m:t>i</m:t>
                                              </m:r>
                                            </m:sub>
                                          </m:sSub>
                                          <m:r>
                                            <m:rPr>
                                              <m:sty m:val="p"/>
                                            </m:rPr>
                                            <m:t>−</m:t>
                                          </m:r>
                                          <m:acc>
                                            <m:accPr>
                                              <m:chr m:val="‾"/>
                                            </m:accPr>
                                            <m:e>
                                              <m:r>
                                                <m:t>Y</m:t>
                                              </m:r>
                                            </m:e>
                                          </m:acc>
                                        </m:e>
                                      </m:d>
                                    </m:e>
                                    <m:sup>
                                      <m:r>
                                        <m:t>2</m:t>
                                      </m:r>
                                    </m:sup>
                                  </m:sSup>
                                </m:e>
                              </m:nary>
                            </m:num>
                            <m:den>
                              <m:r>
                                <m:t>n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1</m:t>
                              </m:r>
                            </m:den>
                          </m:f>
                        </m:e>
                      </m:rad>
                    </m:oMath>
                  </m:oMathPara>
                </a14:m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standard deviation of fish length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var_length &lt;- </a:t>
            </a:r>
            <a:r>
              <a:rPr>
                <a:solidFill>
                  <a:srgbClr val="4758AB"/>
                </a:solidFill>
                <a:latin typeface="Courier"/>
              </a:rPr>
              <a:t>var</a:t>
            </a:r>
            <a:r>
              <a:rPr>
                <a:solidFill>
                  <a:srgbClr val="003B4F"/>
                </a:solidFill>
                <a:latin typeface="Courier"/>
              </a:rPr>
              <a:t>(grayling_df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sd_length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(grayling_df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by lake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(lake)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</a:t>
            </a:r>
            <a:r>
              <a:rPr>
                <a:solidFill>
                  <a:srgbClr val="657422"/>
                </a:solidFill>
                <a:latin typeface="Courier"/>
              </a:rPr>
              <a:t>var_length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var</a:t>
            </a:r>
            <a:r>
              <a:rPr>
                <a:solidFill>
                  <a:srgbClr val="003B4F"/>
                </a:solidFill>
                <a:latin typeface="Courier"/>
              </a:rPr>
              <a:t>(length_mm),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</a:t>
            </a:r>
            <a:r>
              <a:rPr>
                <a:solidFill>
                  <a:srgbClr val="657422"/>
                </a:solidFill>
                <a:latin typeface="Courier"/>
              </a:rPr>
              <a:t>sd_length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(length_mm) ) 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3
  lake  var_length sd_length
  &lt;chr&gt;      &lt;dbl&gt;     &lt;dbl&gt;
1 I3          801.      28.3
2 I8         2739.      52.3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Understanding Standard Deviation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area under the curve of a bell shaped curve within + and - 2 standard deviations on each side includes about 95% of the data</a:t>
            </a:r>
            <a:br/>
            <a:br/>
            <a:r>
              <a:rPr/>
              <a:t>so there is only 2.5% of the data that is outside this range</a:t>
            </a:r>
          </a:p>
          <a:p>
            <a:pPr lvl="0"/>
            <a:r>
              <a:rPr/>
              <a:t>note the similarity to the p &lt; 0.5</a:t>
            </a:r>
          </a:p>
          <a:p>
            <a:pPr lvl="0"/>
            <a:r>
              <a:rPr/>
              <a:t>note that it is 90.91% and that is because the curve is not normal</a:t>
            </a:r>
          </a:p>
          <a:p>
            <a:pPr lvl="0" indent="0">
              <a:buNone/>
            </a:pPr>
            <a:r>
              <a:rPr>
                <a:latin typeface="Courier"/>
              </a:rPr>
              <a:t>i3 Lake Fish Length Summary:
 Number of fish: 66 
 Mean length: 265.61 mm
 Standard Deviation: 28.3 mm
 Range for ±2 SD: 209 to 322.21 mm
 Percentage within ±2 SD: 90.91 %</a:t>
            </a:r>
          </a:p>
        </p:txBody>
      </p:sp>
      <p:pic>
        <p:nvPicPr>
          <p:cNvPr descr="03_01_lecture_powerpoint_files/figure-pptx/sd-variance-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39900"/>
            <a:ext cx="2781300" cy="2311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Coefficient of Variation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coefficient of variation (CV) expresses the standard deviation as a percentage of the mean: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C</m:t>
                      </m:r>
                      <m:r>
                        <m:t>V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</m:num>
                        <m:den>
                          <m:acc>
                            <m:accPr>
                              <m:chr m:val="‾"/>
                            </m:accPr>
                            <m:e>
                              <m:r>
                                <m:t>Y</m:t>
                              </m:r>
                            </m:e>
                          </m:acc>
                        </m:den>
                      </m:f>
                      <m:r>
                        <m:rPr>
                          <m:sty m:val="p"/>
                        </m:rPr>
                        <m:t>×</m:t>
                      </m:r>
                      <m:r>
                        <m:t>100</m:t>
                      </m:r>
                      <m:r>
                        <m:rPr>
                          <m:sty m:val="p"/>
                        </m:rPr>
                        <m:t>%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This is useful for comparing the variability of measurements with different units or vastly different scales.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Coefficient of variation: 10.7 %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2
  lake  cv_length
  &lt;chr&gt;     &lt;dbl&gt;
1 I3         10.7
2 I8         14.4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Interquartile Range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interquartile range (IQR) is the range of the middle 50% of the data: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I</m:t>
                      </m:r>
                      <m:r>
                        <m:t>Q</m:t>
                      </m:r>
                      <m:r>
                        <m:t>R</m:t>
                      </m:r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Q</m:t>
                          </m:r>
                        </m:e>
                        <m:sub>
                          <m:r>
                            <m:t>3</m:t>
                          </m:r>
                        </m:sub>
                      </m:sSub>
                      <m:r>
                        <m:rPr>
                          <m:sty m:val="p"/>
                        </m:rPr>
                        <m:t>−</m:t>
                      </m:r>
                      <m:sSub>
                        <m:e>
                          <m:r>
                            <m:t>Q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 </a:t>
                </a:r>
                <a14:m>
                  <m:oMath xmlns:m="http://schemas.openxmlformats.org/officeDocument/2006/math">
                    <m:sSub>
                      <m:e>
                        <m:r>
                          <m:t>Q</m:t>
                        </m:r>
                      </m:e>
                      <m:sub>
                        <m:r>
                          <m:t>1</m:t>
                        </m:r>
                      </m:sub>
                    </m:sSub>
                  </m:oMath>
                </a14:m>
                <a:r>
                  <a:rPr/>
                  <a:t> is the first quartile (25th percentile) and </a:t>
                </a:r>
                <a14:m>
                  <m:oMath xmlns:m="http://schemas.openxmlformats.org/officeDocument/2006/math">
                    <m:sSub>
                      <m:e>
                        <m:r>
                          <m:t>Q</m:t>
                        </m:r>
                      </m:e>
                      <m:sub>
                        <m:r>
                          <m:t>3</m:t>
                        </m:r>
                      </m:sub>
                    </m:sSub>
                  </m:oMath>
                </a14:m>
                <a:r>
                  <a:rPr/>
                  <a:t> is the third quartile (75th percentile).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First quartile: 270.75 mm</a:t>
            </a:r>
          </a:p>
          <a:p>
            <a:pPr lvl="0" indent="0">
              <a:buNone/>
            </a:pPr>
            <a:r>
              <a:rPr>
                <a:latin typeface="Courier"/>
              </a:rPr>
              <a:t>Third quartile: 377 mm</a:t>
            </a:r>
          </a:p>
          <a:p>
            <a:pPr lvl="0" indent="0">
              <a:buNone/>
            </a:pPr>
            <a:r>
              <a:rPr>
                <a:latin typeface="Courier"/>
              </a:rPr>
              <a:t>Interquartile range: 106.25 mm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4
  lake     q1    q3   iqr
  &lt;chr&gt; &lt;dbl&gt; &lt;dbl&gt; &lt;dbl&gt;
1 I3      256   280    24
2 I8      340   401    61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Understanding Percentiles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- it is the same as quartiles but more finely divided and will come into play later on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Percentiles are values that divide a dataset into 100 equal parts.</a:t>
            </a:r>
          </a:p>
          <a:p>
            <a:pPr lvl="0"/>
            <a:r>
              <a:rPr/>
              <a:t>The 25th percentile is the first quartile (Q1)</a:t>
            </a:r>
          </a:p>
          <a:p>
            <a:pPr lvl="0"/>
            <a:r>
              <a:rPr/>
              <a:t>The 50th percentile is the median</a:t>
            </a:r>
          </a:p>
          <a:p>
            <a:pPr lvl="0"/>
            <a:r>
              <a:rPr/>
              <a:t>The 75th percentile is the third quartile (Q3)</a:t>
            </a:r>
          </a:p>
          <a:p>
            <a:pPr lvl="0"/>
            <a:r>
              <a:rPr/>
              <a:t>The IQR is the difference between Q3 and Q1.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percentiles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percentiles &lt;- </a:t>
            </a:r>
            <a:r>
              <a:rPr>
                <a:solidFill>
                  <a:srgbClr val="4758AB"/>
                </a:solidFill>
                <a:latin typeface="Courier"/>
              </a:rPr>
              <a:t>quantile</a:t>
            </a:r>
            <a:r>
              <a:rPr>
                <a:solidFill>
                  <a:srgbClr val="003B4F"/>
                </a:solidFill>
                <a:latin typeface="Courier"/>
              </a:rPr>
              <a:t>(grayling_df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probs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0.25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0.75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0.9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Standard Deviation vs. Interquartile Range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standard deviation and interquartile range both measure spread, but:</a:t>
            </a:r>
          </a:p>
          <a:p>
            <a:pPr lvl="0" indent="0" marL="0">
              <a:buNone/>
            </a:pPr>
            <a:r>
              <a:rPr b="1"/>
              <a:t>Standard deviation</a:t>
            </a:r>
            <a:r>
              <a:rPr/>
              <a:t>: Sensitive to outliers</a:t>
            </a:r>
          </a:p>
          <a:p>
            <a:pPr lvl="0" indent="0" marL="0">
              <a:buNone/>
            </a:pPr>
            <a:r>
              <a:rPr b="1"/>
              <a:t>Interquartile range</a:t>
            </a:r>
            <a:r>
              <a:rPr/>
              <a:t>: Robust against outliers</a:t>
            </a:r>
          </a:p>
          <a:p>
            <a:pPr lvl="0" indent="0" marL="0">
              <a:buNone/>
            </a:pPr>
            <a:r>
              <a:rPr/>
              <a:t>When the data is approximately normal, the IQR ≈ 1.35 × standard deviation.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 A tibble: 2 × 4
  lake     sd   iqr ratio_iqr_sd
  &lt;chr&gt; &lt;dbl&gt; &lt;dbl&gt;        &lt;dbl&gt;
1 I3     28.3    24        0.848
2 I8     52.3    61        1.17 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Data Transformations for Skewed Distributions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Biological data are often skewed (asymmetrical), which can make the arithmetic mean less representative of central tendency. Data transformations can help address this issue.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Logarithmic Transformation</a:t>
            </a:r>
          </a:p>
          <a:p>
            <a:pPr lvl="0" indent="0" marL="0">
              <a:buNone/>
            </a:pPr>
            <a:r>
              <a:rPr/>
              <a:t>The logarithmic transformation is one of the most common for right-skewed biological data:</a:t>
            </a:r>
          </a:p>
          <a:p>
            <a:pPr lvl="0" indent="0" marL="0">
              <a:buNone/>
            </a:pPr>
            <a:r>
              <a:rPr/>
              <a:t>When data are log-normally distributed, the geometric mean often provides a better measure of central tendency than the arithmetic mean.</a:t>
            </a:r>
          </a:p>
          <a:p>
            <a:pPr lvl="0"/>
            <a:r>
              <a:rPr/>
              <a:t>But there are issues and it might not be good…</a:t>
            </a:r>
          </a:p>
          <a:p>
            <a:pPr lvl="1"/>
            <a:r>
              <a:rPr/>
              <a:t>detecting differences in geometric means, not arithmetic means</a:t>
            </a:r>
          </a:p>
          <a:p>
            <a:pPr lvl="2"/>
            <a:r>
              <a:rPr/>
              <a:t>geometric is all values multiplied taken to the nth root</a:t>
            </a:r>
          </a:p>
          <a:p>
            <a:pPr lvl="1"/>
            <a:r>
              <a:rPr/>
              <a:t>Can’t handle zeros without adding arbitrary constants (log(x+1) transformations), which can bias results</a:t>
            </a:r>
            <a:br/>
          </a:p>
          <a:p>
            <a:pPr lvl="0" indent="0">
              <a:buNone/>
            </a:pPr>
            <a:r>
              <a:rPr>
                <a:latin typeface="Courier"/>
              </a:rPr>
              <a:t>Arithmetic mean of original data: 265.6 mm
 Geometric mean (back-transformed mean of logs): NA mm</a:t>
            </a:r>
          </a:p>
        </p:txBody>
      </p:sp>
      <p:pic>
        <p:nvPicPr>
          <p:cNvPr descr="03_01_lecture_powerpoint_files/figure-pptx/log-transfor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When to Use Transformations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 tranform data to a “normal” distribution we can use the following transformations…</a:t>
            </a:r>
          </a:p>
          <a:p>
            <a:pPr lvl="0"/>
            <a:r>
              <a:rPr b="1"/>
              <a:t>Log transformation</a:t>
            </a:r>
            <a:r>
              <a:rPr/>
              <a:t>: When data are right-skewed or follow multiplicative rather than additive processes</a:t>
            </a:r>
          </a:p>
          <a:p>
            <a:pPr lvl="0"/>
            <a:r>
              <a:rPr b="1"/>
              <a:t>Square root transformation</a:t>
            </a:r>
            <a:r>
              <a:rPr/>
              <a:t>: For count data or data where variance increases with the mean</a:t>
            </a:r>
          </a:p>
          <a:p>
            <a:pPr lvl="0"/>
            <a:r>
              <a:rPr b="1"/>
              <a:t>Inverse transformation</a:t>
            </a:r>
            <a:r>
              <a:rPr/>
              <a:t>: For strongly right-skewed data</a:t>
            </a:r>
          </a:p>
          <a:p>
            <a:pPr lvl="0"/>
            <a:r>
              <a:rPr b="1"/>
              <a:t>Arcsine square root transformation</a:t>
            </a:r>
            <a:r>
              <a:rPr/>
              <a:t>: For proportions or percentages (though logistic regression is often preferred now)</a:t>
            </a:r>
          </a:p>
          <a:p>
            <a:pPr lvl="0" indent="0" marL="0">
              <a:buNone/>
            </a:pPr>
            <a:r>
              <a:rPr/>
              <a:t>In a reflection the parameter </a:t>
            </a:r>
            <a:r>
              <a:rPr b="1"/>
              <a:t>k</a:t>
            </a:r>
            <a:r>
              <a:rPr/>
              <a:t> is typically chosen to be a value that’s larger than the maximum value</a:t>
            </a:r>
          </a:p>
        </p:txBody>
      </p:sp>
      <p:pic>
        <p:nvPicPr>
          <p:cNvPr descr="images/clipboard-248369325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59000"/>
            <a:ext cx="2781300" cy="147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Visualizing Distributions - Histograms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Histograms</a:t>
            </a:r>
          </a:p>
          <a:p>
            <a:pPr lvl="0" indent="0" marL="0">
              <a:buNone/>
            </a:pPr>
            <a:r>
              <a:rPr/>
              <a:t>Histograms show the frequency distribution of our data.</a:t>
            </a:r>
          </a:p>
        </p:txBody>
      </p:sp>
      <p:pic>
        <p:nvPicPr>
          <p:cNvPr descr="03_01_lecture_powerpoint_files/figure-pptx/histogra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32000"/>
            <a:ext cx="2781300" cy="1739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Visualizing Distributions - Box Plots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Box Plots</a:t>
            </a:r>
          </a:p>
          <a:p>
            <a:pPr lvl="0" indent="0" marL="0">
              <a:buNone/>
            </a:pPr>
            <a:r>
              <a:rPr/>
              <a:t>Box plots show the median, quartiles, and potential outliers.</a:t>
            </a:r>
          </a:p>
        </p:txBody>
      </p:sp>
      <p:pic>
        <p:nvPicPr>
          <p:cNvPr descr="03_01_lecture_powerpoint_files/figure-pptx/box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32000"/>
            <a:ext cx="2781300" cy="1739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Comparing Mean vs. Median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mean and median measure different aspects of a distribution:</a:t>
            </a:r>
          </a:p>
          <a:p>
            <a:pPr lvl="0" indent="0" marL="0">
              <a:buNone/>
            </a:pPr>
            <a:r>
              <a:rPr b="1"/>
              <a:t>Mean</a:t>
            </a:r>
            <a:r>
              <a:rPr/>
              <a:t>: Center of gravity of the distribution</a:t>
            </a:r>
          </a:p>
          <a:p>
            <a:pPr lvl="0" indent="0" marL="0">
              <a:buNone/>
            </a:pPr>
            <a:r>
              <a:rPr b="1"/>
              <a:t>Median</a:t>
            </a:r>
            <a:r>
              <a:rPr/>
              <a:t>: Middle value of the data</a:t>
            </a:r>
          </a:p>
          <a:p>
            <a:pPr lvl="0" indent="0" marL="0">
              <a:buNone/>
            </a:pPr>
            <a:r>
              <a:rPr/>
              <a:t>When a distribution is symmetric, the mean and median are similar. When it’s skewed or has outliers, they can differ significantly.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 A tibble: 2 × 6
  lake   mean median    sd   iqr skewness
  &lt;chr&gt; &lt;dbl&gt;  &lt;dbl&gt; &lt;dbl&gt; &lt;dbl&gt;    &lt;dbl&gt;
1 I3     266.    266  28.3    24   -0.883
2 I8     363.    373  52.3    61   -1.09 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Histogram Plot - Mean vs. Median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mean and median measure different aspects of a distribution:</a:t>
            </a:r>
          </a:p>
          <a:p>
            <a:pPr lvl="0" indent="0" marL="0">
              <a:buNone/>
            </a:pPr>
            <a:r>
              <a:rPr b="1"/>
              <a:t>Mean</a:t>
            </a:r>
            <a:r>
              <a:rPr/>
              <a:t>: Center of gravity of the distribution</a:t>
            </a:r>
          </a:p>
          <a:p>
            <a:pPr lvl="0" indent="0" marL="0">
              <a:buNone/>
            </a:pPr>
            <a:r>
              <a:rPr b="1"/>
              <a:t>Median</a:t>
            </a:r>
            <a:r>
              <a:rPr/>
              <a:t>: Middle value of the data</a:t>
            </a:r>
          </a:p>
          <a:p>
            <a:pPr lvl="0" indent="0" marL="0">
              <a:buNone/>
            </a:pPr>
            <a:r>
              <a:rPr/>
              <a:t>When a distribution is symmetric, the mean and median are similar. When it’s skewed or has outliers, they can differ significantly.</a:t>
            </a:r>
          </a:p>
        </p:txBody>
      </p:sp>
      <p:pic>
        <p:nvPicPr>
          <p:cNvPr descr="03_01_lecture_powerpoint_files/figure-pptx/mean-vs-median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39900"/>
            <a:ext cx="2781300" cy="2311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Handling Missing Values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examine how missing values affect our descriptive statistics by looking at the mass variable, which has some missing data.</a:t>
            </a:r>
          </a:p>
          <a:p>
            <a:pPr lvl="0" indent="0">
              <a:buNone/>
            </a:pPr>
            <a:r>
              <a:rPr>
                <a:latin typeface="Courier"/>
              </a:rPr>
              <a:t>[1] 2</a:t>
            </a:r>
          </a:p>
          <a:p>
            <a:pPr lvl="0" indent="0">
              <a:buNone/>
            </a:pPr>
            <a:r>
              <a:rPr>
                <a:latin typeface="Courier"/>
              </a:rPr>
              <a:t>Mean mass without handling NAs: NA g
 Mean mass with na.rm=TRUE: 351.2289 g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5
  lake  mean_mass median_mass sd_mass n_missing
  &lt;chr&gt;     &lt;dbl&gt;       &lt;dbl&gt;   &lt;dbl&gt;     &lt;int&gt;
1 I3         150.         147    42.2         0
2 I8         484.         490   176.          2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Best Practices for Missing Values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/>
              <a:t>Always check for missing values in your data before calculating statistics.</a:t>
            </a:r>
          </a:p>
          <a:p>
            <a:pPr lvl="0" indent="-342900" marL="342900">
              <a:buAutoNum type="arabicPeriod"/>
            </a:pPr>
            <a:r>
              <a:rPr/>
              <a:t>Use na.rm = TRUE when calculating summary statistics to handle missing values.</a:t>
            </a:r>
          </a:p>
          <a:p>
            <a:pPr lvl="0" indent="-342900" marL="342900">
              <a:buAutoNum type="arabicPeriod"/>
            </a:pPr>
            <a:r>
              <a:rPr/>
              <a:t>Report the number of missing values along with your statistics.</a:t>
            </a:r>
          </a:p>
          <a:p>
            <a:pPr lvl="0" indent="-342900" marL="342900">
              <a:buAutoNum type="arabicPeriod"/>
            </a:pPr>
            <a:r>
              <a:rPr/>
              <a:t>Consider whether the missing values are random or might introduce bias.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Sampling from a Population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 that we have estimates of the sample we need to relate that to the population</a:t>
            </a:r>
          </a:p>
          <a:p>
            <a:pPr lvl="0" indent="0" marL="0">
              <a:buNone/>
            </a:pPr>
            <a:r>
              <a:rPr/>
              <a:t>In reality, we rarely know the true population parameters. When studying fish in lakes I3 and I8:</a:t>
            </a:r>
          </a:p>
          <a:p>
            <a:pPr lvl="0"/>
            <a:r>
              <a:rPr/>
              <a:t>The </a:t>
            </a:r>
            <a:r>
              <a:rPr b="1"/>
              <a:t>population</a:t>
            </a:r>
            <a:r>
              <a:rPr/>
              <a:t> includes all grayling fish in each lake</a:t>
            </a:r>
          </a:p>
          <a:p>
            <a:pPr lvl="0"/>
            <a:r>
              <a:rPr/>
              <a:t>The true population mean (μ) and standard deviation (σ) are unknown</a:t>
            </a:r>
          </a:p>
          <a:p>
            <a:pPr lvl="0"/>
            <a:r>
              <a:rPr/>
              <a:t>Our dataset is a </a:t>
            </a:r>
            <a:r>
              <a:rPr b="1"/>
              <a:t>sample</a:t>
            </a:r>
            <a:r>
              <a:rPr/>
              <a:t> from this population</a:t>
            </a:r>
          </a:p>
          <a:p>
            <a:pPr lvl="0"/>
            <a:r>
              <a:rPr/>
              <a:t>We use the sample mean (x̄) to estimate μ</a:t>
            </a:r>
          </a:p>
          <a:p>
            <a:pPr lvl="0"/>
            <a:r>
              <a:rPr/>
              <a:t>Sampling introduces random variation in our estimates</a:t>
            </a:r>
          </a:p>
          <a:p>
            <a:pPr lvl="0" indent="0" marL="0">
              <a:buNone/>
            </a:pPr>
            <a:r>
              <a:rPr/>
              <a:t>Let’s demonstrate how different samples from the same population can give different estimates.</a:t>
            </a:r>
          </a:p>
          <a:p>
            <a:pPr lvl="0" indent="0" marL="0">
              <a:buNone/>
            </a:pPr>
            <a:r>
              <a:rPr/>
              <a:t>If we could sample all fish in the lake, we would know the true mean length. But that’s usually impossible in ecology!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Demonstrating Sampling Variation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take several random samples from Lake I3 and see how the sample means vary: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Filter for Lake I3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i3_data &lt;- 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(lake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"I3"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Function to take a random sample and calculate the mean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sample_mean &lt;- </a:t>
            </a:r>
            <a:r>
              <a:rPr b="1">
                <a:solidFill>
                  <a:srgbClr val="003B4F"/>
                </a:solidFill>
                <a:latin typeface="Courier"/>
              </a:rPr>
              <a:t>function</a:t>
            </a:r>
            <a:r>
              <a:rPr>
                <a:solidFill>
                  <a:srgbClr val="003B4F"/>
                </a:solidFill>
                <a:latin typeface="Courier"/>
              </a:rPr>
              <a:t>(data, sample_size)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sample_data &lt;- </a:t>
            </a:r>
            <a:r>
              <a:rPr>
                <a:solidFill>
                  <a:srgbClr val="4758AB"/>
                </a:solidFill>
                <a:latin typeface="Courier"/>
              </a:rPr>
              <a:t>sample_n</a:t>
            </a:r>
            <a:r>
              <a:rPr>
                <a:solidFill>
                  <a:srgbClr val="003B4F"/>
                </a:solidFill>
                <a:latin typeface="Courier"/>
              </a:rPr>
              <a:t>(data, sample_size)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return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(sample_data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}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Take 10 different samples of size 15 from Lake I3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# For reproducibility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sample_size &lt;- 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sample_means &lt;- </a:t>
            </a:r>
            <a:r>
              <a:rPr>
                <a:solidFill>
                  <a:srgbClr val="4758AB"/>
                </a:solidFill>
                <a:latin typeface="Courier"/>
              </a:rPr>
              <a:t>replicate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sample_mean</a:t>
            </a:r>
            <a:r>
              <a:rPr>
                <a:solidFill>
                  <a:srgbClr val="003B4F"/>
                </a:solidFill>
                <a:latin typeface="Courier"/>
              </a:rPr>
              <a:t>(i3_data, sample_size))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Create a data frame with sample numbers and means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samples_df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sample_number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sample_mean =</a:t>
            </a:r>
            <a:r>
              <a:rPr>
                <a:solidFill>
                  <a:srgbClr val="003B4F"/>
                </a:solidFill>
                <a:latin typeface="Courier"/>
              </a:rPr>
              <a:t> sample_means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Plotting Sample Variation</a:t>
            </a:r>
          </a:p>
        </p:txBody>
      </p:sp>
      <p:pic>
        <p:nvPicPr>
          <p:cNvPr descr="03_01_lecture_powerpoint_files/figure-pptx/unnamed-chunk-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358900" y="609600"/>
            <a:ext cx="63500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Notice how each sample’s mean differs from the overall mean. This demonstrates sampling variation.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Standard Error: Quantifying Uncertainty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standard error of the mean (SEM)</a:t>
                </a:r>
                <a:r>
                  <a:rPr/>
                  <a:t> measures the precision of a sample mean as an estimate of the population mean.</a:t>
                </a:r>
              </a:p>
              <a:p>
                <a:pPr lvl="0" indent="0" marL="0">
                  <a:buNone/>
                </a:pPr>
                <a:r>
                  <a:rPr/>
                  <a:t>Formula: </a:t>
                </a:r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E</m:t>
                        </m:r>
                      </m:e>
                      <m:sub>
                        <m:acc>
                          <m:accPr>
                            <m:chr m:val="‾"/>
                          </m:accPr>
                          <m:e>
                            <m:r>
                              <m:t>x</m:t>
                            </m:r>
                          </m:e>
                        </m:acc>
                      </m:sub>
                    </m:sSub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t>s</m:t>
                        </m:r>
                      </m:num>
                      <m:den>
                        <m:rad>
                          <m:radPr>
                            <m:degHide m:val="on"/>
                          </m:radPr>
                          <m:deg/>
                          <m:e>
                            <m:r>
                              <m:t>n</m:t>
                            </m:r>
                          </m:e>
                        </m:rad>
                      </m:den>
                    </m:f>
                  </m:oMath>
                </a14:m>
              </a:p>
              <a:p>
                <a:pPr lvl="0" indent="0" marL="0">
                  <a:buNone/>
                </a:pPr>
                <a:r>
                  <a:rPr/>
                  <a:t>Where:</a:t>
                </a:r>
              </a:p>
              <a:p>
                <a:pPr lvl="0"/>
                <a:r>
                  <a:rPr/>
                  <a:t>s is the sample standard deviation</a:t>
                </a:r>
              </a:p>
              <a:p>
                <a:pPr lvl="0"/>
                <a:r>
                  <a:rPr/>
                  <a:t>n is the sample size</a:t>
                </a:r>
              </a:p>
              <a:p>
                <a:pPr lvl="0" indent="0" marL="0">
                  <a:buNone/>
                </a:pPr>
                <a:r>
                  <a:rPr/>
                  <a:t>The standard error tells us:</a:t>
                </a:r>
              </a:p>
              <a:p>
                <a:pPr lvl="0"/>
                <a:r>
                  <a:rPr/>
                  <a:t>How much uncertainty is in our estimate</a:t>
                </a:r>
              </a:p>
              <a:p>
                <a:pPr lvl="0"/>
                <a:r>
                  <a:rPr/>
                  <a:t>How much sample means are expected to vary</a:t>
                </a:r>
              </a:p>
              <a:p>
                <a:pPr lvl="0"/>
                <a:r>
                  <a:rPr/>
                  <a:t>How close our sample mean is likely to be to the true population mean</a:t>
                </a:r>
              </a:p>
              <a:p>
                <a:pPr lvl="0" indent="0" marL="0">
                  <a:buNone/>
                </a:pPr>
                <a:r>
                  <a:rPr b="1"/>
                  <a:t>Remember:</a:t>
                </a:r>
              </a:p>
              <a:p>
                <a:pPr lvl="0"/>
                <a:r>
                  <a:rPr/>
                  <a:t>Standard deviation (s) describes the variability in the individual data points</a:t>
                </a:r>
              </a:p>
              <a:p>
                <a:pPr lvl="0"/>
                <a:r>
                  <a:rPr/>
                  <a:t>Standard error (SE) describes the variability in the sample mean itself</a:t>
                </a:r>
              </a:p>
              <a:p>
                <a:pPr lvl="0"/>
                <a:r>
                  <a:rPr/>
                  <a:t>As sample size increases, SE decreases (more precise estimate)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mean, SD, and SE for each lake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grayling_stats &lt;- 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(lake)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se_length =</a:t>
            </a:r>
            <a:r>
              <a:rPr>
                <a:solidFill>
                  <a:srgbClr val="003B4F"/>
                </a:solidFill>
                <a:latin typeface="Courier"/>
              </a:rPr>
              <a:t> sd_length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(length_mm))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the statistics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grayling_stats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5
  lake  mean_length sd_length     n se_length
  &lt;chr&gt;       &lt;dbl&gt;     &lt;dbl&gt; &lt;int&gt;     &lt;dbl&gt;
1 I3           266.      28.3    66     0.429
2 I8           363.      52.3   102     0.513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Sampling Distribution of the Mean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 b="1"/>
              <a:t>sampling distribution of the mean</a:t>
            </a:r>
            <a:r>
              <a:rPr/>
              <a:t> is the theoretical distribution of all possible sample means of a given sample size from a population.</a:t>
            </a:r>
          </a:p>
          <a:p>
            <a:pPr lvl="0" indent="0" marL="0">
              <a:buNone/>
            </a:pPr>
            <a:r>
              <a:rPr/>
              <a:t>Important properties:</a:t>
            </a:r>
          </a:p>
          <a:p>
            <a:pPr lvl="0" indent="-342900" marL="342900">
              <a:buAutoNum type="arabicPeriod"/>
            </a:pPr>
            <a:r>
              <a:rPr/>
              <a:t>It is centered at the population mean (μ)</a:t>
            </a:r>
          </a:p>
          <a:p>
            <a:pPr lvl="0" indent="-342900" marL="342900">
              <a:buAutoNum type="arabicPeriod"/>
            </a:pPr>
            <a:r>
              <a:rPr/>
              <a:t>Its standard deviation is the standard error (σ/√n)</a:t>
            </a:r>
          </a:p>
          <a:p>
            <a:pPr lvl="0" indent="-342900" marL="342900">
              <a:buAutoNum type="arabicPeriod"/>
            </a:pPr>
            <a:r>
              <a:rPr/>
              <a:t>For large sample sizes, it approaches a normal distribution (Central Limit Theorem)</a:t>
            </a:r>
          </a:p>
          <a:p>
            <a:pPr lvl="0" indent="0" marL="0">
              <a:buNone/>
            </a:pPr>
            <a:r>
              <a:rPr/>
              <a:t>The larger the sample size:</a:t>
            </a:r>
          </a:p>
          <a:p>
            <a:pPr lvl="0"/>
            <a:r>
              <a:rPr/>
              <a:t>The narrower the sampling distribution</a:t>
            </a:r>
          </a:p>
          <a:p>
            <a:pPr lvl="0"/>
            <a:r>
              <a:rPr/>
              <a:t>The smaller the standard error</a:t>
            </a:r>
          </a:p>
          <a:p>
            <a:pPr lvl="0"/>
            <a:r>
              <a:rPr/>
              <a:t>The more precise our estimate of the population mean</a:t>
            </a:r>
          </a:p>
          <a:p>
            <a:pPr lvl="0" indent="0" marL="0">
              <a:buNone/>
            </a:pPr>
            <a:r>
              <a:rPr/>
              <a:t>Let’s simulate the sampling distribution for Lake I3 fish data.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Simulating the Sampling Distribution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simulate taking many samples from Lake I3 to visualize the sampling distribution: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Filter for Lake I3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i3_data &lt;- 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(lake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"I3"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Number of samples to simulate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num_simulations &lt;- </a:t>
            </a:r>
            <a:r>
              <a:rPr>
                <a:solidFill>
                  <a:srgbClr val="AD0000"/>
                </a:solidFill>
                <a:latin typeface="Courier"/>
              </a:rPr>
              <a:t>1000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sample_size &lt;- </a:t>
            </a:r>
            <a:r>
              <a:rPr>
                <a:solidFill>
                  <a:srgbClr val="AD0000"/>
                </a:solidFill>
                <a:latin typeface="Courier"/>
              </a:rPr>
              <a:t>20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# change the number and examine the range of values 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Simulate many samples and calculate means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46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# For reproducibility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simulated_means &lt;- </a:t>
            </a:r>
            <a:r>
              <a:rPr>
                <a:solidFill>
                  <a:srgbClr val="4758AB"/>
                </a:solidFill>
                <a:latin typeface="Courier"/>
              </a:rPr>
              <a:t>replicate</a:t>
            </a:r>
            <a:r>
              <a:rPr>
                <a:solidFill>
                  <a:srgbClr val="003B4F"/>
                </a:solidFill>
                <a:latin typeface="Courier"/>
              </a:rPr>
              <a:t>(num_simulations, </a:t>
            </a:r>
            <a:r>
              <a:rPr>
                <a:solidFill>
                  <a:srgbClr val="4758AB"/>
                </a:solidFill>
                <a:latin typeface="Courier"/>
              </a:rPr>
              <a:t>sample_mean</a:t>
            </a:r>
            <a:r>
              <a:rPr>
                <a:solidFill>
                  <a:srgbClr val="003B4F"/>
                </a:solidFill>
                <a:latin typeface="Courier"/>
              </a:rPr>
              <a:t>(i3_data, sample_size))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the mean and standard deviation of the simulated means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mean_of_means &lt;-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(simulated_means)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sd_of_means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(simulated_means)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 a data frame with the simulated means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simulated_df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sample_mean =</a:t>
            </a:r>
            <a:r>
              <a:rPr>
                <a:solidFill>
                  <a:srgbClr val="003B4F"/>
                </a:solidFill>
                <a:latin typeface="Courier"/>
              </a:rPr>
              <a:t> simulated_means)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Plot the sampling distribution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(simulated_df,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sample_mean))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geom_histogram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bins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geom_vline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xintercept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(i3_data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"dashed"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annotate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"text"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(i3_data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"Full sample mean"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"Simulated Sampling Distribution of the Mean"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"Based on"</a:t>
            </a:r>
            <a:r>
              <a:rPr>
                <a:solidFill>
                  <a:srgbClr val="003B4F"/>
                </a:solidFill>
                <a:latin typeface="Courier"/>
              </a:rPr>
              <a:t>, num_simulations, </a:t>
            </a:r>
            <a:r>
              <a:rPr>
                <a:solidFill>
                  <a:srgbClr val="20794D"/>
                </a:solidFill>
                <a:latin typeface="Courier"/>
              </a:rPr>
              <a:t>"samples of size"</a:t>
            </a:r>
            <a:r>
              <a:rPr>
                <a:solidFill>
                  <a:srgbClr val="003B4F"/>
                </a:solidFill>
                <a:latin typeface="Courier"/>
              </a:rPr>
              <a:t>, sample_size),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"Sample Mean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"Frequency"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03_01_lecture_powerpoint_files/figure-pptx/unnamed-chunk-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977900"/>
            <a:ext cx="5232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Notice that the simulated sampling distribution:</a:t>
            </a:r>
          </a:p>
          <a:p>
            <a:pPr lvl="0" indent="-342900" marL="342900">
              <a:buAutoNum type="arabicPeriod"/>
            </a:pPr>
            <a:r>
              <a:rPr/>
              <a:t>Is approximately normally distributed</a:t>
            </a:r>
          </a:p>
          <a:p>
            <a:pPr lvl="0" indent="-342900" marL="342900">
              <a:buAutoNum type="arabicPeriod"/>
            </a:pPr>
            <a:r>
              <a:rPr/>
              <a:t>Is centered around the overall sample mean</a:t>
            </a:r>
          </a:p>
          <a:p>
            <a:pPr lvl="0" indent="-342900" marL="342900">
              <a:buAutoNum type="arabicPeriod"/>
            </a:pPr>
            <a:r>
              <a:rPr/>
              <a:t>Has a spread that is related to the standard error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Standard Error and Sample Size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see how the standard error changes with different sample sizes: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Sample Size vs. Standard Error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Display the results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Plot how SE changes with sample size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results_long &lt;- </a:t>
            </a:r>
            <a:r>
              <a:rPr>
                <a:solidFill>
                  <a:srgbClr val="4758AB"/>
                </a:solidFill>
                <a:latin typeface="Courier"/>
              </a:rPr>
              <a:t>pivot_longer</a:t>
            </a:r>
            <a:r>
              <a:rPr>
                <a:solidFill>
                  <a:srgbClr val="003B4F"/>
                </a:solidFill>
                <a:latin typeface="Courier"/>
              </a:rPr>
              <a:t>(results,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cols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(empirical_se, theoretical_se),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names_to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"se_type"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values_to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"standard_error"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(results_long,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sample_size,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standard_error,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se_type))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scale_x_continuous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breaks =</a:t>
            </a:r>
            <a:r>
              <a:rPr>
                <a:solidFill>
                  <a:srgbClr val="003B4F"/>
                </a:solidFill>
                <a:latin typeface="Courier"/>
              </a:rPr>
              <a:t> sample_sizes)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"Standard Error vs. Sample Size"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"Standard error decreases as sample size increases"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"Sample Size"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"Standard Error"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"SE Type"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03_01_lecture_powerpoint_files/figure-pptx/unnamed-chunk-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977900"/>
            <a:ext cx="5232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Confidence Intervals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A </a:t>
                </a:r>
                <a:r>
                  <a:rPr b="1"/>
                  <a:t>confidence interval</a:t>
                </a:r>
                <a:r>
                  <a:rPr/>
                  <a:t> is a range of values that is likely to contain the true population parameter.</a:t>
                </a:r>
              </a:p>
              <a:p>
                <a:pPr lvl="0" indent="0" marL="0">
                  <a:buNone/>
                </a:pPr>
                <a:r>
                  <a:rPr/>
                  <a:t>The 95% confidence interval for the mean is approximately: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  <m:r>
                      <m:rPr>
                        <m:sty m:val="p"/>
                      </m:rPr>
                      <m:t>±</m:t>
                    </m:r>
                    <m:r>
                      <m:t>2</m:t>
                    </m:r>
                    <m:r>
                      <m:rPr>
                        <m:sty m:val="p"/>
                      </m:rPr>
                      <m:t>×</m:t>
                    </m:r>
                    <m:r>
                      <m:t>S</m:t>
                    </m:r>
                    <m:sSub>
                      <m:e>
                        <m:r>
                          <m:t>E</m:t>
                        </m:r>
                      </m:e>
                      <m:sub>
                        <m:acc>
                          <m:accPr>
                            <m:chr m:val="‾"/>
                          </m:accPr>
                          <m:e>
                            <m:r>
                              <m:t>x</m:t>
                            </m:r>
                          </m:e>
                        </m:acc>
                      </m:sub>
                    </m:sSub>
                  </m:oMath>
                </a14:m>
              </a:p>
              <a:p>
                <a:pPr lvl="0" indent="0" marL="0">
                  <a:buNone/>
                </a:pPr>
                <a:r>
                  <a:rPr/>
                  <a:t>This “2 SE rule of thumb” means:</a:t>
                </a:r>
              </a:p>
              <a:p>
                <a:pPr lvl="0"/>
                <a:r>
                  <a:rPr/>
                  <a:t>The interval extends 2 standard errors below and above the sample mean</a:t>
                </a:r>
              </a:p>
              <a:p>
                <a:pPr lvl="0"/>
                <a:r>
                  <a:rPr/>
                  <a:t>About 95% of such intervals constructed from different samples would contain the true population mean</a:t>
                </a:r>
              </a:p>
              <a:p>
                <a:pPr lvl="0" indent="0" marL="0">
                  <a:buNone/>
                </a:pPr>
                <a:r>
                  <a:rPr/>
                  <a:t>Confidence intervals provide a way to express the precision of our estimates.</a:t>
                </a:r>
              </a:p>
            </p:txBody>
          </p:sp>
        </mc:Choice>
      </mc:AlternateContent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Calculating Confidence Intervals for Grayling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calculate and visualize the 95% confidence intervals for the mean fish length in each lake: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95% confidence intervals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grayling_ci &lt;- 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(lake)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se_length =</a:t>
            </a:r>
            <a:r>
              <a:rPr>
                <a:solidFill>
                  <a:srgbClr val="003B4F"/>
                </a:solidFill>
                <a:latin typeface="Courier"/>
              </a:rPr>
              <a:t> sd_length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ci_lower =</a:t>
            </a:r>
            <a:r>
              <a:rPr>
                <a:solidFill>
                  <a:srgbClr val="003B4F"/>
                </a:solidFill>
                <a:latin typeface="Courier"/>
              </a:rPr>
              <a:t> mean_length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se_length,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ci_upper =</a:t>
            </a:r>
            <a:r>
              <a:rPr>
                <a:solidFill>
                  <a:srgbClr val="003B4F"/>
                </a:solidFill>
                <a:latin typeface="Courier"/>
              </a:rPr>
              <a:t> mean_length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se_length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the confidence intervals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grayling_ci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7
  lake  mean_length sd_length     n se_length ci_lower ci_upper
  &lt;chr&gt;       &lt;dbl&gt;     &lt;dbl&gt; &lt;int&gt;     &lt;dbl&gt;    &lt;dbl&gt;    &lt;dbl&gt;
1 I3           266.      28.3    66      3.48     259.     273.
2 I8           363.      52.3   102      5.18     352.     373.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Visualizing Confidence Intervals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with confidence intervals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(grayling_ci,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lake,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mean_length,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lake))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stat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"identity"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geom_errorbar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ymin =</a:t>
            </a:r>
            <a:r>
              <a:rPr>
                <a:solidFill>
                  <a:srgbClr val="003B4F"/>
                </a:solidFill>
                <a:latin typeface="Courier"/>
              </a:rPr>
              <a:t> ci_lower, </a:t>
            </a:r>
            <a:r>
              <a:rPr>
                <a:solidFill>
                  <a:srgbClr val="657422"/>
                </a:solidFill>
                <a:latin typeface="Courier"/>
              </a:rPr>
              <a:t>ymax =</a:t>
            </a:r>
            <a:r>
              <a:rPr>
                <a:solidFill>
                  <a:srgbClr val="003B4F"/>
                </a:solidFill>
                <a:latin typeface="Courier"/>
              </a:rPr>
              <a:t> ci_upper),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 Fish Length by Lake with 95% Confidence Intervals"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 bars represent 95% confidence intervals"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"Lake"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 Length (mm)"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03_01_lecture_powerpoint_files/figure-pptx/unnamed-chunk-10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000500" y="952500"/>
            <a:ext cx="4559300" cy="3797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Different Types of Error Bars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compare different ways of displaying uncertainty in our estimates: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statistics for different types of error bars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grayling_error_bars &lt;- 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(lake)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(length_mm),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se_length =</a:t>
            </a:r>
            <a:r>
              <a:rPr>
                <a:solidFill>
                  <a:srgbClr val="003B4F"/>
                </a:solidFill>
                <a:latin typeface="Courier"/>
              </a:rPr>
              <a:t> sd_length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ci_lower =</a:t>
            </a:r>
            <a:r>
              <a:rPr>
                <a:solidFill>
                  <a:srgbClr val="003B4F"/>
                </a:solidFill>
                <a:latin typeface="Courier"/>
              </a:rPr>
              <a:t> mean_length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1.96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se_length,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ci_upper =</a:t>
            </a:r>
            <a:r>
              <a:rPr>
                <a:solidFill>
                  <a:srgbClr val="003B4F"/>
                </a:solidFill>
                <a:latin typeface="Courier"/>
              </a:rPr>
              <a:t> mean_length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1.96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se_length,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one_sd_lower =</a:t>
            </a:r>
            <a:r>
              <a:rPr>
                <a:solidFill>
                  <a:srgbClr val="003B4F"/>
                </a:solidFill>
                <a:latin typeface="Courier"/>
              </a:rPr>
              <a:t> mean_length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sd_length,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one_sd_upper =</a:t>
            </a:r>
            <a:r>
              <a:rPr>
                <a:solidFill>
                  <a:srgbClr val="003B4F"/>
                </a:solidFill>
                <a:latin typeface="Courier"/>
              </a:rPr>
              <a:t> mean_length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sd_length)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Create a data frame for plotting different error types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lake_i3 &lt;- grayling_error_bars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(lake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"I3"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error_types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error_type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"Standard Deviation"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"Standard Error"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"95% Confidence Interval"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lower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(lake_i3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one_sd_lower,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lake_i3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mean_length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lake_i3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se_length,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lake_i3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ci_lower),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upper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(lake_i3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one_sd_upper,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lake_i3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mean_length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lake_i3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se_length,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lake_i3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ci_upper))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Comparing Error Bar Types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the comparison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lake_i3,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mean_length),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geom_errorbar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error_types,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error_type, </a:t>
            </a:r>
            <a:r>
              <a:rPr>
                <a:solidFill>
                  <a:srgbClr val="657422"/>
                </a:solidFill>
                <a:latin typeface="Courier"/>
              </a:rPr>
              <a:t>ymin =</a:t>
            </a:r>
            <a:r>
              <a:rPr>
                <a:solidFill>
                  <a:srgbClr val="003B4F"/>
                </a:solidFill>
                <a:latin typeface="Courier"/>
              </a:rPr>
              <a:t> lower,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</a:t>
            </a:r>
            <a:r>
              <a:rPr>
                <a:solidFill>
                  <a:srgbClr val="657422"/>
                </a:solidFill>
                <a:latin typeface="Courier"/>
              </a:rPr>
              <a:t>ymax =</a:t>
            </a:r>
            <a:r>
              <a:rPr>
                <a:solidFill>
                  <a:srgbClr val="003B4F"/>
                </a:solidFill>
                <a:latin typeface="Courier"/>
              </a:rPr>
              <a:t> upper,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error_type),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"Different Types of Error Bars for Lake I3"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"Comparing SD, SE, and 95% CI"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"Length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 Bar Type"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03_01_lecture_powerpoint_files/figure-pptx/unnamed-chunk-1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977900"/>
            <a:ext cx="5232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Key Takeaways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The </a:t>
                </a:r>
                <a:r>
                  <a:rPr b="1"/>
                  <a:t>standard error</a:t>
                </a:r>
                <a:r>
                  <a:rPr/>
                  <a:t> measures the precision of a sample statistic as an estimate of a population parameter</a:t>
                </a:r>
              </a:p>
              <a:p>
                <a:pPr lvl="0"/>
                <a:r>
                  <a:rPr/>
                  <a:t>The standard error of the mean decreases as sample size increases: </a:t>
                </a:r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E</m:t>
                        </m:r>
                      </m:e>
                      <m:sub>
                        <m:acc>
                          <m:accPr>
                            <m:chr m:val="‾"/>
                          </m:accPr>
                          <m:e>
                            <m:r>
                              <m:t>x</m:t>
                            </m:r>
                          </m:e>
                        </m:acc>
                      </m:sub>
                    </m:sSub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t>s</m:t>
                        </m:r>
                      </m:num>
                      <m:den>
                        <m:rad>
                          <m:radPr>
                            <m:degHide m:val="on"/>
                          </m:radPr>
                          <m:deg/>
                          <m:e>
                            <m:r>
                              <m:t>n</m:t>
                            </m:r>
                          </m:e>
                        </m:rad>
                      </m:den>
                    </m:f>
                  </m:oMath>
                </a14:m>
              </a:p>
              <a:p>
                <a:pPr lvl="0"/>
                <a:r>
                  <a:rPr/>
                  <a:t>The </a:t>
                </a:r>
                <a:r>
                  <a:rPr b="1"/>
                  <a:t>sampling distribution</a:t>
                </a:r>
                <a:r>
                  <a:rPr/>
                  <a:t> shows the variation in sample statistics that would be expected due to random sampling</a:t>
                </a:r>
              </a:p>
              <a:p>
                <a:pPr lvl="0"/>
                <a:r>
                  <a:rPr b="1"/>
                  <a:t>Confidence intervals</a:t>
                </a:r>
                <a:r>
                  <a:rPr/>
                  <a:t> provide a range of plausible values for the population parameter</a:t>
                </a:r>
              </a:p>
              <a:p>
                <a:pPr lvl="0"/>
                <a:r>
                  <a:rPr/>
                  <a:t>Larger sample sizes provide more precise estimates (narrower confidence intervals)</a:t>
                </a:r>
              </a:p>
              <a:p>
                <a:pPr lvl="0"/>
                <a:r>
                  <a:rPr/>
                  <a:t>When reporting results, always include a measure of precision (SE or</a:t>
                </a:r>
              </a:p>
            </p:txBody>
          </p:sp>
        </mc:Choice>
      </mc:AlternateContent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this lecture, we’ve explored:</a:t>
            </a:r>
          </a:p>
          <a:p>
            <a:pPr lvl="0"/>
            <a:r>
              <a:rPr/>
              <a:t>Why statistics is essential in biology</a:t>
            </a:r>
          </a:p>
          <a:p>
            <a:pPr lvl="0"/>
            <a:r>
              <a:rPr/>
              <a:t>Types of biological variables and their properties</a:t>
            </a:r>
          </a:p>
          <a:p>
            <a:pPr lvl="0"/>
            <a:r>
              <a:rPr/>
              <a:t>Accuracy, precision, and bias in measurements</a:t>
            </a:r>
          </a:p>
          <a:p>
            <a:pPr lvl="0"/>
            <a:r>
              <a:rPr/>
              <a:t>Measures of central tendency (mean, median, geometric mean)</a:t>
            </a:r>
          </a:p>
          <a:p>
            <a:pPr lvl="0"/>
            <a:r>
              <a:rPr/>
              <a:t>Measures of spread (standard deviation, variance, and interquartile range)</a:t>
            </a:r>
          </a:p>
          <a:p>
            <a:pPr lvl="0"/>
            <a:r>
              <a:rPr/>
              <a:t>Data transformations for skewed distributions</a:t>
            </a:r>
          </a:p>
          <a:p>
            <a:pPr lvl="0"/>
            <a:r>
              <a:rPr/>
              <a:t>Visualization techniques for understanding distributions</a:t>
            </a:r>
          </a:p>
          <a:p>
            <a:pPr lvl="0"/>
            <a:r>
              <a:rPr/>
              <a:t>Handling missing values</a:t>
            </a:r>
          </a:p>
          <a:p>
            <a:pPr lvl="0" indent="0" marL="0">
              <a:buNone/>
            </a:pPr>
            <a:r>
              <a:rPr/>
              <a:t>These tools form the foundation of statistical analysis and will be essential as we move forward to more complex statistical methods.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03</dc:title>
  <dc:creator>Bill Perry</dc:creator>
  <cp:keywords/>
  <dcterms:created xsi:type="dcterms:W3CDTF">2025-09-12T15:55:17Z</dcterms:created>
  <dcterms:modified xsi:type="dcterms:W3CDTF">2025-09-12T15:55:17Z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