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2" Type="http://schemas.openxmlformats.org/officeDocument/2006/relationships/viewProps" Target="viewProps.xml" /><Relationship Id="rId5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4" Type="http://schemas.openxmlformats.org/officeDocument/2006/relationships/tableStyles" Target="tableStyles.xml" /><Relationship Id="rId5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 indent="0" marL="0">
              <a:buNone/>
            </a:pPr>
            <a:r>
              <a:rPr/>
              <a:t>TGW - yep its a thing</a:t>
            </a:r>
          </a:p>
          <a:p>
            <a:pPr lvl="0" indent="0" marL="0">
              <a:buNone/>
            </a:pPr>
            <a:r>
              <a:rPr/>
              <a:t>ODO - what do you think it is?</a:t>
            </a:r>
          </a:p>
          <a:p>
            <a:pPr lvl="0" indent="0" marL="0">
              <a:buNone/>
            </a:pPr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`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histogram?- see activity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The entire group of things under consideration; the group for which answers obtained from measurements and statistical analysis are pertinent.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measured.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population.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Usually finite but may be very large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Often conceptually infinite (e.g., all possible goldenrod plants that could receive a specific fertilizer treatment)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  <a:p>
            <a:pPr lvl="0" indent="0" marL="0">
              <a:buNone/>
            </a:pPr>
            <a:r>
              <a:rPr/>
              <a:t>The standard deviation formula above includes n-1 in the denominator (rather than n) to provide an unbiased estimate of the population parameter.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/>
              <a:t>Accuracy is a function of both precision and bias. For statisticians, bias is usually a more serious problem than low precision because: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pine needles or fish?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Mean length of all fish: 324.5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length of all fish: 324.5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Variance of length: 4225.9 mm²
 Standard deviation of length: 65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 indent="0" marL="0">
              <a:buNone/>
            </a:pPr>
            <a:r>
              <a:rPr/>
              <a:t>- note the similarity to the p &lt; 0.5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19200"/>
            <a:ext cx="5232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19200"/>
            <a:ext cx="5232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Density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 indent="0" marL="0">
              <a:buNone/>
            </a:pPr>
            <a:r>
              <a:rPr/>
              <a:t>The 25th percentile is the first quartile (Q1)</a:t>
            </a:r>
          </a:p>
          <a:p>
            <a:pPr lvl="0" indent="0" marL="0">
              <a:buNone/>
            </a:pPr>
            <a:r>
              <a:rPr/>
              <a:t>The 50th percentile is the median</a:t>
            </a:r>
          </a:p>
          <a:p>
            <a:pPr lvl="0" indent="0" marL="0">
              <a:buNone/>
            </a:pPr>
            <a:r>
              <a:rPr/>
              <a:t>The 75th percentile is the third quartile (Q3)</a:t>
            </a:r>
          </a:p>
          <a:p>
            <a:pPr lvl="0" indent="0" marL="0">
              <a:buNone/>
            </a:pPr>
            <a:r>
              <a:rPr/>
              <a:t>The IQR is the difference between Q3 and Q1.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different sample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(samples_df,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(sample_number),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"Overall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"Means of 10 Random Samples from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Number"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Standard deviation (s) describes the variability in the individual data points</a:t>
            </a:r>
          </a:p>
          <a:p>
            <a:pPr lvl="0"/>
            <a:r>
              <a:rPr/>
              <a:t>Standard error (SE) describes the variability in the sample mean itself</a:t>
            </a:r>
          </a:p>
          <a:p>
            <a:pPr lvl="0"/>
            <a:r>
              <a:rPr/>
              <a:t>As sample size increases, SE decreases (more precise estimate)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for Our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standard error for both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 3.48
2 I8           363.      52.3   102      5.18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Standard Error</a:t>
            </a:r>
          </a:p>
        </p:txBody>
      </p:sp>
      <p:pic>
        <p:nvPicPr>
          <p:cNvPr descr="03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</p:txBody>
          </p:sp>
        </mc:Choice>
      </mc:AlternateContent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2025-09-02T21:08:38Z</dcterms:created>
  <dcterms:modified xsi:type="dcterms:W3CDTF">2025-09-02T21:08:38Z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