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19 - Logistic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19: Introduction to Logistic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Logistic Regression?</a:t>
            </a:r>
          </a:p>
          <a:p>
            <a:pPr lvl="0" indent="0" marL="0">
              <a:buNone/>
            </a:pPr>
            <a:r>
              <a:rPr/>
              <a:t>Logistic regression is used when: - The response variable is </a:t>
            </a:r>
            <a:r>
              <a:rPr b="1"/>
              <a:t>binary</a:t>
            </a:r>
            <a:r>
              <a:rPr/>
              <a:t> (yes/no, 1/0, present/absent) - Data follows a </a:t>
            </a:r>
            <a:r>
              <a:rPr b="1"/>
              <a:t>binomial distribution</a:t>
            </a:r>
            <a:r>
              <a:rPr/>
              <a:t> (not normal) - We want to model the </a:t>
            </a:r>
            <a:r>
              <a:rPr b="1"/>
              <a:t>probability</a:t>
            </a:r>
            <a:r>
              <a:rPr/>
              <a:t> of an outcome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Today’s Example: Lizard Sexual Maturity</a:t>
            </a:r>
          </a:p>
          <a:p>
            <a:pPr lvl="0" indent="0" marL="0">
              <a:buNone/>
            </a:pPr>
            <a:r>
              <a:rPr/>
              <a:t>We’ll explore the relationship between body length and sexual maturity in female lizards - </a:t>
            </a:r>
            <a:r>
              <a:rPr b="1"/>
              <a:t>Response variable</a:t>
            </a:r>
            <a:r>
              <a:rPr/>
              <a:t>: Sexual maturity (mature: 1 = yes, 0 = no) - </a:t>
            </a:r>
            <a:r>
              <a:rPr b="1"/>
              <a:t>Predictor variable</a:t>
            </a:r>
            <a:r>
              <a:rPr/>
              <a:t>: Body length in cm - </a:t>
            </a:r>
            <a:r>
              <a:rPr b="1"/>
              <a:t>Question</a:t>
            </a:r>
            <a:r>
              <a:rPr/>
              <a:t>: Can we predict the probability of sexual maturity from body size?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Key Difference from Linear Regression</a:t>
            </a:r>
          </a:p>
          <a:p>
            <a:pPr lvl="0"/>
            <a:r>
              <a:rPr/>
              <a:t>Linear regression: Models the actual values of Y</a:t>
            </a:r>
          </a:p>
          <a:p>
            <a:pPr lvl="0"/>
            <a:r>
              <a:rPr/>
              <a:t>Logistic regression: Models the probability of Y = 1</a:t>
            </a:r>
          </a:p>
          <a:p>
            <a:pPr lvl="0"/>
            <a:r>
              <a:rPr/>
              <a:t>Uses Generalized Linear Models (GLM) instead of General Linear Models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1: Load and Explore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lizard dataset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lizards_df &lt;- </a:t>
            </a:r>
            <a:r>
              <a:rPr>
                <a:solidFill>
                  <a:srgbClr val="4758AB"/>
                </a:solidFill>
                <a:latin typeface="Courier"/>
              </a:rPr>
              <a:t>read.csv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"data/lizards.csv"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First few rows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(lizards_df)</a:t>
            </a:r>
          </a:p>
          <a:p>
            <a:pPr lvl="0" indent="0">
              <a:buNone/>
            </a:pPr>
            <a:r>
              <a:rPr>
                <a:latin typeface="Courier"/>
              </a:rPr>
              <a:t>  length mature
1   10.2      0
2   10.4      0
3   11.8      0
4   12.3      0
5   13.8      0
6   16.9      0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2: Initial Data Visualization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Creating a Boxplot</a:t>
            </a:r>
          </a:p>
          <a:p>
            <a:pPr lvl="0" indent="0" marL="0">
              <a:buNone/>
            </a:pPr>
            <a:r>
              <a:rPr/>
              <a:t>Let’s visualize how body length differs between sexually mature and immature lizards: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boxplot showing length by maturity status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maturity_boxplot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(lizards_df,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(mature),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"lightblue"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"lightcoral"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"Lizard Body Length by Sexual Maturity Status"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"Sexual Maturity (0 = Immature, 1 = Mature)"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Length (cm)"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maturity_boxplot</a:t>
            </a:r>
          </a:p>
        </p:txBody>
      </p:sp>
      <p:pic>
        <p:nvPicPr>
          <p:cNvPr descr="19_01_lecture_powerpoint_files/figure-pptx/initial_box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do we see?</a:t>
            </a:r>
          </a:p>
          <a:p>
            <a:pPr lvl="0"/>
            <a:r>
              <a:rPr/>
              <a:t>There appears to be a relationship between size and sexual maturity</a:t>
            </a:r>
          </a:p>
          <a:p>
            <a:pPr lvl="0"/>
            <a:r>
              <a:rPr/>
              <a:t>Mature lizards tend to be longer than immature ones</a:t>
            </a:r>
          </a:p>
          <a:p>
            <a:pPr lvl="0"/>
            <a:r>
              <a:rPr/>
              <a:t>But there’s overlap - not a perfect separation</a:t>
            </a:r>
          </a:p>
          <a:p>
            <a:pPr lvl="0"/>
            <a:r>
              <a:rPr/>
              <a:t>This suggests logistic regression might be appropriate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3: Fit the Logistic Regression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Using glm() for Logistic Regression</a:t>
            </a:r>
          </a:p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glm()</a:t>
            </a:r>
            <a:r>
              <a:rPr/>
              <a:t> function is similar to </a:t>
            </a:r>
            <a:r>
              <a:rPr>
                <a:latin typeface="Courier"/>
              </a:rPr>
              <a:t>lm()</a:t>
            </a:r>
            <a:r>
              <a:rPr/>
              <a:t> but requires specifying the distribution family: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logistic regression model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family = binomial tells R we have binary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logistic_model &lt;- </a:t>
            </a:r>
            <a:r>
              <a:rPr>
                <a:solidFill>
                  <a:srgbClr val="4758AB"/>
                </a:solidFill>
                <a:latin typeface="Courier"/>
              </a:rPr>
              <a:t>glm</a:t>
            </a:r>
            <a:r>
              <a:rPr>
                <a:solidFill>
                  <a:srgbClr val="003B4F"/>
                </a:solidFill>
                <a:latin typeface="Courier"/>
              </a:rPr>
              <a:t>(mature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length,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lizards_df,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family =</a:t>
            </a:r>
            <a:r>
              <a:rPr>
                <a:solidFill>
                  <a:srgbClr val="003B4F"/>
                </a:solidFill>
                <a:latin typeface="Courier"/>
              </a:rPr>
              <a:t> binomial)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Get model summary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(logistic_model)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glm(formula = mature ~ length, family = binomial, data = lizards_df)
Coefficients:
            Estimate Std. Error z value Pr(&gt;|z|)   
(Intercept)  -6.6899     2.1401  -3.126  0.00177 **
length        0.2503     0.0775   3.229  0.00124 **
---
Signif. codes:  0 '***' 0.001 '**' 0.01 '*' 0.05 '.' 0.1 ' ' 1
(Dispersion parameter for binomial family taken to be 1)
    Null deviance: 60.176  on 43  degrees of freedom
Residual deviance: 34.041  on 42  degrees of freedom
AIC: 38.041
Number of Fisher Scoring iterations: 6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Interpreting the Model Output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Coefficients:</a:t>
            </a:r>
          </a:p>
          <a:p>
            <a:pPr lvl="0"/>
            <a:r>
              <a:rPr b="1"/>
              <a:t>Intercept (β₀)</a:t>
            </a:r>
            <a:r>
              <a:rPr/>
              <a:t>: -5.5847 - The log-odds when length = 0</a:t>
            </a:r>
          </a:p>
          <a:p>
            <a:pPr lvl="0"/>
            <a:r>
              <a:rPr b="1"/>
              <a:t>Slope (β₁)</a:t>
            </a:r>
            <a:r>
              <a:rPr/>
              <a:t>: 0.2503 - Change in log-odds for each 1 cm increase in length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P-values:</a:t>
            </a:r>
          </a:p>
          <a:p>
            <a:pPr lvl="0"/>
            <a:r>
              <a:rPr/>
              <a:t>Both coefficients are significant (p &lt; 0.05)</a:t>
            </a:r>
          </a:p>
          <a:p>
            <a:pPr lvl="0"/>
            <a:r>
              <a:rPr/>
              <a:t>We reject the null hypothesis that β₁ = 0</a:t>
            </a:r>
          </a:p>
          <a:p>
            <a:pPr lvl="0"/>
            <a:r>
              <a:rPr/>
              <a:t>There IS a relationship between length and sexual maturity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Understanding the Slope:</a:t>
            </a:r>
          </a:p>
          <a:p>
            <a:pPr lvl="0" indent="0" marL="0">
              <a:buNone/>
            </a:pPr>
            <a:r>
              <a:rPr/>
              <a:t>The positive slope (0.2503) indicates: - Longer lizards are more likely to be sexually mature - For each 1 cm increase in length, the log-odds of maturity increase by 0.2503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4: Convert Log-Odds to Odds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Making the Results More Interpretable</a:t>
            </a:r>
          </a:p>
          <a:p>
            <a:pPr lvl="0" indent="0" marL="0">
              <a:buNone/>
            </a:pPr>
            <a:r>
              <a:rPr/>
              <a:t>Log-odds are hard to interpret. Let’s convert to odds: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the slope coefficient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slope_coefficient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(logistic_model)[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Convert log-odds to odds ratio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odds_ratio &lt;- </a:t>
            </a:r>
            <a:r>
              <a:rPr>
                <a:solidFill>
                  <a:srgbClr val="4758AB"/>
                </a:solidFill>
                <a:latin typeface="Courier"/>
              </a:rPr>
              <a:t>exp</a:t>
            </a:r>
            <a:r>
              <a:rPr>
                <a:solidFill>
                  <a:srgbClr val="003B4F"/>
                </a:solidFill>
                <a:latin typeface="Courier"/>
              </a:rPr>
              <a:t>(slope_coefficient)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odds_ratio</a:t>
            </a:r>
          </a:p>
          <a:p>
            <a:pPr lvl="0" indent="0">
              <a:buNone/>
            </a:pPr>
            <a:r>
              <a:rPr>
                <a:latin typeface="Courier"/>
              </a:rPr>
              <a:t>  length 
1.284388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Interpretation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For every 1 cm increase in length, the odds of being sexually mature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increase by a factor of 1.284 (or about 28.4%)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5: Create the Logistic Regression Plot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Visualizing the Probability Curve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sequence of x-values for prediction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xvals &lt;- </a:t>
            </a:r>
            <a:r>
              <a:rPr>
                <a:solidFill>
                  <a:srgbClr val="4758AB"/>
                </a:solidFill>
                <a:latin typeface="Courier"/>
              </a:rPr>
              <a:t>seq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from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Get predicted probabilities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yvals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xvals),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prediction dataframe for plotting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prediction_df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xvals,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probability =</a:t>
            </a:r>
            <a:r>
              <a:rPr>
                <a:solidFill>
                  <a:srgbClr val="003B4F"/>
                </a:solidFill>
                <a:latin typeface="Courier"/>
              </a:rPr>
              <a:t> yvals)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the logistic regression plot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logistic_plot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data points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lizards_df,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mature),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logistic curve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prediction_df,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probability),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"Probability of Sexual Maturity vs Body Length"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Length (cm)"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"Probability of Being Sexually Mature"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logistic_plot</a:t>
            </a:r>
          </a:p>
        </p:txBody>
      </p:sp>
      <p:pic>
        <p:nvPicPr>
          <p:cNvPr descr="19_01_lecture_powerpoint_files/figure-pptx/logistic_regression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the S-curve tells us:</a:t>
            </a:r>
          </a:p>
          <a:p>
            <a:pPr lvl="0"/>
            <a:r>
              <a:rPr/>
              <a:t>The red line shows how probability changes with length</a:t>
            </a:r>
          </a:p>
          <a:p>
            <a:pPr lvl="0"/>
            <a:r>
              <a:rPr/>
              <a:t>Small lizards (&lt;20 cm) have very low probability of being mature</a:t>
            </a:r>
          </a:p>
          <a:p>
            <a:pPr lvl="0"/>
            <a:r>
              <a:rPr/>
              <a:t>Large lizards (&gt;40 cm) have very high probability of being mature</a:t>
            </a:r>
          </a:p>
          <a:p>
            <a:pPr lvl="0"/>
            <a:r>
              <a:rPr/>
              <a:t>The steepest change occurs around 25-30 cm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6: Making Predictions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Using the Model for Prediction</a:t>
            </a:r>
          </a:p>
          <a:p>
            <a:pPr lvl="0" indent="0" marL="0">
              <a:buNone/>
            </a:pPr>
            <a:r>
              <a:rPr/>
              <a:t>Let’s predict the probability of sexual maturity for specific lizard sizes: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 for a 20 cm lizard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prob_20cm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prob_20cm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1 
0.1565304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 for a 30 cm lizard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prob_30cm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prob_30cm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1 
0.6939292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 for a 40 cm lizard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prob_40cm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prob_40cm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1 
0.9651551 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Interpretation:</a:t>
            </a:r>
          </a:p>
          <a:p>
            <a:pPr lvl="0"/>
            <a:r>
              <a:rPr/>
              <a:t>A 20 cm lizard has about 14% probability of being sexually mature</a:t>
            </a:r>
          </a:p>
          <a:p>
            <a:pPr lvl="0"/>
            <a:r>
              <a:rPr/>
              <a:t>A 30 cm lizard has about 70% probability of being sexually mature</a:t>
            </a:r>
          </a:p>
          <a:p>
            <a:pPr lvl="0"/>
            <a:r>
              <a:rPr/>
              <a:t>A 40 cm lizard has about 96% probability of being sexually mature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7: Model Fit Assessment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Calculating Pseudo-R2 Values</a:t>
            </a:r>
          </a:p>
          <a:p>
            <a:pPr lvl="0" indent="0" marL="0">
              <a:buNone/>
            </a:pPr>
            <a:r>
              <a:rPr/>
              <a:t>Unlike linear regression, logistic regression doesn’t have a traditional R². We use pseudo-R² instead: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pseudo-R2 values using pscl package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pseudo_r2 &lt;- </a:t>
            </a:r>
            <a:r>
              <a:rPr>
                <a:solidFill>
                  <a:srgbClr val="4758AB"/>
                </a:solidFill>
                <a:latin typeface="Courier"/>
              </a:rPr>
              <a:t>pR2</a:t>
            </a:r>
            <a:r>
              <a:rPr>
                <a:solidFill>
                  <a:srgbClr val="003B4F"/>
                </a:solidFill>
                <a:latin typeface="Courier"/>
              </a:rPr>
              <a:t>(logistic_model)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fitting null model for pseudo-r2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pseudo_r2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llh     llhNull          G2    McFadden        r2ML        r2CU 
-17.0204762 -30.0881077  26.1352630   0.4343122   0.4478763   0.6009400 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Interpreting Pseudo-R2 Values</a:t>
            </a:r>
          </a:p>
          <a:p>
            <a:pPr lvl="0" indent="0" marL="0">
              <a:buNone/>
            </a:pPr>
            <a:r>
              <a:rPr/>
              <a:t>The last three values are the pseudo-R² statistics:</a:t>
            </a:r>
          </a:p>
          <a:p>
            <a:pPr lvl="0"/>
            <a:r>
              <a:rPr b="1"/>
              <a:t>McFadden</a:t>
            </a:r>
            <a:r>
              <a:rPr/>
              <a:t>: Compares model to null model</a:t>
            </a:r>
          </a:p>
          <a:p>
            <a:pPr lvl="0"/>
            <a:r>
              <a:rPr b="1"/>
              <a:t>r2ML</a:t>
            </a:r>
            <a:r>
              <a:rPr/>
              <a:t>: Maximum likelihood based R²</a:t>
            </a:r>
          </a:p>
          <a:p>
            <a:pPr lvl="0"/>
            <a:r>
              <a:rPr b="1"/>
              <a:t>r2CU</a:t>
            </a:r>
            <a:r>
              <a:rPr/>
              <a:t>: Cragg-Uhler (Nagelkerke) R²</a:t>
            </a:r>
          </a:p>
          <a:p>
            <a:pPr lvl="0" indent="0" marL="0">
              <a:buNone/>
            </a:pPr>
            <a:r>
              <a:rPr/>
              <a:t>Values around 0.4-0.5 indicate moderate to good fit. Our model explains approximately 40-50% of the variation in sexual maturity status.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8: Additional Diagnostics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Creating a More Detailed Summary Plot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a plot showing observed vs predicted probabilities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lizards_df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predicted_prob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diagnostic_plot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(lizards_df,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observed data as points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mature),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predicted probabilities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predicted_prob),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50% probability threshold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"gray50"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"Observed Data and Model Predictions"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Length (cm)"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"Probability of Sexual Maturity"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"Points = observed data, Blue line = model predictions"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diagnostic_plot</a:t>
            </a:r>
          </a:p>
        </p:txBody>
      </p:sp>
      <p:pic>
        <p:nvPicPr>
          <p:cNvPr descr="19_01_lecture_powerpoint_files/figure-pptx/diagnostic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Summary: 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We Learned:</a:t>
            </a:r>
          </a:p>
          <a:p>
            <a:pPr lvl="0" indent="-342900" marL="342900">
              <a:buAutoNum type="arabicPeriod"/>
            </a:pPr>
            <a:r>
              <a:rPr b="1"/>
              <a:t>Logistic regression</a:t>
            </a:r>
            <a:r>
              <a:rPr/>
              <a:t> models probability of binary outcomes</a:t>
            </a:r>
          </a:p>
          <a:p>
            <a:pPr lvl="0" indent="-342900" marL="342900">
              <a:buAutoNum type="arabicPeriod"/>
            </a:pPr>
            <a:r>
              <a:rPr/>
              <a:t>Uses </a:t>
            </a:r>
            <a:r>
              <a:rPr b="1"/>
              <a:t>glm()</a:t>
            </a:r>
            <a:r>
              <a:rPr/>
              <a:t> with </a:t>
            </a:r>
            <a:r>
              <a:rPr>
                <a:latin typeface="Courier"/>
              </a:rPr>
              <a:t>family = binomial</a:t>
            </a:r>
          </a:p>
          <a:p>
            <a:pPr lvl="0" indent="-342900" marL="342900">
              <a:buAutoNum type="arabicPeriod"/>
            </a:pPr>
            <a:r>
              <a:rPr/>
              <a:t>Coefficients represent changes in </a:t>
            </a:r>
            <a:r>
              <a:rPr b="1"/>
              <a:t>log-odds</a:t>
            </a:r>
          </a:p>
          <a:p>
            <a:pPr lvl="0" indent="-342900" marL="342900">
              <a:buAutoNum type="arabicPeriod"/>
            </a:pPr>
            <a:r>
              <a:rPr/>
              <a:t>Convert to </a:t>
            </a:r>
            <a:r>
              <a:rPr b="1"/>
              <a:t>odds ratios</a:t>
            </a:r>
            <a:r>
              <a:rPr/>
              <a:t> for interpretation: exp(coefficient)</a:t>
            </a:r>
          </a:p>
          <a:p>
            <a:pPr lvl="0" indent="-342900" marL="342900">
              <a:buAutoNum type="arabicPeriod"/>
            </a:pPr>
            <a:r>
              <a:rPr/>
              <a:t>Creates </a:t>
            </a:r>
            <a:r>
              <a:rPr b="1"/>
              <a:t>S-shaped probability curves</a:t>
            </a:r>
          </a:p>
          <a:p>
            <a:pPr lvl="0" indent="-342900" marL="342900">
              <a:buAutoNum type="arabicPeriod"/>
            </a:pPr>
            <a:r>
              <a:rPr/>
              <a:t>Use </a:t>
            </a:r>
            <a:r>
              <a:rPr b="1"/>
              <a:t>pseudo-R²</a:t>
            </a:r>
            <a:r>
              <a:rPr/>
              <a:t> to assess model fit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Our Results:</a:t>
            </a:r>
          </a:p>
          <a:p>
            <a:pPr lvl="0"/>
            <a:r>
              <a:rPr/>
              <a:t>Significant positive relationship between body length and sexual maturity</a:t>
            </a:r>
          </a:p>
          <a:p>
            <a:pPr lvl="0"/>
            <a:r>
              <a:rPr/>
              <a:t>Each 1 cm increase in length increases odds of maturity by ~28%</a:t>
            </a:r>
          </a:p>
          <a:p>
            <a:pPr lvl="0"/>
            <a:r>
              <a:rPr/>
              <a:t>Model explains ~40-50% of variation in maturity status</a:t>
            </a:r>
          </a:p>
          <a:p>
            <a:pPr lvl="0"/>
            <a:r>
              <a:rPr/>
              <a:t>Can predict probability of maturity for any given length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When to Use Logistic Regression:</a:t>
            </a:r>
          </a:p>
          <a:p>
            <a:pPr lvl="0"/>
            <a:r>
              <a:rPr/>
              <a:t>Binary response variable (0/1, yes/no, success/failure)</a:t>
            </a:r>
          </a:p>
          <a:p>
            <a:pPr lvl="0"/>
            <a:r>
              <a:rPr/>
              <a:t>Want to predict probabilities</a:t>
            </a:r>
          </a:p>
          <a:p>
            <a:pPr lvl="0"/>
            <a:r>
              <a:rPr/>
              <a:t>Relationships that follow S-shaped curves</a:t>
            </a:r>
          </a:p>
          <a:p>
            <a:pPr lvl="0"/>
            <a:r>
              <a:rPr/>
              <a:t>When assumptions of linear regression are violated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19 - Logistic Regression</dc:title>
  <dc:creator>Bill Perry</dc:creator>
  <cp:keywords/>
  <dcterms:created xsi:type="dcterms:W3CDTF">2025-09-15T16:12:25Z</dcterms:created>
  <dcterms:modified xsi:type="dcterms:W3CDTF">2025-09-15T16:12:25Z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