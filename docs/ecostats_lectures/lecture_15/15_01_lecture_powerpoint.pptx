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Placeholder for review image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</a:t>
            </a:r>
          </a:p>
        </p:txBody>
      </p:sp>
      <p:pic>
        <p:nvPicPr>
          <p:cNvPr descr="1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pic>
        <p:nvPicPr>
          <p:cNvPr descr="15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t>j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X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</a:t>
                </a:r>
              </a:p>
            </p:txBody>
          </p:sp>
        </mc:Choice>
      </mc:AlternateContent>
      <p:pic>
        <p:nvPicPr>
          <p:cNvPr descr="1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the ANCOVA Model in R</a:t>
            </a:r>
          </a:p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pic>
        <p:nvPicPr>
          <p:cNvPr descr="15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609600"/>
            <a:ext cx="3911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tibble with ANOVA table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Source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 A (adjusted)"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"n-p-1"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"n-1"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Sum of Squares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"SS_A(adj)"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"SS_Covariate"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"SS_Total"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Mean Square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 = SS_A(adj)/(p-1)"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 = SS_Covariate/1"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20794D"/>
                </a:solidFill>
                <a:latin typeface="Courier"/>
              </a:rPr>
              <a:t>"MS_Residual = SS_Residual/(n-p-1)"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F-ratio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"MS_A(adj)/MS_Residual"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"MS_Covariate/MS_Residual"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Expected MS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"σ² + n∑α²/(p-1)"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 + β²∑(X-X̄)²"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"σ²"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Source            df    `Sum of Squares` `Mean Square` `F-ratio` `Expected MS`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         &lt;chr&gt; &lt;chr&gt;            &lt;chr&gt;         &lt;chr&gt;     &lt;chr&gt;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Factor A (adjust… (p-1) SS_A(adj)        "MS_A(adj) =… "MS_A(ad… "σ² + n∑α²/(…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Covariate         1     SS_Covariate     "MS_Covariat… "MS_Cova… "σ² + β²∑(X-…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Residual          n-p-1 SS_Residual      "MS_Residual… ""        "σ²"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Total             n-1   SS_Total         ""            ""        ""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</p:txBody>
      </p:sp>
      <p:pic>
        <p:nvPicPr>
          <p:cNvPr descr="1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We've already loaded this, but good practice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"data/partridge.csv"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better names for treatments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treatment &lt;-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TREATMEN,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 females"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"One virgin female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"Eight virgin females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"One inseminated female daily"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"Eight inseminated females daily"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Create a plot of the data showing relationship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(partridge,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THORAX,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LONGEV,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treatment))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se=FALSE to see lines clearly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"Relationship between Thorax Length and Longevity"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"Thorax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</a:t>
            </a:r>
          </a:p>
          <a:p>
            <a:pPr lvl="2" indent="-342900" marL="1028700">
              <a:buAutoNum startAt="40" type="romanLcPeriod"/>
            </a:pP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1: Fit model with interaction term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homo_slopes_model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Step 2: Test significance of interaction using Type III 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      755.6   1  6.6320   0.01128 *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      3486.3   1 30.5999 2.017e-07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       36.9   4  0.0810   0.98805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THORAX:treatment    42.5   4  0.0933   0.98441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    13102.1 115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Extract the p-value for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p_interaction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(homo_slopes_model,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"THORAX:treatment"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Step 3: Fit the ANCOVA model (additive 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View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2234.9   1  20.233 1.605e-05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THORAX      13168.9   1 119.219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9611.5   4  21.753 1.719e-13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13144.7 119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adjusted means using emmeans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adjusted_means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treatment                       emmean   SE  df lower.CL upper.CL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                       65.4 2.11 119     61.3     69.6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          61.5 2.11 119     57.3     65.7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       64.2 2.10 119     60.0     68.3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     54.5 2.11 119     50.3     58.7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inseminated females daily   41.6 2.12 119     37.4     45.8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Confidence level used: 0.95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Pairwise comparisons of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adjust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"tukey"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contrast                                                       estimate   SE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virgin female daily                               3.93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virgin females daily                            1.28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One inseminated female daily                         10.95 3.00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No females - Eight inseminated females daily                      23.88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virgin females daily              -2.65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One inseminated female daily             7.02 2.97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virgin female daily - Eight inseminated females daily         19.95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One inseminated female daily          9.67 2.98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Eight virgin females daily - Eight inseminated females daily      22.60 2.99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One inseminated female daily - Eight inseminated females daily    12.93 3.01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df t.ratio p.value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1.311  0.6849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0.428  0.9929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3.650  0.0035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8.031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-0.891  0.8996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2.361  0.1336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6.636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3.249  0.0129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7.560  &lt;.0001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119   4.298  0.0003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 value adjustment: tukey method for comparing a family of 5 estimates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adjusted means with confidence intervals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(adjusted_means, </a:t>
            </a:r>
            <a:r>
              <a:rPr>
                <a:solidFill>
                  <a:srgbClr val="657422"/>
                </a:solidFill>
                <a:latin typeface="Courier"/>
              </a:rPr>
              <a:t>comparisons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Means by Treatment"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"Adjusted Longevity (days)"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5_01_lecture_powerpoint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</p:txBody>
      </p:sp>
      <p:pic>
        <p:nvPicPr>
          <p:cNvPr descr="15_01_lecture_powerpoint_files/figure-pptx/unnamed-chunk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</a:p>
        </p:txBody>
      </p:sp>
      <p:pic>
        <p:nvPicPr>
          <p:cNvPr descr="1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1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ANCOVA model for partridge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ancova_model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a 2x2 panel of diagnostic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(ancova_model)</a:t>
            </a:r>
          </a:p>
        </p:txBody>
      </p:sp>
      <p:pic>
        <p:nvPicPr>
          <p:cNvPr descr="15_01_lecture_powerpoint_files/figure-pptx/unnamed-chunk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 of rank-transformed ANCOVA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rank_LONGEV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LONGEV)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rank_THORAX &lt;- </a:t>
            </a:r>
            <a:r>
              <a:rPr>
                <a:solidFill>
                  <a:srgbClr val="4758AB"/>
                </a:solidFill>
                <a:latin typeface="Courier"/>
              </a:rPr>
              <a:t>rank</a:t>
            </a:r>
            <a:r>
              <a:rPr>
                <a:solidFill>
                  <a:srgbClr val="003B4F"/>
                </a:solidFill>
                <a:latin typeface="Courier"/>
              </a:rPr>
              <a:t>(partridge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THORAX)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ANCOVA on ranked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rank_ancova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(rank_LONGEV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rank_THORAX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treatment,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partridge)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Anova Table (Type III tests)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Response: rank_LONGEV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Sum Sq  Df F value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31251   1  63.616 1.045e-12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rank_THORAX  54314   1 110.564 &lt; 2.2e-16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treatment    40447   4  20.584 6.536e-13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 58458 119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p-values for treatment effect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(parametric):"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(ancova_model,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],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(parametric): 1.719359e-13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(rank-based):"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(rank_ancova, </a:t>
            </a:r>
            <a:r>
              <a:rPr>
                <a:solidFill>
                  <a:srgbClr val="657422"/>
                </a:solidFill>
                <a:latin typeface="Courier"/>
              </a:rPr>
              <a:t>type=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)[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Writing Up ANCOVA Results</a:t>
            </a:r>
          </a:p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</p:txBody>
      </p:sp>
      <p:pic>
        <p:nvPicPr>
          <p:cNvPr descr="15_01_lecture_powerpoint_files/figure-pptx/unnamed-chunk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2025-11-17T16:47:00Z</dcterms:created>
  <dcterms:modified xsi:type="dcterms:W3CDTF">2025-11-17T16:47:00Z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