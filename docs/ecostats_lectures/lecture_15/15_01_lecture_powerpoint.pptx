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indent="0" marL="0">
              <a:buNone/>
            </a:pPr>
            <a:r>
              <a:rPr/>
              <a:t>General Linearized Models (GLM)</a:t>
            </a:r>
          </a:p>
          <a:p>
            <a:pPr lvl="0"/>
            <a:r>
              <a:rPr/>
              <a:t>Gaussian GLMs (normal distribution)</a:t>
            </a:r>
          </a:p>
          <a:p>
            <a:pPr lvl="0"/>
            <a:r>
              <a:rPr/>
              <a:t>Poisson GLMs (count data)</a:t>
            </a:r>
          </a:p>
          <a:p>
            <a:pPr lvl="0"/>
            <a:r>
              <a:rPr/>
              <a:t>Logistic GLMs (binary outcomes)</a:t>
            </a:r>
          </a:p>
          <a:p>
            <a:pPr lvl="0"/>
            <a:r>
              <a:rPr/>
              <a:t>Model assumptions and diagnostics</a:t>
            </a:r>
          </a:p>
          <a:p>
            <a:pPr lvl="0"/>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Analysis of covariance (ANCOVA):</a:t>
            </a:r>
          </a:p>
          <a:p>
            <a:pPr lvl="0"/>
            <a:r>
              <a:rPr/>
              <a:t>Introduction to ANCOVA</a:t>
            </a:r>
          </a:p>
          <a:p>
            <a:pPr lvl="0"/>
            <a:r>
              <a:rPr/>
              <a:t>When to use ANCOVA</a:t>
            </a:r>
          </a:p>
          <a:p>
            <a:pPr lvl="0"/>
            <a:r>
              <a:rPr/>
              <a:t>Linear model for ANCOVA</a:t>
            </a:r>
          </a:p>
          <a:p>
            <a:pPr lvl="0"/>
            <a:r>
              <a:rPr/>
              <a:t>Analysis of variance in ANCOVA</a:t>
            </a:r>
          </a:p>
          <a:p>
            <a:pPr lvl="0"/>
            <a:r>
              <a:rPr/>
              <a:t>Assumptions of ANCOVA</a:t>
            </a:r>
          </a:p>
          <a:p>
            <a:pPr lvl="1"/>
            <a:r>
              <a:rPr/>
              <a:t>Homogeneous slopes</a:t>
            </a:r>
          </a:p>
          <a:p>
            <a:pPr lvl="0"/>
            <a:r>
              <a:rPr/>
              <a:t>Robust ANCOVA approaches</a:t>
            </a:r>
          </a:p>
          <a:p>
            <a:pPr lvl="0"/>
            <a:r>
              <a:rPr/>
              <a:t>Specific comparisons of means</a:t>
            </a:r>
          </a:p>
          <a:p>
            <a:pPr lvl="0"/>
            <a:r>
              <a:rPr/>
              <a:t>Examples and interpretation</a:t>
            </a:r>
          </a:p>
          <a:p>
            <a:pPr lvl="0"/>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 compare means of factor levels (groups), adjusting for variance from continuous covariate</a:t>
            </a:r>
          </a:p>
          <a:p>
            <a:pPr lvl="0"/>
            <a:r>
              <a:rPr/>
              <a:t>Another use: 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indent="0" marL="0">
              <a:buNone/>
            </a:pPr>
            <a:r>
              <a:rPr/>
              <a:t>Want to compare chirping rate of two cricket species:</a:t>
            </a:r>
          </a:p>
          <a:p>
            <a:pPr lvl="0"/>
            <a:r>
              <a:rPr i="1"/>
              <a:t>Oecanthus exclamationis</a:t>
            </a:r>
          </a:p>
          <a:p>
            <a:pPr lvl="0"/>
            <a:r>
              <a:rPr i="1"/>
              <a:t>Oecanthus niveus</a:t>
            </a:r>
          </a:p>
          <a:p>
            <a:pPr lvl="0" indent="0" marL="0">
              <a:buNone/>
            </a:pPr>
            <a:r>
              <a:rPr/>
              <a:t>But:</a:t>
            </a:r>
          </a:p>
          <a:p>
            <a:pPr lvl="0"/>
            <a:r>
              <a:rPr/>
              <a:t>Measured rates at different temperatures</a:t>
            </a:r>
          </a:p>
          <a:p>
            <a:pPr lvl="0"/>
            <a:r>
              <a:rPr/>
              <a:t>Range of temperatures differed between species</a:t>
            </a:r>
          </a:p>
          <a:p>
            <a:pPr lvl="0"/>
            <a:r>
              <a:rPr/>
              <a:t>Apparent relationship between pulse rate and temperature</a:t>
            </a:r>
          </a:p>
          <a:p>
            <a:pPr lvl="0" indent="0" marL="0">
              <a:buNone/>
            </a:pPr>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indent="0" marL="0">
              <a:buNone/>
            </a:pPr>
            <a:r>
              <a:rPr/>
              <a:t>Key concept in ANCOVA: the difference between “unadjusted” group means and “adjusted” means.</a:t>
            </a:r>
          </a:p>
          <a:p>
            <a:pPr lvl="0" indent="0" marL="0">
              <a:buNone/>
            </a:pPr>
            <a:r>
              <a:rPr/>
              <a:t>In this visualization:</a:t>
            </a:r>
          </a:p>
          <a:p>
            <a:pPr lvl="0"/>
            <a:r>
              <a:rPr/>
              <a:t>Group Means (shown as asterisks): raw/unadjusted means for each group - simply the average X value and average Y value for all points in that group. Notice that Group A and Group B have different mean X values (they’re positioned at different points along the X axis).</a:t>
            </a:r>
          </a:p>
          <a:p>
            <a:pPr lvl="0"/>
            <a:r>
              <a:rPr/>
              <a:t>Adjusted Means (shown as triangles): These are what ANCOVA actually compares. The adjusted means represent what each group’s mean would be if all groups had the same value of the covariate (in this case, the overall mean X).</a:t>
            </a:r>
          </a:p>
          <a:p>
            <a:pPr lvl="0" indent="0" marL="0">
              <a:buNone/>
            </a:pPr>
            <a:r>
              <a:rPr/>
              <a:t>The core purpose of ANCOVA is to make this adjustment. This is important because:</a:t>
            </a:r>
          </a:p>
          <a:p>
            <a:pPr lvl="0"/>
            <a:r>
              <a:rPr/>
              <a:t>When groups differ in their covariate values (as they often do in observational studies or even in experiments with random assignment), comparing raw means can be misleading</a:t>
            </a:r>
          </a:p>
          <a:p>
            <a:pPr lvl="0"/>
            <a:r>
              <a:rPr/>
              <a:t>The adjustment helps “level the playing field” by estimating what each group’s mean would be if they all had the same value of the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409700" y="609600"/>
            <a:ext cx="62611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sepChr m:val=""/>
                        <m:end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2025-11-08T18:32:58Z</dcterms:created>
  <dcterms:modified xsi:type="dcterms:W3CDTF">2025-11-08T18:32:58Z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