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General Linear Models (GLM)</a:t>
            </a:r>
          </a:p>
          <a:p>
            <a:pPr lvl="1"/>
            <a:r>
              <a:rPr/>
              <a:t>Gaussian GLMs (normal distribution)</a:t>
            </a:r>
          </a:p>
          <a:p>
            <a:pPr lvl="1"/>
            <a:r>
              <a:rPr/>
              <a:t>Poisson GLMs (count data)</a:t>
            </a:r>
          </a:p>
          <a:p>
            <a:pPr lvl="1"/>
            <a:r>
              <a:rPr/>
              <a:t>Logistic GLMs (binary outcomes)</a:t>
            </a:r>
          </a:p>
          <a:p>
            <a:pPr lvl="1"/>
            <a:r>
              <a:rPr/>
              <a:t>Model assumptions and diagnostics</a:t>
            </a:r>
          </a:p>
          <a:p>
            <a:pPr lvl="1"/>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Analysis of covariance (ANCOVA):</a:t>
            </a:r>
          </a:p>
          <a:p>
            <a:pPr lvl="1"/>
            <a:r>
              <a:rPr/>
              <a:t>Introduction to ANCOVA</a:t>
            </a:r>
          </a:p>
          <a:p>
            <a:pPr lvl="1"/>
            <a:r>
              <a:rPr/>
              <a:t>When to use ANCOVA</a:t>
            </a:r>
          </a:p>
          <a:p>
            <a:pPr lvl="1"/>
            <a:r>
              <a:rPr/>
              <a:t>Linear model for ANCOVA</a:t>
            </a:r>
          </a:p>
          <a:p>
            <a:pPr lvl="1"/>
            <a:r>
              <a:rPr/>
              <a:t>Analysis of variance in ANCOVA</a:t>
            </a:r>
          </a:p>
          <a:p>
            <a:pPr lvl="1"/>
            <a:r>
              <a:rPr/>
              <a:t>Assumptions of ANCOVA</a:t>
            </a:r>
          </a:p>
          <a:p>
            <a:pPr lvl="2"/>
            <a:r>
              <a:rPr/>
              <a:t>Homogeneous slopes</a:t>
            </a:r>
          </a:p>
          <a:p>
            <a:pPr lvl="1"/>
            <a:r>
              <a:rPr/>
              <a:t>Robust ANCOVA approaches</a:t>
            </a:r>
          </a:p>
          <a:p>
            <a:pPr lvl="1"/>
            <a:r>
              <a:rPr/>
              <a:t>Specific comparisons of means</a:t>
            </a:r>
          </a:p>
          <a:p>
            <a:pPr lvl="1"/>
            <a:r>
              <a:rPr/>
              <a:t>Examples and interpretation</a:t>
            </a:r>
          </a:p>
          <a:p>
            <a:pPr lvl="1"/>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a:t>
            </a:r>
          </a:p>
          <a:p>
            <a:pPr lvl="1"/>
            <a:r>
              <a:rPr/>
              <a:t>compare means of factor levels (groups), adjusting for variance from continuous covariate</a:t>
            </a:r>
          </a:p>
          <a:p>
            <a:pPr lvl="0"/>
            <a:r>
              <a:rPr/>
              <a:t>Another use:</a:t>
            </a:r>
          </a:p>
          <a:p>
            <a:pPr lvl="1"/>
            <a:r>
              <a:rPr/>
              <a:t>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a:r>
              <a:rPr/>
              <a:t>Want to compare chirping rate of two cricket species:</a:t>
            </a:r>
          </a:p>
          <a:p>
            <a:pPr lvl="1"/>
            <a:r>
              <a:rPr i="1"/>
              <a:t>Oecanthus exclamationis</a:t>
            </a:r>
          </a:p>
          <a:p>
            <a:pPr lvl="1"/>
            <a:r>
              <a:rPr i="1"/>
              <a:t>Oecanthus niveus</a:t>
            </a:r>
          </a:p>
          <a:p>
            <a:pPr lvl="0"/>
            <a:r>
              <a:rPr/>
              <a:t>But:</a:t>
            </a:r>
          </a:p>
          <a:p>
            <a:pPr lvl="1"/>
            <a:r>
              <a:rPr/>
              <a:t>Measured rates at different temperatures</a:t>
            </a:r>
          </a:p>
          <a:p>
            <a:pPr lvl="1"/>
            <a:r>
              <a:rPr/>
              <a:t>Range of temperatures differed between species</a:t>
            </a:r>
          </a:p>
          <a:p>
            <a:pPr lvl="1"/>
            <a:r>
              <a:rPr/>
              <a:t>Apparent relationship between pulse rate and temperature</a:t>
            </a:r>
          </a:p>
          <a:p>
            <a:pPr lvl="0"/>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a:r>
              <a:rPr/>
              <a:t>Key concept in ANCOVA: the difference between “unadjusted” group means and “adjusted” means.</a:t>
            </a:r>
          </a:p>
          <a:p>
            <a:pPr lvl="0"/>
            <a:r>
              <a:rPr/>
              <a:t>In this visualization:</a:t>
            </a:r>
          </a:p>
          <a:p>
            <a:pPr lvl="1"/>
            <a:r>
              <a:rPr/>
              <a:t>Group Means (asterisks): unadjusted means for each group</a:t>
            </a:r>
          </a:p>
          <a:p>
            <a:pPr lvl="2"/>
            <a:r>
              <a:rPr/>
              <a:t>average X value and average Y value for all points in that group.</a:t>
            </a:r>
          </a:p>
          <a:p>
            <a:pPr lvl="3"/>
            <a:r>
              <a:rPr/>
              <a:t>Group A and Group B have different mean X values - different points along the X axis</a:t>
            </a:r>
          </a:p>
          <a:p>
            <a:pPr lvl="1"/>
            <a:r>
              <a:rPr/>
              <a:t>Adjusted Means (triangles): What ANCOVA actually compares</a:t>
            </a:r>
          </a:p>
          <a:p>
            <a:pPr lvl="1"/>
            <a:r>
              <a:rPr/>
              <a:t>adjusted means represent group’s mean if all groups had same value of covariate (overall mean X).</a:t>
            </a:r>
          </a:p>
          <a:p>
            <a:pPr lvl="0"/>
            <a:r>
              <a:rPr/>
              <a:t>The core purpose of ANCOVA is to make this adjustment and important because:</a:t>
            </a:r>
          </a:p>
          <a:p>
            <a:pPr lvl="1"/>
            <a:r>
              <a:rPr/>
              <a:t>When groups differ in their covariate values (as they often do in observational studies or even in exps with random assignment), comparing raw means can be misleading</a:t>
            </a:r>
          </a:p>
          <a:p>
            <a:pPr lvl="1"/>
            <a:r>
              <a:rPr/>
              <a:t>Adjustment helps “level the playing field” by estimating what each group’s mean would be if all had same value of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strike="noStrike">
                        <a:solidFill>
                          <a:srgbClr val="000000">
                            <a:alpha val="100000"/>
                          </a:srgbClr>
                        </a:solidFill>
                        <a:latin typeface="Helvetica"/>
                        <a:cs typeface="Helvetica"/>
                        <a:ea typeface="Helvetica"/>
                        <a:sym typeface="Helvetica"/>
                      </a:endParaRPr>
                      <a:r>
                        <a:rPr cap="none" sz="1000" i="0" b="0" u="none" strike="noStrik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strike="noStrike">
                        <a:solidFill>
                          <a:srgbClr val="000000">
                            <a:alpha val="100000"/>
                          </a:srgbClr>
                        </a:solidFill>
                        <a:latin typeface="Helvetica"/>
                        <a:cs typeface="Helvetica"/>
                        <a:ea typeface="Helvetica"/>
                        <a:sym typeface="Helvetica"/>
                      </a:endParaRPr>
                      <a:r>
                        <a:rPr cap="none" sz="1000" i="0" b="0" u="none" strike="noStrik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strike="noStrike">
                        <a:solidFill>
                          <a:srgbClr val="000000">
                            <a:alpha val="100000"/>
                          </a:srgbClr>
                        </a:solidFill>
                        <a:latin typeface="Helvetica"/>
                        <a:cs typeface="Helvetica"/>
                        <a:ea typeface="Helvetica"/>
                        <a:sym typeface="Helvetica"/>
                      </a:endParaRPr>
                      <a:r>
                        <a:rPr cap="none" sz="1000" i="0" b="0" u="none" strike="noStrik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strike="noStrike">
                        <a:solidFill>
                          <a:srgbClr val="000000">
                            <a:alpha val="100000"/>
                          </a:srgbClr>
                        </a:solidFill>
                        <a:latin typeface="Helvetica"/>
                        <a:cs typeface="Helvetica"/>
                        <a:ea typeface="Helvetica"/>
                        <a:sym typeface="Helvetica"/>
                      </a:endParaRPr>
                      <a:r>
                        <a:rPr cap="none" sz="1000" i="0" b="0" u="none" strike="noStrik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2025-11-10T19:47:01Z</dcterms:created>
  <dcterms:modified xsi:type="dcterms:W3CDTF">2025-11-10T19:47:01Z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