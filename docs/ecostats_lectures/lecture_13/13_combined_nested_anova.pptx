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0.png"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13 - Nested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a:r>
              <a:rPr/>
              <a:t>Two Factor ANOVA</a:t>
            </a:r>
          </a:p>
          <a:p>
            <a:pPr lvl="1"/>
            <a:r>
              <a:rPr/>
              <a:t>Example</a:t>
            </a:r>
          </a:p>
          <a:p>
            <a:pPr lvl="1"/>
            <a:r>
              <a:rPr/>
              <a:t>Linear model</a:t>
            </a:r>
          </a:p>
          <a:p>
            <a:pPr lvl="1"/>
            <a:r>
              <a:rPr/>
              <a:t>Analysis of variance</a:t>
            </a:r>
          </a:p>
          <a:p>
            <a:pPr lvl="1"/>
            <a:r>
              <a:rPr/>
              <a:t>Null hypotheses</a:t>
            </a:r>
          </a:p>
          <a:p>
            <a:pPr lvl="1"/>
            <a:r>
              <a:rPr/>
              <a:t>Interactions and main effects</a:t>
            </a:r>
          </a:p>
          <a:p>
            <a:pPr lvl="1"/>
            <a:r>
              <a:rPr/>
              <a:t>Unequal sample size</a:t>
            </a:r>
          </a:p>
          <a:p>
            <a:pPr lvl="1"/>
            <a:r>
              <a:rPr/>
              <a:t>Assumptions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2 Factor or 2 Way ANOVA</a:t>
            </a:r>
          </a:p>
        </p:txBody>
      </p:sp>
      <p:sp>
        <p:nvSpPr>
          <p:cNvPr id="3" name="Content Placeholder 2"/>
          <p:cNvSpPr>
            <a:spLocks noGrp="1"/>
          </p:cNvSpPr>
          <p:nvPr>
            <p:ph idx="1" sz="half"/>
          </p:nvPr>
        </p:nvSpPr>
        <p:spPr/>
        <p:txBody>
          <a:bodyPr/>
          <a:lstStyle/>
          <a:p>
            <a:pPr lvl="0"/>
            <a:r>
              <a:rPr/>
              <a:t>Often consider more than 1 factor (independent categorical variables):</a:t>
            </a:r>
          </a:p>
          <a:p>
            <a:pPr lvl="1"/>
            <a:r>
              <a:rPr/>
              <a:t>reduce unexplained variance</a:t>
            </a:r>
          </a:p>
          <a:p>
            <a:pPr lvl="1"/>
            <a:r>
              <a:rPr/>
              <a:t>look at interactions</a:t>
            </a:r>
          </a:p>
          <a:p>
            <a:pPr lvl="0"/>
            <a:r>
              <a:rPr/>
              <a:t>2-factor designs (2-way ANOVA) very common in ecology</a:t>
            </a:r>
          </a:p>
          <a:p>
            <a:pPr lvl="0"/>
            <a:r>
              <a:rPr/>
              <a:t>Can have more factors (e.g., 3-way ANOVA)</a:t>
            </a:r>
          </a:p>
          <a:p>
            <a:pPr lvl="1"/>
            <a:r>
              <a:rPr/>
              <a:t>interpretation tricky…</a:t>
            </a:r>
          </a:p>
          <a:p>
            <a:pPr lvl="0"/>
            <a:r>
              <a:rPr/>
              <a:t>Most tests are multifactor designs:</a:t>
            </a:r>
          </a:p>
          <a:p>
            <a:pPr lvl="1"/>
            <a:r>
              <a:rPr/>
              <a:t>factorial</a:t>
            </a:r>
          </a:p>
          <a:p>
            <a:pPr lvl="1"/>
            <a:r>
              <a:rPr/>
              <a:t>nested</a:t>
            </a:r>
          </a:p>
          <a:p>
            <a:pPr lvl="1"/>
            <a:r>
              <a:rPr/>
              <a:t>mixed</a:t>
            </a:r>
          </a:p>
        </p:txBody>
      </p:sp>
      <p:pic>
        <p:nvPicPr>
          <p:cNvPr descr="images/clipboard-1173869376.png" id="0" name="Picture 1"/>
          <p:cNvPicPr>
            <a:picLocks noGrp="1" noChangeAspect="1"/>
          </p:cNvPicPr>
          <p:nvPr/>
        </p:nvPicPr>
        <p:blipFill>
          <a:blip r:embed="rId2"/>
          <a:stretch>
            <a:fillRect/>
          </a:stretch>
        </p:blipFill>
        <p:spPr bwMode="auto">
          <a:xfrm>
            <a:off x="6159500" y="660400"/>
            <a:ext cx="2705100" cy="4470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Versus Nested Designs</a:t>
            </a:r>
          </a:p>
        </p:txBody>
      </p:sp>
      <p:sp>
        <p:nvSpPr>
          <p:cNvPr id="3" name="Content Placeholder 2"/>
          <p:cNvSpPr>
            <a:spLocks noGrp="1"/>
          </p:cNvSpPr>
          <p:nvPr>
            <p:ph idx="1" sz="half"/>
          </p:nvPr>
        </p:nvSpPr>
        <p:spPr/>
        <p:txBody>
          <a:bodyPr/>
          <a:lstStyle/>
          <a:p>
            <a:pPr lvl="0"/>
            <a:r>
              <a:rPr/>
              <a:t>Consider two factors: A and B</a:t>
            </a:r>
          </a:p>
          <a:p>
            <a:pPr lvl="1"/>
            <a:r>
              <a:rPr/>
              <a:t>Factorial/crossed: every level of B in every level of A</a:t>
            </a:r>
          </a:p>
          <a:p>
            <a:pPr lvl="1"/>
            <a:r>
              <a:rPr/>
              <a:t>Nested/hierarchical: levels of B occur only in 1 level of A</a:t>
            </a:r>
          </a:p>
          <a:p>
            <a:pPr lvl="2"/>
            <a:r>
              <a:rPr/>
              <a:t>both can be fixed - rare</a:t>
            </a:r>
          </a:p>
          <a:p>
            <a:pPr lvl="2"/>
            <a:r>
              <a:rPr/>
              <a:t>one fixed one random</a:t>
            </a:r>
          </a:p>
          <a:p>
            <a:pPr lvl="2"/>
            <a:r>
              <a:rPr/>
              <a:t>both random - rare in ecology common in genetics</a:t>
            </a:r>
          </a:p>
        </p:txBody>
      </p:sp>
      <p:pic>
        <p:nvPicPr>
          <p:cNvPr descr="images/clipboard-758019042.png" id="0" name="Picture 1"/>
          <p:cNvPicPr>
            <a:picLocks noGrp="1" noChangeAspect="1"/>
          </p:cNvPicPr>
          <p:nvPr/>
        </p:nvPicPr>
        <p:blipFill>
          <a:blip r:embed="rId2"/>
          <a:stretch>
            <a:fillRect/>
          </a:stretch>
        </p:blipFill>
        <p:spPr bwMode="auto">
          <a:xfrm>
            <a:off x="6197600" y="660400"/>
            <a:ext cx="26289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Designs Overview</a:t>
            </a:r>
          </a:p>
        </p:txBody>
      </p:sp>
      <p:sp>
        <p:nvSpPr>
          <p:cNvPr id="3" name="Content Placeholder 2"/>
          <p:cNvSpPr>
            <a:spLocks noGrp="1"/>
          </p:cNvSpPr>
          <p:nvPr>
            <p:ph idx="1" sz="half"/>
          </p:nvPr>
        </p:nvSpPr>
        <p:spPr/>
        <p:txBody>
          <a:bodyPr/>
          <a:lstStyle/>
          <a:p>
            <a:pPr lvl="0"/>
            <a:r>
              <a:rPr/>
              <a:t>Factorial Designs:</a:t>
            </a:r>
          </a:p>
          <a:p>
            <a:pPr lvl="1"/>
            <a:r>
              <a:rPr/>
              <a:t>Both factors typically fixed (but not always)</a:t>
            </a:r>
          </a:p>
        </p:txBody>
      </p:sp>
      <p:pic>
        <p:nvPicPr>
          <p:cNvPr descr="images/clipboard-723648250.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Seedling Growth</a:t>
            </a:r>
          </a:p>
        </p:txBody>
      </p:sp>
      <p:sp>
        <p:nvSpPr>
          <p:cNvPr id="3" name="Content Placeholder 2"/>
          <p:cNvSpPr>
            <a:spLocks noGrp="1"/>
          </p:cNvSpPr>
          <p:nvPr>
            <p:ph idx="1" sz="half"/>
          </p:nvPr>
        </p:nvSpPr>
        <p:spPr/>
        <p:txBody>
          <a:bodyPr/>
          <a:lstStyle/>
          <a:p>
            <a:pPr lvl="0"/>
            <a:r>
              <a:rPr/>
              <a:t>Effects of light level on growth of seedlings of different size:</a:t>
            </a:r>
          </a:p>
          <a:p>
            <a:pPr lvl="1"/>
            <a:r>
              <a:rPr/>
              <a:t>3 light levels (factor A)</a:t>
            </a:r>
          </a:p>
          <a:p>
            <a:pPr lvl="1"/>
            <a:r>
              <a:rPr/>
              <a:t>3 size classes (factor B)</a:t>
            </a:r>
          </a:p>
          <a:p>
            <a:pPr lvl="1"/>
            <a:r>
              <a:rPr/>
              <a:t>5 replicate seeding in each cell</a:t>
            </a:r>
          </a:p>
        </p:txBody>
      </p:sp>
      <p:pic>
        <p:nvPicPr>
          <p:cNvPr descr="images/clipboard-1057376698.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Salamander Growth</a:t>
            </a:r>
          </a:p>
        </p:txBody>
      </p:sp>
      <p:sp>
        <p:nvSpPr>
          <p:cNvPr id="3" name="Content Placeholder 2"/>
          <p:cNvSpPr>
            <a:spLocks noGrp="1"/>
          </p:cNvSpPr>
          <p:nvPr>
            <p:ph idx="1" sz="half"/>
          </p:nvPr>
        </p:nvSpPr>
        <p:spPr/>
        <p:txBody>
          <a:bodyPr/>
          <a:lstStyle/>
          <a:p>
            <a:pPr lvl="0"/>
            <a:r>
              <a:rPr/>
              <a:t>Effects of food level and tadpole presence on larval salamander growth</a:t>
            </a:r>
          </a:p>
          <a:p>
            <a:pPr lvl="1"/>
            <a:r>
              <a:rPr/>
              <a:t>2 food levels (factor A)</a:t>
            </a:r>
          </a:p>
          <a:p>
            <a:pPr lvl="1"/>
            <a:r>
              <a:rPr/>
              <a:t>presence/absence of tadpoles (factor B)</a:t>
            </a:r>
          </a:p>
          <a:p>
            <a:pPr lvl="1"/>
            <a:r>
              <a:rPr/>
              <a:t>8 replicates in each cell</a:t>
            </a:r>
          </a:p>
        </p:txBody>
      </p:sp>
      <p:pic>
        <p:nvPicPr>
          <p:cNvPr descr="images/clipboard-3697840818.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Limpet Fecundity</a:t>
            </a:r>
          </a:p>
        </p:txBody>
      </p:sp>
      <p:sp>
        <p:nvSpPr>
          <p:cNvPr id="3" name="Content Placeholder 2"/>
          <p:cNvSpPr>
            <a:spLocks noGrp="1"/>
          </p:cNvSpPr>
          <p:nvPr>
            <p:ph idx="1" sz="half"/>
          </p:nvPr>
        </p:nvSpPr>
        <p:spPr/>
        <p:txBody>
          <a:bodyPr/>
          <a:lstStyle/>
          <a:p>
            <a:pPr lvl="0"/>
            <a:r>
              <a:rPr/>
              <a:t>Effect of season and density on limpet fecundity.</a:t>
            </a:r>
          </a:p>
          <a:p>
            <a:pPr lvl="1"/>
            <a:r>
              <a:rPr/>
              <a:t>2 seasons (factor A)</a:t>
            </a:r>
          </a:p>
          <a:p>
            <a:pPr lvl="1"/>
            <a:r>
              <a:rPr/>
              <a:t>4 density treatments (factor B)</a:t>
            </a:r>
          </a:p>
          <a:p>
            <a:pPr lvl="1"/>
            <a:r>
              <a:rPr/>
              <a:t>3 replicates in each cell</a:t>
            </a:r>
          </a:p>
        </p:txBody>
      </p:sp>
      <p:pic>
        <p:nvPicPr>
          <p:cNvPr descr="images/clipboard-1223732443.png" id="0" name="Picture 1"/>
          <p:cNvPicPr>
            <a:picLocks noGrp="1" noChangeAspect="1"/>
          </p:cNvPicPr>
          <p:nvPr/>
        </p:nvPicPr>
        <p:blipFill>
          <a:blip r:embed="rId2"/>
          <a:stretch>
            <a:fillRect/>
          </a:stretch>
        </p:blipFill>
        <p:spPr bwMode="auto">
          <a:xfrm>
            <a:off x="6121400" y="2057400"/>
            <a:ext cx="2781300" cy="1689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Designs Overview</a:t>
            </a:r>
          </a:p>
        </p:txBody>
      </p:sp>
      <p:sp>
        <p:nvSpPr>
          <p:cNvPr id="3" name="Content Placeholder 2"/>
          <p:cNvSpPr>
            <a:spLocks noGrp="1"/>
          </p:cNvSpPr>
          <p:nvPr>
            <p:ph idx="1" sz="half"/>
          </p:nvPr>
        </p:nvSpPr>
        <p:spPr/>
        <p:txBody>
          <a:bodyPr/>
          <a:lstStyle/>
          <a:p>
            <a:pPr lvl="0"/>
            <a:r>
              <a:rPr/>
              <a:t>Nested design examples</a:t>
            </a:r>
          </a:p>
          <a:p>
            <a:pPr lvl="1"/>
            <a:r>
              <a:rPr/>
              <a:t>Nested designs</a:t>
            </a:r>
          </a:p>
          <a:p>
            <a:pPr lvl="1"/>
            <a:r>
              <a:rPr/>
              <a:t>Linear model</a:t>
            </a:r>
          </a:p>
          <a:p>
            <a:pPr lvl="1"/>
            <a:r>
              <a:rPr/>
              <a:t>Analysis of variance</a:t>
            </a:r>
          </a:p>
          <a:p>
            <a:pPr lvl="1"/>
            <a:r>
              <a:rPr/>
              <a:t>Null hypotheses</a:t>
            </a:r>
          </a:p>
          <a:p>
            <a:pPr lvl="1"/>
            <a:r>
              <a:rPr/>
              <a:t>Unbalanced designs</a:t>
            </a:r>
          </a:p>
          <a:p>
            <a:pPr lvl="1"/>
            <a:r>
              <a:rPr/>
              <a:t>Assumptions</a:t>
            </a:r>
          </a:p>
          <a:p>
            <a:pPr lvl="1"/>
            <a:r>
              <a:rPr/>
              <a:t>mixed model ANOVA</a:t>
            </a:r>
          </a:p>
          <a:p>
            <a:pPr lvl="0"/>
            <a:r>
              <a:rPr/>
              <a:t>Nested Designs:</a:t>
            </a:r>
          </a:p>
          <a:p>
            <a:pPr lvl="1"/>
            <a:r>
              <a:rPr/>
              <a:t>Factor A usually fixed</a:t>
            </a:r>
          </a:p>
          <a:p>
            <a:pPr lvl="1"/>
            <a:r>
              <a:rPr/>
              <a:t>Factor B usually random</a:t>
            </a:r>
          </a:p>
        </p:txBody>
      </p:sp>
      <p:pic>
        <p:nvPicPr>
          <p:cNvPr descr="images/clipboard-3125256618.png" id="0" name="Picture 1"/>
          <p:cNvPicPr>
            <a:picLocks noGrp="1" noChangeAspect="1"/>
          </p:cNvPicPr>
          <p:nvPr/>
        </p:nvPicPr>
        <p:blipFill>
          <a:blip r:embed="rId2"/>
          <a:stretch>
            <a:fillRect/>
          </a:stretch>
        </p:blipFill>
        <p:spPr bwMode="auto">
          <a:xfrm>
            <a:off x="6121400" y="2616200"/>
            <a:ext cx="2781300" cy="54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Limpet Growth</a:t>
            </a:r>
          </a:p>
        </p:txBody>
      </p:sp>
      <p:sp>
        <p:nvSpPr>
          <p:cNvPr id="3" name="Content Placeholder 2"/>
          <p:cNvSpPr>
            <a:spLocks noGrp="1"/>
          </p:cNvSpPr>
          <p:nvPr>
            <p:ph idx="1" sz="half"/>
          </p:nvPr>
        </p:nvSpPr>
        <p:spPr/>
        <p:txBody>
          <a:bodyPr/>
          <a:lstStyle/>
          <a:p>
            <a:pPr lvl="0"/>
            <a:r>
              <a:rPr/>
              <a:t>Study on effects of enclosure size on limpet growth:</a:t>
            </a:r>
          </a:p>
          <a:p>
            <a:pPr lvl="1"/>
            <a:r>
              <a:rPr/>
              <a:t>2 enclosure sizes (factor A)</a:t>
            </a:r>
          </a:p>
          <a:p>
            <a:pPr lvl="1"/>
            <a:r>
              <a:rPr/>
              <a:t>5 replicate enclosures (factor B)</a:t>
            </a:r>
          </a:p>
          <a:p>
            <a:pPr lvl="1"/>
            <a:r>
              <a:rPr/>
              <a:t>5 replicate limpets per enclosure</a:t>
            </a:r>
          </a:p>
        </p:txBody>
      </p:sp>
      <p:pic>
        <p:nvPicPr>
          <p:cNvPr descr="images/clipboard-1867917958.png" id="0" name="Picture 1"/>
          <p:cNvPicPr>
            <a:picLocks noGrp="1" noChangeAspect="1"/>
          </p:cNvPicPr>
          <p:nvPr/>
        </p:nvPicPr>
        <p:blipFill>
          <a:blip r:embed="rId2"/>
          <a:stretch>
            <a:fillRect/>
          </a:stretch>
        </p:blipFill>
        <p:spPr bwMode="auto">
          <a:xfrm>
            <a:off x="6121400" y="1752600"/>
            <a:ext cx="2781300" cy="22987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Reef Fish</a:t>
            </a:r>
          </a:p>
        </p:txBody>
      </p:sp>
      <p:sp>
        <p:nvSpPr>
          <p:cNvPr id="3" name="Content Placeholder 2"/>
          <p:cNvSpPr>
            <a:spLocks noGrp="1"/>
          </p:cNvSpPr>
          <p:nvPr>
            <p:ph idx="1" sz="half"/>
          </p:nvPr>
        </p:nvSpPr>
        <p:spPr/>
        <p:txBody>
          <a:bodyPr/>
          <a:lstStyle/>
          <a:p>
            <a:pPr lvl="0"/>
            <a:r>
              <a:rPr/>
              <a:t>Study on reef fish recruitment:</a:t>
            </a:r>
          </a:p>
          <a:p>
            <a:pPr lvl="1"/>
            <a:r>
              <a:rPr/>
              <a:t>5 sites (factor A)</a:t>
            </a:r>
          </a:p>
          <a:p>
            <a:pPr lvl="1"/>
            <a:r>
              <a:rPr/>
              <a:t>6 transects at each site (factor B)</a:t>
            </a:r>
          </a:p>
          <a:p>
            <a:pPr lvl="1"/>
            <a:r>
              <a:rPr/>
              <a:t>replicate observations along each transect</a:t>
            </a:r>
          </a:p>
        </p:txBody>
      </p:sp>
      <p:pic>
        <p:nvPicPr>
          <p:cNvPr descr="images/clipboard-1621781711.png" id="0" name="Picture 1"/>
          <p:cNvPicPr>
            <a:picLocks noGrp="1" noChangeAspect="1"/>
          </p:cNvPicPr>
          <p:nvPr/>
        </p:nvPicPr>
        <p:blipFill>
          <a:blip r:embed="rId2"/>
          <a:stretch>
            <a:fillRect/>
          </a:stretch>
        </p:blipFill>
        <p:spPr bwMode="auto">
          <a:xfrm>
            <a:off x="6121400" y="1460500"/>
            <a:ext cx="2781300" cy="2870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Sea Urchin Grazing</a:t>
            </a:r>
          </a:p>
        </p:txBody>
      </p:sp>
      <p:sp>
        <p:nvSpPr>
          <p:cNvPr id="3" name="Content Placeholder 2"/>
          <p:cNvSpPr>
            <a:spLocks noGrp="1"/>
          </p:cNvSpPr>
          <p:nvPr>
            <p:ph idx="1" sz="half"/>
          </p:nvPr>
        </p:nvSpPr>
        <p:spPr/>
        <p:txBody>
          <a:bodyPr/>
          <a:lstStyle/>
          <a:p>
            <a:pPr lvl="0" indent="0" marL="0">
              <a:buNone/>
            </a:pPr>
            <a:r>
              <a:rPr/>
              <a:t>Effects of sea urchin grazing on biomass of filamentous algae:</a:t>
            </a:r>
          </a:p>
          <a:p>
            <a:pPr lvl="0"/>
            <a:r>
              <a:rPr/>
              <a:t>4 levels of urchin grazing: none, L, M, H</a:t>
            </a:r>
          </a:p>
          <a:p>
            <a:pPr lvl="0"/>
            <a:r>
              <a:rPr/>
              <a:t>4 patches of rocky bottom (3-4 m2) nested in each level of grazing</a:t>
            </a:r>
          </a:p>
          <a:p>
            <a:pPr lvl="0"/>
            <a:r>
              <a:rPr/>
              <a:t>5 replicate quadrats per patch</a:t>
            </a:r>
          </a:p>
        </p:txBody>
      </p:sp>
      <p:pic>
        <p:nvPicPr>
          <p:cNvPr descr="images/clipboard-3570106410.png" id="0" name="Picture 1"/>
          <p:cNvPicPr>
            <a:picLocks noGrp="1" noChangeAspect="1"/>
          </p:cNvPicPr>
          <p:nvPr/>
        </p:nvPicPr>
        <p:blipFill>
          <a:blip r:embed="rId2"/>
          <a:stretch>
            <a:fillRect/>
          </a:stretch>
        </p:blipFill>
        <p:spPr bwMode="auto">
          <a:xfrm>
            <a:off x="6121400" y="1397000"/>
            <a:ext cx="2781300" cy="2997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Linear Model Structure</a:t>
            </a:r>
          </a:p>
        </p:txBody>
      </p:sp>
      <p:sp>
        <p:nvSpPr>
          <p:cNvPr id="3" name="Content Placeholder 2"/>
          <p:cNvSpPr>
            <a:spLocks noGrp="1"/>
          </p:cNvSpPr>
          <p:nvPr>
            <p:ph idx="1" sz="half"/>
          </p:nvPr>
        </p:nvSpPr>
        <p:spPr/>
        <p:txBody>
          <a:bodyPr/>
          <a:lstStyle/>
          <a:p>
            <a:pPr lvl="0"/>
            <a:r>
              <a:rPr/>
              <a:t>Consider a nested design with:</a:t>
            </a:r>
          </a:p>
          <a:p>
            <a:pPr lvl="1"/>
            <a:r>
              <a:rPr/>
              <a:t>p levels of factor A (i= 1…p) (e.g., 4 grazing levels)</a:t>
            </a:r>
          </a:p>
          <a:p>
            <a:pPr lvl="1"/>
            <a:r>
              <a:rPr/>
              <a:t>q levels of factor B (j= 1…q), nested within each level of A (e.g., 4 - diff. patches per grazing level)</a:t>
            </a:r>
          </a:p>
          <a:p>
            <a:pPr lvl="1"/>
            <a:r>
              <a:rPr/>
              <a:t>n replicates (k= 1…n) in each combination of A and B (5 replicate - quadrats in each patch in each grazing level)</a:t>
            </a:r>
          </a:p>
        </p:txBody>
      </p:sp>
      <p:pic>
        <p:nvPicPr>
          <p:cNvPr descr="images/clipboard-2460153431.png" id="0" name="Picture 1"/>
          <p:cNvPicPr>
            <a:picLocks noGrp="1" noChangeAspect="1"/>
          </p:cNvPicPr>
          <p:nvPr/>
        </p:nvPicPr>
        <p:blipFill>
          <a:blip r:embed="rId2"/>
          <a:stretch>
            <a:fillRect/>
          </a:stretch>
        </p:blipFill>
        <p:spPr bwMode="auto">
          <a:xfrm>
            <a:off x="6692900" y="660400"/>
            <a:ext cx="1638300" cy="4470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Means in Nested Design</a:t>
            </a:r>
          </a:p>
        </p:txBody>
      </p:sp>
      <p:sp>
        <p:nvSpPr>
          <p:cNvPr id="3" name="Content Placeholder 2"/>
          <p:cNvSpPr>
            <a:spLocks noGrp="1"/>
          </p:cNvSpPr>
          <p:nvPr>
            <p:ph idx="1" sz="half"/>
          </p:nvPr>
        </p:nvSpPr>
        <p:spPr/>
        <p:txBody>
          <a:bodyPr/>
          <a:lstStyle/>
          <a:p>
            <a:pPr lvl="0"/>
            <a:r>
              <a:rPr/>
              <a:t>Can calculate several means:</a:t>
            </a:r>
          </a:p>
          <a:p>
            <a:pPr lvl="1"/>
            <a:r>
              <a:rPr/>
              <a:t>overall mean (across all levels of A and B)= ȳ;</a:t>
            </a:r>
          </a:p>
          <a:p>
            <a:pPr lvl="1"/>
            <a:r>
              <a:rPr/>
              <a:t>a mean for each level of A (across all levels of B in that A)= ȳi;</a:t>
            </a:r>
          </a:p>
          <a:p>
            <a:pPr lvl="1"/>
            <a:r>
              <a:rPr/>
              <a:t>a mean for each level of B within each A= ȳj(i)</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Means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Linear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m:oMathPara>
                </a14:m>
              </a:p>
              <a:p>
                <a:pPr lvl="0"/>
                <a:r>
                  <a:rPr/>
                  <a:t>Where:</a:t>
                </a:r>
              </a:p>
              <a:p>
                <a:pPr lvl="1"/>
                <a14:m>
                  <m:oMath xmlns:m="http://schemas.openxmlformats.org/officeDocument/2006/math">
                    <m:sSub>
                      <m:e>
                        <m:r>
                          <m:t>y</m:t>
                        </m:r>
                      </m:e>
                      <m:sub>
                        <m:r>
                          <m:t>i</m:t>
                        </m:r>
                        <m:r>
                          <m:t>j</m:t>
                        </m:r>
                        <m:r>
                          <m:t>k</m:t>
                        </m:r>
                      </m:sub>
                    </m:sSub>
                  </m:oMath>
                </a14:m>
                <a:r>
                  <a:rPr/>
                  <a:t> is the response variable</a:t>
                </a:r>
              </a:p>
              <a:p>
                <a:pPr lvl="2"/>
                <a:r>
                  <a:rPr/>
                  <a:t>value of the k-th replicate in j-th level of B in the i-th level of A</a:t>
                </a:r>
              </a:p>
              <a:p>
                <a:pPr lvl="2"/>
                <a:r>
                  <a:rPr/>
                  <a:t>(algal biomass in 3rd quadrat, in 2nd patch in low grazing treatment)</a:t>
                </a:r>
              </a:p>
              <a:p>
                <a:pPr lvl="1"/>
                <a14:m>
                  <m:oMath xmlns:m="http://schemas.openxmlformats.org/officeDocument/2006/math">
                    <m:r>
                      <m:t>μ</m:t>
                    </m:r>
                  </m:oMath>
                </a14:m>
                <a:r>
                  <a:rPr/>
                  <a:t> is the overall mean</a:t>
                </a:r>
              </a:p>
              <a:p>
                <a:pPr lvl="2"/>
                <a:r>
                  <a:rPr/>
                  <a:t>(overall average algal biomass)</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Fixed Effects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m:oMathPara>
                </a14:m>
              </a:p>
              <a:p>
                <a:pPr lvl="0"/>
                <a14:m>
                  <m:oMath xmlns:m="http://schemas.openxmlformats.org/officeDocument/2006/math">
                    <m:sSub>
                      <m:e>
                        <m:r>
                          <m:t>α</m:t>
                        </m:r>
                      </m:e>
                      <m:sub>
                        <m:r>
                          <m:t>i</m:t>
                        </m:r>
                      </m:sub>
                    </m:sSub>
                  </m:oMath>
                </a14:m>
                <a:r>
                  <a:rPr/>
                  <a:t> is the fixed effect of factor </a:t>
                </a:r>
                <a14:m>
                  <m:oMath xmlns:m="http://schemas.openxmlformats.org/officeDocument/2006/math">
                    <m:r>
                      <m:t>i</m:t>
                    </m:r>
                  </m:oMath>
                </a14:m>
              </a:p>
              <a:p>
                <a:pPr lvl="0"/>
                <a:r>
                  <a:rPr/>
                  <a:t>(difference between average biomass in all low grazing level quadrats and overall mean)</a:t>
                </a:r>
              </a:p>
              <a:p>
                <a:pPr lvl="0"/>
                <a14:m>
                  <m:oMath xmlns:m="http://schemas.openxmlformats.org/officeDocument/2006/math">
                    <m:sSub>
                      <m:e>
                        <m:r>
                          <m:t>β</m:t>
                        </m:r>
                      </m:e>
                      <m:sub>
                        <m:r>
                          <m:t>j</m:t>
                        </m:r>
                        <m:d>
                          <m:dPr>
                            <m:begChr m:val="("/>
                            <m:sepChr m:val=""/>
                            <m:endChr m:val=")"/>
                            <m:grow/>
                          </m:dPr>
                          <m:e>
                            <m:r>
                              <m:t>i</m:t>
                            </m:r>
                          </m:e>
                        </m:d>
                      </m:sub>
                    </m:sSub>
                  </m:oMath>
                </a14:m>
                <a:r>
                  <a:rPr/>
                  <a:t> is the random effect of factor </a:t>
                </a:r>
                <a14:m>
                  <m:oMath xmlns:m="http://schemas.openxmlformats.org/officeDocument/2006/math">
                    <m:r>
                      <m:t>j</m:t>
                    </m:r>
                  </m:oMath>
                </a14:m>
                <a:r>
                  <a:rPr/>
                  <a:t> nested within factor </a:t>
                </a:r>
                <a14:m>
                  <m:oMath xmlns:m="http://schemas.openxmlformats.org/officeDocument/2006/math">
                    <m:r>
                      <m:t>i</m:t>
                    </m:r>
                  </m:oMath>
                </a14:m>
              </a:p>
              <a:p>
                <a:pPr lvl="0"/>
                <a:r>
                  <a:rPr/>
                  <a:t>usually random variable, measuring variance among all possible levels of B within each level of A</a:t>
                </a:r>
              </a:p>
              <a:p>
                <a:pPr lvl="0"/>
                <a:r>
                  <a:rPr/>
                  <a:t>(variance among all possible patches that may have been used in the low grazing treatment)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Error Term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linear model for a nested design is:</a:t>
                </a:r>
              </a:p>
              <a:p>
                <a:pPr lvl="0" indent="0" marL="0">
                  <a:spcBef>
                    <a:spcPts val="3000"/>
                  </a:spcBef>
                  <a:buNone/>
                </a:pPr>
                <a14:m>
                  <m:oMath xmlns:m="http://schemas.openxmlformats.org/officeDocument/2006/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a14:m>
              </a:p>
              <a:p>
                <a:pPr lvl="0"/>
                <a:r>
                  <a:rPr/>
                  <a:t>where:</a:t>
                </a:r>
              </a:p>
              <a:p>
                <a:pPr lvl="1"/>
                <a14:m>
                  <m:oMath xmlns:m="http://schemas.openxmlformats.org/officeDocument/2006/math">
                    <m:sSub>
                      <m:e>
                        <m:r>
                          <m:t>ε</m:t>
                        </m:r>
                      </m:e>
                      <m:sub>
                        <m:r>
                          <m:t>i</m:t>
                        </m:r>
                        <m:r>
                          <m:t>j</m:t>
                        </m:r>
                        <m:r>
                          <m:t>k</m:t>
                        </m:r>
                      </m:sub>
                    </m:sSub>
                  </m:oMath>
                </a14:m>
                <a:r>
                  <a:rPr/>
                  <a:t> is the error term</a:t>
                </a:r>
              </a:p>
              <a:p>
                <a:pPr lvl="1"/>
                <a:r>
                  <a:rPr/>
                  <a:t>αi: is the effect of the ith level of A: µi- µ</a:t>
                </a:r>
              </a:p>
              <a:p>
                <a:pPr lvl="1"/>
                <a:r>
                  <a:rPr/>
                  <a:t>unexplained variance associated with the kth replicate in jth level of B in the ith level of A</a:t>
                </a:r>
              </a:p>
              <a:p>
                <a:pPr lvl="1"/>
                <a:r>
                  <a:rPr/>
                  <a:t>(difference bw observed algal biomass in 3rd quadrat in 2nd patch in low grazing treatment and predicted biomass - average biomass in 2nd patch in low grazing treatment)</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Residual and Total</a:t>
            </a:r>
          </a:p>
        </p:txBody>
      </p:sp>
      <p:sp>
        <p:nvSpPr>
          <p:cNvPr id="3" name="Content Placeholder 2"/>
          <p:cNvSpPr>
            <a:spLocks noGrp="1"/>
          </p:cNvSpPr>
          <p:nvPr>
            <p:ph idx="1" sz="half"/>
          </p:nvPr>
        </p:nvSpPr>
        <p:spPr/>
        <p:txBody>
          <a:bodyPr/>
          <a:lstStyle/>
          <a:p>
            <a:pPr lvl="0"/>
            <a:r>
              <a:rPr/>
              <a:t>SSresid is difference bw each observation and mean for its level of factor B, summed over all observations</a:t>
            </a:r>
          </a:p>
          <a:p>
            <a:pPr lvl="0"/>
            <a:r>
              <a:rPr/>
              <a:t>SStotal = SSA + SSB + SSresid</a:t>
            </a:r>
          </a:p>
          <a:p>
            <a:pPr lvl="0"/>
            <a:r>
              <a:rPr/>
              <a:t>SS can be turned into MS by dividing by appropriate df</a:t>
            </a:r>
          </a:p>
        </p:txBody>
      </p:sp>
      <p:pic>
        <p:nvPicPr>
          <p:cNvPr descr="images/clipboard-2357756170.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SSA</a:t>
            </a:r>
          </a:p>
        </p:txBody>
      </p:sp>
      <p:sp>
        <p:nvSpPr>
          <p:cNvPr id="3" name="Content Placeholder 2"/>
          <p:cNvSpPr>
            <a:spLocks noGrp="1"/>
          </p:cNvSpPr>
          <p:nvPr>
            <p:ph idx="1" sz="half"/>
          </p:nvPr>
        </p:nvSpPr>
        <p:spPr/>
        <p:txBody>
          <a:bodyPr/>
          <a:lstStyle/>
          <a:p>
            <a:pPr lvl="0" indent="0" marL="0">
              <a:buNone/>
            </a:pPr>
            <a:r>
              <a:rPr/>
              <a:t>As before, partition the variance in the response variable using SS SSA is SS of differences between means in each level of A and overall mean</a:t>
            </a:r>
          </a:p>
        </p:txBody>
      </p:sp>
      <p:pic>
        <p:nvPicPr>
          <p:cNvPr descr="images/clipboard-1219870939.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SSB</a:t>
            </a:r>
          </a:p>
        </p:txBody>
      </p:sp>
      <p:sp>
        <p:nvSpPr>
          <p:cNvPr id="3" name="Content Placeholder 2"/>
          <p:cNvSpPr>
            <a:spLocks noGrp="1"/>
          </p:cNvSpPr>
          <p:nvPr>
            <p:ph idx="1" sz="half"/>
          </p:nvPr>
        </p:nvSpPr>
        <p:spPr/>
        <p:txBody>
          <a:bodyPr/>
          <a:lstStyle/>
          <a:p>
            <a:pPr lvl="0" indent="0" marL="0">
              <a:buNone/>
            </a:pPr>
            <a:r>
              <a:rPr/>
              <a:t>SSB is SS of difference between means in each level of B and the mean of corresponding level of A summed across levels of A</a:t>
            </a:r>
          </a:p>
        </p:txBody>
      </p:sp>
      <p:pic>
        <p:nvPicPr>
          <p:cNvPr descr="images/clipboard-2467119661.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Table</a:t>
            </a:r>
          </a:p>
        </p:txBody>
      </p:sp>
      <p:sp>
        <p:nvSpPr>
          <p:cNvPr id="3" name="Content Placeholder 2"/>
          <p:cNvSpPr>
            <a:spLocks noGrp="1"/>
          </p:cNvSpPr>
          <p:nvPr>
            <p:ph idx="1"/>
          </p:nvPr>
        </p:nvSpPr>
        <p:spPr/>
        <p:txBody>
          <a:bodyPr/>
          <a:lstStyle/>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A</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type="arabicPeriod"/>
            </a:pPr>
            <a:r>
              <a:rPr/>
              <a:t>no effects of factor A</a:t>
            </a:r>
          </a:p>
          <a:p>
            <a:pPr lvl="0"/>
            <a:r>
              <a:rPr/>
              <a:t>Assuming A is fixed:</a:t>
            </a:r>
          </a:p>
          <a:p>
            <a:pPr lvl="0"/>
            <a:r>
              <a:rPr/>
              <a:t>Ho(A): µ1= µ2= µ3=…. µi= µ</a:t>
            </a:r>
          </a:p>
          <a:p>
            <a:pPr lvl="0"/>
            <a:r>
              <a:rPr/>
              <a:t>Same as in 1-factor ANOVA, using means from B factors nested within each - level of A</a:t>
            </a:r>
          </a:p>
          <a:p>
            <a:pPr lvl="0"/>
            <a:r>
              <a:rPr/>
              <a:t>(no difference in algal biomass across all levels of grazing: µnone= - µlow= µmed= µhigh)</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B</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startAt="2" type="arabicPeriod"/>
            </a:pPr>
            <a:r>
              <a:rPr/>
              <a:t>No effects of factor B nested in A</a:t>
            </a:r>
          </a:p>
          <a:p>
            <a:pPr lvl="0"/>
            <a:r>
              <a:rPr/>
              <a:t>Assuming B is random:</a:t>
            </a:r>
          </a:p>
          <a:p>
            <a:pPr lvl="0"/>
            <a:r>
              <a:rPr/>
              <a:t>Ho(B): σβ2= 0 (no variance added due to differences between all possible - levels of B)</a:t>
            </a:r>
          </a:p>
          <a:p>
            <a:pPr lvl="0"/>
            <a:r>
              <a:rPr/>
              <a:t>(no variance added due to differences between patches)</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Conclusions from Analysis</a:t>
            </a:r>
          </a:p>
        </p:txBody>
      </p:sp>
      <p:sp>
        <p:nvSpPr>
          <p:cNvPr id="3" name="Content Placeholder 2"/>
          <p:cNvSpPr>
            <a:spLocks noGrp="1"/>
          </p:cNvSpPr>
          <p:nvPr>
            <p:ph idx="1" sz="half"/>
          </p:nvPr>
        </p:nvSpPr>
        <p:spPr/>
        <p:txBody>
          <a:bodyPr/>
          <a:lstStyle/>
          <a:p>
            <a:pPr lvl="0" indent="0" marL="0">
              <a:buNone/>
            </a:pPr>
            <a:r>
              <a:rPr b="1"/>
              <a:t>Conclusions?</a:t>
            </a:r>
          </a:p>
          <a:p>
            <a:pPr lvl="0" indent="0" marL="0">
              <a:buNone/>
            </a:pPr>
            <a:r>
              <a:rPr/>
              <a:t>“significant variation between replicate patches within each treatment, but no significant difference in amount of filamentous algae between treatments”</a:t>
            </a:r>
          </a:p>
        </p:txBody>
      </p:sp>
      <p:pic>
        <p:nvPicPr>
          <p:cNvPr descr="images/clipboard-3596669693.png" id="0" name="Picture 1"/>
          <p:cNvPicPr>
            <a:picLocks noGrp="1" noChangeAspect="1"/>
          </p:cNvPicPr>
          <p:nvPr/>
        </p:nvPicPr>
        <p:blipFill>
          <a:blip r:embed="rId2"/>
          <a:stretch>
            <a:fillRect/>
          </a:stretch>
        </p:blipFill>
        <p:spPr bwMode="auto">
          <a:xfrm>
            <a:off x="6121400" y="1701800"/>
            <a:ext cx="2781300" cy="2374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Unbalanced Nested Designs</a:t>
            </a:r>
          </a:p>
        </p:txBody>
      </p:sp>
      <p:sp>
        <p:nvSpPr>
          <p:cNvPr id="3" name="Content Placeholder 2"/>
          <p:cNvSpPr>
            <a:spLocks noGrp="1"/>
          </p:cNvSpPr>
          <p:nvPr>
            <p:ph idx="1" sz="half"/>
          </p:nvPr>
        </p:nvSpPr>
        <p:spPr/>
        <p:txBody>
          <a:bodyPr/>
          <a:lstStyle/>
          <a:p>
            <a:pPr lvl="0" indent="0" marL="0">
              <a:buNone/>
            </a:pPr>
            <a:r>
              <a:rPr/>
              <a:t>Unequal sample sizes can be because of:</a:t>
            </a:r>
          </a:p>
          <a:p>
            <a:pPr lvl="0"/>
            <a:r>
              <a:rPr/>
              <a:t>uneven number of B levels within each A</a:t>
            </a:r>
          </a:p>
          <a:p>
            <a:pPr lvl="0"/>
            <a:r>
              <a:rPr/>
              <a:t>uneven number of replicates within each level of B</a:t>
            </a:r>
          </a:p>
          <a:p>
            <a:pPr lvl="0" indent="0" marL="0">
              <a:buNone/>
            </a:pPr>
            <a:r>
              <a:rPr/>
              <a:t>Not a problem, unless have unequal variance or large deviation from - normality</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Assumptions</a:t>
            </a:r>
          </a:p>
        </p:txBody>
      </p:sp>
      <p:sp>
        <p:nvSpPr>
          <p:cNvPr id="3" name="Content Placeholder 2"/>
          <p:cNvSpPr>
            <a:spLocks noGrp="1"/>
          </p:cNvSpPr>
          <p:nvPr>
            <p:ph idx="1"/>
          </p:nvPr>
        </p:nvSpPr>
        <p:spPr/>
        <p:txBody>
          <a:bodyPr/>
          <a:lstStyle/>
          <a:p>
            <a:pPr lvl="0"/>
            <a:r>
              <a:rPr/>
              <a:t>As usual, we assume</a:t>
            </a:r>
          </a:p>
          <a:p>
            <a:pPr lvl="1"/>
            <a:r>
              <a:rPr/>
              <a:t>equal variance</a:t>
            </a:r>
          </a:p>
          <a:p>
            <a:pPr lvl="1"/>
            <a:r>
              <a:rPr/>
              <a:t>normality</a:t>
            </a:r>
          </a:p>
          <a:p>
            <a:pPr lvl="1"/>
            <a:r>
              <a:rPr/>
              <a:t>no outliers</a:t>
            </a:r>
          </a:p>
          <a:p>
            <a:pPr lvl="1"/>
            <a:r>
              <a:rPr/>
              <a:t>independence of observations</a:t>
            </a:r>
          </a:p>
          <a:p>
            <a:pPr lvl="0"/>
            <a:r>
              <a:rPr/>
              <a:t>Equal variance + normality need to be assessed at both levels:</a:t>
            </a:r>
          </a:p>
          <a:p>
            <a:pPr lvl="1"/>
            <a:r>
              <a:rPr/>
              <a:t>Since means for each level of B within each A are used for the H-test about A, need to assess whether those means meet normality and equal variance</a:t>
            </a:r>
          </a:p>
          <a:p>
            <a:pPr lvl="1"/>
            <a:r>
              <a:rPr/>
              <a:t>Examine residuals for H-test about B</a:t>
            </a:r>
          </a:p>
          <a:p>
            <a:pPr lvl="1"/>
            <a:r>
              <a:rPr/>
              <a:t>Transformations can be used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The nested design the hard way</a:t>
            </a:r>
          </a:p>
        </p:txBody>
      </p:sp>
      <p:sp>
        <p:nvSpPr>
          <p:cNvPr id="3" name="Content Placeholder 2"/>
          <p:cNvSpPr>
            <a:spLocks noGrp="1"/>
          </p:cNvSpPr>
          <p:nvPr>
            <p:ph idx="1"/>
          </p:nvPr>
        </p:nvSpPr>
        <p:spPr/>
        <p:txBody>
          <a:bodyPr/>
          <a:lstStyle/>
          <a:p>
            <a:pPr lvl="0" indent="0" marL="0">
              <a:buNone/>
            </a:pPr>
            <a:r>
              <a:rPr/>
              <a:t>This analysis examines the effects of varying sea urchin densities on the percentage cover of filamentous algae. The experiment was designed with:</a:t>
            </a:r>
          </a:p>
          <a:p>
            <a:pPr lvl="0"/>
            <a:r>
              <a:rPr/>
              <a:t>four random patches</a:t>
            </a:r>
          </a:p>
          <a:p>
            <a:pPr lvl="0"/>
            <a:r>
              <a:rPr/>
              <a:t>four urchin density treatments (</a:t>
            </a:r>
          </a:p>
          <a:p>
            <a:pPr lvl="1"/>
            <a:r>
              <a:rPr/>
              <a:t>none = removed</a:t>
            </a:r>
          </a:p>
          <a:p>
            <a:pPr lvl="1"/>
            <a:r>
              <a:rPr/>
              <a:t>low = control</a:t>
            </a:r>
          </a:p>
          <a:p>
            <a:pPr lvl="1"/>
            <a:r>
              <a:rPr/>
              <a:t>medium = 33% of original density</a:t>
            </a:r>
          </a:p>
          <a:p>
            <a:pPr lvl="1"/>
            <a:r>
              <a:rPr/>
              <a:t>high = 66% of original density)</a:t>
            </a:r>
          </a:p>
          <a:p>
            <a:pPr lvl="0"/>
            <a:r>
              <a:rPr/>
              <a:t>Five replicate quadrats were measured within each treatment-patch combination.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Data Overview</a:t>
            </a:r>
          </a:p>
        </p:txBody>
      </p:sp>
      <p:sp>
        <p:nvSpPr>
          <p:cNvPr id="3" name="Content Placeholder 2"/>
          <p:cNvSpPr>
            <a:spLocks noGrp="1"/>
          </p:cNvSpPr>
          <p:nvPr>
            <p:ph idx="1" sz="half"/>
          </p:nvPr>
        </p:nvSpPr>
        <p:spPr/>
        <p:txBody>
          <a:bodyPr/>
          <a:lstStyle/>
          <a:p>
            <a:pPr lvl="0"/>
            <a:r>
              <a:rPr/>
              <a:t>The dataframe contains the following variables:</a:t>
            </a:r>
          </a:p>
          <a:p>
            <a:pPr lvl="1"/>
            <a:r>
              <a:rPr/>
              <a:t>patch: Random patches (1-16) where treatments were applied</a:t>
            </a:r>
          </a:p>
          <a:p>
            <a:pPr lvl="1"/>
            <a:r>
              <a:rPr/>
              <a:t>treat: Urchin density treatment (None/Removed, Low/Control, Medium/33% Density, High/66% Density)</a:t>
            </a:r>
          </a:p>
          <a:p>
            <a:pPr lvl="1"/>
            <a:r>
              <a:rPr/>
              <a:t>quad: Replicate quadrats within each treatment-patch combination</a:t>
            </a:r>
          </a:p>
          <a:p>
            <a:pPr lvl="1"/>
            <a:r>
              <a:rPr/>
              <a:t>algae: Percentage cover of filamentous algae (response variable)</a:t>
            </a:r>
          </a:p>
          <a:p>
            <a:pPr lvl="0"/>
            <a:r>
              <a:rPr/>
              <a:t>Read data and make factors</a:t>
            </a:r>
          </a:p>
        </p:txBody>
      </p:sp>
      <p:sp>
        <p:nvSpPr>
          <p:cNvPr id="4" name="Content Placeholder 3"/>
          <p:cNvSpPr>
            <a:spLocks noGrp="1"/>
          </p:cNvSpPr>
          <p:nvPr>
            <p:ph idx="2" sz="half"/>
          </p:nvPr>
        </p:nvSpPr>
        <p:spPr/>
        <p:txBody>
          <a:bodyPr/>
          <a:lstStyle/>
          <a:p>
            <a:pPr lvl="0" indent="0">
              <a:buNone/>
            </a:pPr>
            <a:r>
              <a:rPr>
                <a:latin typeface="Courier"/>
              </a:rPr>
              <a:t>## Data
## # A tibble: 6 × 4
##   treat patch  quad algae
##   &lt;fct&gt; &lt;fct&gt; &lt;dbl&gt; &lt;dbl&gt;
## 1 high  1         1     0
## 2 high  1         2     0
## 3 high  1         3     0
## 4 high  1         4     6
## 5 high  1         5     2
## 6 high  2         1     0
## 
## 
## Treatment levels:
## [1] "none"   "low"    "medium" "high"</a:t>
            </a:r>
          </a:p>
          <a:p>
            <a:pPr lvl="0" indent="0" marL="0">
              <a:spcBef>
                <a:spcPts val="3000"/>
              </a:spcBef>
              <a:buNone/>
            </a:pPr>
            <a:r>
              <a:rPr b="1"/>
              <a:t>Summary statistics</a:t>
            </a:r>
          </a:p>
          <a:p>
            <a:pPr lvl="0" indent="0">
              <a:buNone/>
            </a:pPr>
            <a:r>
              <a:rPr>
                <a:latin typeface="Courier"/>
              </a:rPr>
              <a:t>## Summary statistics by treatment:
## # A tibble: 4 × 7
##   treat      n  mean    sd    se   min   max
##   &lt;fct&gt;  &lt;int&gt; &lt;dbl&gt; &lt;dbl&gt; &lt;dbl&gt; &lt;dbl&gt; &lt;dbl&gt;
## 1 none      20  39.2 28.7  6.41      0    83
## 2 low       20   1.3  3.18 0.711     0    13
## 3 medium    20  21.6 25.1  5.62      0    79
## 4 high      20  19   25.7  5.74      0    71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Plots</a:t>
            </a:r>
          </a:p>
        </p:txBody>
      </p:sp>
      <p:sp>
        <p:nvSpPr>
          <p:cNvPr id="3" name="Content Placeholder 2"/>
          <p:cNvSpPr>
            <a:spLocks noGrp="1"/>
          </p:cNvSpPr>
          <p:nvPr>
            <p:ph idx="1"/>
          </p:nvPr>
        </p:nvSpPr>
        <p:spPr/>
        <p:txBody>
          <a:bodyPr/>
          <a:lstStyle/>
          <a:p>
            <a:pPr lvl="0" indent="0">
              <a:buNone/>
            </a:pPr>
            <a:r>
              <a:rPr>
                <a:solidFill>
                  <a:srgbClr val="003B4F"/>
                </a:solidFill>
                <a:latin typeface="Courier"/>
              </a:rPr>
              <a:t>u_df </a:t>
            </a:r>
            <a:r>
              <a:rPr>
                <a:solidFill>
                  <a:srgbClr val="5E5E5E"/>
                </a:solidFill>
                <a:latin typeface="Courier"/>
              </a:rPr>
              <a:t>%&gt;%</a:t>
            </a: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(treat, algae))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4758AB"/>
                </a:solidFill>
                <a:latin typeface="Courier"/>
              </a:rPr>
              <a:t>aes</a:t>
            </a:r>
            <a:r>
              <a:rPr>
                <a:solidFill>
                  <a:srgbClr val="003B4F"/>
                </a:solidFill>
                <a:latin typeface="Courier"/>
              </a:rPr>
              <a:t>(treat, algae),</a:t>
            </a:r>
            <a:r>
              <a:rPr>
                <a:solidFill>
                  <a:srgbClr val="657422"/>
                </a:solidFill>
                <a:latin typeface="Courier"/>
              </a:rPr>
              <a:t>fun =</a:t>
            </a:r>
            <a:r>
              <a:rPr>
                <a:solidFill>
                  <a:srgbClr val="003B4F"/>
                </a:solidFill>
                <a:latin typeface="Courier"/>
              </a:rPr>
              <a:t> </a:t>
            </a:r>
            <a:r>
              <a:rPr>
                <a:solidFill>
                  <a:srgbClr val="20794D"/>
                </a:solidFill>
                <a:latin typeface="Courier"/>
              </a:rPr>
              <a:t>"mean"</a:t>
            </a:r>
            <a:r>
              <a:rPr>
                <a:solidFill>
                  <a:srgbClr val="003B4F"/>
                </a:solidFill>
                <a:latin typeface="Courier"/>
              </a:rPr>
              <a:t>, </a:t>
            </a:r>
            <a:r>
              <a:rPr>
                <a:solidFill>
                  <a:srgbClr val="657422"/>
                </a:solidFill>
                <a:latin typeface="Courier"/>
              </a:rPr>
              <a:t>geom=</a:t>
            </a:r>
            <a:r>
              <a:rPr>
                <a:solidFill>
                  <a:srgbClr val="20794D"/>
                </a:solidFill>
                <a:latin typeface="Courier"/>
              </a:rPr>
              <a:t>"point"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a:t>
            </a:r>
            <a:r>
              <a:rPr>
                <a:solidFill>
                  <a:srgbClr val="4758AB"/>
                </a:solidFill>
                <a:latin typeface="Courier"/>
              </a:rPr>
              <a:t>as.factor</a:t>
            </a:r>
            <a:r>
              <a:rPr>
                <a:solidFill>
                  <a:srgbClr val="003B4F"/>
                </a:solidFill>
                <a:latin typeface="Courier"/>
              </a:rPr>
              <a:t>(patch)),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AD0000"/>
                </a:solidFill>
                <a:latin typeface="Courier"/>
              </a:rPr>
              <a:t>0.3</a:t>
            </a:r>
            <a:r>
              <a:rPr>
                <a:solidFill>
                  <a:srgbClr val="003B4F"/>
                </a:solidFill>
                <a:latin typeface="Courier"/>
              </a:rPr>
              <a:t>))</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nested ANOVA</a:t>
            </a:r>
          </a:p>
        </p:txBody>
      </p:sp>
      <p:sp>
        <p:nvSpPr>
          <p:cNvPr id="3" name="Content Placeholder 2"/>
          <p:cNvSpPr>
            <a:spLocks noGrp="1"/>
          </p:cNvSpPr>
          <p:nvPr>
            <p:ph idx="1" sz="half"/>
          </p:nvPr>
        </p:nvSpPr>
        <p:spPr/>
        <p:txBody>
          <a:bodyPr/>
          <a:lstStyle/>
          <a:p>
            <a:pPr lvl="0"/>
            <a:r>
              <a:rPr/>
              <a:t>In this experimental design,</a:t>
            </a:r>
          </a:p>
          <a:p>
            <a:pPr lvl="1"/>
            <a:r>
              <a:rPr/>
              <a:t>patch is nested within treat because each patch received only one treatment level.</a:t>
            </a:r>
          </a:p>
          <a:p>
            <a:pPr lvl="1"/>
            <a:r>
              <a:rPr/>
              <a:t>a hierarchical design where the effect of patches must be considered within each treatment.</a:t>
            </a:r>
          </a:p>
          <a:p>
            <a:pPr lvl="1"/>
            <a:r>
              <a:rPr/>
              <a:t>in Quinn &amp; Keough (2002)</a:t>
            </a:r>
          </a:p>
          <a:p>
            <a:pPr lvl="0"/>
            <a:r>
              <a:rPr/>
              <a:t>we’ll use a traditional nested ANOVA</a:t>
            </a:r>
          </a:p>
          <a:p>
            <a:pPr lvl="1"/>
            <a:r>
              <a:rPr/>
              <a:t>you could make this easy and take the averages of the response variable algae</a:t>
            </a:r>
          </a:p>
          <a:p>
            <a:pPr lvl="1"/>
            <a:r>
              <a:rPr/>
              <a:t>do a one way anova</a:t>
            </a:r>
          </a:p>
          <a:p>
            <a:pPr lvl="2"/>
            <a:r>
              <a:rPr/>
              <a:t>your power is significantly reduced</a:t>
            </a:r>
          </a:p>
          <a:p>
            <a:pPr lvl="2"/>
            <a:r>
              <a:rPr/>
              <a:t>you don’t get estimates of variability of patches</a:t>
            </a:r>
          </a:p>
          <a:p>
            <a:pPr lvl="0"/>
            <a:r>
              <a:rPr/>
              <a:t>This is really a regular factorial anova</a:t>
            </a:r>
          </a:p>
          <a:p>
            <a:pPr lvl="1"/>
            <a:r>
              <a:rPr/>
              <a:t>really not appropriate as it is pseudoreplicated</a:t>
            </a:r>
          </a:p>
          <a:p>
            <a:pPr lvl="1"/>
            <a:r>
              <a:rPr/>
              <a:t>also the F value for Treat is using the MSresid</a:t>
            </a:r>
          </a:p>
          <a:p>
            <a:pPr lvl="1"/>
            <a:r>
              <a:rPr/>
              <a:t>should use MStreat:patch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Full model for patch effect and residual - proper nesting notation</a:t>
            </a:r>
            <a:br/>
            <a:r>
              <a:rPr>
                <a:solidFill>
                  <a:srgbClr val="5E5E5E"/>
                </a:solidFill>
                <a:latin typeface="Courier"/>
              </a:rPr>
              <a:t># First, get the standard ANOVA table to extract MS values</a:t>
            </a:r>
            <a:br/>
            <a:r>
              <a:rPr>
                <a:solidFill>
                  <a:srgbClr val="003B4F"/>
                </a:solidFill>
                <a:latin typeface="Courier"/>
              </a:rPr>
              <a:t>u_fact_model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"Factorial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Factorial model summary:</a:t>
            </a:r>
            <a:br/>
            <a:r>
              <a:rPr>
                <a:solidFill>
                  <a:srgbClr val="4758AB"/>
                </a:solidFill>
                <a:latin typeface="Courier"/>
              </a:rPr>
              <a:t>summary</a:t>
            </a:r>
            <a:r>
              <a:rPr>
                <a:solidFill>
                  <a:srgbClr val="003B4F"/>
                </a:solidFill>
                <a:latin typeface="Courier"/>
              </a:rPr>
              <a:t>(u_fact_model)</a:t>
            </a:r>
            <a:br/>
            <a:r>
              <a:rPr i="1">
                <a:solidFill>
                  <a:srgbClr val="5E5E5E"/>
                </a:solidFill>
                <a:latin typeface="Courier"/>
              </a:rPr>
              <a:t>##             Df Sum Sq Mean Sq F value       Pr(&gt;F)    </a:t>
            </a:r>
            <a:br/>
            <a:r>
              <a:rPr i="1">
                <a:solidFill>
                  <a:srgbClr val="5E5E5E"/>
                </a:solidFill>
                <a:latin typeface="Courier"/>
              </a:rPr>
              <a:t>## treat        3  14429    4810  16.108 0.0000000658 ***</a:t>
            </a:r>
            <a:br/>
            <a:r>
              <a:rPr i="1">
                <a:solidFill>
                  <a:srgbClr val="5E5E5E"/>
                </a:solidFill>
                <a:latin typeface="Courier"/>
              </a:rPr>
              <a:t>## treat:patch 12  21242    1770   5.928 0.0000008323 ***</a:t>
            </a:r>
            <a:br/>
            <a:r>
              <a:rPr i="1">
                <a:solidFill>
                  <a:srgbClr val="5E5E5E"/>
                </a:solidFill>
                <a:latin typeface="Courier"/>
              </a:rPr>
              <a:t>## Residuals   64  19110     299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factorial anova is not correct</a:t>
            </a:r>
          </a:p>
        </p:txBody>
      </p:sp>
      <p:sp>
        <p:nvSpPr>
          <p:cNvPr id="3" name="Content Placeholder 2"/>
          <p:cNvSpPr>
            <a:spLocks noGrp="1"/>
          </p:cNvSpPr>
          <p:nvPr>
            <p:ph idx="1" sz="half"/>
          </p:nvPr>
        </p:nvSpPr>
        <p:spPr/>
        <p:txBody>
          <a:bodyPr/>
          <a:lstStyle/>
          <a:p>
            <a:pPr lvl="0"/>
            <a:r>
              <a:rPr/>
              <a:t>We can correct this by specifying the error term</a:t>
            </a:r>
          </a:p>
          <a:p>
            <a:pPr lvl="0"/>
            <a:r>
              <a:rPr/>
              <a:t>The MS needed for the F value is really MS patch nested in treatments as those are the replicates</a:t>
            </a:r>
          </a:p>
          <a:p>
            <a:pPr lvl="0"/>
            <a:r>
              <a:rPr/>
              <a:t>we can specify that</a:t>
            </a:r>
          </a:p>
          <a:p>
            <a:pPr lvl="1"/>
            <a:r>
              <a:rPr/>
              <a:t>problem is that we can’t really handle unbalanced designs.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Explicitly specify the nesting</a:t>
            </a:r>
            <a:br/>
            <a:r>
              <a:rPr>
                <a:solidFill>
                  <a:srgbClr val="5E5E5E"/>
                </a:solidFill>
                <a:latin typeface="Courier"/>
              </a:rPr>
              <a:t># This will give you the correct F-test using patch within treat as error term</a:t>
            </a:r>
            <a:br/>
            <a:r>
              <a:rPr>
                <a:solidFill>
                  <a:srgbClr val="003B4F"/>
                </a:solidFill>
                <a:latin typeface="Courier"/>
              </a:rPr>
              <a:t>u_nested_model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"Correctly specified nested ANOVA:</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Correctly specified nested ANOVA:</a:t>
            </a:r>
            <a:br/>
            <a:r>
              <a:rPr>
                <a:solidFill>
                  <a:srgbClr val="4758AB"/>
                </a:solidFill>
                <a:latin typeface="Courier"/>
              </a:rPr>
              <a:t>summary</a:t>
            </a:r>
            <a:r>
              <a:rPr>
                <a:solidFill>
                  <a:srgbClr val="003B4F"/>
                </a:solidFill>
                <a:latin typeface="Courier"/>
              </a:rPr>
              <a:t>(u_nested_model)</a:t>
            </a:r>
            <a:br/>
            <a:r>
              <a:rPr i="1">
                <a:solidFill>
                  <a:srgbClr val="5E5E5E"/>
                </a:solidFill>
                <a:latin typeface="Courier"/>
              </a:rPr>
              <a:t>## </a:t>
            </a:r>
            <a:br/>
            <a:r>
              <a:rPr i="1">
                <a:solidFill>
                  <a:srgbClr val="5E5E5E"/>
                </a:solidFill>
                <a:latin typeface="Courier"/>
              </a:rPr>
              <a:t>## Error: treat:patch</a:t>
            </a:r>
            <a:br/>
            <a:r>
              <a:rPr i="1">
                <a:solidFill>
                  <a:srgbClr val="5E5E5E"/>
                </a:solidFill>
                <a:latin typeface="Courier"/>
              </a:rPr>
              <a:t>##           Df Sum Sq Mean Sq F value Pr(&gt;F)  </a:t>
            </a:r>
            <a:br/>
            <a:r>
              <a:rPr i="1">
                <a:solidFill>
                  <a:srgbClr val="5E5E5E"/>
                </a:solidFill>
                <a:latin typeface="Courier"/>
              </a:rPr>
              <a:t>## treat      3  14429    4810   2.717 0.0913 .</a:t>
            </a:r>
            <a:br/>
            <a:r>
              <a:rPr i="1">
                <a:solidFill>
                  <a:srgbClr val="5E5E5E"/>
                </a:solidFill>
                <a:latin typeface="Courier"/>
              </a:rPr>
              <a:t>## Residuals 12  21242    1770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Error: Within</a:t>
            </a:r>
            <a:br/>
            <a:r>
              <a:rPr i="1">
                <a:solidFill>
                  <a:srgbClr val="5E5E5E"/>
                </a:solidFill>
                <a:latin typeface="Courier"/>
              </a:rPr>
              <a:t>##           Df Sum Sq Mean Sq F value Pr(&gt;F)</a:t>
            </a:r>
            <a:br/>
            <a:r>
              <a:rPr i="1">
                <a:solidFill>
                  <a:srgbClr val="5E5E5E"/>
                </a:solidFill>
                <a:latin typeface="Courier"/>
              </a:rPr>
              <a:t>## Residuals 64  19110   298.6</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to do if it is unbalanced design</a:t>
            </a:r>
          </a:p>
        </p:txBody>
      </p:sp>
      <p:sp>
        <p:nvSpPr>
          <p:cNvPr id="3" name="Text Placeholder 2"/>
          <p:cNvSpPr>
            <a:spLocks noGrp="1"/>
          </p:cNvSpPr>
          <p:nvPr>
            <p:ph idx="1" type="body"/>
          </p:nvPr>
        </p:nvSpPr>
        <p:spPr/>
        <p:txBody>
          <a:bodyPr/>
          <a:lstStyle/>
          <a:p>
            <a:pPr lvl="0" indent="0" marL="0">
              <a:buNone/>
            </a:pPr>
            <a:r>
              <a:rPr/>
              <a:t>And you are from the 80’s and had big hair</a:t>
            </a:r>
          </a:p>
        </p:txBody>
      </p:sp>
      <p:pic>
        <p:nvPicPr>
          <p:cNvPr descr="images/clipboard-3990741592.png" id="0" name="Picture 1"/>
          <p:cNvPicPr>
            <a:picLocks noGrp="1" noChangeAspect="1"/>
          </p:cNvPicPr>
          <p:nvPr/>
        </p:nvPicPr>
        <p:blipFill>
          <a:blip r:embed="rId2"/>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Bon Jovi</a:t>
            </a:r>
          </a:p>
        </p:txBody>
      </p:sp>
      <p:pic>
        <p:nvPicPr>
          <p:cNvPr descr="images/clipboard-1147189835.png" id="0" name="Picture 1"/>
          <p:cNvPicPr>
            <a:picLocks noGrp="1" noChangeAspect="1"/>
          </p:cNvPicPr>
          <p:nvPr/>
        </p:nvPicPr>
        <p:blipFill>
          <a:blip r:embed="rId3"/>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David Bowie</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Using afex package (recommended for unbalanced designs)</a:t>
            </a:r>
            <a:br/>
            <a:r>
              <a:rPr>
                <a:solidFill>
                  <a:srgbClr val="5E5E5E"/>
                </a:solidFill>
                <a:latin typeface="Courier"/>
              </a:rPr>
              <a:t># The afex package is specifically designed for ANOVA with </a:t>
            </a:r>
            <a:br/>
            <a:r>
              <a:rPr>
                <a:solidFill>
                  <a:srgbClr val="5E5E5E"/>
                </a:solidFill>
                <a:latin typeface="Courier"/>
              </a:rPr>
              <a:t># Type III SS and handles nested designs pretty well:</a:t>
            </a:r>
            <a:b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5E5E5E"/>
                </a:solidFill>
                <a:latin typeface="Courier"/>
              </a:rPr>
              <a:t># This works and gives you the correct answer</a:t>
            </a: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 </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Fit the model with treatment as fixed effect and patch nested within treatment as random lmer(algae ~ treat + (1|treat:patch), data = u_df, control = lmerControl(optimizer = “bobyqa”, optCtrl = list(maxfun = 2e5)))</a:t>
            </a:r>
          </a:p>
          <a:p>
            <a:pPr lvl="0"/>
            <a:r>
              <a:rPr/>
              <a:t>BOBYQA (Bound Optimization BY Quadratic Approximation)</a:t>
            </a:r>
          </a:p>
          <a:p>
            <a:pPr lvl="1"/>
            <a:r>
              <a:rPr/>
              <a:t>optimization algorithm in mixed-effects modeling to find the best parameter values maximizing the likelihood function</a:t>
            </a:r>
          </a:p>
          <a:p>
            <a:pPr lvl="1"/>
            <a:r>
              <a:rPr/>
              <a:t>Useful when fitting complex models like the ones you’re working with in your nested ANOVA analysis</a:t>
            </a:r>
          </a:p>
          <a:p>
            <a:pPr lvl="0"/>
            <a:r>
              <a:rPr/>
              <a:t>Notation we will get into later</a:t>
            </a:r>
          </a:p>
          <a:p>
            <a:pPr lvl="1"/>
            <a:r>
              <a:rPr/>
              <a:t>random intercept - fixed slope - (1|patch)</a:t>
            </a:r>
          </a:p>
          <a:p>
            <a:pPr lvl="1"/>
            <a:r>
              <a:rPr/>
              <a:t>random intercept - random slope - (1|treat:patch)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Fit the model with treatment as fixed effect and patch nested within treatment as random</a:t>
            </a:r>
            <a:b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br/>
            <a:r>
              <a:rPr>
                <a:solidFill>
                  <a:srgbClr val="5E5E5E"/>
                </a:solidFill>
                <a:latin typeface="Courier"/>
              </a:rPr>
              <a:t># BOBYQA (Bound Optimization BY Quadratic Approximation) is an optimization algorithm used in mixed-effects modeling to find the best parameter values that maximize the likelihood function. It's especially useful when fitting complex models like the ones you're working with in your nested ANOVA analysis.</a:t>
            </a:r>
            <a:b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treat:patch)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treat:patch (Intercept) 294.3    17.16   </a:t>
            </a:r>
            <a:br/>
            <a:r>
              <a:rPr i="1">
                <a:solidFill>
                  <a:srgbClr val="5E5E5E"/>
                </a:solidFill>
                <a:latin typeface="Courier"/>
              </a:rPr>
              <a:t>##  Residual                298.6    17.28   </a:t>
            </a:r>
            <a:br/>
            <a:r>
              <a:rPr i="1">
                <a:solidFill>
                  <a:srgbClr val="5E5E5E"/>
                </a:solidFill>
                <a:latin typeface="Courier"/>
              </a:rPr>
              <a:t>## Number of obs: 80, groups:  treat:patch,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18.937      8.147  12.000   2.324  0.03846 * </a:t>
            </a:r>
            <a:br/>
            <a:r>
              <a:rPr i="1">
                <a:solidFill>
                  <a:srgbClr val="5E5E5E"/>
                </a:solidFill>
                <a:latin typeface="Courier"/>
              </a:rPr>
              <a:t>## treat2       -18.962      8.147  12.000  -2.327  0.03825 * </a:t>
            </a:r>
            <a:br/>
            <a:r>
              <a:rPr i="1">
                <a:solidFill>
                  <a:srgbClr val="5E5E5E"/>
                </a:solidFill>
                <a:latin typeface="Courier"/>
              </a:rPr>
              <a:t>## treat3         1.287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1 - the F-distribution with estimated degrees of freedom</a:t>
            </a:r>
          </a:p>
          <a:p>
            <a:pPr lvl="1"/>
            <a:r>
              <a:rPr/>
              <a:t>Accounts for the uncertainty in variance component estimation</a:t>
            </a:r>
          </a:p>
          <a:p>
            <a:pPr lvl="1"/>
            <a:r>
              <a:rPr/>
              <a:t>More conservative (higher p-values)</a:t>
            </a:r>
          </a:p>
          <a:p>
            <a:pPr lvl="1"/>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Type III ANOVA with F-statistics (not chi-square) using Satterthwaite's method</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2 - the Chi Square</a:t>
            </a:r>
          </a:p>
          <a:p>
            <a:pPr lvl="1"/>
            <a:r>
              <a:rPr/>
              <a:t>Assumes variance components are known (not estimated)</a:t>
            </a:r>
          </a:p>
          <a:p>
            <a:pPr lvl="1"/>
            <a:r>
              <a:rPr/>
              <a:t>More liberal (lower p-values)</a:t>
            </a:r>
          </a:p>
          <a:p>
            <a:pPr lvl="1"/>
            <a:r>
              <a:rPr/>
              <a:t>Assumes large samples</a:t>
            </a:r>
          </a:p>
          <a:p>
            <a:pPr lvl="0"/>
            <a:r>
              <a:rPr/>
              <a:t>Why Different Results?</a:t>
            </a:r>
          </a:p>
          <a:p>
            <a:pPr lvl="1"/>
            <a:r>
              <a:rPr/>
              <a:t>relationship between these tests is:</a:t>
            </a:r>
          </a:p>
          <a:p>
            <a:pPr lvl="1"/>
            <a:r>
              <a:rPr/>
              <a:t>Chi-square = F × numerator df</a:t>
            </a:r>
          </a:p>
          <a:p>
            <a:pPr lvl="0"/>
            <a:r>
              <a:rPr/>
              <a:t>The p-values differ because:</a:t>
            </a:r>
          </a:p>
          <a:p>
            <a:pPr lvl="1"/>
            <a:r>
              <a:rPr/>
              <a:t>F-test accounts for denominator df (12 in your case) - reflects sample size</a:t>
            </a:r>
          </a:p>
          <a:p>
            <a:pPr lvl="1"/>
            <a:r>
              <a:rPr/>
              <a:t>Chi-square assumes infinite denominator df - assumes large samples</a:t>
            </a:r>
          </a:p>
          <a:p>
            <a:pPr lvl="0"/>
            <a:r>
              <a:rPr b="1"/>
              <a:t>Rule of Thumb</a:t>
            </a:r>
          </a:p>
          <a:p>
            <a:pPr lvl="0"/>
            <a:r>
              <a:rPr/>
              <a:t>under 100 observations or &lt; 20 random effect levels: Use F-test</a:t>
            </a:r>
          </a:p>
          <a:p>
            <a:pPr lvl="0"/>
            <a:r>
              <a:rPr/>
              <a:t>over 500 observations and &gt; 50 random effect levels: Chi-square is okay</a:t>
            </a:r>
          </a:p>
          <a:p>
            <a:pPr lvl="0"/>
            <a:r>
              <a:rPr/>
              <a:t>In between: F-test is safer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Alternative using car package with F-statistic</a:t>
            </a:r>
            <a:br/>
            <a:r>
              <a:rPr>
                <a:solidFill>
                  <a:srgbClr val="003B4F"/>
                </a:solidFill>
                <a:latin typeface="Courier"/>
              </a:rPr>
              <a:t>u_anova_f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u_anova_f</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nested ANOVA model is specified as:</a:t>
                </a:r>
              </a:p>
              <a:p>
                <a:pPr lvl="0" indent="0" marL="0">
                  <a:buNone/>
                </a:pPr>
                <a14:m>
                  <m:oMath xmlns:m="http://schemas.openxmlformats.org/officeDocument/2006/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ϵ</m:t>
                        </m:r>
                      </m:e>
                      <m:sub>
                        <m:r>
                          <m:t>i</m:t>
                        </m:r>
                        <m:r>
                          <m:t>j</m:t>
                        </m:r>
                        <m:r>
                          <m:t>k</m:t>
                        </m:r>
                      </m:sub>
                    </m:sSub>
                  </m:oMath>
                </a14:m>
              </a:p>
              <a:p>
                <a:pPr lvl="0" indent="0" marL="0">
                  <a:buNone/>
                </a:pPr>
                <a:r>
                  <a:rPr/>
                  <a:t>Where:</a:t>
                </a:r>
              </a:p>
              <a:p>
                <a:pPr lvl="0"/>
                <a14:m>
                  <m:oMath xmlns:m="http://schemas.openxmlformats.org/officeDocument/2006/math">
                    <m:r>
                      <m:t>μ</m:t>
                    </m:r>
                  </m:oMath>
                </a14:m>
                <a:r>
                  <a:rPr/>
                  <a:t> is the overall mean</a:t>
                </a:r>
                <a:br/>
              </a:p>
              <a:p>
                <a:pPr lvl="0"/>
                <a14:m>
                  <m:oMath xmlns:m="http://schemas.openxmlformats.org/officeDocument/2006/math">
                    <m:sSub>
                      <m:e>
                        <m:r>
                          <m:t>α</m:t>
                        </m:r>
                      </m:e>
                      <m:sub>
                        <m:r>
                          <m:t>i</m:t>
                        </m:r>
                      </m:sub>
                    </m:sSub>
                  </m:oMath>
                </a14:m>
                <a:r>
                  <a:rPr/>
                  <a:t> is the fixed effect of treatment </a:t>
                </a:r>
                <a14:m>
                  <m:oMath xmlns:m="http://schemas.openxmlformats.org/officeDocument/2006/math">
                    <m:r>
                      <m:t>i</m:t>
                    </m:r>
                  </m:oMath>
                </a14:m>
                <a:br/>
              </a:p>
              <a:p>
                <a:pPr lvl="0"/>
                <a14:m>
                  <m:oMath xmlns:m="http://schemas.openxmlformats.org/officeDocument/2006/math">
                    <m:sSub>
                      <m:e>
                        <m:r>
                          <m:t>β</m:t>
                        </m:r>
                      </m:e>
                      <m:sub>
                        <m:r>
                          <m:t>j</m:t>
                        </m:r>
                        <m:d>
                          <m:dPr>
                            <m:begChr m:val="("/>
                            <m:sepChr m:val=""/>
                            <m:endChr m:val=")"/>
                            <m:grow/>
                          </m:dPr>
                          <m:e>
                            <m:r>
                              <m:t>i</m:t>
                            </m:r>
                          </m:e>
                        </m:d>
                      </m:sub>
                    </m:sSub>
                  </m:oMath>
                </a14:m>
                <a:r>
                  <a:rPr/>
                  <a:t> is the random effect of patch </a:t>
                </a:r>
                <a14:m>
                  <m:oMath xmlns:m="http://schemas.openxmlformats.org/officeDocument/2006/math">
                    <m:r>
                      <m:t>j</m:t>
                    </m:r>
                  </m:oMath>
                </a14:m>
                <a:r>
                  <a:rPr/>
                  <a:t> nested within treatment </a:t>
                </a:r>
                <a14:m>
                  <m:oMath xmlns:m="http://schemas.openxmlformats.org/officeDocument/2006/math">
                    <m:r>
                      <m:t>i</m:t>
                    </m:r>
                  </m:oMath>
                </a14:m>
                <a:br/>
              </a:p>
              <a:p>
                <a:pPr lvl="0"/>
                <a14:m>
                  <m:oMath xmlns:m="http://schemas.openxmlformats.org/officeDocument/2006/math">
                    <m:sSub>
                      <m:e>
                        <m:r>
                          <m:t>ϵ</m:t>
                        </m:r>
                      </m:e>
                      <m:sub>
                        <m:r>
                          <m:t>i</m:t>
                        </m:r>
                        <m:r>
                          <m:t>j</m:t>
                        </m:r>
                        <m:r>
                          <m:t>k</m:t>
                        </m:r>
                      </m:sub>
                    </m:sSub>
                  </m:oMath>
                </a14:m>
                <a:r>
                  <a:rPr/>
                  <a:t> is the residual error for quadrat </a:t>
                </a:r>
                <a14:m>
                  <m:oMath xmlns:m="http://schemas.openxmlformats.org/officeDocument/2006/math">
                    <m:r>
                      <m:t>k</m:t>
                    </m:r>
                  </m:oMath>
                </a14:m>
                <a:r>
                  <a:rPr/>
                  <a:t> in patch </a:t>
                </a:r>
                <a14:m>
                  <m:oMath xmlns:m="http://schemas.openxmlformats.org/officeDocument/2006/math">
                    <m:r>
                      <m:t>j</m:t>
                    </m:r>
                  </m:oMath>
                </a14:m>
                <a:r>
                  <a:rPr/>
                  <a:t> within treatment </a:t>
                </a:r>
                <a14:m>
                  <m:oMath xmlns:m="http://schemas.openxmlformats.org/officeDocument/2006/math">
                    <m:r>
                      <m:t>i</m:t>
                    </m:r>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Interpretation of ANOVA Results The nested ANOVA reveals that there was no significant effect of urchin density treatment on algae cover (χ² = 8.1513, df = 3, p = 0.04306). The variance component for patches nested within treatments (294.3) indicates substantial spatial heterogeneity in algae cover, highlighting the importance of accounting for this spatial variation in the analysis.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Post-hoc Comparisons</a:t>
            </a:r>
          </a:p>
        </p:txBody>
      </p:sp>
      <p:sp>
        <p:nvSpPr>
          <p:cNvPr id="3" name="Content Placeholder 2"/>
          <p:cNvSpPr>
            <a:spLocks noGrp="1"/>
          </p:cNvSpPr>
          <p:nvPr>
            <p:ph idx="1"/>
          </p:nvPr>
        </p:nvSpPr>
        <p:spPr/>
        <p:txBody>
          <a:bodyPr/>
          <a:lstStyle/>
          <a:p>
            <a:pPr lvl="0" indent="0" marL="0">
              <a:buNone/>
            </a:pPr>
            <a:r>
              <a:rPr/>
              <a:t>Although the main effect of treatment was marginally significant in the nested ANOVA (p = 0.04306), we can examine the mean differences between treatments to understand patterns in the data.</a:t>
            </a:r>
          </a:p>
          <a:p>
            <a:pPr lvl="0" indent="0">
              <a:buNone/>
            </a:pPr>
            <a:r>
              <a:rPr>
                <a:solidFill>
                  <a:srgbClr val="5E5E5E"/>
                </a:solidFill>
                <a:latin typeface="Courier"/>
              </a:rPr>
              <a:t># Calculate estimated marginal means</a:t>
            </a:r>
            <a:b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none     39.2 9.41 12    18.70     59.7</a:t>
            </a:r>
            <a:br/>
            <a:r>
              <a:rPr i="1">
                <a:solidFill>
                  <a:srgbClr val="5E5E5E"/>
                </a:solidFill>
                <a:latin typeface="Courier"/>
              </a:rPr>
              <a:t>##  low       1.3 9.41 12   -19.20     21.8</a:t>
            </a:r>
            <a:br/>
            <a:r>
              <a:rPr i="1">
                <a:solidFill>
                  <a:srgbClr val="5E5E5E"/>
                </a:solidFill>
                <a:latin typeface="Courier"/>
              </a:rPr>
              <a:t>##  medium   21.6 9.41 12     1.05     42.0</a:t>
            </a:r>
            <a:br/>
            <a:r>
              <a:rPr i="1">
                <a:solidFill>
                  <a:srgbClr val="5E5E5E"/>
                </a:solidFill>
                <a:latin typeface="Courier"/>
              </a:rPr>
              <a:t>##  high     19.0 9.41 12    -1.50     39.5</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Tukey Pairwise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with Sidak adjustment</a:t>
            </a:r>
            <a:b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none - low       37.90 13.3 12   2.849  0.0848</a:t>
            </a:r>
            <a:br/>
            <a:r>
              <a:rPr i="1">
                <a:solidFill>
                  <a:srgbClr val="5E5E5E"/>
                </a:solidFill>
                <a:latin typeface="Courier"/>
              </a:rPr>
              <a:t>##  none - medium    17.65 13.3 12   1.327  0.7557</a:t>
            </a:r>
            <a:br/>
            <a:r>
              <a:rPr i="1">
                <a:solidFill>
                  <a:srgbClr val="5E5E5E"/>
                </a:solidFill>
                <a:latin typeface="Courier"/>
              </a:rPr>
              <a:t>##  none - high      20.20 13.3 12   1.518  0.6356</a:t>
            </a:r>
            <a:br/>
            <a:r>
              <a:rPr i="1">
                <a:solidFill>
                  <a:srgbClr val="5E5E5E"/>
                </a:solidFill>
                <a:latin typeface="Courier"/>
              </a:rPr>
              <a:t>##  low - medium    -20.25 13.3 12  -1.522  0.6331</a:t>
            </a:r>
            <a:br/>
            <a:r>
              <a:rPr i="1">
                <a:solidFill>
                  <a:srgbClr val="5E5E5E"/>
                </a:solidFill>
                <a:latin typeface="Courier"/>
              </a:rPr>
              <a:t>##  low - high      -17.70 13.3 12  -1.330  0.7534</a:t>
            </a:r>
            <a:br/>
            <a:r>
              <a:rPr i="1">
                <a:solidFill>
                  <a:srgbClr val="5E5E5E"/>
                </a:solidFill>
                <a:latin typeface="Courier"/>
              </a:rPr>
              <a:t>##  medium - high     2.55 13.3 12   0.192  1.0000</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Letter Display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Extract compact letter display for plotting</a:t>
            </a:r>
            <a:b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low       1.3 9.41 12   -19.20     21.8  a    </a:t>
            </a:r>
            <a:br/>
            <a:r>
              <a:rPr i="1">
                <a:solidFill>
                  <a:srgbClr val="5E5E5E"/>
                </a:solidFill>
                <a:latin typeface="Courier"/>
              </a:rPr>
              <a:t>##  high     19.0 9.41 12    -1.50     39.5  a    </a:t>
            </a:r>
            <a:br/>
            <a:r>
              <a:rPr i="1">
                <a:solidFill>
                  <a:srgbClr val="5E5E5E"/>
                </a:solidFill>
                <a:latin typeface="Courier"/>
              </a:rPr>
              <a:t>##  medium   21.6 9.41 12     1.05     42.0  a    </a:t>
            </a:r>
            <a:br/>
            <a:r>
              <a:rPr i="1">
                <a:solidFill>
                  <a:srgbClr val="5E5E5E"/>
                </a:solidFill>
                <a:latin typeface="Courier"/>
              </a:rPr>
              <a:t>##  none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a:p>
            <a:pPr lvl="0" indent="0" marL="1270000">
              <a:buNone/>
            </a:pPr>
            <a:r>
              <a:rPr sz="2000" b="1"/>
              <a:t>Important</a:t>
            </a:r>
          </a:p>
          <a:p>
            <a:pPr lvl="0" indent="0" marL="1270000">
              <a:buNone/>
            </a:pPr>
            <a:r>
              <a:rPr sz="2000"/>
              <a:t>Interpretation of Treatment Comparisons The mean algae cover shows a clear pattern with increasing urchin density: None/Removed (39.20%) &gt; Medium/33% Density (19.00%) &gt; High/66% Density (21.55%) &gt; Low/Control (1.30%). The pattern suggests an inverse relationship between urchin density and algae cover, with complete removal showing the highest algae cover. The high variability among patches within treatments contributed to the marginal statistical significance for the treatment effect.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ANOVA Assumptions Testing</a:t>
            </a:r>
          </a:p>
        </p:txBody>
      </p:sp>
      <p:sp>
        <p:nvSpPr>
          <p:cNvPr id="3" name="Content Placeholder 2"/>
          <p:cNvSpPr>
            <a:spLocks noGrp="1"/>
          </p:cNvSpPr>
          <p:nvPr>
            <p:ph idx="1"/>
          </p:nvPr>
        </p:nvSpPr>
        <p:spPr/>
        <p:txBody>
          <a:bodyPr/>
          <a:lstStyle/>
          <a:p>
            <a:pPr lvl="0"/>
            <a:r>
              <a:rPr/>
              <a:t>For valid inference from ANOVA, several assumptions must be met. We test these assumptions below.</a:t>
            </a:r>
          </a:p>
          <a:p>
            <a:pPr lvl="0"/>
            <a:r>
              <a:rPr/>
              <a:t>Base R approach</a:t>
            </a:r>
          </a:p>
          <a:p>
            <a:pPr lvl="0"/>
            <a:r>
              <a:rPr/>
              <a:t>Note that it does not work that well</a:t>
            </a:r>
          </a:p>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Levenes Test for Homogeneity of Variance</a:t>
            </a:r>
          </a:p>
        </p:txBody>
      </p:sp>
      <p:sp>
        <p:nvSpPr>
          <p:cNvPr id="3" name="Content Placeholder 2"/>
          <p:cNvSpPr>
            <a:spLocks noGrp="1"/>
          </p:cNvSpPr>
          <p:nvPr>
            <p:ph idx="1" sz="half"/>
          </p:nvPr>
        </p:nvSpPr>
        <p:spPr/>
        <p:txBody>
          <a:bodyPr/>
          <a:lstStyle/>
          <a:p>
            <a:pPr lvl="0" indent="0" marL="0">
              <a:buNone/>
            </a:pPr>
            <a:r>
              <a:rPr/>
              <a:t>Levenes test</a:t>
            </a:r>
          </a:p>
          <a:p>
            <a:pPr lvl="0" indent="0">
              <a:buNone/>
            </a:pPr>
            <a:r>
              <a:rPr>
                <a:solidFill>
                  <a:srgbClr val="5E5E5E"/>
                </a:solidFill>
                <a:latin typeface="Courier"/>
              </a:rPr>
              <a:t># Homogeneity of Variance</a:t>
            </a:r>
            <a:br/>
            <a:r>
              <a:rPr>
                <a:solidFill>
                  <a:srgbClr val="5E5E5E"/>
                </a:solidFill>
                <a:latin typeface="Courier"/>
              </a:rPr>
              <a:t># Levene's test for homogeneity of variance</a:t>
            </a:r>
            <a:b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0">
              <a:buNone/>
            </a:pPr>
            <a:r>
              <a:rPr/>
              <a:t>Interpretation of Assumption Tests The Q-Q plot shows some deviation from normality, particularly in the tails, and Levene’s test indicates significant heterogeneity of variances across treatments (p = 0.00008785). As noted by Quinn &amp; Keough (2002), there were “large differences in within-cell variances” in this dataset, and transformations (including arcsin) did not improve variance homogeneity. However, ANOVA is generally robust to heteroscedasticity with balanced designs, which is why they chose to analyze untransformed data. The Residuals vs. fitted plot also shows a pattern of increasing variance with increasing fitted values, confirming the heteroscedasticity.</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Means Plot</a:t>
            </a:r>
          </a:p>
        </p:txBody>
      </p:sp>
      <p:sp>
        <p:nvSpPr>
          <p:cNvPr id="3" name="Content Placeholder 2"/>
          <p:cNvSpPr>
            <a:spLocks noGrp="1"/>
          </p:cNvSpPr>
          <p:nvPr>
            <p:ph idx="1"/>
          </p:nvPr>
        </p:nvSpPr>
        <p:spPr/>
        <p:txBody>
          <a:bodyPr/>
          <a:lstStyle/>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Discussion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Scientific Interpretation Our nested ANOVA analysis revealed substantial spatial heterogeneity in algae cover, with significant variation among patches within each treatment. The effect of urchin density treatments on filamentous algae cover was marginally significant at the α = 0.05 level (p = 0.043). The descriptive statistics show a clear pattern where algae cover increases as urchin density decreases, with None/Removed showing the highest cover (39.20%), followed by Medium/33% Density (19.00%), High/66% Density (21.55%), and Low/Control showing minimal algae cover (1.30%). This pattern demonstrates a density-dependent relationship between urchin grazing and algal abundance. The substantial variance component associated with patches nested within treatments (294.31, approximately 39.5% of total variance) underscores the importance of spatial heterogeneity in structuring algal communities. This finding highlights the necessity of accounting for spatial variability when designing and analyzing ecological field experiments. From an ecological perspective, these results suggest that sea urchins significantly influence algal communities through grazing, though local environmental factors and patch-specific conditions also play an important role in determining algae cover. This has important implications for ecosystem management, as it indicates that the effects of urchin density manipulations are context-dependent and influenced by local environmental conditions.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a:t>
            </a:r>
          </a:p>
        </p:txBody>
      </p:sp>
      <p:sp>
        <p:nvSpPr>
          <p:cNvPr id="3" name="Content Placeholder 2"/>
          <p:cNvSpPr>
            <a:spLocks noGrp="1"/>
          </p:cNvSpPr>
          <p:nvPr>
            <p:ph idx="1" sz="half"/>
          </p:nvPr>
        </p:nvSpPr>
        <p:spPr/>
        <p:txBody>
          <a:bodyPr/>
          <a:lstStyle/>
          <a:p>
            <a:pPr lvl="0" indent="0" marL="0">
              <a:buNone/>
            </a:pPr>
            <a:r>
              <a:rPr/>
              <a:t>But UGGGG who would EVER do this</a:t>
            </a:r>
          </a:p>
          <a:p>
            <a:pPr lvl="0" indent="0">
              <a:buNone/>
            </a:pPr>
            <a:r>
              <a:rPr>
                <a:solidFill>
                  <a:srgbClr val="5E5E5E"/>
                </a:solidFill>
                <a:latin typeface="Courier"/>
              </a:rPr>
              <a:t># Method 1: Convert to dataframe with Source as a proper variable</a:t>
            </a:r>
            <a:b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5E5E5E"/>
                </a:solidFill>
                <a:latin typeface="Courier"/>
              </a:rPr>
              <a:t># Extract values by position (much simpler!)</a:t>
            </a:r>
            <a:br/>
            <a:r>
              <a:rPr>
                <a:solidFill>
                  <a:srgbClr val="5E5E5E"/>
                </a:solidFill>
                <a:latin typeface="Courier"/>
              </a:rPr>
              <a:t># Row 1 = treat, Row 2 = treat:patch, Row 3 = Residuals</a:t>
            </a:r>
            <a:b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1, Mean Sq column</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2, Mean Sq column  </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3, Mean Sq column</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 </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"Extracted mean squares: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Extracted mean squares:</a:t>
            </a: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4809.713</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1770.162</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Calculate CORRECT F-ratios for nested design</a:t>
            </a:r>
            <a:b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"Corrected F-ratios: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F-ratios:</a:t>
            </a: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5E5E5E"/>
                </a:solidFill>
                <a:latin typeface="Courier"/>
              </a:rPr>
              <a:t># Calculate correct p-values</a:t>
            </a:r>
            <a:b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p-values: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p-values:</a:t>
            </a:r>
            <a:br/>
            <a:r>
              <a:rPr>
                <a:solidFill>
                  <a:srgbClr val="4758AB"/>
                </a:solidFill>
                <a:latin typeface="Courier"/>
              </a:rPr>
              <a:t>cat</a:t>
            </a:r>
            <a:r>
              <a:rPr>
                <a:solidFill>
                  <a:srgbClr val="003B4F"/>
                </a:solidFill>
                <a:latin typeface="Courier"/>
              </a:rPr>
              <a:t>(</a:t>
            </a:r>
            <a:r>
              <a:rPr>
                <a:solidFill>
                  <a:srgbClr val="20794D"/>
                </a:solidFill>
                <a:latin typeface="Courier"/>
              </a:rPr>
              <a:t>"p Treatment:"</a:t>
            </a:r>
            <a:r>
              <a:rPr>
                <a:solidFill>
                  <a:srgbClr val="003B4F"/>
                </a:solidFill>
                <a:latin typeface="Courier"/>
              </a:rPr>
              <a:t>, u_p_treat_correct,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p Treatment: 0.091262</a:t>
            </a:r>
            <a:br/>
            <a:r>
              <a:rPr>
                <a:solidFill>
                  <a:srgbClr val="4758AB"/>
                </a:solidFill>
                <a:latin typeface="Courier"/>
              </a:rPr>
              <a:t>cat</a:t>
            </a:r>
            <a:r>
              <a:rPr>
                <a:solidFill>
                  <a:srgbClr val="003B4F"/>
                </a:solidFill>
                <a:latin typeface="Courier"/>
              </a:rPr>
              <a:t>(</a:t>
            </a:r>
            <a:r>
              <a:rPr>
                <a:solidFill>
                  <a:srgbClr val="20794D"/>
                </a:solidFill>
                <a:latin typeface="Courier"/>
              </a:rPr>
              <a:t>"p Patch(Treatment):"</a:t>
            </a:r>
            <a:r>
              <a:rPr>
                <a:solidFill>
                  <a:srgbClr val="003B4F"/>
                </a:solidFill>
                <a:latin typeface="Courier"/>
              </a:rPr>
              <a:t>, u_p_patch,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 Patch(Treatment): 0.0000008322613</a:t>
            </a:r>
          </a:p>
          <a:p>
            <a:pPr lvl="0" indent="0">
              <a:buNone/>
            </a:pPr>
            <a:r>
              <a:rPr>
                <a:solidFill>
                  <a:srgbClr val="5E5E5E"/>
                </a:solidFill>
                <a:latin typeface="Courier"/>
              </a:rPr>
              <a:t># Create simple corrected table</a:t>
            </a: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 </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13 - Nested ANOVA</dc:title>
  <dc:creator>Bill Perry</dc:creator>
  <cp:keywords/>
  <dcterms:created xsi:type="dcterms:W3CDTF">2025-11-10T19:31:49Z</dcterms:created>
  <dcterms:modified xsi:type="dcterms:W3CDTF">2025-11-10T19:31:49Z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toc-title">
    <vt:lpwstr>Table of contents</vt:lpwstr>
  </property>
</Properties>
</file>