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06</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5: Review</a:t>
            </a:r>
          </a:p>
        </p:txBody>
      </p:sp>
      <p:sp>
        <p:nvSpPr>
          <p:cNvPr id="3" name="Content Placeholder 2"/>
          <p:cNvSpPr>
            <a:spLocks noGrp="1"/>
          </p:cNvSpPr>
          <p:nvPr>
            <p:ph idx="1"/>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 Tests</a:t>
            </a:r>
          </a:p>
          <a:p>
            <a:pPr lvl="0"/>
            <a:r>
              <a:rPr/>
              <a:t>Paired T Tests</a:t>
            </a:r>
          </a:p>
          <a:p>
            <a:pPr lvl="0" indent="0" marL="0">
              <a:buNone/>
            </a:pP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Brief review</a:t>
            </a:r>
          </a:p>
          <a:p>
            <a:pPr lvl="0"/>
            <a:r>
              <a:rPr/>
              <a:t>Hypothesis tests for two populations</a:t>
            </a:r>
          </a:p>
          <a:p>
            <a:pPr lvl="0"/>
            <a:r>
              <a:rPr/>
              <a:t>Assumptions of parametric tests</a:t>
            </a:r>
          </a:p>
          <a:p>
            <a:pPr lvl="0"/>
            <a:r>
              <a:rPr/>
              <a:t>Power of Parametric Tests</a:t>
            </a:r>
          </a:p>
          <a:p>
            <a:pPr lvl="0"/>
            <a:r>
              <a:rPr/>
              <a:t>Introduction to Non-Parametric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a:t>
            </a:r>
            <a:r>
              <a:rPr b="1"/>
              <a:t>30 times</a:t>
            </a:r>
          </a:p>
          <a:p>
            <a:pPr lvl="0"/>
            <a:r>
              <a:rPr/>
              <a:t>p = 0.03 means that if I repeated the study 100 times, I would get this (or more extreme) result due to chance </a:t>
            </a:r>
            <a:r>
              <a:rPr b="1"/>
              <a:t>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b="1"/>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06_01_lecture_powerpoint_files/figure-pptx/unnamed-chunk-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a:t>
            </a:r>
            <a:r>
              <a:rPr b="1"/>
              <a:t>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 - CLICK TO NEXT AS SAME TEXT</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a:t>
            </a:r>
          </a:p>
        </p:txBody>
      </p:sp>
      <p:pic>
        <p:nvPicPr>
          <p:cNvPr descr="06_01_lecture_powerpoint_files/figure-pptx/unnamed-chunk-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and concludes there is no effect.</a:t>
            </a:r>
          </a:p>
          <a:p>
            <a:pPr lvl="0" indent="-342900" marL="342900">
              <a:buAutoNum type="arabicPeriod"/>
            </a:pPr>
            <a:r>
              <a:rPr sz="2000"/>
              <a:t>Let’s calculate the power of our t-test to detect a 5 mm difference in mass sampling_sites: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1 units (g)</a:t>
            </a:r>
          </a:p>
          <a:p>
            <a:pPr lvl="1"/>
            <a:r>
              <a:rPr sz="2000">
                <a:latin typeface="Courier"/>
              </a:rPr>
              <a:t>delta = 0.423</a:t>
            </a:r>
            <a:r>
              <a:rPr sz="2000"/>
              <a:t>: The standardized effect size (Cohen’s d)</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br/>
            <a:r>
              <a:rPr>
                <a:solidFill>
                  <a:srgbClr val="003B4F"/>
                </a:solidFill>
                <a:latin typeface="Courier"/>
              </a:rPr>
              <a:t>m_df &lt;- </a:t>
            </a:r>
            <a:r>
              <a:rPr>
                <a:solidFill>
                  <a:srgbClr val="4758AB"/>
                </a:solidFill>
                <a:latin typeface="Courier"/>
              </a:rPr>
              <a:t>read_csv</a:t>
            </a:r>
            <a:r>
              <a:rPr>
                <a:solidFill>
                  <a:srgbClr val="003B4F"/>
                </a:solidFill>
                <a:latin typeface="Courier"/>
              </a:rPr>
              <a:t>(</a:t>
            </a:r>
            <a:r>
              <a:rPr>
                <a:solidFill>
                  <a:srgbClr val="20794D"/>
                </a:solidFill>
                <a:latin typeface="Courier"/>
              </a:rPr>
              <a:t>"data/mice_weights.csv"</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br/>
            <a:br/>
            <a:r>
              <a:rPr>
                <a:solidFill>
                  <a:srgbClr val="003B4F"/>
                </a:solidFill>
                <a:latin typeface="Courier"/>
              </a:rPr>
              <a:t>sidney_df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"Sidney Island"</a:t>
            </a:r>
            <a:r>
              <a:rPr>
                <a:solidFill>
                  <a:srgbClr val="003B4F"/>
                </a:solidFill>
                <a:latin typeface="Courier"/>
              </a:rPr>
              <a:t>)</a:t>
            </a:r>
            <a:br/>
            <a:r>
              <a:rPr>
                <a:solidFill>
                  <a:srgbClr val="003B4F"/>
                </a:solidFill>
                <a:latin typeface="Courier"/>
              </a:rPr>
              <a:t>vancouver_df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"Vancouver"</a:t>
            </a:r>
            <a:r>
              <a:rPr>
                <a:solidFill>
                  <a:srgbClr val="003B4F"/>
                </a:solidFill>
                <a:latin typeface="Courier"/>
              </a:rPr>
              <a:t>)</a:t>
            </a:r>
            <a:br/>
            <a:r>
              <a:rPr>
                <a:solidFill>
                  <a:srgbClr val="5E5E5E"/>
                </a:solidFill>
                <a:latin typeface="Courier"/>
              </a:rPr>
              <a:t># Calculate power for detecting a 30 mm difference</a:t>
            </a:r>
            <a:br/>
            <a:br/>
            <a:r>
              <a:rPr>
                <a:solidFill>
                  <a:srgbClr val="003B4F"/>
                </a:solidFill>
                <a:latin typeface="Courier"/>
              </a:rPr>
              <a:t>n1 &lt;- </a:t>
            </a:r>
            <a:r>
              <a:rPr>
                <a:solidFill>
                  <a:srgbClr val="4758AB"/>
                </a:solidFill>
                <a:latin typeface="Courier"/>
              </a:rPr>
              <a:t>nrow</a:t>
            </a:r>
            <a:r>
              <a:rPr>
                <a:solidFill>
                  <a:srgbClr val="003B4F"/>
                </a:solidFill>
                <a:latin typeface="Courier"/>
              </a:rPr>
              <a:t>(sidney_df)</a:t>
            </a:r>
            <a:br/>
            <a:r>
              <a:rPr>
                <a:solidFill>
                  <a:srgbClr val="003B4F"/>
                </a:solidFill>
                <a:latin typeface="Courier"/>
              </a:rPr>
              <a:t>n2 &lt;- </a:t>
            </a:r>
            <a:r>
              <a:rPr>
                <a:solidFill>
                  <a:srgbClr val="4758AB"/>
                </a:solidFill>
                <a:latin typeface="Courier"/>
              </a:rPr>
              <a:t>nrow</a:t>
            </a:r>
            <a:r>
              <a:rPr>
                <a:solidFill>
                  <a:srgbClr val="003B4F"/>
                </a:solidFill>
                <a:latin typeface="Courier"/>
              </a:rPr>
              <a:t>(vancouver_df)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(sidney_df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(vancouver_df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if we calculated power for the pine needles you measured?</a:t>
            </a:r>
          </a:p>
        </p:txBody>
      </p:sp>
      <p:sp>
        <p:nvSpPr>
          <p:cNvPr id="3" name="Content Placeholder 2"/>
          <p:cNvSpPr>
            <a:spLocks noGrp="1"/>
          </p:cNvSpPr>
          <p:nvPr>
            <p:ph idx="1"/>
          </p:nvPr>
        </p:nvSpPr>
        <p:spPr/>
        <p:txBody>
          <a:bodyPr/>
          <a:lstStyle/>
          <a:p>
            <a:pPr lvl="0" indent="0">
              <a:buNone/>
            </a:pPr>
            <a:r>
              <a:rPr>
                <a:solidFill>
                  <a:srgbClr val="003B4F"/>
                </a:solidFill>
                <a:latin typeface="Courier"/>
              </a:rPr>
              <a:t>pine_switch_df &lt;- </a:t>
            </a:r>
            <a:r>
              <a:rPr>
                <a:solidFill>
                  <a:srgbClr val="4758AB"/>
                </a:solidFill>
                <a:latin typeface="Courier"/>
              </a:rPr>
              <a:t>read_excel</a:t>
            </a:r>
            <a:r>
              <a:rPr>
                <a:solidFill>
                  <a:srgbClr val="003B4F"/>
                </a:solidFill>
                <a:latin typeface="Courier"/>
              </a:rPr>
              <a:t>(</a:t>
            </a:r>
            <a:r>
              <a:rPr>
                <a:solidFill>
                  <a:srgbClr val="20794D"/>
                </a:solidFill>
                <a:latin typeface="Courier"/>
              </a:rPr>
              <a:t>"data/class_pine needle length switched.xlsx"</a:t>
            </a:r>
            <a:r>
              <a:rPr>
                <a:solidFill>
                  <a:srgbClr val="003B4F"/>
                </a:solidFill>
                <a:latin typeface="Courier"/>
              </a:rPr>
              <a:t>)</a:t>
            </a:r>
            <a:br/>
            <a:r>
              <a:rPr>
                <a:solidFill>
                  <a:srgbClr val="003B4F"/>
                </a:solidFill>
                <a:latin typeface="Courier"/>
              </a:rPr>
              <a:t>ps_df &lt;- pine_switch_df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(group, tree_no, tree_char, side)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length_mm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br/>
            <a:r>
              <a:rPr>
                <a:solidFill>
                  <a:srgbClr val="003B4F"/>
                </a:solidFill>
                <a:latin typeface="Courier"/>
              </a:rPr>
              <a:t>ps_shady_df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a:t>
            </a:r>
            <a:br/>
            <a:br/>
            <a:r>
              <a:rPr>
                <a:solidFill>
                  <a:srgbClr val="003B4F"/>
                </a:solidFill>
                <a:latin typeface="Courier"/>
              </a:rPr>
              <a:t>ps_sunny_df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a:t>
            </a:r>
            <a:br/>
            <a:br/>
            <a:r>
              <a:rPr>
                <a:solidFill>
                  <a:srgbClr val="003B4F"/>
                </a:solidFill>
                <a:latin typeface="Courier"/>
              </a:rPr>
              <a:t>pine_alpha &lt;- </a:t>
            </a:r>
            <a:r>
              <a:rPr>
                <a:solidFill>
                  <a:srgbClr val="AD0000"/>
                </a:solidFill>
                <a:latin typeface="Courier"/>
              </a:rPr>
              <a:t>0.05</a:t>
            </a:r>
            <a:br/>
            <a:br/>
            <a:r>
              <a:rPr>
                <a:solidFill>
                  <a:srgbClr val="5E5E5E"/>
                </a:solidFill>
                <a:latin typeface="Courier"/>
              </a:rPr>
              <a:t># Calculate power for detecting a 30 mm difference</a:t>
            </a:r>
            <a:br/>
            <a:br/>
            <a:r>
              <a:rPr>
                <a:solidFill>
                  <a:srgbClr val="003B4F"/>
                </a:solidFill>
                <a:latin typeface="Courier"/>
              </a:rPr>
              <a:t>pine_n1 &lt;- </a:t>
            </a:r>
            <a:r>
              <a:rPr>
                <a:solidFill>
                  <a:srgbClr val="4758AB"/>
                </a:solidFill>
                <a:latin typeface="Courier"/>
              </a:rPr>
              <a:t>nrow</a:t>
            </a:r>
            <a:r>
              <a:rPr>
                <a:solidFill>
                  <a:srgbClr val="003B4F"/>
                </a:solidFill>
                <a:latin typeface="Courier"/>
              </a:rPr>
              <a:t>(ps_shady_df)  </a:t>
            </a:r>
            <a:r>
              <a:rPr>
                <a:solidFill>
                  <a:srgbClr val="5E5E5E"/>
                </a:solidFill>
                <a:latin typeface="Courier"/>
              </a:rPr>
              <a:t># FIX: was using sidney_df instead of ps_shady_df</a:t>
            </a:r>
            <a:br/>
            <a:r>
              <a:rPr>
                <a:solidFill>
                  <a:srgbClr val="003B4F"/>
                </a:solidFill>
                <a:latin typeface="Courier"/>
              </a:rPr>
              <a:t>pine_n2 &lt;- </a:t>
            </a:r>
            <a:r>
              <a:rPr>
                <a:solidFill>
                  <a:srgbClr val="4758AB"/>
                </a:solidFill>
                <a:latin typeface="Courier"/>
              </a:rPr>
              <a:t>nrow</a:t>
            </a:r>
            <a:r>
              <a:rPr>
                <a:solidFill>
                  <a:srgbClr val="003B4F"/>
                </a:solidFill>
                <a:latin typeface="Courier"/>
              </a:rPr>
              <a:t>(ps_sunny_df)  </a:t>
            </a:r>
            <a:r>
              <a:rPr>
                <a:solidFill>
                  <a:srgbClr val="5E5E5E"/>
                </a:solidFill>
                <a:latin typeface="Courier"/>
              </a:rPr>
              <a:t># FIX: was using vancouver_df instead of ps_sunny_df</a:t>
            </a:r>
            <a:br/>
            <a:br/>
            <a:r>
              <a:rPr>
                <a:solidFill>
                  <a:srgbClr val="003B4F"/>
                </a:solidFill>
                <a:latin typeface="Courier"/>
              </a:rPr>
              <a:t>pine_sd_pooled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(ps_sunny_df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(pine_n1 </a:t>
            </a:r>
            <a:r>
              <a:rPr>
                <a:solidFill>
                  <a:srgbClr val="5E5E5E"/>
                </a:solidFill>
                <a:latin typeface="Courier"/>
              </a:rPr>
              <a:t>+</a:t>
            </a:r>
            <a:r>
              <a:rPr>
                <a:solidFill>
                  <a:srgbClr val="003B4F"/>
                </a:solidFill>
                <a:latin typeface="Courier"/>
              </a:rPr>
              <a:t> pine_n2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FIX: was using n1, n2 instead of pine_n1, pine_n2</a:t>
            </a:r>
            <a:br/>
            <a:br/>
            <a:r>
              <a:rPr>
                <a:solidFill>
                  <a:srgbClr val="4758AB"/>
                </a:solidFill>
                <a:latin typeface="Courier"/>
              </a:rPr>
              <a:t>cat</a:t>
            </a:r>
            <a:r>
              <a:rPr>
                <a:solidFill>
                  <a:srgbClr val="003B4F"/>
                </a:solidFill>
                <a:latin typeface="Courier"/>
              </a:rPr>
              <a:t>(</a:t>
            </a:r>
            <a:r>
              <a:rPr>
                <a:solidFill>
                  <a:srgbClr val="20794D"/>
                </a:solidFill>
                <a:latin typeface="Courier"/>
              </a:rPr>
              <a:t>"Pooled SD:"</a:t>
            </a:r>
            <a:r>
              <a:rPr>
                <a:solidFill>
                  <a:srgbClr val="003B4F"/>
                </a:solidFill>
                <a:latin typeface="Courier"/>
              </a:rPr>
              <a:t>, </a:t>
            </a:r>
            <a:r>
              <a:rPr>
                <a:solidFill>
                  <a:srgbClr val="4758AB"/>
                </a:solidFill>
                <a:latin typeface="Courier"/>
              </a:rPr>
              <a:t>round</a:t>
            </a:r>
            <a:r>
              <a:rPr>
                <a:solidFill>
                  <a:srgbClr val="003B4F"/>
                </a:solidFill>
                <a:latin typeface="Courier"/>
              </a:rPr>
              <a:t>(pine_sd_pooled,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a:latin typeface="Courier"/>
              </a:rPr>
              <a:t>Pooled SD: 2.58 mm</a:t>
            </a:r>
          </a:p>
          <a:p>
            <a:pPr lvl="0" indent="0">
              <a:buNone/>
            </a:pPr>
            <a:r>
              <a:rPr>
                <a:solidFill>
                  <a:srgbClr val="5E5E5E"/>
                </a:solidFill>
                <a:latin typeface="Courier"/>
              </a:rPr>
              <a:t># More realistic effect sizes to test:</a:t>
            </a:r>
            <a:br/>
            <a:r>
              <a:rPr>
                <a:solidFill>
                  <a:srgbClr val="003B4F"/>
                </a:solidFill>
                <a:latin typeface="Courier"/>
              </a:rPr>
              <a:t>observed_diff &lt;- </a:t>
            </a:r>
            <a:r>
              <a:rPr>
                <a:solidFill>
                  <a:srgbClr val="4758AB"/>
                </a:solidFill>
                <a:latin typeface="Courier"/>
              </a:rPr>
              <a:t>abs</a:t>
            </a:r>
            <a:r>
              <a:rPr>
                <a:solidFill>
                  <a:srgbClr val="003B4F"/>
                </a:solidFill>
                <a:latin typeface="Courier"/>
              </a:rPr>
              <a:t>(</a:t>
            </a:r>
            <a:r>
              <a:rPr>
                <a:solidFill>
                  <a:srgbClr val="4758AB"/>
                </a:solidFill>
                <a:latin typeface="Courier"/>
              </a:rPr>
              <a:t>mean</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(ps_sunny_df</a:t>
            </a:r>
            <a:r>
              <a:rPr>
                <a:solidFill>
                  <a:srgbClr val="5E5E5E"/>
                </a:solidFill>
                <a:latin typeface="Courier"/>
              </a:rPr>
              <a:t>$</a:t>
            </a:r>
            <a:r>
              <a:rPr>
                <a:solidFill>
                  <a:srgbClr val="003B4F"/>
                </a:solidFill>
                <a:latin typeface="Courier"/>
              </a:rPr>
              <a:t>length_mm))</a:t>
            </a:r>
            <a:br/>
            <a:r>
              <a:rPr>
                <a:solidFill>
                  <a:srgbClr val="003B4F"/>
                </a:solidFill>
                <a:latin typeface="Courier"/>
              </a:rPr>
              <a:t>pine_effect_size_observed &lt;- observed_diff </a:t>
            </a:r>
            <a:r>
              <a:rPr>
                <a:solidFill>
                  <a:srgbClr val="5E5E5E"/>
                </a:solidFill>
                <a:latin typeface="Courier"/>
              </a:rPr>
              <a:t>/</a:t>
            </a:r>
            <a:r>
              <a:rPr>
                <a:solidFill>
                  <a:srgbClr val="003B4F"/>
                </a:solidFill>
                <a:latin typeface="Courier"/>
              </a:rPr>
              <a:t> pine_sd_pooled</a:t>
            </a:r>
            <a:br/>
            <a:r>
              <a:rPr>
                <a:solidFill>
                  <a:srgbClr val="4758AB"/>
                </a:solidFill>
                <a:latin typeface="Courier"/>
              </a:rPr>
              <a:t>cat</a:t>
            </a:r>
            <a:r>
              <a:rPr>
                <a:solidFill>
                  <a:srgbClr val="003B4F"/>
                </a:solidFill>
                <a:latin typeface="Courier"/>
              </a:rPr>
              <a:t>(</a:t>
            </a:r>
            <a:r>
              <a:rPr>
                <a:solidFill>
                  <a:srgbClr val="20794D"/>
                </a:solidFill>
                <a:latin typeface="Courier"/>
              </a:rPr>
              <a:t>"Effect size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 Cohen's d ="</a:t>
            </a:r>
            <a:r>
              <a:rPr>
                <a:solidFill>
                  <a:srgbClr val="003B4F"/>
                </a:solidFill>
                <a:latin typeface="Courier"/>
              </a:rPr>
              <a:t>, </a:t>
            </a:r>
            <a:r>
              <a:rPr>
                <a:solidFill>
                  <a:srgbClr val="4758AB"/>
                </a:solidFill>
                <a:latin typeface="Courier"/>
              </a:rPr>
              <a:t>round</a:t>
            </a:r>
            <a:r>
              <a:rPr>
                <a:solidFill>
                  <a:srgbClr val="003B4F"/>
                </a:solidFill>
                <a:latin typeface="Courier"/>
              </a:rPr>
              <a:t>(pine_effect_size_observed,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Effect size for observed 1.45 mm difference: Cohen's d = 0.56 </a:t>
            </a:r>
          </a:p>
          <a:p>
            <a:pPr lvl="0" indent="0">
              <a:buNone/>
            </a:pPr>
            <a:r>
              <a:rPr>
                <a:solidFill>
                  <a:srgbClr val="5E5E5E"/>
                </a:solidFill>
                <a:latin typeface="Courier"/>
              </a:rPr>
              <a:t># 2. Power for the observed difference</a:t>
            </a:r>
            <a:br/>
            <a:r>
              <a:rPr>
                <a:solidFill>
                  <a:srgbClr val="003B4F"/>
                </a:solidFill>
                <a:latin typeface="Courier"/>
              </a:rPr>
              <a:t>pine_power_observed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(pine_n1, pine_n2), </a:t>
            </a:r>
            <a:br/>
            <a:r>
              <a:rPr>
                <a:solidFill>
                  <a:srgbClr val="003B4F"/>
                </a:solidFill>
                <a:latin typeface="Courier"/>
              </a:rPr>
              <a:t>                                   </a:t>
            </a:r>
            <a:r>
              <a:rPr>
                <a:solidFill>
                  <a:srgbClr val="657422"/>
                </a:solidFill>
                <a:latin typeface="Courier"/>
              </a:rPr>
              <a:t>delta =</a:t>
            </a:r>
            <a:r>
              <a:rPr>
                <a:solidFill>
                  <a:srgbClr val="003B4F"/>
                </a:solidFill>
                <a:latin typeface="Courier"/>
              </a:rPr>
              <a:t> pine_effect_size_observed,</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pine_alpha,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"Power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a:t>
            </a:r>
            <a:r>
              <a:rPr>
                <a:solidFill>
                  <a:srgbClr val="003B4F"/>
                </a:solidFill>
                <a:latin typeface="Courier"/>
              </a:rPr>
              <a:t>, </a:t>
            </a:r>
            <a:r>
              <a:rPr>
                <a:solidFill>
                  <a:srgbClr val="4758AB"/>
                </a:solidFill>
                <a:latin typeface="Courier"/>
              </a:rPr>
              <a:t>round</a:t>
            </a:r>
            <a:r>
              <a:rPr>
                <a:solidFill>
                  <a:srgbClr val="003B4F"/>
                </a:solidFill>
                <a:latin typeface="Courier"/>
              </a:rPr>
              <a:t>(pine_power_observed</a:t>
            </a:r>
            <a:r>
              <a:rPr>
                <a:solidFill>
                  <a:srgbClr val="5E5E5E"/>
                </a:solidFill>
                <a:latin typeface="Courier"/>
              </a:rPr>
              <a:t>$</a:t>
            </a:r>
            <a:r>
              <a:rPr>
                <a:solidFill>
                  <a:srgbClr val="003B4F"/>
                </a:solidFill>
                <a:latin typeface="Courier"/>
              </a:rPr>
              <a:t>power,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Power for observed 1.45 mm difference: 0.182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XXg between the groups.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06_01_lecture_powerpoint_files/figure-pptx/unnamed-chunk-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06_01_lecture_powerpoint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06</dc:title>
  <dc:creator>Bill Perry</dc:creator>
  <cp:keywords/>
  <dcterms:created xsi:type="dcterms:W3CDTF">2025-11-09T22:29:46Z</dcterms:created>
  <dcterms:modified xsi:type="dcterms:W3CDTF">2025-11-09T22:29:46Z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