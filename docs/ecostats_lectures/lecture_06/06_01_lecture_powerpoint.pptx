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p-values</a:t>
            </a:r>
          </a:p>
          <a:p>
            <a:pPr lvl="0"/>
            <a:r>
              <a:rPr/>
              <a:t>Brief review</a:t>
            </a:r>
          </a:p>
          <a:p>
            <a:pPr lvl="0"/>
            <a:r>
              <a:rPr/>
              <a:t>H test for a single population</a:t>
            </a:r>
          </a:p>
          <a:p>
            <a:pPr lvl="0"/>
            <a:r>
              <a:rPr/>
              <a:t>1- and 2-sided tests</a:t>
            </a:r>
          </a:p>
          <a:p>
            <a:pPr lvl="0"/>
            <a:r>
              <a:rPr/>
              <a:t>Hypothesis tests for two populations</a:t>
            </a:r>
          </a:p>
          <a:p>
            <a:pPr lvl="0"/>
            <a:r>
              <a:rPr/>
              <a:t>Assumptions of 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30 times</a:t>
            </a:r>
          </a:p>
          <a:p>
            <a:pPr lvl="0"/>
            <a:r>
              <a:rPr/>
              <a:t>p = 0.03 means that if I repeated the study 100 times, I would get this (or more extreme) result due to chance 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30 units (mm)</a:t>
            </a:r>
          </a:p>
          <a:p>
            <a:pPr lvl="1"/>
            <a:r>
              <a:rPr sz="2000">
                <a:latin typeface="Courier"/>
              </a:rPr>
              <a:t>delta = 0.6741298</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grayling_df &lt;- </a:t>
            </a:r>
            <a:r>
              <a:rPr>
                <a:solidFill>
                  <a:srgbClr val="4758AB"/>
                </a:solidFill>
                <a:latin typeface="Courier"/>
              </a:rPr>
              <a:t>read_csv</a:t>
            </a:r>
            <a:r>
              <a:rPr>
                <a:solidFill>
                  <a:srgbClr val="003B4F"/>
                </a:solidFill>
                <a:latin typeface="Courier"/>
              </a:rPr>
              <a:t>(</a:t>
            </a:r>
            <a:r>
              <a:rPr>
                <a:solidFill>
                  <a:srgbClr val="20794D"/>
                </a:solidFill>
                <a:latin typeface="Courier"/>
              </a:rPr>
              <a:t>"data/gray_I3_I8.csv"</a:t>
            </a:r>
            <a:r>
              <a:rPr>
                <a:solidFill>
                  <a:srgbClr val="003B4F"/>
                </a:solidFill>
                <a:latin typeface="Courier"/>
              </a:rPr>
              <a:t>)</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r>
              <a:rPr>
                <a:solidFill>
                  <a:srgbClr val="003B4F"/>
                </a:solidFill>
                <a:latin typeface="Courier"/>
              </a:rPr>
              <a:t>i8_df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"I8"</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(i3_df)</a:t>
            </a:r>
            <a:br/>
            <a:r>
              <a:rPr>
                <a:solidFill>
                  <a:srgbClr val="003B4F"/>
                </a:solidFill>
                <a:latin typeface="Courier"/>
              </a:rPr>
              <a:t>n2 &lt;- </a:t>
            </a:r>
            <a:r>
              <a:rPr>
                <a:solidFill>
                  <a:srgbClr val="4758AB"/>
                </a:solidFill>
                <a:latin typeface="Courier"/>
              </a:rPr>
              <a:t>nrow</a:t>
            </a:r>
            <a:r>
              <a:rPr>
                <a:solidFill>
                  <a:srgbClr val="003B4F"/>
                </a:solidFill>
                <a:latin typeface="Courier"/>
              </a:rPr>
              <a:t>(i8_df)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(i8_df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30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30mm between the groups.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Practical Applications in Fish Biology</a:t>
            </a:r>
          </a:p>
        </p:txBody>
      </p:sp>
      <p:sp>
        <p:nvSpPr>
          <p:cNvPr id="3" name="Content Placeholder 2"/>
          <p:cNvSpPr>
            <a:spLocks noGrp="1"/>
          </p:cNvSpPr>
          <p:nvPr>
            <p:ph idx="1" sz="half"/>
          </p:nvPr>
        </p:nvSpPr>
        <p:spPr/>
        <p:txBody>
          <a:bodyPr/>
          <a:lstStyle/>
          <a:p>
            <a:pPr lvl="0" indent="0" marL="0">
              <a:buNone/>
            </a:pPr>
            <a:r>
              <a:rPr/>
              <a:t>The statistical concepts we’ve covered today are essential for fisheries biologists and ecologists:</a:t>
            </a:r>
          </a:p>
          <a:p>
            <a:pPr lvl="0"/>
            <a:r>
              <a:rPr b="1"/>
              <a:t>Standard error</a:t>
            </a:r>
            <a:r>
              <a:rPr/>
              <a:t> quantifies uncertainty in growth rate estimates</a:t>
            </a:r>
          </a:p>
          <a:p>
            <a:pPr lvl="0"/>
            <a:r>
              <a:rPr b="1"/>
              <a:t>Confidence intervals</a:t>
            </a:r>
            <a:r>
              <a:rPr/>
              <a:t> provide plausible ranges for population parameters</a:t>
            </a:r>
          </a:p>
          <a:p>
            <a:pPr lvl="0"/>
            <a:r>
              <a:rPr b="1"/>
              <a:t>Hypothesis testing</a:t>
            </a:r>
            <a:r>
              <a:rPr/>
              <a:t> evaluates effects of management practices</a:t>
            </a:r>
          </a:p>
          <a:p>
            <a:pPr lvl="0"/>
            <a:r>
              <a:rPr b="1"/>
              <a:t>P-values</a:t>
            </a:r>
            <a:r>
              <a:rPr/>
              <a:t> determine significance of environmental impacts</a:t>
            </a:r>
          </a:p>
          <a:p>
            <a:pPr lvl="0" indent="0" marL="0">
              <a:buNone/>
            </a:pPr>
            <a:r>
              <a:rPr b="1"/>
              <a:t>Real-world applications:</a:t>
            </a:r>
          </a:p>
          <a:p>
            <a:pPr lvl="0"/>
            <a:r>
              <a:rPr/>
              <a:t>Assessing population health and structure</a:t>
            </a:r>
          </a:p>
          <a:p>
            <a:pPr lvl="0"/>
            <a:r>
              <a:rPr/>
              <a:t>Evaluating effectiveness of fishing regulations</a:t>
            </a:r>
          </a:p>
          <a:p>
            <a:pPr lvl="0"/>
            <a:r>
              <a:rPr/>
              <a:t>Quantifying relationships between fish size and habitat variables</a:t>
            </a:r>
          </a:p>
          <a:p>
            <a:pPr lvl="0"/>
            <a:r>
              <a:rPr/>
              <a:t>Predicting impacts of climate change on fish populations</a:t>
            </a:r>
          </a:p>
          <a:p>
            <a:pPr lvl="0"/>
            <a:r>
              <a:rPr/>
              <a:t>Designing effective conservation strategies</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2025-09-09T15:36:36Z</dcterms:created>
  <dcterms:modified xsi:type="dcterms:W3CDTF">2025-09-09T15:36:36Z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