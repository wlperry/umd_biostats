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"Vancouver"</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r>
              <a:rPr>
                <a:solidFill>
                  <a:srgbClr val="003B4F"/>
                </a:solidFill>
                <a:latin typeface="Courier"/>
              </a:rPr>
              <a:t>ps_df &lt;- pine_switch_df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pine_alpha &lt;- </a:t>
            </a:r>
            <a:r>
              <a:rPr>
                <a:solidFill>
                  <a:srgbClr val="AD0000"/>
                </a:solidFill>
                <a:latin typeface="Courier"/>
              </a:rPr>
              <a:t>0.05</a:t>
            </a:r>
            <a:br/>
            <a:br/>
            <a:r>
              <a:rPr>
                <a:solidFill>
                  <a:srgbClr val="5E5E5E"/>
                </a:solidFill>
                <a:latin typeface="Courier"/>
              </a:rPr>
              <a:t># Calculate power for detecting a 30 mm difference</a:t>
            </a:r>
            <a:br/>
            <a:br/>
            <a:r>
              <a:rPr>
                <a:solidFill>
                  <a:srgbClr val="003B4F"/>
                </a:solidFill>
                <a:latin typeface="Courier"/>
              </a:rPr>
              <a:t>pine_n1 &lt;- </a:t>
            </a:r>
            <a:r>
              <a:rPr>
                <a:solidFill>
                  <a:srgbClr val="4758AB"/>
                </a:solidFill>
                <a:latin typeface="Courier"/>
              </a:rPr>
              <a:t>nrow</a:t>
            </a:r>
            <a:r>
              <a:rPr>
                <a:solidFill>
                  <a:srgbClr val="003B4F"/>
                </a:solidFill>
                <a:latin typeface="Courier"/>
              </a:rPr>
              <a:t>(ps_shady_df)  </a:t>
            </a:r>
            <a:r>
              <a:rPr>
                <a:solidFill>
                  <a:srgbClr val="5E5E5E"/>
                </a:solidFill>
                <a:latin typeface="Courier"/>
              </a:rPr>
              <a:t># FIX: was using sidney_df instead of ps_shady_df</a:t>
            </a:r>
            <a:br/>
            <a:r>
              <a:rPr>
                <a:solidFill>
                  <a:srgbClr val="003B4F"/>
                </a:solidFill>
                <a:latin typeface="Courier"/>
              </a:rPr>
              <a:t>pine_n2 &lt;- </a:t>
            </a:r>
            <a:r>
              <a:rPr>
                <a:solidFill>
                  <a:srgbClr val="4758AB"/>
                </a:solidFill>
                <a:latin typeface="Courier"/>
              </a:rPr>
              <a:t>nrow</a:t>
            </a:r>
            <a:r>
              <a:rPr>
                <a:solidFill>
                  <a:srgbClr val="003B4F"/>
                </a:solidFill>
                <a:latin typeface="Courier"/>
              </a:rPr>
              <a:t>(ps_sunny_df)  </a:t>
            </a:r>
            <a:r>
              <a:rPr>
                <a:solidFill>
                  <a:srgbClr val="5E5E5E"/>
                </a:solidFill>
                <a:latin typeface="Courier"/>
              </a:rPr>
              <a:t># FIX: was using vancouver_df instead of ps_sunny_df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(pine_n1 </a:t>
            </a:r>
            <a:r>
              <a:rPr>
                <a:solidFill>
                  <a:srgbClr val="5E5E5E"/>
                </a:solidFill>
                <a:latin typeface="Courier"/>
              </a:rPr>
              <a:t>+</a:t>
            </a:r>
            <a:r>
              <a:rPr>
                <a:solidFill>
                  <a:srgbClr val="003B4F"/>
                </a:solidFill>
                <a:latin typeface="Courier"/>
              </a:rPr>
              <a:t> pine_n2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FIX: was using n1, n2 instead of pine_n1, pine_n2</a:t>
            </a:r>
            <a:br/>
            <a:b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Pooled SD: 2.58 mm</a:t>
            </a:r>
          </a:p>
          <a:p>
            <a:pPr lvl="0" indent="0">
              <a:buNone/>
            </a:pPr>
            <a:r>
              <a:rPr>
                <a:solidFill>
                  <a:srgbClr val="5E5E5E"/>
                </a:solidFill>
                <a:latin typeface="Courier"/>
              </a:rPr>
              <a:t># More realistic effect sizes to test:</a:t>
            </a: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pine_effect_size_observed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"Effect size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 Cohen's d ="</a:t>
            </a:r>
            <a:r>
              <a:rPr>
                <a:solidFill>
                  <a:srgbClr val="003B4F"/>
                </a:solidFill>
                <a:latin typeface="Courier"/>
              </a:rPr>
              <a:t>, </a:t>
            </a:r>
            <a:r>
              <a:rPr>
                <a:solidFill>
                  <a:srgbClr val="4758AB"/>
                </a:solidFill>
                <a:latin typeface="Courier"/>
              </a:rPr>
              <a:t>round</a:t>
            </a:r>
            <a:r>
              <a:rPr>
                <a:solidFill>
                  <a:srgbClr val="003B4F"/>
                </a:solidFill>
                <a:latin typeface="Courier"/>
              </a:rPr>
              <a:t>(pine_effect_size_observed,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Effect size for observed 1.45 mm difference: Cohen's d = 0.56 </a:t>
            </a:r>
          </a:p>
          <a:p>
            <a:pPr lvl="0" indent="0">
              <a:buNone/>
            </a:pPr>
            <a:r>
              <a:rPr>
                <a:solidFill>
                  <a:srgbClr val="5E5E5E"/>
                </a:solidFill>
                <a:latin typeface="Courier"/>
              </a:rPr>
              <a:t># 2. Power for the observed difference</a:t>
            </a:r>
            <a:br/>
            <a:r>
              <a:rPr>
                <a:solidFill>
                  <a:srgbClr val="003B4F"/>
                </a:solidFill>
                <a:latin typeface="Courier"/>
              </a:rPr>
              <a:t>pine_power_observed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(pine_n1, pine_n2), </a:t>
            </a:r>
            <a:br/>
            <a:r>
              <a:rPr>
                <a:solidFill>
                  <a:srgbClr val="003B4F"/>
                </a:solidFill>
                <a:latin typeface="Courier"/>
              </a:rPr>
              <a:t>                                   </a:t>
            </a:r>
            <a:r>
              <a:rPr>
                <a:solidFill>
                  <a:srgbClr val="657422"/>
                </a:solidFill>
                <a:latin typeface="Courier"/>
              </a:rPr>
              <a:t>delta =</a:t>
            </a:r>
            <a:r>
              <a:rPr>
                <a:solidFill>
                  <a:srgbClr val="003B4F"/>
                </a:solidFill>
                <a:latin typeface="Courier"/>
              </a:rPr>
              <a:t> pine_effect_size_observed,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pine_alpha,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a:t>
            </a:r>
            <a:r>
              <a:rPr>
                <a:solidFill>
                  <a:srgbClr val="003B4F"/>
                </a:solidFill>
                <a:latin typeface="Courier"/>
              </a:rPr>
              <a:t>, </a:t>
            </a:r>
            <a:r>
              <a:rPr>
                <a:solidFill>
                  <a:srgbClr val="4758AB"/>
                </a:solidFill>
                <a:latin typeface="Courier"/>
              </a:rPr>
              <a:t>round</a:t>
            </a:r>
            <a:r>
              <a:rPr>
                <a:solidFill>
                  <a:srgbClr val="003B4F"/>
                </a:solidFill>
                <a:latin typeface="Courier"/>
              </a:rPr>
              <a:t>(pine_power_observed</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2025-11-12T15:52:35Z</dcterms:created>
  <dcterms:modified xsi:type="dcterms:W3CDTF">2025-11-12T15:52:35Z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