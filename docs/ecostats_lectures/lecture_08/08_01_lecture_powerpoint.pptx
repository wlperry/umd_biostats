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0"/>
            <a:r>
              <a:rPr/>
              <a:t>Effect of factor X on variable Y?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1: Formulating 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Formulating Research Questions</a:t>
            </a:r>
          </a:p>
          <a:p>
            <a:pPr lvl="0"/>
            <a:r>
              <a:rPr sz="2000"/>
              <a:t>Take 5 minutes to write down 2-3 potential research questions about pine trees on our campus.</a:t>
            </a:r>
          </a:p>
          <a:p>
            <a:pPr lvl="0"/>
            <a:r>
              <a:rPr sz="2000"/>
              <a:t>Be as specific as possible about what you would measure.</a:t>
            </a:r>
          </a:p>
          <a:p>
            <a:pPr lvl="0"/>
            <a:r>
              <a:rPr sz="2000"/>
              <a:t>Share with a partner and discuss which questions would be easier to address experimentally.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2: Pine Needle Natural 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Pine Needle Natural Experiment Design</a:t>
            </a:r>
          </a:p>
          <a:p>
            <a:pPr lvl="0" indent="0" marL="1270000">
              <a:buNone/>
            </a:pPr>
            <a:r>
              <a:rPr sz="2000"/>
              <a:t>Suppose we want to investigate whether wind exposure affects pine needle length across our campus. We decide to pick exposed sheltered locations. What sort of design would we conduct?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simulate some pine needle data from exposed and sheltered locations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"exposed"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sheltered_locations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"sheltered"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fake_pine_data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(exposed_locations, sheltered_locations)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fake_pine_data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(wind,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In small groups, discuss:</a:t>
            </a:r>
          </a:p>
          <a:p>
            <a:pPr lvl="0" indent="-342900" marL="342900">
              <a:buAutoNum type="arabicPeriod"/>
            </a:pPr>
            <a:r>
              <a:rPr sz="2000"/>
              <a:t>What confounding variables might affect this natural experiment?</a:t>
            </a:r>
          </a:p>
          <a:p>
            <a:pPr lvl="0" indent="-342900" marL="342900">
              <a:buAutoNum type="arabicPeriod"/>
            </a:pPr>
            <a:r>
              <a:rPr sz="2000"/>
              <a:t>How would you design a study to reduce these confounding effects?</a:t>
            </a:r>
          </a:p>
          <a:p>
            <a:pPr lvl="0" indent="-342900" marL="342900">
              <a:buAutoNum type="arabicPeriod"/>
            </a:pPr>
            <a:r>
              <a:rPr sz="2000"/>
              <a:t>What data would you collect besides needle length?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0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0"/>
            <a:r>
              <a:rPr/>
              <a:t>What hypothesis is this design addressing?</a:t>
            </a:r>
          </a:p>
          <a:p>
            <a:pPr lvl="0" indent="0" marL="0">
              <a:buNone/>
            </a:pPr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0"/>
            <a:r>
              <a:rPr/>
              <a:t>2 aquaria (+Cu, control), 5 settling plates in each</a:t>
            </a:r>
          </a:p>
          <a:p>
            <a:pPr lvl="0"/>
            <a:r>
              <a:rPr/>
              <a:t>Are settling plates replicates?</a:t>
            </a:r>
          </a:p>
          <a:p>
            <a:pPr lvl="0" indent="0" marL="0">
              <a:buNone/>
            </a:pPr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0"/>
            <a:r>
              <a:rPr/>
              <a:t>10 water samples above discharge, 10 below</a:t>
            </a:r>
          </a:p>
          <a:p>
            <a:pPr lvl="0"/>
            <a:r>
              <a:rPr/>
              <a:t>Are samples replicates?</a:t>
            </a:r>
          </a:p>
        </p:txBody>
      </p:sp>
      <p:pic>
        <p:nvPicPr>
          <p:cNvPr descr="images/clipboard-29411527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3: Identifying True 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Identifying True Replication</a:t>
            </a:r>
          </a:p>
          <a:p>
            <a:pPr lvl="0" indent="0" marL="1270000">
              <a:buNone/>
            </a:pPr>
            <a:r>
              <a:rPr sz="2000"/>
              <a:t>For each scenario below, identify whether there is true replication or pseudoreplication:</a:t>
            </a:r>
          </a:p>
          <a:p>
            <a:pPr lvl="0" indent="-342900" marL="342900">
              <a:buAutoNum type="arabicPeriod"/>
            </a:pPr>
            <a:r>
              <a:rPr sz="2000"/>
              <a:t>Testing soil pH effects on pine seedling growth by using one large pot with acidic soil and one with basic soil, with 10 seedlings in each pot</a:t>
            </a:r>
          </a:p>
          <a:p>
            <a:pPr lvl="0" indent="-342900" marL="342900">
              <a:buAutoNum type="arabicPeriod"/>
            </a:pPr>
            <a:r>
              <a:rPr sz="2000"/>
              <a:t>Testing the effect of a fertilizer on pine growth by applying it to 5 randomly selected trees in a stand, with 5 other trees as controls</a:t>
            </a:r>
          </a:p>
          <a:p>
            <a:pPr lvl="0" indent="-342900" marL="342900">
              <a:buAutoNum type="arabicPeriod"/>
            </a:pPr>
            <a:r>
              <a:rPr sz="2000"/>
              <a:t>Measuring air pollution effects by sampling needle damage in 3 pine stands near a factory and 3 stands 50km away</a:t>
            </a:r>
          </a:p>
          <a:p>
            <a:pPr lvl="0" indent="0" marL="1270000">
              <a:buNone/>
            </a:pPr>
            <a:r>
              <a:rPr sz="2000"/>
              <a:t>Discuss how you would redesign any pseudoreplicated studies.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</a:t>
            </a:r>
          </a:p>
          <a:p>
            <a:pPr lvl="0"/>
            <a:r>
              <a:rPr/>
              <a:t>Try to account for all possible differences between chambers (light levels, humidity, contamination)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randomization in 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Select 10 trees randomly from 100 possible 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all_trees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(all_trees,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assign 5 trees to treatment and 5 to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treatment_trees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(selected_trees,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control_trees &lt;- selected_trees[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selected_trees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treatment_trees]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treatment_trees,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control_trees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36600"/>
            <a:ext cx="2781300" cy="433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create a campus map grid (simplified)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campus_grid &lt;- </a:t>
            </a:r>
            <a:r>
              <a:rPr>
                <a:solidFill>
                  <a:srgbClr val="4758AB"/>
                </a:solidFill>
                <a:latin typeface="Courier"/>
              </a:rPr>
              <a:t>expand.grid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Place "pine trees" clustered toward the north side (higher y 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Using rbeta to skew distribution toward higher y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Alpha=1, Beta=3 creates right-skewed distribution, then scale to 1-10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rbeta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campus and trees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campus_grid,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pine_locations,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Tree Locations on Campus Grid (North Clustered)"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In groups of 3-4,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Power is an important aspect of experimental design:</a:t>
                </a:r>
              </a:p>
              <a:p>
                <a:pPr lvl="0"/>
                <a:r>
                  <a:rPr/>
                  <a:t>Low power → higher likelihood of type II error (1-β)</a:t>
                </a:r>
              </a:p>
              <a:p>
                <a:pPr lvl="0"/>
                <a:r>
                  <a:rPr/>
                  <a:t>A study’s power tells us how likely we are to see an effect if one really exists</a:t>
                </a:r>
              </a:p>
              <a:p>
                <a:pPr lvl="0" indent="0" marL="0">
                  <a:buNone/>
                </a:pPr>
                <a:r>
                  <a:rPr/>
                  <a:t>Can use power analysis:</a:t>
                </a:r>
              </a:p>
              <a:p>
                <a:pPr lvl="0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1"/>
                <a:r>
                  <a:rPr/>
                  <a:t>what effect size can we detect?</a:t>
                </a:r>
              </a:p>
              <a:p>
                <a:pPr lvl="0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 indent="0" marL="0">
                  <a:buNone/>
                </a:pPr>
                <a:r>
                  <a:rPr/>
                  <a:t>Power is a function of:</a:t>
                </a:r>
              </a:p>
              <a:p>
                <a:pPr lvl="0"/>
                <a:r>
                  <a:rPr/>
                  <a:t>ES - Effect size</a:t>
                </a:r>
              </a:p>
              <a:p>
                <a:pPr lvl="0"/>
                <a:r>
                  <a:rPr/>
                  <a:t>n - Sample size</a:t>
                </a:r>
              </a:p>
              <a:p>
                <a:pPr lvl="0"/>
                <a:r>
                  <a:rPr/>
                  <a:t>sigma - standard deviation</a:t>
                </a:r>
              </a:p>
              <a:p>
                <a:pPr lvl="0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 indent="0" marL="0">
              <a:buNone/>
            </a:pPr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 indent="0" marL="0">
              <a:buNone/>
            </a:pPr>
            <a:r>
              <a:rPr/>
              <a:t>Need to know: desired power, variability, significance level, effect size</a:t>
            </a:r>
          </a:p>
          <a:p>
            <a:pPr lvl="0" indent="0" marL="0">
              <a:buNone/>
            </a:pPr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 indent="0" marL="0">
              <a:buNone/>
            </a:pPr>
            <a:r>
              <a:rPr/>
              <a:t>Need to know: desired power, variability, significance level, n</a:t>
            </a:r>
          </a:p>
          <a:p>
            <a:pPr lvl="0" indent="0" marL="0">
              <a:buNone/>
            </a:pPr>
            <a:r>
              <a:rPr/>
              <a:t>Cohen’s d - standardized measure of effect size used in statistical analysis, particularly when comparing two means</a:t>
            </a:r>
          </a:p>
          <a:p>
            <a:pPr lvl="0"/>
            <a:r>
              <a:rPr/>
              <a:t>0.2 = small effect</a:t>
            </a:r>
          </a:p>
          <a:p>
            <a:pPr lvl="0"/>
            <a:r>
              <a:rPr/>
              <a:t>0.5 = medium effect</a:t>
            </a:r>
          </a:p>
          <a:p>
            <a:pPr lvl="0"/>
            <a:r>
              <a:rPr/>
              <a:t>0.8 = large effect</a:t>
            </a:r>
          </a:p>
          <a:p>
            <a:pPr lvl="0" indent="0" marL="0">
              <a:buNone/>
            </a:pPr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you did not reject null hypothesis - still worth publishing result?</a:t>
            </a:r>
          </a:p>
          <a:p>
            <a:pPr lvl="0" indent="0" marL="0">
              <a:buNone/>
            </a:pPr>
            <a:r>
              <a:rPr/>
              <a:t>Is non-significant result due to low power (poor design) or actual no-effect situation?</a:t>
            </a:r>
          </a:p>
          <a:p>
            <a:pPr lvl="0"/>
            <a:r>
              <a:rPr/>
              <a:t>Have n and estimate of σ</a:t>
            </a:r>
          </a:p>
          <a:p>
            <a:pPr lvl="0"/>
            <a:r>
              <a:rPr/>
              <a:t>Need to define effect size that wanted to detect</a:t>
            </a:r>
          </a:p>
          <a:p>
            <a:pPr lvl="0"/>
            <a:r>
              <a:rPr/>
              <a:t>In return get estimate of experiment’s power</a:t>
            </a:r>
          </a:p>
          <a:p>
            <a:pPr lvl="0" indent="0" marL="0">
              <a:buNone/>
            </a:pPr>
            <a:r>
              <a:rPr/>
              <a:t>Cohen’s d is calculated as: d = (Mean1 - Mean2) / SD_pooled Where SD_pooled is the pooled standard deviation of both groups.</a:t>
            </a:r>
          </a:p>
          <a:p>
            <a:pPr lvl="0" indent="0" marL="0">
              <a:buNone/>
            </a:pPr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power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power_values &lt;- </a:t>
            </a:r>
            <a:r>
              <a:rPr>
                <a:solidFill>
                  <a:srgbClr val="4758AB"/>
                </a:solidFill>
                <a:latin typeface="Courier"/>
              </a:rPr>
              <a:t>sapply</a:t>
            </a:r>
            <a:r>
              <a:rPr>
                <a:solidFill>
                  <a:srgbClr val="003B4F"/>
                </a:solidFill>
                <a:latin typeface="Courier"/>
              </a:rPr>
              <a:t>(sample_sizes,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(n)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(power)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sample_sizes,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power_values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"Power Analysis for Pine Needle Study"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 (per group)"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Interactive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Power vs. Effect Size Interactive Demonstration</a:t>
            </a:r>
          </a:p>
          <a:p>
            <a:pPr lvl="0" indent="0" marL="1270000">
              <a:buNone/>
            </a:pPr>
            <a:r>
              <a:rPr sz="2000"/>
              <a:t>Try adjusting these parameters to see how they affect required sample size: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Adjust these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mean_difference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Difference between groups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std_deviation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Standard deviation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target_power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Desired statistical power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mean_difference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std_deviation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target_power,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"Effect size (Cohen's 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(effect_size,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Effect size (Cohen's d): 0.83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"Required sample size per group:"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20794D"/>
                </a:solidFill>
                <a:latin typeface="Courier"/>
              </a:rPr>
              <a:t>"trees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Required sample size per group: 24 trees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design is closely linked to statistical analysis</a:t>
            </a:r>
          </a:p>
          <a:p>
            <a:pPr lvl="0" indent="0" marL="0">
              <a:buNone/>
            </a:pPr>
            <a:r>
              <a:rPr/>
              <a:t>Recall: - Categorical vs. continuous variables - Dependent vs. independent variables</a:t>
            </a:r>
          </a:p>
          <a:p>
            <a:pPr lvl="0" indent="0" marL="0">
              <a:buNone/>
            </a:pPr>
            <a:r>
              <a:rPr/>
              <a:t>Nature of variables dictates analytical approach:</a:t>
            </a:r>
          </a:p>
          <a:p>
            <a:pPr lvl="0"/>
            <a:r>
              <a:rPr/>
              <a:t>Match your analysis to your design</a:t>
            </a:r>
          </a:p>
          <a:p>
            <a:pPr lvl="0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2025-08-10T18:10:48Z</dcterms:created>
  <dcterms:modified xsi:type="dcterms:W3CDTF">2025-08-10T18:10:48Z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