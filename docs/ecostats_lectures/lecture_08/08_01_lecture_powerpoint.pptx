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2" Type="http://schemas.openxmlformats.org/officeDocument/2006/relationships/viewProps" Target="viewProps.xml" /><Relationship Id="rId4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4" Type="http://schemas.openxmlformats.org/officeDocument/2006/relationships/tableStyles" Target="tableStyles.xml" /><Relationship Id="rId4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8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cover: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0700" y="1270000"/>
            <a:ext cx="3644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485900"/>
            <a:ext cx="403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</a:t>
            </a:r>
          </a:p>
          <a:p>
            <a:pPr lvl="0"/>
            <a:r>
              <a:rPr/>
              <a:t>Effect of factor X on variable Y?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θ?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1: Formulating Research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1: Formulating Research Questions</a:t>
            </a:r>
          </a:p>
          <a:p>
            <a:pPr lvl="0"/>
            <a:r>
              <a:rPr sz="2000"/>
              <a:t>Take 5 minutes to write down 2-3 potential research questions about pine trees on our campus.</a:t>
            </a:r>
          </a:p>
          <a:p>
            <a:pPr lvl="0"/>
            <a:r>
              <a:rPr sz="2000"/>
              <a:t>Be as specific as possible about what you would measure.</a:t>
            </a:r>
          </a:p>
          <a:p>
            <a:pPr lvl="0"/>
            <a:r>
              <a:rPr sz="2000"/>
              <a:t>Share with a partner and discuss which questions would be easier to address experimentally.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33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78600" y="660400"/>
            <a:ext cx="1866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predictor variable</a:t>
            </a:r>
          </a:p>
          <a:p>
            <a:pPr lvl="0"/>
            <a:r>
              <a:rPr/>
              <a:t>E.g., survey plots across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direction of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41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66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2: Pine Needle Natural Experiment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2: Pine Needle Natural Experiment Design</a:t>
            </a:r>
          </a:p>
          <a:p>
            <a:pPr lvl="0" indent="0" marL="1270000">
              <a:buNone/>
            </a:pPr>
            <a:r>
              <a:rPr sz="2000"/>
              <a:t>Suppose we want to investigate whether wind exposure affects pine needle length across our campus. We decide to pick exposed sheltered locations. What sort of design would we conduct?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Let's simulate some pine needle data from exposed and sheltered locations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exposed_locations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location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"exposed"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tree_id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sheltered_locations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location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"sheltered"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tree_id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fake_pine_data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(exposed_locations, sheltered_locations)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fake_pine_data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(wind,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wind))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/>
              <a:t>In small groups, discuss:</a:t>
            </a:r>
          </a:p>
          <a:p>
            <a:pPr lvl="0" indent="-342900" marL="342900">
              <a:buAutoNum type="arabicPeriod"/>
            </a:pPr>
            <a:r>
              <a:rPr sz="2000"/>
              <a:t>What confounding variables might affect this natural experiment?</a:t>
            </a:r>
          </a:p>
          <a:p>
            <a:pPr lvl="0" indent="-342900" marL="342900">
              <a:buAutoNum type="arabicPeriod"/>
            </a:pPr>
            <a:r>
              <a:rPr sz="2000"/>
              <a:t>How would you design a study to reduce these confounding effects?</a:t>
            </a:r>
          </a:p>
          <a:p>
            <a:pPr lvl="0" indent="-342900" marL="342900">
              <a:buAutoNum type="arabicPeriod"/>
            </a:pPr>
            <a:r>
              <a:rPr sz="2000"/>
              <a:t>What data would you collect besides needle length?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Experimenter directly manipulates predictor variable and measures response</a:t>
            </a:r>
          </a:p>
          <a:p>
            <a:pPr lvl="0" indent="0" marL="0">
              <a:buNone/>
            </a:pPr>
            <a:r>
              <a:rPr/>
              <a:t>Randomized, controlled trials: gold standard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small number of treatments;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</a:t>
            </a:r>
          </a:p>
          <a:p>
            <a:pPr lvl="0"/>
            <a:r>
              <a:rPr/>
              <a:t>Is the result due to X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Need estimate of variability for many statistical methods</a:t>
            </a:r>
          </a:p>
          <a:p>
            <a:pPr lvl="0" indent="0" marL="0">
              <a:buNone/>
            </a:pPr>
            <a:r>
              <a:rPr/>
              <a:t>Without appropriate replication: Is the difference due to manipulation or something else?</a:t>
            </a:r>
          </a:p>
          <a:p>
            <a:pPr lvl="0" indent="0" marL="0">
              <a:buNone/>
            </a:pPr>
            <a:r>
              <a:rPr/>
              <a:t>Replication must be on the appropriate scale: match scale of replication to population of interest, otherwise run into </a:t>
            </a:r>
            <a:r>
              <a:rPr b="1"/>
              <a:t>pseudoreplication</a:t>
            </a:r>
            <a:r>
              <a:rPr/>
              <a:t> (Hurlbert)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1:</a:t>
            </a:r>
            <a:r>
              <a:rPr/>
              <a:t> Effects of forest fire on soil invertebrate diversity</a:t>
            </a:r>
          </a:p>
          <a:p>
            <a:pPr lvl="0"/>
            <a:r>
              <a:rPr/>
              <a:t>Replicate samples from burnt and unburnt parts of </a:t>
            </a:r>
            <a:r>
              <a:rPr i="1"/>
              <a:t>a single</a:t>
            </a:r>
            <a:r>
              <a:rPr/>
              <a:t> forest</a:t>
            </a:r>
          </a:p>
          <a:p>
            <a:pPr lvl="0"/>
            <a:r>
              <a:rPr/>
              <a:t>What hypothesis is this design addressing?</a:t>
            </a:r>
          </a:p>
          <a:p>
            <a:pPr lvl="0" indent="0" marL="0">
              <a:buNone/>
            </a:pPr>
            <a:r>
              <a:rPr b="1"/>
              <a:t>Example 2:</a:t>
            </a:r>
            <a:r>
              <a:rPr/>
              <a:t> Effects of copper on barnacle settling</a:t>
            </a:r>
          </a:p>
          <a:p>
            <a:pPr lvl="0"/>
            <a:r>
              <a:rPr/>
              <a:t>2 aquaria (+Cu, control), 5 settling plates in each</a:t>
            </a:r>
          </a:p>
          <a:p>
            <a:pPr lvl="0"/>
            <a:r>
              <a:rPr/>
              <a:t>Are settling plates replicates?</a:t>
            </a:r>
          </a:p>
          <a:p>
            <a:pPr lvl="0" indent="0" marL="0">
              <a:buNone/>
            </a:pPr>
            <a:r>
              <a:rPr b="1"/>
              <a:t>Example 3:</a:t>
            </a:r>
            <a:r>
              <a:rPr/>
              <a:t> Effects of sewage discharge on water quality</a:t>
            </a:r>
          </a:p>
          <a:p>
            <a:pPr lvl="0"/>
            <a:r>
              <a:rPr/>
              <a:t>10 water samples above discharge, 10 below</a:t>
            </a:r>
          </a:p>
          <a:p>
            <a:pPr lvl="0"/>
            <a:r>
              <a:rPr/>
              <a:t>Are samples replicates?</a:t>
            </a:r>
          </a:p>
        </p:txBody>
      </p:sp>
      <p:pic>
        <p:nvPicPr>
          <p:cNvPr descr="images/clipboard-29411527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type I error rate</a:t>
            </a:r>
          </a:p>
          <a:p>
            <a:pPr lvl="0" indent="0" marL="0">
              <a:buNone/>
            </a:pPr>
            <a:r>
              <a:rPr/>
              <a:t>Replicates must be on scale appropriate to population (&amp;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3: Identifying True 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3: Identifying True Replication</a:t>
            </a:r>
          </a:p>
          <a:p>
            <a:pPr lvl="0" indent="0" marL="1270000">
              <a:buNone/>
            </a:pPr>
            <a:r>
              <a:rPr sz="2000"/>
              <a:t>For each scenario below, identify whether there is true replication or pseudoreplication:</a:t>
            </a:r>
          </a:p>
          <a:p>
            <a:pPr lvl="0" indent="-342900" marL="342900">
              <a:buAutoNum type="arabicPeriod"/>
            </a:pPr>
            <a:r>
              <a:rPr sz="2000"/>
              <a:t>Testing soil pH effects on pine seedling growth by using one large pot with acidic soil and one with basic soil, with 10 seedlings in each pot</a:t>
            </a:r>
          </a:p>
          <a:p>
            <a:pPr lvl="0" indent="-342900" marL="342900">
              <a:buAutoNum type="arabicPeriod"/>
            </a:pPr>
            <a:r>
              <a:rPr sz="2000"/>
              <a:t>Testing the effect of a fertilizer on pine growth by applying it to 5 randomly selected trees in a stand, with 5 other trees as controls</a:t>
            </a:r>
          </a:p>
          <a:p>
            <a:pPr lvl="0" indent="-342900" marL="342900">
              <a:buAutoNum type="arabicPeriod"/>
            </a:pPr>
            <a:r>
              <a:rPr sz="2000"/>
              <a:t>Measuring air pollution effects by sampling needle damage in 3 pine stands near a factory and 3 stands 50km away</a:t>
            </a:r>
          </a:p>
          <a:p>
            <a:pPr lvl="0" indent="0" marL="1270000">
              <a:buNone/>
            </a:pPr>
            <a:r>
              <a:rPr sz="2000"/>
              <a:t>Discuss how you would redesign any pseudoreplicated studies.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replication is impossible/difficult/expensive?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</a:t>
            </a:r>
          </a:p>
          <a:p>
            <a:pPr lvl="0"/>
            <a:r>
              <a:rPr/>
              <a:t>4 chambers (5, 10, 15, 20°C), 10 beakers in each</a:t>
            </a:r>
          </a:p>
          <a:p>
            <a:pPr lvl="0"/>
            <a:r>
              <a:rPr/>
              <a:t>Are beakers true replicates?</a:t>
            </a:r>
          </a:p>
          <a:p>
            <a:pPr lvl="0" indent="0" marL="0">
              <a:buNone/>
            </a:pPr>
            <a:r>
              <a:rPr/>
              <a:t>Possible solutions:</a:t>
            </a:r>
          </a:p>
          <a:p>
            <a:pPr lvl="0"/>
            <a:r>
              <a:rPr/>
              <a:t>Rerun the experiment a few times, changing temperature of chambers</a:t>
            </a:r>
          </a:p>
          <a:p>
            <a:pPr lvl="0"/>
            <a:r>
              <a:rPr/>
              <a:t>Try to account for all possible differences between chambers (light levels, humidity, contamination)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variables:</a:t>
            </a:r>
          </a:p>
          <a:p>
            <a:pPr lvl="0"/>
            <a:r>
              <a:rPr/>
              <a:t>Attempts to equalize effects of confounders</a:t>
            </a:r>
          </a:p>
          <a:p>
            <a:pPr lvl="0" indent="0" marL="0">
              <a:buNone/>
            </a:pPr>
            <a:r>
              <a:rPr b="1"/>
              <a:t>Random sampling from population:</a:t>
            </a:r>
          </a:p>
          <a:p>
            <a:pPr lvl="0"/>
            <a:r>
              <a:rPr/>
              <a:t>Experimental units should represent random sample from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experiment are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 of randomization in R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Select 10 trees randomly from 100 possible trees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all_trees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selected_trees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(all_trees,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Randomly assign 5 trees to treatment and 5 to control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treatment_trees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(selected_trees,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control_trees &lt;- selected_trees[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003B4F"/>
                </a:solidFill>
                <a:latin typeface="Courier"/>
              </a:rPr>
              <a:t>selected_trees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treatment_trees]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Treatment =</a:t>
            </a:r>
            <a:r>
              <a:rPr>
                <a:solidFill>
                  <a:srgbClr val="003B4F"/>
                </a:solidFill>
                <a:latin typeface="Courier"/>
              </a:rPr>
              <a:t> treatment_trees,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control_trees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question:</a:t>
            </a:r>
            <a:r>
              <a:rPr/>
              <a:t> Is response due to manipulation/hypothesized mechanism or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no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control does not receive the substance under study</a:t>
            </a:r>
          </a:p>
          <a:p>
            <a:pPr lvl="0"/>
            <a:r>
              <a:rPr/>
              <a:t>Predator exclosures often produce “cage effects”</a:t>
            </a:r>
          </a:p>
          <a:p>
            <a:pPr lvl="0"/>
            <a:r>
              <a:rPr/>
              <a:t>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4: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4: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observations: assumption of many statistical methods</a:t>
            </a:r>
          </a:p>
          <a:p>
            <a:pPr lvl="0" indent="0" marL="0">
              <a:buNone/>
            </a:pPr>
            <a:r>
              <a:rPr/>
              <a:t>Events are independent if occurrence of one has no effect on occurrence of another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violation of independence</a:t>
            </a:r>
          </a:p>
          <a:p>
            <a:pPr lvl="0"/>
            <a:r>
              <a:rPr/>
              <a:t>Values of variables at certain place/time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to adjust for autocorrelation</a:t>
            </a:r>
          </a:p>
        </p:txBody>
      </p:sp>
      <p:pic>
        <p:nvPicPr>
          <p:cNvPr descr="images/clipboard-19940369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36600"/>
            <a:ext cx="2781300" cy="4330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in Field Studies -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equal chance of being selected</a:t>
            </a:r>
          </a:p>
          <a:p>
            <a:pPr lvl="0"/>
            <a:r>
              <a:rPr/>
              <a:t>Assign number to all possible units, select units using random number generator</a:t>
            </a:r>
          </a:p>
          <a:p>
            <a:pPr lvl="0"/>
            <a:r>
              <a:rPr/>
              <a:t>Often tricky in ecology; haphazard is common alternative</a:t>
            </a:r>
          </a:p>
          <a:p>
            <a:pPr lvl="0"/>
            <a:r>
              <a:rPr/>
              <a:t>Most population estimates and tests assume random sampling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Stratified designs:</a:t>
            </a:r>
            <a:r>
              <a:rPr/>
              <a:t> if there are distinct strata (groups) in population, may want to sample each independently</a:t>
            </a:r>
          </a:p>
          <a:p>
            <a:pPr lvl="0"/>
            <a:r>
              <a:rPr/>
              <a:t>Samples collected from each stratum randomly, n proportional to “size” of stratum</a:t>
            </a:r>
          </a:p>
          <a:p>
            <a:pPr lvl="0"/>
            <a:r>
              <a:rPr/>
              <a:t>Means and variances need to be estimated using different procedure; strata included in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focuses on sampling subunits nested in larger units</a:t>
            </a:r>
          </a:p>
          <a:p>
            <a:pPr lvl="0"/>
            <a:r>
              <a:rPr/>
              <a:t>Used when other designs impractical (e.g., due to cost)</a:t>
            </a:r>
          </a:p>
          <a:p>
            <a:pPr lvl="0"/>
            <a:r>
              <a:rPr/>
              <a:t>Mean calculation easy, modified procedure for variance</a:t>
            </a:r>
          </a:p>
          <a:p>
            <a:pPr lvl="0"/>
            <a:r>
              <a:rPr/>
              <a:t>Nested ANOVA is often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dispersed: “transect” sampling common in ecology</a:t>
            </a:r>
          </a:p>
          <a:p>
            <a:pPr lvl="0"/>
            <a:r>
              <a:rPr/>
              <a:t>Used to determine changes along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5: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5: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Let's create a campus map grid (simplified)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campus_grid &lt;- </a:t>
            </a:r>
            <a:r>
              <a:rPr>
                <a:solidFill>
                  <a:srgbClr val="4758AB"/>
                </a:solidFill>
                <a:latin typeface="Courier"/>
              </a:rPr>
              <a:t>expand.grid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Place "pine trees" clustered toward the north side (higher y values)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pine_locations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Using rbeta to skew distribution toward higher y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Alpha=1, Beta=3 creates right-skewed distribution, then scale to 1-10 range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rbeta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 the campus and trees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campus_grid,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"lightgrey"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pine_locations,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"Pine Tree Locations on Campus Grid (North Clustered)"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In groups of 3-4, design a sampling strategy to:</a:t>
            </a:r>
          </a:p>
          <a:p>
            <a:pPr lvl="0" indent="-342900" marL="3429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0" indent="-342900" marL="3429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0" indent="-342900" marL="3429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 indent="0" marL="1270000">
              <a:buNone/>
            </a:pPr>
            <a:r>
              <a:rPr sz="2000"/>
              <a:t>For each strategy, describe:</a:t>
            </a:r>
          </a:p>
          <a:p>
            <a:pPr lvl="0"/>
            <a:r>
              <a:rPr sz="2000"/>
              <a:t>How many samples you would take</a:t>
            </a:r>
          </a:p>
          <a:p>
            <a:pPr lvl="0"/>
            <a:r>
              <a:rPr sz="2000"/>
              <a:t>Where you would take them</a:t>
            </a:r>
          </a:p>
          <a:p>
            <a:pPr lvl="0"/>
            <a:r>
              <a:rPr sz="2000"/>
              <a:t>What additional variables you might measure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Analysis Introduction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Power is an important aspect of experimental design:</a:t>
                </a:r>
              </a:p>
              <a:p>
                <a:pPr lvl="0"/>
                <a:r>
                  <a:rPr/>
                  <a:t>Low power → higher likelihood of type II error (1-β)</a:t>
                </a:r>
              </a:p>
              <a:p>
                <a:pPr lvl="0"/>
                <a:r>
                  <a:rPr/>
                  <a:t>A study’s power tells us how likely we are to see an effect if one really exists</a:t>
                </a:r>
              </a:p>
              <a:p>
                <a:pPr lvl="0" indent="0" marL="0">
                  <a:buNone/>
                </a:pPr>
                <a:r>
                  <a:rPr/>
                  <a:t>Can use power analysis:</a:t>
                </a:r>
              </a:p>
              <a:p>
                <a:pPr lvl="0"/>
                <a:r>
                  <a:rPr/>
                  <a:t>Before experiment (</a:t>
                </a:r>
                <a:r>
                  <a:rPr i="1"/>
                  <a:t>a priori</a:t>
                </a:r>
                <a:r>
                  <a:rPr/>
                  <a:t>): how many samples do we need?</a:t>
                </a:r>
              </a:p>
              <a:p>
                <a:pPr lvl="1"/>
                <a:r>
                  <a:rPr/>
                  <a:t>what effect size can we detect?</a:t>
                </a:r>
              </a:p>
              <a:p>
                <a:pPr lvl="0"/>
                <a:r>
                  <a:rPr/>
                  <a:t>After experiment (</a:t>
                </a:r>
                <a:r>
                  <a:rPr i="1"/>
                  <a:t>post hoc</a:t>
                </a:r>
                <a:r>
                  <a:rPr/>
                  <a:t>): was finding of no effect due to lack of effect or poor design?</a:t>
                </a:r>
              </a:p>
              <a:p>
                <a:pPr lvl="0" indent="0" marL="0">
                  <a:buNone/>
                </a:pPr>
                <a:r>
                  <a:rPr/>
                  <a:t>Power is a function of:</a:t>
                </a:r>
              </a:p>
              <a:p>
                <a:pPr lvl="0"/>
                <a:r>
                  <a:rPr/>
                  <a:t>ES - Effect size</a:t>
                </a:r>
              </a:p>
              <a:p>
                <a:pPr lvl="0"/>
                <a:r>
                  <a:rPr/>
                  <a:t>n - Sample size</a:t>
                </a:r>
              </a:p>
              <a:p>
                <a:pPr lvl="0"/>
                <a:r>
                  <a:rPr/>
                  <a:t>sigma - standard deviation</a:t>
                </a:r>
              </a:p>
              <a:p>
                <a:pPr lvl="0"/>
                <a:r>
                  <a:rPr/>
                  <a:t>α (significance level) - 0.05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t>α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power analysis to plan experiments:</a:t>
            </a:r>
          </a:p>
          <a:p>
            <a:pPr lvl="0" indent="0" marL="0">
              <a:buNone/>
            </a:pPr>
            <a:r>
              <a:rPr b="1"/>
              <a:t>Sample size calculation:</a:t>
            </a:r>
            <a:r>
              <a:rPr/>
              <a:t> how many samples will be needed?</a:t>
            </a:r>
          </a:p>
          <a:p>
            <a:pPr lvl="0" indent="0" marL="0">
              <a:buNone/>
            </a:pPr>
            <a:r>
              <a:rPr/>
              <a:t>Need to know: desired power, variability, significance level, effect size</a:t>
            </a:r>
          </a:p>
          <a:p>
            <a:pPr lvl="0" indent="0" marL="0">
              <a:buNone/>
            </a:pPr>
            <a:r>
              <a:rPr b="1"/>
              <a:t>Effect size calculation:</a:t>
            </a:r>
            <a:r>
              <a:rPr/>
              <a:t> what kind of effect can we find, given particular design?</a:t>
            </a:r>
          </a:p>
          <a:p>
            <a:pPr lvl="0" indent="0" marL="0">
              <a:buNone/>
            </a:pPr>
            <a:r>
              <a:rPr/>
              <a:t>Need to know: desired power, variability, significance level, n</a:t>
            </a:r>
          </a:p>
          <a:p>
            <a:pPr lvl="0" indent="0" marL="0">
              <a:buNone/>
            </a:pPr>
            <a:r>
              <a:rPr/>
              <a:t>Cohen’s d - standardized measure of effect size used in statistical analysis, particularly when comparing two means</a:t>
            </a:r>
          </a:p>
          <a:p>
            <a:pPr lvl="0"/>
            <a:r>
              <a:rPr/>
              <a:t>0.2 = small effect</a:t>
            </a:r>
          </a:p>
          <a:p>
            <a:pPr lvl="0"/>
            <a:r>
              <a:rPr/>
              <a:t>0.5 = medium effect</a:t>
            </a:r>
          </a:p>
          <a:p>
            <a:pPr lvl="0"/>
            <a:r>
              <a:rPr/>
              <a:t>0.8 = large effect</a:t>
            </a:r>
          </a:p>
          <a:p>
            <a:pPr lvl="0" indent="0" marL="0">
              <a:buNone/>
            </a:pPr>
            <a:r>
              <a:rPr/>
              <a:t>Helps determine the practical significance of research findings, as opposed to just statistical significance (p-values). A Cohen’s d of 0.8 means that the difference between groups is large enough to be substantial in practical terms - specifically, it indicates that the means differ by 0.8 standard deviations.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 for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many samples needed per group?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desired_power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sample size needed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significance,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desired_power,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Imagine you did not reject null hypothesis - still worth publishing result?</a:t>
            </a:r>
          </a:p>
          <a:p>
            <a:pPr lvl="0" indent="0" marL="0">
              <a:buNone/>
            </a:pPr>
            <a:r>
              <a:rPr/>
              <a:t>Is non-significant result due to low power (poor design) or actual no-effect situation?</a:t>
            </a:r>
          </a:p>
          <a:p>
            <a:pPr lvl="0"/>
            <a:r>
              <a:rPr/>
              <a:t>Have n and estimate of σ</a:t>
            </a:r>
          </a:p>
          <a:p>
            <a:pPr lvl="0"/>
            <a:r>
              <a:rPr/>
              <a:t>Need to define effect size that wanted to detect</a:t>
            </a:r>
          </a:p>
          <a:p>
            <a:pPr lvl="0"/>
            <a:r>
              <a:rPr/>
              <a:t>In return get estimate of experiment’s power</a:t>
            </a:r>
          </a:p>
          <a:p>
            <a:pPr lvl="0" indent="0" marL="0">
              <a:buNone/>
            </a:pPr>
            <a:r>
              <a:rPr/>
              <a:t>Cohen’s d is calculated as: d = (Mean1 - Mean2) / SD_pooled Where SD_pooled is the pooled standard deviation of both groups.</a:t>
            </a:r>
          </a:p>
          <a:p>
            <a:pPr lvl="0" indent="0" marL="0">
              <a:buNone/>
            </a:pPr>
            <a:r>
              <a:rPr/>
              <a:t>Can help convince reviewers that you are a good experimenter, but there really is no effect… please publish my non-significant finding!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achieved power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Analysis for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pilot data, we have these estimates: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exposed_mean &lt;-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sheltered_mean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Cohen's d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(exposed_mean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sheltered_mean)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 priori power analysis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power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power_values &lt;- </a:t>
            </a:r>
            <a:r>
              <a:rPr>
                <a:solidFill>
                  <a:srgbClr val="4758AB"/>
                </a:solidFill>
                <a:latin typeface="Courier"/>
              </a:rPr>
              <a:t>sapply</a:t>
            </a:r>
            <a:r>
              <a:rPr>
                <a:solidFill>
                  <a:srgbClr val="003B4F"/>
                </a:solidFill>
                <a:latin typeface="Courier"/>
              </a:rPr>
              <a:t>(sample_sizes,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(n)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power &lt;- </a:t>
            </a:r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power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(power)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power_df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sample_size =</a:t>
            </a:r>
            <a:r>
              <a:rPr>
                <a:solidFill>
                  <a:srgbClr val="003B4F"/>
                </a:solidFill>
                <a:latin typeface="Courier"/>
              </a:rPr>
              <a:t> sample_sizes,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power_values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(power_df,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sample_size,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power))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"Power Analysis for Pine Needle Study"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Size (per group)"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"Statistical Power"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Interactive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Power vs. Effect Size Interactive Demonstration</a:t>
            </a:r>
          </a:p>
          <a:p>
            <a:pPr lvl="0" indent="0" marL="1270000">
              <a:buNone/>
            </a:pPr>
            <a:r>
              <a:rPr sz="2000"/>
              <a:t>Try adjusting these parameters to see how they affect required sample size: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Adjust these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mean_difference &lt;-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Difference between groups (mm)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std_deviation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# Standard deviation (mm)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target_power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# Desired statistical power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mean_difference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std_deviation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required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power_result &lt;- </a:t>
            </a:r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target_power,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"Effect size (Cohen's d):"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(effect_size,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Effect size (Cohen's d): 0.83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"Required sample size per group:"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ceiling</a:t>
            </a:r>
            <a:r>
              <a:rPr>
                <a:solidFill>
                  <a:srgbClr val="003B4F"/>
                </a:solidFill>
                <a:latin typeface="Courier"/>
              </a:rPr>
              <a:t>(power_result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n), </a:t>
            </a:r>
            <a:r>
              <a:rPr>
                <a:solidFill>
                  <a:srgbClr val="20794D"/>
                </a:solidFill>
                <a:latin typeface="Courier"/>
              </a:rPr>
              <a:t>"trees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Required sample size per group: 24 trees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design is closely linked to statistical analysis</a:t>
            </a:r>
          </a:p>
          <a:p>
            <a:pPr lvl="0" indent="0" marL="0">
              <a:buNone/>
            </a:pPr>
            <a:r>
              <a:rPr/>
              <a:t>Recall: - Categorical vs. continuous variables - Dependent vs. independent variables</a:t>
            </a:r>
          </a:p>
          <a:p>
            <a:pPr lvl="0" indent="0" marL="0">
              <a:buNone/>
            </a:pPr>
            <a:r>
              <a:rPr/>
              <a:t>Nature of variables dictates analytical approach:</a:t>
            </a:r>
          </a:p>
          <a:p>
            <a:pPr lvl="0"/>
            <a:r>
              <a:rPr/>
              <a:t>Match your analysis to your design</a:t>
            </a:r>
          </a:p>
          <a:p>
            <a:pPr lvl="0"/>
            <a:r>
              <a:rPr/>
              <a:t>Cannot “fix”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24600" y="660400"/>
            <a:ext cx="2387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-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-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</a:p>
          <a:p>
            <a:pPr lvl="1"/>
            <a:r>
              <a:rPr/>
              <a:t>Replication at the right scale</a:t>
            </a:r>
          </a:p>
          <a:p>
            <a:pPr lvl="1"/>
            <a:r>
              <a:rPr/>
              <a:t>Proper randomization</a:t>
            </a:r>
          </a:p>
          <a:p>
            <a:pPr lvl="1"/>
            <a:r>
              <a:rPr/>
              <a:t>Appropriate controls</a:t>
            </a:r>
          </a:p>
          <a:p>
            <a:pPr lvl="1"/>
            <a:r>
              <a:rPr/>
              <a:t>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-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-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Correlation ≠ causation</a:t>
            </a:r>
          </a:p>
          <a:p>
            <a:pPr lvl="0"/>
            <a:r>
              <a:rPr/>
              <a:t>Beware of pseudoreplication</a:t>
            </a:r>
          </a:p>
          <a:p>
            <a:pPr lvl="0"/>
            <a:r>
              <a:rPr/>
              <a:t>Design before you collect data</a:t>
            </a:r>
          </a:p>
          <a:p>
            <a:pPr lvl="0"/>
            <a:r>
              <a:rPr/>
              <a:t>Consider practical constraints</a:t>
            </a:r>
          </a:p>
          <a:p>
            <a:pPr lvl="0"/>
            <a:r>
              <a:rPr/>
              <a:t>Report everything transparently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A primer of ecological statistics (2nd ed.). Sinauer Associates.</a:t>
            </a:r>
          </a:p>
          <a:p>
            <a:pPr lvl="0"/>
            <a:r>
              <a:rPr/>
              <a:t>Hurlbert, S. H. (1984). Pseudoreplication and the design of ecological field experiments. Ecological Monographs, 54(2), 187-211.</a:t>
            </a:r>
          </a:p>
          <a:p>
            <a:pPr lvl="0"/>
            <a:r>
              <a:rPr/>
              <a:t>Quinn, G. P., &amp; Keough, M. J. (2002). Experimental design and data analysis for biologists.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Methods in Ecology and Evolution, 1(1), 3-14.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</dc:title>
  <dc:creator>Bill Perry</dc:creator>
  <cp:keywords/>
  <dcterms:created xsi:type="dcterms:W3CDTF">2025-09-12T15:51:51Z</dcterms:created>
  <dcterms:modified xsi:type="dcterms:W3CDTF">2025-09-12T15:51:51Z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