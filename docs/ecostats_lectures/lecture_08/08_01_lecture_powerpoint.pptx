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8" Type="http://schemas.openxmlformats.org/officeDocument/2006/relationships/viewProps" Target="viewProps.xml" /><Relationship Id="rId3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0" Type="http://schemas.openxmlformats.org/officeDocument/2006/relationships/tableStyles" Target="tableStyles.xml" /><Relationship Id="rId3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2: Pine Needle Natural 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Pine Needle Natural Experiment Design</a:t>
            </a:r>
          </a:p>
          <a:p>
            <a:pPr lvl="0" indent="0" marL="1270000">
              <a:buNone/>
            </a:pPr>
            <a:r>
              <a:rPr sz="2000"/>
              <a:t>Suppose we want to investigate whether wind/sun exposure affects pine needle length across our campus. We decide to pick exposed sheltered locations. What sort of design would we conduct?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simulate some pine needle data from exposed and sheltered locations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sheltered_locations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fake_pine_data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(exposed_locations, sheltered_locations)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fake_pine_data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(sun,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sun))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In small groups, discuss:</a:t>
            </a:r>
          </a:p>
          <a:p>
            <a:pPr lvl="0" indent="-342900" marL="342900">
              <a:buAutoNum type="arabicPeriod"/>
            </a:pPr>
            <a:r>
              <a:rPr sz="2000"/>
              <a:t>What confounding variables might affect this natural experiment?</a:t>
            </a:r>
          </a:p>
          <a:p>
            <a:pPr lvl="0" indent="-342900" marL="342900">
              <a:buAutoNum type="arabicPeriod"/>
            </a:pPr>
            <a:r>
              <a:rPr sz="2000"/>
              <a:t>How would you design a study to reduce these confounding effects?</a:t>
            </a:r>
          </a:p>
          <a:p>
            <a:pPr lvl="0" indent="-342900" marL="342900">
              <a:buAutoNum type="arabicPeriod"/>
            </a:pPr>
            <a:r>
              <a:rPr sz="2000"/>
              <a:t>What data would you collect besides needle length?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randomization in 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Select 10 trees randomly from 100 possible 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all_trees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selected_trees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(all_trees,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assign 5 trees to treatment and 5 to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treatment_trees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(selected_trees,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control_trees &lt;- selected_trees[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selected_trees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treatment_trees]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treatment_trees,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control_trees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Treatment Control
1        32      24
2        66      98
3        92      25
4        62      14
5        61      34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create a campus map grid (simplified)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campus_grid &lt;- </a:t>
            </a:r>
            <a:r>
              <a:rPr>
                <a:solidFill>
                  <a:srgbClr val="4758AB"/>
                </a:solidFill>
                <a:latin typeface="Courier"/>
              </a:rPr>
              <a:t>expand.grid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Place "pine trees" clustered toward the north side (higher y 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Using rbeta to skew distribution toward higher y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Alpha=1, Beta=3 creates right-skewed distribution, then scale to 1-10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rbeta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campus and trees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campus_grid,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pine_locations,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Tree Locations on Campus Grid (North Clustered)"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power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power_values &lt;- </a:t>
            </a:r>
            <a:r>
              <a:rPr>
                <a:solidFill>
                  <a:srgbClr val="4758AB"/>
                </a:solidFill>
                <a:latin typeface="Courier"/>
              </a:rPr>
              <a:t>sapply</a:t>
            </a:r>
            <a:r>
              <a:rPr>
                <a:solidFill>
                  <a:srgbClr val="003B4F"/>
                </a:solidFill>
                <a:latin typeface="Courier"/>
              </a:rPr>
              <a:t>(sample_sizes,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(n)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(power)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sample_sizes,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power_values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"Power Analysis for Pine Needle Study"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 (per group)"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2025-09-24T18:17:55Z</dcterms:created>
  <dcterms:modified xsi:type="dcterms:W3CDTF">2025-09-24T18:17:55Z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