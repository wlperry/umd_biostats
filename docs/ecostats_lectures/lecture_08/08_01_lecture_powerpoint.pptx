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Mann Whitney Wilcoxin Rank 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 is a paired Wilcoxin Sign test</a:t>
            </a:r>
          </a:p>
          <a:p>
            <a:pPr lvl="2"/>
            <a:r>
              <a:rPr/>
              <a:t>this does if it is a + 0 or - in the pair and uses that info to do the test… possible but not very powerful or widely used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 Chapter 1 in Whitlock and Schluter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1"/>
            <a:r>
              <a:rPr/>
              <a:t>what are the problems with this data?</a:t>
            </a:r>
          </a:p>
          <a:p>
            <a:pPr lvl="0"/>
            <a:r>
              <a:rPr/>
              <a:t>Effect of factor X on variable Y?</a:t>
            </a:r>
          </a:p>
          <a:p>
            <a:pPr lvl="1"/>
            <a:r>
              <a:rPr/>
              <a:t>what should you be worried about and how to fix?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 (some parameter)?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type of experiment is this?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varaibles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 1984 - </a:t>
            </a:r>
            <a:r>
              <a:rPr b="1"/>
              <a:t>Pseudoreplication and the Design of Ecological Field Experiments</a:t>
            </a:r>
            <a:r>
              <a:rPr/>
              <a:t>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1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1"/>
            <a:r>
              <a:rPr/>
              <a:t>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1"/>
            <a:r>
              <a:rPr/>
              <a:t>2 aquaria (+Cu, control), 5 settling plates in each</a:t>
            </a:r>
          </a:p>
          <a:p>
            <a:pPr lvl="1"/>
            <a:r>
              <a:rPr/>
              <a:t>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1"/>
            <a:r>
              <a:rPr/>
              <a:t>10 water samples above discharge, 10 below</a:t>
            </a:r>
          </a:p>
          <a:p>
            <a:pPr lvl="1"/>
            <a:r>
              <a:rPr/>
              <a:t>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 - block by time</a:t>
            </a:r>
          </a:p>
          <a:p>
            <a:pPr lvl="0"/>
            <a:r>
              <a:rPr/>
              <a:t>Try to account for all possible differences between chambers (light levels, humidity, contamination) - block by chamber</a:t>
            </a:r>
          </a:p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question: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Stratified designs: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/>
            <a:r>
              <a:rPr sz="2000"/>
              <a:t>In groups of 3-4, design a sampling strategy to:</a:t>
            </a:r>
          </a:p>
          <a:p>
            <a:pPr lvl="1" indent="-342900" marL="6858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1" indent="-342900" marL="6858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1" indent="-342900" marL="6858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/>
            <a:r>
              <a:rPr sz="2000"/>
              <a:t>For each strategy, describe:</a:t>
            </a:r>
          </a:p>
          <a:p>
            <a:pPr lvl="1"/>
            <a:r>
              <a:rPr sz="2000"/>
              <a:t>How many samples you would take</a:t>
            </a:r>
          </a:p>
          <a:p>
            <a:pPr lvl="1"/>
            <a:r>
              <a:rPr sz="2000"/>
              <a:t>Where you would take them</a:t>
            </a:r>
          </a:p>
          <a:p>
            <a:pPr lvl="1"/>
            <a:r>
              <a:rPr sz="2000"/>
              <a:t>What additional variables you might measure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Wrap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Power is an important aspect of experimental design:</a:t>
                </a:r>
              </a:p>
              <a:p>
                <a:pPr lvl="1"/>
                <a:r>
                  <a:rPr/>
                  <a:t>Low power → higher likelihood of type II error (1-β)</a:t>
                </a:r>
              </a:p>
              <a:p>
                <a:pPr lvl="1"/>
                <a:r>
                  <a:rPr/>
                  <a:t>A study’s power tells us how likely we are to see an effect if one really exists</a:t>
                </a:r>
              </a:p>
              <a:p>
                <a:pPr lvl="0"/>
                <a:r>
                  <a:rPr/>
                  <a:t>Can use power analysis:</a:t>
                </a:r>
              </a:p>
              <a:p>
                <a:pPr lvl="1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2"/>
                <a:r>
                  <a:rPr/>
                  <a:t>what effect size can we detect?</a:t>
                </a:r>
              </a:p>
              <a:p>
                <a:pPr lvl="1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/>
                <a:r>
                  <a:rPr/>
                  <a:t>Power is a function of:</a:t>
                </a:r>
              </a:p>
              <a:p>
                <a:pPr lvl="1"/>
                <a:r>
                  <a:rPr/>
                  <a:t>ES - Effect size</a:t>
                </a:r>
              </a:p>
              <a:p>
                <a:pPr lvl="1"/>
                <a:r>
                  <a:rPr/>
                  <a:t>n - Sample size</a:t>
                </a:r>
              </a:p>
              <a:p>
                <a:pPr lvl="1"/>
                <a:r>
                  <a:rPr/>
                  <a:t>sigma - standard deviation</a:t>
                </a:r>
              </a:p>
              <a:p>
                <a:pPr lvl="1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/>
            <a:r>
              <a:rPr/>
              <a:t>Need to know: desired power, variability, significance level, effect size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/>
            <a:r>
              <a:rPr/>
              <a:t>Need to know: desired power, variability, significance level, n</a:t>
            </a:r>
          </a:p>
          <a:p>
            <a:pPr lvl="0"/>
            <a:r>
              <a:rPr/>
              <a:t>Cohen’s d - standardized measure of effect size used in statistical analysis, particularly when comparing two means</a:t>
            </a:r>
          </a:p>
          <a:p>
            <a:pPr lvl="1"/>
            <a:r>
              <a:rPr/>
              <a:t>0.2 = small effect</a:t>
            </a:r>
          </a:p>
          <a:p>
            <a:pPr lvl="1"/>
            <a:r>
              <a:rPr/>
              <a:t>0.5 = medium effect</a:t>
            </a:r>
          </a:p>
          <a:p>
            <a:pPr lvl="1"/>
            <a:r>
              <a:rPr/>
              <a:t>0.8 = large effect</a:t>
            </a:r>
          </a:p>
          <a:p>
            <a:pPr lvl="0"/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Priori Power Analysis Example</a:t>
            </a:r>
          </a:p>
          <a:p>
            <a:pPr lvl="1" indent="0" marL="342900">
              <a:buNone/>
            </a:pPr>
            <a:r>
              <a:rPr/>
              <a:t>How many samples do you need to find this difference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Imagine you did not reject null hypothesis - still worth publishing result?</a:t>
            </a:r>
          </a:p>
          <a:p>
            <a:pPr lvl="0"/>
            <a:r>
              <a:rPr/>
              <a:t>Is non-significant result due to low power (poor design) or actual no-effect situation?</a:t>
            </a:r>
          </a:p>
          <a:p>
            <a:pPr lvl="1"/>
            <a:r>
              <a:rPr/>
              <a:t>Have n and estimate of σ</a:t>
            </a:r>
          </a:p>
          <a:p>
            <a:pPr lvl="1"/>
            <a:r>
              <a:rPr/>
              <a:t>Need to define effect size that wanted to detect</a:t>
            </a:r>
          </a:p>
          <a:p>
            <a:pPr lvl="1"/>
            <a:r>
              <a:rPr/>
              <a:t>In return get estimate of experiment’s power</a:t>
            </a:r>
          </a:p>
          <a:p>
            <a:pPr lvl="0"/>
            <a:r>
              <a:rPr/>
              <a:t>Cohen’s d is calculated as: d = (Mean1 - Mean2) / SD_pooled Where SD_pooled is the pooled standard deviation of both groups.</a:t>
            </a:r>
          </a:p>
          <a:p>
            <a:pPr lvl="0"/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- Categorical vs. continuous variables - Dependent vs. independent variables</a:t>
            </a:r>
          </a:p>
          <a:p>
            <a:pPr lvl="0"/>
            <a:r>
              <a:rPr/>
              <a:t>Nature of variables dictates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2025-11-12T15:38:33Z</dcterms:created>
  <dcterms:modified xsi:type="dcterms:W3CDTF">2025-11-12T15:38:33Z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