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jp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factorial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plant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br/>
          </a:p>
          <a:p>
            <a:pPr lvl="2" indent="0" marL="685800">
              <a:buNone/>
            </a:pP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p:txBody>
      </p:sp>
      <p:sp>
        <p:nvSpPr>
          <p:cNvPr id="4" name="Content Placeholder 3"/>
          <p:cNvSpPr>
            <a:spLocks noGrp="1"/>
          </p:cNvSpPr>
          <p:nvPr>
            <p:ph idx="2" sz="half"/>
          </p:nvPr>
        </p:nvSpPr>
        <p:spPr/>
        <p:txBody>
          <a:bodyPr/>
          <a:lstStyle/>
          <a:p>
            <a:pPr lvl="0" indent="0">
              <a:buNone/>
            </a:pPr>
            <a:r>
              <a:rPr>
                <a:latin typeface="Courier"/>
              </a:rPr>
              <a:t># A tibble: 6 × 6
  species   sex        n mean_mass sd_mass se_mass
  &lt;fct&gt;     &lt;fct&gt;  &lt;int&gt;     &lt;dbl&gt;   &lt;dbl&gt;   &lt;dbl&gt;
1 Adelie    female    73     3369.    269.    31.5
2 Adelie    male      73     4043.    347.    40.6
3 Chinstrap female    34     3527.    285.    48.9
4 Chinstrap male      34     3939.    362.    62.1
5 Gentoo    female    58     4680.    282.    37.0
6 Gentoo    male      61     5485.    313.    40.1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there are unequal samples per cell</a:t>
            </a:r>
          </a:p>
          <a:p>
            <a:pPr lvl="0" indent="0">
              <a:buNone/>
            </a:pPr>
            <a:r>
              <a:rPr>
                <a:latin typeface="Courier"/>
              </a:rPr>
              <a:t># A tibble: 3 × 3
  species   female  male
  &lt;fct&gt;      &lt;int&gt; &lt;int&gt;
1 Adelie        73    73
2 Chinstrap     34    34
3 Gentoo        58    61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a:buNone/>
                </a:pPr>
                <a:r>
                  <a:rPr>
                    <a:latin typeface="Courier"/>
                  </a:rPr>
                  <a:t>[1] "Minimum n = 34"</a:t>
                </a:r>
              </a:p>
              <a:p>
                <a:pPr lvl="0" indent="0">
                  <a:buNone/>
                </a:pPr>
                <a:r>
                  <a:rPr>
                    <a:latin typeface="Courier"/>
                  </a:rPr>
                  <a:t># A tibble: 3 × 3
  species   female  male
  &lt;fct&gt;      &lt;int&gt; &lt;int&gt;
1 Adelie        34    34
2 Chinstrap     34    34
3 Gentoo        34    34</a:t>
                </a:r>
              </a:p>
              <a:p>
                <a:pPr lvl="0" indent="0" marL="0">
                  <a:buNone/>
                </a:pPr>
                <a:r>
                  <a:rPr/>
                  <a:t>Statistical Mode </a:t>
                </a: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a14:m>
              </a:p>
              <a:p>
                <a:pPr lvl="0" indent="0" marL="0">
                  <a:buNone/>
                </a:pPr>
                <a:r>
                  <a:rPr/>
                  <a:t>Where:</a:t>
                </a:r>
              </a:p>
              <a:p>
                <a:pPr lvl="0" indent="0" marL="0">
                  <a:buNone/>
                </a:pPr>
                <a14:m>
                  <m:oMath xmlns:m="http://schemas.openxmlformats.org/officeDocument/2006/math">
                    <m:r>
                      <m:t>μ</m:t>
                    </m:r>
                  </m:oMath>
                </a14:m>
                <a:r>
                  <a:rPr/>
                  <a:t> = grand mean</a:t>
                </a:r>
              </a:p>
              <a:p>
                <a:pPr lvl="0" indent="0" marL="0">
                  <a:buNone/>
                </a:pPr>
                <a14:m>
                  <m:oMath xmlns:m="http://schemas.openxmlformats.org/officeDocument/2006/math">
                    <m:sSub>
                      <m:e>
                        <m:r>
                          <m:t>α</m:t>
                        </m:r>
                      </m:e>
                      <m:sub>
                        <m:r>
                          <m:t>i</m:t>
                        </m:r>
                      </m:sub>
                    </m:sSub>
                  </m:oMath>
                </a14:m>
                <a:r>
                  <a:rPr/>
                  <a:t> = effect of species i</a:t>
                </a:r>
              </a:p>
              <a:p>
                <a:pPr lvl="0" indent="0" marL="0">
                  <a:buNone/>
                </a:pPr>
                <a14:m>
                  <m:oMath xmlns:m="http://schemas.openxmlformats.org/officeDocument/2006/math">
                    <m:sSub>
                      <m:e>
                        <m:r>
                          <m:t>β</m:t>
                        </m:r>
                      </m:e>
                      <m:sub>
                        <m:r>
                          <m:t>j</m:t>
                        </m:r>
                      </m:sub>
                    </m:sSub>
                  </m:oMath>
                </a14:m>
                <a:r>
                  <a:rPr/>
                  <a:t> = effect of sex j</a:t>
                </a:r>
              </a:p>
              <a:p>
                <a:pPr lvl="0" indent="0" marL="0">
                  <a:buNone/>
                </a:pPr>
                <a14:m>
                  <m:oMath xmlns:m="http://schemas.openxmlformats.org/officeDocument/2006/math">
                    <m:sSub>
                      <m:e>
                        <m:d>
                          <m:dPr>
                            <m:begChr m:val="("/>
                            <m:sepChr m:val=""/>
                            <m:endChr m:val=")"/>
                            <m:grow/>
                          </m:dPr>
                          <m:e>
                            <m:r>
                              <m:t>α</m:t>
                            </m:r>
                            <m:r>
                              <m:t>β</m:t>
                            </m:r>
                          </m:e>
                        </m:d>
                      </m:e>
                      <m:sub>
                        <m:r>
                          <m:t>i</m:t>
                        </m:r>
                        <m:r>
                          <m:t>j</m:t>
                        </m:r>
                      </m:sub>
                    </m:sSub>
                  </m:oMath>
                </a14:m>
                <a:r>
                  <a:rPr/>
                  <a:t> = interaction effect</a:t>
                </a:r>
              </a:p>
              <a:p>
                <a:pPr lvl="0" indent="0" marL="0">
                  <a:buNone/>
                </a:pPr>
                <a14:m>
                  <m:oMath xmlns:m="http://schemas.openxmlformats.org/officeDocument/2006/math">
                    <m:sSub>
                      <m:e>
                        <m:r>
                          <m:t>ε</m:t>
                        </m:r>
                      </m:e>
                      <m:sub>
                        <m:r>
                          <m:t>i</m:t>
                        </m:r>
                        <m:r>
                          <m:t>j</m:t>
                        </m:r>
                        <m:r>
                          <m:t>k</m:t>
                        </m:r>
                      </m:sub>
                    </m:sSub>
                  </m:oMath>
                </a14:m>
                <a:r>
                  <a:rPr/>
                  <a:t> = random error</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Descriptive Statistics</a:t>
            </a:r>
          </a:p>
        </p:txBody>
      </p:sp>
      <p:sp>
        <p:nvSpPr>
          <p:cNvPr id="3" name="Content Placeholder 2"/>
          <p:cNvSpPr>
            <a:spLocks noGrp="1"/>
          </p:cNvSpPr>
          <p:nvPr>
            <p:ph idx="1" sz="half"/>
          </p:nvPr>
        </p:nvSpPr>
        <p:spPr/>
        <p:txBody>
          <a:bodyPr/>
          <a:lstStyle/>
          <a:p>
            <a:pPr lvl="0" indent="0" marL="0">
              <a:spcBef>
                <a:spcPts val="3000"/>
              </a:spcBef>
              <a:buNone/>
            </a:pPr>
            <a:r>
              <a:rPr b="1"/>
              <a:t>Summary Statistics by Groups</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(sex m of species y)</a:t>
                </a:r>
              </a:p>
              <a:p>
                <a:pPr lvl="0"/>
                <a:r>
                  <a:rPr/>
                  <a:t>µ: overall mean (overall mass)</a:t>
                </a:r>
              </a:p>
              <a:p>
                <a:pPr lvl="0"/>
                <a:r>
                  <a:rPr/>
                  <a:t>αi: effect of the ith level of A, pooling across all levels of B: µi- µ (difference between average mass in all “males” for species x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mass in all males treatments and overall mean)</a:t>
                </a:r>
              </a:p>
              <a:p>
                <a:pPr lvl="0"/>
                <a:r>
                  <a:rPr/>
                  <a:t>(αβ)ij: effect of interaction of ith level of A and jth level of B (µij - µi - µj + µ).</a:t>
                </a:r>
              </a:p>
              <a:p>
                <a:pPr lvl="1"/>
                <a:r>
                  <a:rPr/>
                  <a:t>Does effect of B depend on level of A? (is effect of sex different in the 3 species?)</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p:txBody>
      </p:sp>
      <p:sp>
        <p:nvSpPr>
          <p:cNvPr id="4" name="Content Placeholder 3"/>
          <p:cNvSpPr>
            <a:spLocks noGrp="1"/>
          </p:cNvSpPr>
          <p:nvPr>
            <p:ph idx="2" sz="half"/>
          </p:nvPr>
        </p:nvSpPr>
        <p:spPr/>
        <p:txBody>
          <a:bodyPr/>
          <a:lstStyle/>
          <a:p>
            <a:pPr lvl="0" indent="0">
              <a:buNone/>
            </a:pPr>
            <a:r>
              <a:rPr>
                <a:latin typeface="Courier"/>
              </a:rPr>
              <a:t>[1] "Estimated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Structure</a:t>
            </a:r>
          </a:p>
        </p:txBody>
      </p:sp>
      <p:sp>
        <p:nvSpPr>
          <p:cNvPr id="3" name="Content Placeholder 2"/>
          <p:cNvSpPr>
            <a:spLocks noGrp="1"/>
          </p:cNvSpPr>
          <p:nvPr>
            <p:ph idx="1"/>
          </p:nvPr>
        </p:nvSpPr>
        <p:spPr/>
        <p:txBody>
          <a:bodyPr/>
          <a:lstStyle/>
          <a:p>
            <a:pPr lvl="0"/>
            <a:r>
              <a:rPr/>
              <a:t>SStotal = SSA + SSB + SSAB + SSresidual</a:t>
            </a:r>
          </a:p>
          <a:p>
            <a:pPr lvl="0"/>
            <a:r>
              <a:rPr/>
              <a:t>SStotal = (Y - Grand Mean Y)^2</a:t>
            </a:r>
          </a:p>
          <a:p>
            <a:pPr lvl="0"/>
            <a:r>
              <a:rPr/>
              <a:t>SSresidual = (Y -Yhat)^2 or the difference between each observation and the appropriate cell mean, summed over all observations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a:r>
              <a:rPr/>
              <a:t>SSA is SS of differences between each marginal mean of A and overall mean</a:t>
            </a:r>
          </a:p>
          <a:p>
            <a:pPr lvl="0"/>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a:r>
              <a:rPr/>
              <a:t>SSB is SS of differences between each marginal mean of B and overall mean</a:t>
            </a:r>
          </a:p>
          <a:p>
            <a:pPr lvl="0"/>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F-ratio Calculations</a:t>
            </a:r>
          </a:p>
        </p:txBody>
      </p:sp>
      <p:sp>
        <p:nvSpPr>
          <p:cNvPr id="3" name="Content Placeholder 2"/>
          <p:cNvSpPr>
            <a:spLocks noGrp="1"/>
          </p:cNvSpPr>
          <p:nvPr>
            <p:ph idx="1"/>
          </p:nvPr>
        </p:nvSpPr>
        <p:spPr/>
        <p:txBody>
          <a:bodyPr/>
          <a:lstStyle/>
          <a:p>
            <a:pPr lvl="0"/>
            <a:r>
              <a:rPr/>
              <a:t>SS converted to MS;</a:t>
            </a:r>
          </a:p>
          <a:p>
            <a:pPr lvl="0"/>
            <a:r>
              <a:rPr/>
              <a:t>F-ratio calculations are different depending on whether factors are fixed, random or mixed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a:r>
              <a:rPr/>
              <a:t>3 hypotheses are tested in a two-way factorial ANOVA:</a:t>
            </a:r>
          </a:p>
          <a:p>
            <a:pPr lvl="0"/>
            <a:r>
              <a:rPr/>
              <a:t>A, B, A*B Both factors fixed:</a:t>
            </a:r>
          </a:p>
          <a:p>
            <a:pPr lvl="1"/>
            <a:r>
              <a:rPr/>
              <a:t>Ho(A): µ1= µ2= µ3=…. µi= µp (no diff. in marginal means of A, pooling across all levels of B)</a:t>
            </a:r>
          </a:p>
          <a:p>
            <a:pPr lvl="1"/>
            <a:r>
              <a:rPr/>
              <a:t>Ho(B): µ1= µ2= µ3=…. µj= µq (no diff. in marginal means of B, pooling across all levels of A)</a:t>
            </a:r>
          </a:p>
          <a:p>
            <a:pPr lvl="1"/>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a:r>
              <a:rPr/>
              <a:t>3 hypotheses are tested in a two-way factorial ANOVA: A, B, A*B</a:t>
            </a:r>
          </a:p>
          <a:p>
            <a:pPr lvl="0"/>
            <a:r>
              <a:rPr/>
              <a:t>One fixed, one random:</a:t>
            </a:r>
          </a:p>
          <a:p>
            <a:pPr lvl="1"/>
            <a:r>
              <a:rPr/>
              <a:t>Ho(A): µ1= µ2= µ3=…. µi= µp (no diff. in marginal means of A, pooling across all levels of B)</a:t>
            </a:r>
          </a:p>
          <a:p>
            <a:pPr lvl="1"/>
            <a:r>
              <a:rPr/>
              <a:t>Ho(B): σB2= 0 (no added variance due to levels of B that could have been used)</a:t>
            </a:r>
          </a:p>
          <a:p>
            <a:pPr lvl="1"/>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a:r>
              <a:rPr/>
              <a:t>Effect of species and sex on body_mass_g</a:t>
            </a:r>
          </a:p>
          <a:p>
            <a:pPr lvl="1"/>
            <a:r>
              <a:rPr/>
              <a:t>3 species (factor A)</a:t>
            </a:r>
          </a:p>
          <a:p>
            <a:pPr lvl="1"/>
            <a:r>
              <a:rPr/>
              <a:t>2 sexes (factor B)</a:t>
            </a:r>
          </a:p>
          <a:p>
            <a:pPr lvl="1"/>
            <a:r>
              <a:rPr/>
              <a:t>34 replicates in each cell</a:t>
            </a:r>
          </a:p>
          <a:p>
            <a:pPr lvl="1"/>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latin typeface="Courier"/>
              </a:rPr>
              <a:t>[1] "Type III Sums of Squares ANOVA:"</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latin typeface="Courier"/>
              </a:rPr>
              <a:t>[1] "Effect Sizes (Eta-squared):"</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Model Assumptions</a:t>
            </a:r>
          </a:p>
        </p:txBody>
      </p:sp>
      <p:sp>
        <p:nvSpPr>
          <p:cNvPr id="3" name="Content Placeholder 2"/>
          <p:cNvSpPr>
            <a:spLocks noGrp="1"/>
          </p:cNvSpPr>
          <p:nvPr>
            <p:ph idx="1" sz="half"/>
          </p:nvPr>
        </p:nvSpPr>
        <p:spPr/>
        <p:txBody>
          <a:bodyPr/>
          <a:lstStyle/>
          <a:p>
            <a:pPr lvl="0" indent="0" marL="0">
              <a:buNone/>
            </a:pPr>
            <a:r>
              <a:rPr/>
              <a:t>Assumption Plots</a:t>
            </a:r>
          </a:p>
        </p:txBody>
      </p:sp>
      <p:pic>
        <p:nvPicPr>
          <p:cNvPr descr="images/assumpt_1.jpg" id="0" name="Picture 1"/>
          <p:cNvPicPr>
            <a:picLocks noGrp="1" noChangeAspect="1"/>
          </p:cNvPicPr>
          <p:nvPr/>
        </p:nvPicPr>
        <p:blipFill>
          <a:blip r:embed="rId2"/>
          <a:stretch>
            <a:fillRect/>
          </a:stretch>
        </p:blipFill>
        <p:spPr bwMode="auto">
          <a:xfrm>
            <a:off x="6121400" y="1714500"/>
            <a:ext cx="2781300" cy="18542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should be the plot of the 4 assumption plots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residuals</a:t>
            </a:r>
          </a:p>
          <a:p>
            <a:pPr lvl="1"/>
            <a:r>
              <a:rPr/>
              <a:t>homogeneity of variances</a:t>
            </a:r>
          </a:p>
          <a:p>
            <a:pPr lvl="0" indent="0">
              <a:buNone/>
            </a:pPr>
            <a:r>
              <a:rPr>
                <a:latin typeface="Courier"/>
              </a:rPr>
              <a:t>[1] "Shapiro-Wilk Normality Test:"</a:t>
            </a:r>
          </a:p>
          <a:p>
            <a:pPr lvl="0" indent="0">
              <a:buNone/>
            </a:pPr>
            <a:r>
              <a:rPr>
                <a:latin typeface="Courier"/>
              </a:rPr>
              <a:t>
    Shapiro-Wilk normality test
data:  residuals(anova_model)
W = 0.99612, p-value = 0.8886</a:t>
            </a:r>
          </a:p>
          <a:p>
            <a:pPr lvl="0" indent="0">
              <a:buNone/>
            </a:pPr>
            <a:r>
              <a:rPr>
                <a:latin typeface="Courier"/>
              </a:rPr>
              <a:t>[1] "Levene's Test for Homogeneity:"</a:t>
            </a:r>
          </a:p>
          <a:p>
            <a:pPr lvl="0" indent="0">
              <a:buNone/>
            </a:pPr>
            <a:r>
              <a:rPr>
                <a:latin typeface="Courier"/>
              </a:rPr>
              <a:t>Levene's Test for Homogeneity of Variance (center = median)
       Df F value Pr(&gt;F)
group   5  0.7841 0.5622
      198               </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is to test the overall interaction and ignore the main effects!!!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a:r>
                  <a:rPr/>
                  <a:t>Real-world data is often unbalanced:</a:t>
                </a:r>
              </a:p>
              <a:p>
                <a:pPr lvl="1"/>
                <a:r>
                  <a:rPr/>
                  <a:t>Unequal sample sizes across groups</a:t>
                </a:r>
              </a:p>
              <a:p>
                <a:pPr lvl="1"/>
                <a:r>
                  <a:rPr/>
                  <a:t>Missing data patterns</a:t>
                </a:r>
              </a:p>
              <a:p>
                <a:pPr lvl="1"/>
                <a:r>
                  <a:rPr/>
                  <a:t>Natural variation in sampling</a:t>
                </a:r>
              </a:p>
              <a:p>
                <a:pPr lvl="0"/>
                <a:r>
                  <a:rPr/>
                  <a:t>Key Issues:</a:t>
                </a:r>
              </a:p>
              <a:p>
                <a:pPr lvl="1"/>
                <a:r>
                  <a:rPr/>
                  <a:t>Type I, II, and III SS give different results</a:t>
                </a:r>
              </a:p>
              <a:p>
                <a:pPr lvl="1"/>
                <a:r>
                  <a:rPr/>
                  <a:t>Order of terms matters for Type I SS</a:t>
                </a:r>
              </a:p>
              <a:p>
                <a:pPr lvl="1"/>
                <a:r>
                  <a:rPr/>
                  <a:t>Marginal means ≠ Simple averages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latin typeface="Courier"/>
                  </a:rPr>
                  <a:t>[1] "Unbalanced sample sizes:"</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latin typeface="Courier"/>
                  </a:rPr>
                  <a:t>[1] "Total N = 333"</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latin typeface="Courier"/>
              </a:rPr>
              <a:t>[1] "Type I SS (Species → Sex → Interaction):"</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latin typeface="Courier"/>
              </a:rPr>
              <a:t>[1] "Type I SS (Sex → Species → Interaction):"</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latin typeface="Courier"/>
              </a:rPr>
              <a:t>[1] "Type I SS depends on order:"</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a:r>
              <a:rPr b="1"/>
              <a:t>Example calculation:</a:t>
            </a:r>
          </a:p>
          <a:p>
            <a:pPr lvl="1"/>
            <a:r>
              <a:rPr/>
              <a:t>SS(Species) = reduction in SS from null to species-only model</a:t>
            </a:r>
          </a:p>
          <a:p>
            <a:pPr lvl="1"/>
            <a:r>
              <a:rPr/>
              <a:t>SS(Sex|Species) = additional reduction adding sex</a:t>
            </a:r>
          </a:p>
          <a:p>
            <a:pPr lvl="1"/>
            <a:r>
              <a:rPr/>
              <a:t>SS(Interaction|Species,Sex) = additional reduction adding interaction</a:t>
            </a:r>
          </a:p>
          <a:p>
            <a:pPr lvl="0"/>
            <a:r>
              <a:rPr b="1"/>
              <a:t>Problems with unbalanced data:</a:t>
            </a:r>
          </a:p>
          <a:p>
            <a:pPr lvl="1"/>
            <a:r>
              <a:rPr/>
              <a:t>Order dependency</a:t>
            </a:r>
          </a:p>
          <a:p>
            <a:pPr lvl="1"/>
            <a:r>
              <a:rPr/>
              <a:t>Biased if factors are correlated</a:t>
            </a:r>
          </a:p>
          <a:p>
            <a:pPr lvl="1"/>
            <a:r>
              <a:rPr/>
              <a:t>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latin typeface="Courier"/>
              </a:rPr>
              <a:t>[1] "Type III Sums of Squares:"</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latin typeface="Courier"/>
              </a:rPr>
              <a:t>[1] "Comparison of F-values:"</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a:r>
              <a:rPr b="1"/>
              <a:t>Marginal decomposition:</a:t>
            </a:r>
          </a:p>
          <a:p>
            <a:pPr lvl="1"/>
            <a:r>
              <a:rPr/>
              <a:t>Each effect tested after adjusting for all others:</a:t>
            </a:r>
          </a:p>
          <a:p>
            <a:pPr lvl="2"/>
            <a:r>
              <a:rPr/>
              <a:t>SS(Species|Sex,Interaction)</a:t>
            </a:r>
          </a:p>
          <a:p>
            <a:pPr lvl="2"/>
            <a:r>
              <a:rPr/>
              <a:t>SS(Sex|Species,Interaction)</a:t>
            </a:r>
          </a:p>
          <a:p>
            <a:pPr lvl="2"/>
            <a:r>
              <a:rPr/>
              <a:t>SS(Interaction|Species,Sex)</a:t>
            </a:r>
          </a:p>
          <a:p>
            <a:pPr lvl="0"/>
            <a:r>
              <a:rPr b="1"/>
              <a:t>Advantages:</a:t>
            </a:r>
          </a:p>
          <a:p>
            <a:pPr lvl="1"/>
            <a:r>
              <a:rPr/>
              <a:t>Order invariant</a:t>
            </a:r>
          </a:p>
          <a:p>
            <a:pPr lvl="1"/>
            <a:r>
              <a:rPr/>
              <a:t>Tests hypotheses about unweighted means</a:t>
            </a:r>
          </a:p>
          <a:p>
            <a:pPr lvl="1"/>
            <a:r>
              <a:rPr/>
              <a:t>Standard in most software</a:t>
            </a:r>
          </a:p>
          <a:p>
            <a:pPr lvl="0"/>
            <a:r>
              <a:rPr b="1"/>
              <a:t>Disadvantages:</a:t>
            </a:r>
          </a:p>
          <a:p>
            <a:pPr lvl="1"/>
            <a:r>
              <a:rPr/>
              <a:t>Lower power with missing cells</a:t>
            </a:r>
          </a:p>
          <a:p>
            <a:pPr lvl="1"/>
            <a:r>
              <a:rPr/>
              <a:t>Tests may not be orthogonal</a:t>
            </a:r>
          </a:p>
          <a:p>
            <a:pPr lvl="1"/>
            <a:r>
              <a:rPr/>
              <a:t>Requires careful interpretation</a:t>
            </a:r>
          </a:p>
          <a:p>
            <a:pPr lvl="0" indent="0">
              <a:buNone/>
            </a:pPr>
            <a:r>
              <a:rPr>
                <a:latin typeface="Courier"/>
              </a:rPr>
              <a:t>[1] "Effect Sizes (Type III):"</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latin typeface="Courier"/>
              </a:rPr>
              <a:t>[1] "Grand mean: 4207.1"</a:t>
            </a:r>
          </a:p>
          <a:p>
            <a:pPr lvl="0" indent="0">
              <a:buNone/>
            </a:pPr>
            <a:r>
              <a:rPr>
                <a:latin typeface="Courier"/>
              </a:rPr>
              <a:t>[1] "Total SS: 215259666"</a:t>
            </a:r>
          </a:p>
          <a:p>
            <a:pPr lvl="0" indent="0">
              <a:buNone/>
            </a:pPr>
            <a:r>
              <a:rPr>
                <a:latin typeface="Courier"/>
              </a:rPr>
              <a:t>[1] "Between-groups SS: 183957038"</a:t>
            </a:r>
          </a:p>
          <a:p>
            <a:pPr lvl="0" indent="0">
              <a:buNone/>
            </a:pPr>
            <a:r>
              <a:rPr>
                <a:latin typeface="Courier"/>
              </a:rPr>
              <a:t>[1] "Within-groups SS: 31302628"</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latin typeface="Courier"/>
              </a:rPr>
              <a:t>[1] "SS(Species alone): 145190219"</a:t>
            </a:r>
          </a:p>
          <a:p>
            <a:pPr lvl="0" indent="0">
              <a:buNone/>
            </a:pPr>
            <a:r>
              <a:rPr>
                <a:latin typeface="Courier"/>
              </a:rPr>
              <a:t>[1] "SS(Sex alone): 38878897"</a:t>
            </a:r>
          </a:p>
          <a:p>
            <a:pPr lvl="0" indent="0">
              <a:buNone/>
            </a:pPr>
            <a:r>
              <a:rPr>
                <a:latin typeface="Courier"/>
              </a:rPr>
              <a:t>[1] "Sum of main effects: 184069116"</a:t>
            </a:r>
          </a:p>
          <a:p>
            <a:pPr lvl="0" indent="0">
              <a:buNone/>
            </a:pPr>
            <a:r>
              <a:rPr>
                <a:latin typeface="Courier"/>
              </a:rPr>
              <a:t>[1] "Actual between SS: 183957038"</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latin typeface="Courier"/>
              </a:rPr>
              <a:t>[1] "Species EMMs (model-based):"</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latin typeface="Courier"/>
              </a:rPr>
              <a:t>[1] "\nSex EMMs (model-based):"</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latin typeface="Courier"/>
              </a:rPr>
              <a:t>[1] "Species pairwise comparisons (Tukey):"</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latin typeface="Courier"/>
              </a:rPr>
              <a:t>[1] "\nSex effect within each species:"</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latin typeface="Courier"/>
              </a:rPr>
              <a:t>[1] "Sex effect (Male - Female) by species:"</a:t>
            </a:r>
          </a:p>
          <a:p>
            <a:pPr lvl="0" indent="0">
              <a:buNone/>
            </a:pPr>
            <a:r>
              <a:rPr>
                <a:latin typeface="Courier"/>
              </a:rPr>
              <a:t>    Species Sex_Effect
1    Adelie       -675
2 Chinstrap       -412
3    Gentoo       -805</a:t>
            </a:r>
          </a:p>
          <a:p>
            <a:pPr lvl="0" indent="0">
              <a:buNone/>
            </a:pPr>
            <a:r>
              <a:rPr>
                <a:latin typeface="Courier"/>
              </a:rPr>
              <a:t>[1] "\nInteraction interpretation:"</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latin typeface="Courier"/>
              </a:rPr>
              <a:t>[1] "Shapiro-Wilk test:"</a:t>
            </a:r>
          </a:p>
          <a:p>
            <a:pPr lvl="0" indent="0">
              <a:buNone/>
            </a:pPr>
            <a:r>
              <a:rPr>
                <a:latin typeface="Courier"/>
              </a:rPr>
              <a:t>
    Shapiro-Wilk normality test
data:  residuals(model_u)
W = 0.99776, p-value = 0.9367</a:t>
            </a:r>
          </a:p>
          <a:p>
            <a:pPr lvl="0" indent="0">
              <a:buNone/>
            </a:pPr>
            <a:r>
              <a:rPr>
                <a:latin typeface="Courier"/>
              </a:rPr>
              <a:t>[1] "\nLevene's test:"</a:t>
            </a:r>
          </a:p>
          <a:p>
            <a:pPr lvl="0" indent="0">
              <a:buNone/>
            </a:pPr>
            <a:r>
              <a:rPr>
                <a:latin typeface="Courier"/>
              </a:rPr>
              <a:t>Levene's Test for Homogeneity of Variance (center = median)
       Df F value Pr(&gt;F)
group   5  1.3908 0.2272
      327               </a:t>
            </a:r>
          </a:p>
          <a:p>
            <a:pPr lvl="0" indent="0">
              <a:buNone/>
            </a:pPr>
            <a:r>
              <a:rPr>
                <a:latin typeface="Courier"/>
              </a:rPr>
              <a:t>[1] "\nResidual SD by group:"</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latin typeface="Courier"/>
              </a:rPr>
              <a:t>[1] "Balanced vs Unbalanced Results:"</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latin typeface="Courier"/>
              </a:rPr>
              <a:t>[1] "\nSample sizes:"</a:t>
            </a:r>
          </a:p>
          <a:p>
            <a:pPr lvl="0" indent="0">
              <a:buNone/>
            </a:pPr>
            <a:r>
              <a:rPr>
                <a:latin typeface="Courier"/>
              </a:rPr>
              <a:t>[1] "Balanced total N: 204"</a:t>
            </a:r>
          </a:p>
          <a:p>
            <a:pPr lvl="0" indent="0">
              <a:buNone/>
            </a:pPr>
            <a:r>
              <a:rPr>
                <a:latin typeface="Courier"/>
              </a:rPr>
              <a:t>[1] "Unbalanced total N: 333"</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2025-10-27T15:30:31Z</dcterms:created>
  <dcterms:modified xsi:type="dcterms:W3CDTF">2025-10-27T15:30:31Z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