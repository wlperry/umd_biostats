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factorail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a:p>
                <a:pPr lvl="0" indent="0" marL="0">
                  <a:buNone/>
                </a:pPr>
                <a:r>
                  <a:rPr/>
                  <a:t>Statistical Model:</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Where: - </a:t>
                </a:r>
                <a14:m>
                  <m:oMath xmlns:m="http://schemas.openxmlformats.org/officeDocument/2006/math">
                    <m:r>
                      <m:t>μ</m:t>
                    </m:r>
                  </m:oMath>
                </a14:m>
                <a:r>
                  <a:rPr/>
                  <a:t> = grand mean - </a:t>
                </a:r>
                <a14:m>
                  <m:oMath xmlns:m="http://schemas.openxmlformats.org/officeDocument/2006/math">
                    <m:sSub>
                      <m:e>
                        <m:r>
                          <m:t>α</m:t>
                        </m:r>
                      </m:e>
                      <m:sub>
                        <m:r>
                          <m:t>i</m:t>
                        </m:r>
                      </m:sub>
                    </m:sSub>
                  </m:oMath>
                </a14:m>
                <a:r>
                  <a:rPr/>
                  <a:t> = effect of species i - </a:t>
                </a:r>
                <a14:m>
                  <m:oMath xmlns:m="http://schemas.openxmlformats.org/officeDocument/2006/math">
                    <m:sSub>
                      <m:e>
                        <m:r>
                          <m:t>β</m:t>
                        </m:r>
                      </m:e>
                      <m:sub>
                        <m:r>
                          <m:t>j</m:t>
                        </m:r>
                      </m:sub>
                    </m:sSub>
                  </m:oMath>
                </a14:m>
                <a:r>
                  <a:rPr/>
                  <a:t> = effect of sex j - </a:t>
                </a:r>
                <a14:m>
                  <m:oMath xmlns:m="http://schemas.openxmlformats.org/officeDocument/2006/math">
                    <m:sSub>
                      <m:e>
                        <m:d>
                          <m:dPr>
                            <m:begChr m:val="("/>
                            <m:sepChr m:val=""/>
                            <m:endChr m:val=")"/>
                            <m:grow/>
                          </m:dPr>
                          <m:e>
                            <m:r>
                              <m:t>α</m:t>
                            </m:r>
                            <m:r>
                              <m:t>β</m:t>
                            </m:r>
                          </m:e>
                        </m:d>
                      </m:e>
                      <m:sub>
                        <m:r>
                          <m:t>i</m:t>
                        </m:r>
                        <m:r>
                          <m:t>j</m:t>
                        </m:r>
                      </m:sub>
                    </m:sSub>
                  </m:oMath>
                </a14:m>
                <a:r>
                  <a:rPr/>
                  <a:t> = interaction effect - </a:t>
                </a:r>
                <a14:m>
                  <m:oMath xmlns:m="http://schemas.openxmlformats.org/officeDocument/2006/math">
                    <m:sSub>
                      <m:e>
                        <m:r>
                          <m:t>ε</m:t>
                        </m:r>
                      </m:e>
                      <m:sub>
                        <m:r>
                          <m:t>i</m:t>
                        </m:r>
                        <m:r>
                          <m:t>j</m:t>
                        </m:r>
                        <m:r>
                          <m:t>k</m:t>
                        </m:r>
                      </m:sub>
                    </m:sSub>
                  </m:oMath>
                </a14:m>
                <a:r>
                  <a:rPr/>
                  <a:t> = random error</a:t>
                </a:r>
              </a:p>
            </p:txBody>
          </p:sp>
        </mc:Choice>
      </mc:AlternateContent>
      <p:sp>
        <p:nvSpPr>
          <p:cNvPr id="4" name="Content Placeholder 3"/>
          <p:cNvSpPr>
            <a:spLocks noGrp="1"/>
          </p:cNvSpPr>
          <p:nvPr>
            <p:ph idx="2" sz="half"/>
          </p:nvPr>
        </p:nvSpPr>
        <p:spPr/>
        <p:txBody>
          <a:bodyPr/>
          <a:lstStyle/>
          <a:p>
            <a:pPr lvl="0" indent="0">
              <a:buNone/>
            </a:pPr>
            <a:r>
              <a:rPr>
                <a:latin typeface="Courier"/>
              </a:rPr>
              <a:t># A tibble: 6 × 3
  species sex    body_mass_g
  &lt;fct&gt;   &lt;fct&gt;        &lt;int&gt;
1 Adelie  male          3750
2 Adelie  female        3800
3 Adelie  female        3250
4 Adelie  female        3450
5 Adelie  male          3650
6 Adelie  female        3625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meaning that there are unequal samples per cell</a:t>
            </a:r>
          </a:p>
          <a:p>
            <a:pPr lvl="0" indent="0">
              <a:buNone/>
            </a:pPr>
            <a:r>
              <a:rPr>
                <a:latin typeface="Courier"/>
              </a:rPr>
              <a:t># A tibble: 3 × 3
  species   female  male
  &lt;fct&gt;      &lt;int&gt; &lt;int&gt;
1 Adelie        73    73
2 Chinstrap     34    34
3 Gentoo        58    61</a:t>
            </a:r>
          </a:p>
        </p:txBody>
      </p:sp>
      <p:sp>
        <p:nvSpPr>
          <p:cNvPr id="4" name="Content Placeholder 3"/>
          <p:cNvSpPr>
            <a:spLocks noGrp="1"/>
          </p:cNvSpPr>
          <p:nvPr>
            <p:ph idx="2" sz="half"/>
          </p:nvPr>
        </p:nvSpPr>
        <p:spPr/>
        <p:txBody>
          <a:bodyPr/>
          <a:lstStyle/>
          <a:p>
            <a:pPr lvl="0" indent="0">
              <a:buNone/>
            </a:pPr>
            <a:r>
              <a:rPr>
                <a:latin typeface="Courier"/>
              </a:rPr>
              <a:t>[1] "Minimum n = 34"</a:t>
            </a:r>
          </a:p>
          <a:p>
            <a:pPr lvl="0" indent="0">
              <a:buNone/>
            </a:pPr>
            <a:r>
              <a:rPr>
                <a:latin typeface="Courier"/>
              </a:rPr>
              <a:t># A tibble: 3 × 3
  species   female  male
  &lt;fct&gt;      &lt;int&gt; &lt;int&gt;
1 Adelie        34    34
2 Chinstrap     34    34
3 Gentoo        34    34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Descriptive Statistics</a:t>
            </a:r>
          </a:p>
        </p:txBody>
      </p:sp>
      <p:sp>
        <p:nvSpPr>
          <p:cNvPr id="3" name="Content Placeholder 2"/>
          <p:cNvSpPr>
            <a:spLocks noGrp="1"/>
          </p:cNvSpPr>
          <p:nvPr>
            <p:ph idx="1" sz="half"/>
          </p:nvPr>
        </p:nvSpPr>
        <p:spPr/>
        <p:txBody>
          <a:bodyPr/>
          <a:lstStyle/>
          <a:p>
            <a:pPr lvl="0" indent="0" marL="0">
              <a:spcBef>
                <a:spcPts val="3000"/>
              </a:spcBef>
              <a:buNone/>
            </a:pPr>
            <a:r>
              <a:rPr b="1"/>
              <a:t>Summary Statistics by Groups</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a:p>
            <a:pPr lvl="0" indent="0">
              <a:buNone/>
            </a:pPr>
            <a:r>
              <a:rPr>
                <a:latin typeface="Courier"/>
              </a:rPr>
              <a:t>[1] "\nEstimated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a:r><a:rPr /><a:t>SStotal = SSA + SSB + SSAB+ SSresidual = (Y - Grand Mean Y)^2</a:t></a:r></a:p><a:p><a:pPr lvl="0" /><a:r><a:rPr /><a:t>SSresidual = (Y - Yhat)^2 or the difference between each observation and the appropriate cell mean, summed over all observations</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indent="0" marL="0">
              <a:buNone/>
            </a:pPr>
            <a:r>
              <a:rPr/>
              <a:t>SSA is SS of differences between each marginal mean of A and overall mean</a:t>
            </a:r>
          </a:p>
          <a:p>
            <a:pPr lvl="0" indent="0" marL="0">
              <a:buNone/>
            </a:pPr>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indent="0" marL="0">
              <a:buNone/>
            </a:pPr>
            <a:r>
              <a:rPr/>
              <a:t>SSB is SS of differences between each marginal mean of B and overall mean</a:t>
            </a:r>
          </a:p>
          <a:p>
            <a:pPr lvl="0" indent="0" marL="0">
              <a:buNone/>
            </a:pPr>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indent="0" marL="0">
              <a:buNone/>
            </a:pPr>
            <a:r>
              <a:rPr/>
              <a:t>Effect of species and sex on body_mass_g</a:t>
            </a:r>
          </a:p>
          <a:p>
            <a:pPr lvl="0"/>
            <a:r>
              <a:rPr/>
              <a:t>3 species (factor A)</a:t>
            </a:r>
          </a:p>
          <a:p>
            <a:pPr lvl="0"/>
            <a:r>
              <a:rPr/>
              <a:t>2 sexes (factor B)</a:t>
            </a:r>
          </a:p>
          <a:p>
            <a:pPr lvl="0"/>
            <a:r>
              <a:rPr/>
              <a:t>34 replicates in each cell</a:t>
            </a:r>
          </a:p>
          <a:p>
            <a:pPr lvl="0"/>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latin typeface="Courier"/>
              </a:rPr>
              <a:t>[1] "Type III Sums of Squares ANOVA:"</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latin typeface="Courier"/>
              </a:rPr>
              <a:t>[1] "Effect Sizes (Eta-squared):"</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a:t>
            </a:r>
          </a:p>
        </p:txBody>
      </p:sp>
      <p:pic>
        <p:nvPicPr>
          <p:cNvPr descr="12_01_lecture_powerpoint_files/figure-pptx/diagnostics-1.png" id="0" name="Picture 1"/>
          <p:cNvPicPr>
            <a:picLocks noGrp="1" noChangeAspect="1"/>
          </p:cNvPicPr>
          <p:nvPr/>
        </p:nvPicPr>
        <p:blipFill>
          <a:blip r:embed="rId2"/>
          <a:stretch>
            <a:fillRect/>
          </a:stretch>
        </p:blipFill>
        <p:spPr bwMode="auto">
          <a:xfrm>
            <a:off x="3073400" y="609600"/>
            <a:ext cx="29337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residuuals</a:t>
            </a:r>
          </a:p>
          <a:p>
            <a:pPr lvl="1"/>
            <a:r>
              <a:rPr/>
              <a:t>homogenetiy of variances</a:t>
            </a:r>
          </a:p>
          <a:p>
            <a:pPr lvl="0" indent="0">
              <a:buNone/>
            </a:pPr>
            <a:r>
              <a:rPr>
                <a:latin typeface="Courier"/>
              </a:rPr>
              <a:t>[1] "Shapiro-Wilk Normality Test:"</a:t>
            </a:r>
          </a:p>
          <a:p>
            <a:pPr lvl="0" indent="0">
              <a:buNone/>
            </a:pPr>
            <a:r>
              <a:rPr>
                <a:latin typeface="Courier"/>
              </a:rPr>
              <a:t>
    Shapiro-Wilk normality test
data:  residuals(anova_model)
W = 0.99612, p-value = 0.8886</a:t>
            </a:r>
          </a:p>
          <a:p>
            <a:pPr lvl="0" indent="0">
              <a:buNone/>
            </a:pPr>
            <a:r>
              <a:rPr>
                <a:latin typeface="Courier"/>
              </a:rPr>
              <a:t>[1] "Levene's Test for Homogeneity:"</a:t>
            </a:r>
          </a:p>
          <a:p>
            <a:pPr lvl="0" indent="0">
              <a:buNone/>
            </a:pPr>
            <a:r>
              <a:rPr>
                <a:latin typeface="Courier"/>
              </a:rPr>
              <a:t>Levene's Test for Homogeneity of Variance (center = median)
       Df F value Pr(&gt;F)
group   5  0.7841 0.5622
      198               </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[1] "Species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[1] "Sex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[1] "Species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it test the overall interaction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indent="0" marL="0">
                  <a:buNone/>
                </a:pPr>
                <a:r>
                  <a:rPr/>
                  <a:t>Real-world data is often unbalanced: - Unequal sample sizes across groups - Missing data patterns - Natural variation in sampling</a:t>
                </a:r>
              </a:p>
              <a:p>
                <a:pPr lvl="0" indent="0" marL="0">
                  <a:buNone/>
                </a:pPr>
                <a:r>
                  <a:rPr/>
                  <a:t>Key Issues: - Type I, II, and III SS give different results - Order of terms matters for Type I SS - Marginal means ≠ Simple averages -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latin typeface="Courier"/>
                  </a:rPr>
                  <a:t>[1] "Unbalanced sample sizes:"</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latin typeface="Courier"/>
                  </a:rPr>
                  <a:t>[1] "Total N = 333"</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latin typeface="Courier"/>
              </a:rPr>
              <a:t>[1] "Type I SS (Species → Sex → Interaction):"</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latin typeface="Courier"/>
              </a:rPr>
              <a:t>[1] "\nType I SS (Sex → Species → Interaction):"</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latin typeface="Courier"/>
              </a:rPr>
              <a:t>[1] "\nType I SS depends on order:"</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indent="0" marL="0">
              <a:buNone/>
            </a:pPr>
            <a:r>
              <a:rPr b="1"/>
              <a:t>Example calculation:</a:t>
            </a:r>
            <a:r>
              <a:rPr/>
              <a:t> - SS(Species) = reduction in SS from null to species-only model - SS(Sex|Species) = additional reduction adding sex - SS(Interaction|Species,Sex) = additional reduction adding interaction</a:t>
            </a:r>
          </a:p>
          <a:p>
            <a:pPr lvl="0" indent="0" marL="0">
              <a:buNone/>
            </a:pPr>
            <a:r>
              <a:rPr b="1"/>
              <a:t>Problems with unbalanced data:</a:t>
            </a:r>
            <a:r>
              <a:rPr/>
              <a:t> - Order dependency - Biased if factors are correlated - 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latin typeface="Courier"/>
              </a:rPr>
              <a:t>[1] "Type III Sums of Squares:"</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latin typeface="Courier"/>
              </a:rPr>
              <a:t>[1] "\nComparison of F-values:"</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indent="0" marL="0">
              <a:buNone/>
            </a:pPr>
            <a:r>
              <a:rPr b="1"/>
              <a:t>Marginal decomposition:</a:t>
            </a:r>
          </a:p>
          <a:p>
            <a:pPr lvl="0" indent="0" marL="0">
              <a:buNone/>
            </a:pPr>
            <a:r>
              <a:rPr/>
              <a:t>Each effect tested after adjusting for all others: - SS(Species|Sex,Interaction) - SS(Sex|Species,Interaction) - SS(Interaction|Species,Sex)</a:t>
            </a:r>
          </a:p>
          <a:p>
            <a:pPr lvl="0" indent="0" marL="0">
              <a:buNone/>
            </a:pPr>
            <a:r>
              <a:rPr b="1"/>
              <a:t>Advantages:</a:t>
            </a:r>
            <a:r>
              <a:rPr/>
              <a:t> - Order invariant - Tests hypotheses about unweighted means - Standard in most software</a:t>
            </a:r>
          </a:p>
          <a:p>
            <a:pPr lvl="0" indent="0" marL="0">
              <a:buNone/>
            </a:pPr>
            <a:r>
              <a:rPr b="1"/>
              <a:t>Disadvantages:</a:t>
            </a:r>
            <a:r>
              <a:rPr/>
              <a:t> - Lower power with missing cells - Tests may not be orthogonal - Requires careful interpretation</a:t>
            </a:r>
          </a:p>
          <a:p>
            <a:pPr lvl="0" indent="0">
              <a:buNone/>
            </a:pPr>
            <a:r>
              <a:rPr>
                <a:latin typeface="Courier"/>
              </a:rPr>
              <a:t>[1] "Effect Sizes (Type III):"</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latin typeface="Courier"/>
              </a:rPr>
              <a:t>[1] "Grand mean: 4207.1"</a:t>
            </a:r>
          </a:p>
          <a:p>
            <a:pPr lvl="0" indent="0">
              <a:buNone/>
            </a:pPr>
            <a:r>
              <a:rPr>
                <a:latin typeface="Courier"/>
              </a:rPr>
              <a:t>[1] "Total SS: 215259666"</a:t>
            </a:r>
          </a:p>
          <a:p>
            <a:pPr lvl="0" indent="0">
              <a:buNone/>
            </a:pPr>
            <a:r>
              <a:rPr>
                <a:latin typeface="Courier"/>
              </a:rPr>
              <a:t>[1] "Between-groups SS: 183957038"</a:t>
            </a:r>
          </a:p>
          <a:p>
            <a:pPr lvl="0" indent="0">
              <a:buNone/>
            </a:pPr>
            <a:r>
              <a:rPr>
                <a:latin typeface="Courier"/>
              </a:rPr>
              <a:t>[1] "Within-groups SS: 31302628"</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latin typeface="Courier"/>
              </a:rPr>
              <a:t>[1] "SS(Species alone): 145190219"</a:t>
            </a:r>
          </a:p>
          <a:p>
            <a:pPr lvl="0" indent="0">
              <a:buNone/>
            </a:pPr>
            <a:r>
              <a:rPr>
                <a:latin typeface="Courier"/>
              </a:rPr>
              <a:t>[1] "SS(Sex alone): 38878897"</a:t>
            </a:r>
          </a:p>
          <a:p>
            <a:pPr lvl="0" indent="0">
              <a:buNone/>
            </a:pPr>
            <a:r>
              <a:rPr>
                <a:latin typeface="Courier"/>
              </a:rPr>
              <a:t>[1] "Sum of main effects: 184069116"</a:t>
            </a:r>
          </a:p>
          <a:p>
            <a:pPr lvl="0" indent="0">
              <a:buNone/>
            </a:pPr>
            <a:r>
              <a:rPr>
                <a:latin typeface="Courier"/>
              </a:rPr>
              <a:t>[1] "Actual between SS: 183957038"</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latin typeface="Courier"/>
              </a:rPr>
              <a:t>[1] "Species EMMs (model-based):"</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latin typeface="Courier"/>
              </a:rPr>
              <a:t>[1] "\nSex EMMs (model-based):"</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latin typeface="Courier"/>
              </a:rPr>
              <a:t>[1] "Species pairwise comparisons (Tukey):"</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latin typeface="Courier"/>
              </a:rPr>
              <a:t>[1] "\nSex effect within each species:"</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latin typeface="Courier"/>
              </a:rPr>
              <a:t>[1] "Sex effect (Male - Female) by species:"</a:t>
            </a:r>
          </a:p>
          <a:p>
            <a:pPr lvl="0" indent="0">
              <a:buNone/>
            </a:pPr>
            <a:r>
              <a:rPr>
                <a:latin typeface="Courier"/>
              </a:rPr>
              <a:t>    Species Sex_Effect
1    Adelie       -675
2 Chinstrap       -412
3    Gentoo       -805</a:t>
            </a:r>
          </a:p>
          <a:p>
            <a:pPr lvl="0" indent="0">
              <a:buNone/>
            </a:pPr>
            <a:r>
              <a:rPr>
                <a:latin typeface="Courier"/>
              </a:rPr>
              <a:t>[1] "\nInteraction interpretation:"</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latin typeface="Courier"/>
              </a:rPr>
              <a:t>[1] "Shapiro-Wilk test:"</a:t>
            </a:r>
          </a:p>
          <a:p>
            <a:pPr lvl="0" indent="0">
              <a:buNone/>
            </a:pPr>
            <a:r>
              <a:rPr>
                <a:latin typeface="Courier"/>
              </a:rPr>
              <a:t>
    Shapiro-Wilk normality test
data:  residuals(model_u)
W = 0.99776, p-value = 0.9367</a:t>
            </a:r>
          </a:p>
          <a:p>
            <a:pPr lvl="0" indent="0">
              <a:buNone/>
            </a:pPr>
            <a:r>
              <a:rPr>
                <a:latin typeface="Courier"/>
              </a:rPr>
              <a:t>[1] "\nLevene's test:"</a:t>
            </a:r>
          </a:p>
          <a:p>
            <a:pPr lvl="0" indent="0">
              <a:buNone/>
            </a:pPr>
            <a:r>
              <a:rPr>
                <a:latin typeface="Courier"/>
              </a:rPr>
              <a:t>Levene's Test for Homogeneity of Variance (center = median)
       Df F value Pr(&gt;F)
group   5  1.3908 0.2272
      327               </a:t>
            </a:r>
          </a:p>
          <a:p>
            <a:pPr lvl="0" indent="0">
              <a:buNone/>
            </a:pPr>
            <a:r>
              <a:rPr>
                <a:latin typeface="Courier"/>
              </a:rPr>
              <a:t>[1] "\nResidual SD by group:"</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latin typeface="Courier"/>
              </a:rPr>
              <a:t>[1] "Balanced vs Unbalanced Results:"</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latin typeface="Courier"/>
              </a:rPr>
              <a:t>[1] "\nSample sizes:"</a:t>
            </a:r>
          </a:p>
          <a:p>
            <a:pPr lvl="0" indent="0">
              <a:buNone/>
            </a:pPr>
            <a:r>
              <a:rPr>
                <a:latin typeface="Courier"/>
              </a:rPr>
              <a:t>[1] "Balanced total N: 204"</a:t>
            </a:r>
          </a:p>
          <a:p>
            <a:pPr lvl="0" indent="0">
              <a:buNone/>
            </a:pPr>
            <a:r>
              <a:rPr>
                <a:latin typeface="Courier"/>
              </a:rPr>
              <a:t>[1] "Unbalanced total N: 333"</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2025-10-22T16:30:28Z</dcterms:created>
  <dcterms:modified xsi:type="dcterms:W3CDTF">2025-10-22T16:30:28Z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