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Penguin Mass Balanced</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spcBef>
                <a:spcPts val="3000"/>
              </a:spcBef>
              <a:buNone/>
            </a:pPr>
            <a:r>
              <a:rPr b="1"/>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spcBef>
                <a:spcPts val="3000"/>
              </a:spcBef>
              <a:buNone/>
            </a:pPr>
            <a:r>
              <a:rPr b="1"/>
              <a:t>2-factor designs (2-way ANOVA)</a:t>
            </a:r>
          </a:p>
          <a:p>
            <a:pPr lvl="0"/>
            <a:r>
              <a:rPr/>
              <a:t>very common in ecology</a:t>
            </a:r>
          </a:p>
          <a:p>
            <a:pPr lvl="0"/>
            <a:r>
              <a:rPr/>
              <a:t>can have more factors (e.g., 3-way ANOVA) but interpretation gets very challenging…</a:t>
            </a:r>
          </a:p>
          <a:p>
            <a:pPr lvl="0"/>
            <a:r>
              <a:rPr/>
              <a:t>Most multifactor designs: are factorail or nested</a:t>
            </a:r>
          </a:p>
          <a:p>
            <a:pPr lvl="0"/>
            <a:r>
              <a:rPr/>
              <a:t>We will cover a 2 Factor Anova - this could be fertilizer and sunlight for plant biomass produced…</a:t>
            </a:r>
          </a:p>
          <a:p>
            <a:pPr lvl="1"/>
            <a:r>
              <a:rPr/>
              <a:t>each can have an effect independently</a:t>
            </a:r>
          </a:p>
          <a:p>
            <a:pPr lvl="1"/>
            <a:r>
              <a:rPr/>
              <a:t>the effect of one factor may interact with the other factor</a:t>
            </a:r>
          </a:p>
          <a:p>
            <a:pPr lvl="1"/>
            <a:r>
              <a:rPr/>
              <a:t>in this example…</a:t>
            </a:r>
          </a:p>
          <a:p>
            <a:pPr lvl="2"/>
            <a:r>
              <a:rPr/>
              <a:t>a low light and high light treatment might affect biomass</a:t>
            </a:r>
          </a:p>
          <a:p>
            <a:pPr lvl="2"/>
            <a:r>
              <a:rPr/>
              <a:t>fertilizer also might affect plat biomass</a:t>
            </a:r>
          </a:p>
          <a:p>
            <a:pPr lvl="2"/>
            <a:r>
              <a:rPr/>
              <a:t>but when you have higher light the high fertilizer treatment may grow better than expected</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spcBef>
                <a:spcPts val="3000"/>
              </a:spcBef>
              <a:buNone/>
            </a:pPr>
            <a:r>
              <a:rPr b="1"/>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spcBef>
                <a:spcPts val="3000"/>
              </a:spcBef>
              <a:buNone/>
            </a:pPr>
            <a:r>
              <a:rPr b="1"/>
              <a:t>In factorial designs</a:t>
            </a:r>
          </a:p>
          <a:p>
            <a:pPr lvl="0"/>
            <a:r>
              <a:rPr/>
              <a:t>look at two types of factor effects:</a:t>
            </a:r>
          </a:p>
          <a:p>
            <a:pPr lvl="1"/>
            <a:r>
              <a:rPr b="1"/>
              <a:t>Main effect of each factor</a:t>
            </a:r>
            <a:r>
              <a:rPr/>
              <a:t> (polling across other factor)</a:t>
            </a:r>
          </a:p>
          <a:p>
            <a:pPr lvl="1"/>
            <a:r>
              <a:rPr b="1"/>
              <a:t>Interaction effects;</a:t>
            </a:r>
            <a:r>
              <a:rPr/>
              <a:t>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Two-Way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Factorial Designs</a:t>
                </a:r>
              </a:p>
              <a:p>
                <a:pPr lvl="0" indent="0" marL="0">
                  <a:buNone/>
                </a:pPr>
                <a:r>
                  <a:rPr/>
                  <a:t>Two-way ANOVA examines:</a:t>
                </a:r>
              </a:p>
              <a:p>
                <a:pPr lvl="0"/>
                <a:r>
                  <a:rPr/>
                  <a:t>Main effect of Factor A (Species)</a:t>
                </a:r>
              </a:p>
              <a:p>
                <a:pPr lvl="0"/>
                <a:r>
                  <a:rPr/>
                  <a:t>Main effect of Factor B (Sex)</a:t>
                </a:r>
              </a:p>
              <a:p>
                <a:pPr lvl="0"/>
                <a:r>
                  <a:rPr/>
                  <a:t>Interaction between A × B</a:t>
                </a:r>
              </a:p>
              <a:p>
                <a:pPr lvl="0"/>
                <a:r>
                  <a:rPr/>
                  <a:t>Balanced design: equal sample sizes in all cells</a:t>
                </a:r>
              </a:p>
              <a:p>
                <a:pPr lvl="0"/>
                <a:r>
                  <a:rPr/>
                  <a:t>Type III sums of squares for unbiased estimates - if balanced it does not matter</a:t>
                </a:r>
              </a:p>
              <a:p>
                <a:pPr lvl="0" indent="0" marL="0">
                  <a:buNone/>
                </a:pPr>
                <a:r>
                  <a:rPr/>
                  <a:t>Statistical Model:</a:t>
                </a:r>
              </a:p>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indent="0" marL="0">
                  <a:buNone/>
                </a:pPr>
                <a:r>
                  <a:rPr/>
                  <a:t>Where: - </a:t>
                </a:r>
                <a14:m>
                  <m:oMath xmlns:m="http://schemas.openxmlformats.org/officeDocument/2006/math">
                    <m:r>
                      <m:t>μ</m:t>
                    </m:r>
                  </m:oMath>
                </a14:m>
                <a:r>
                  <a:rPr/>
                  <a:t> = grand mean - </a:t>
                </a:r>
                <a14:m>
                  <m:oMath xmlns:m="http://schemas.openxmlformats.org/officeDocument/2006/math">
                    <m:sSub>
                      <m:e>
                        <m:r>
                          <m:t>α</m:t>
                        </m:r>
                      </m:e>
                      <m:sub>
                        <m:r>
                          <m:t>i</m:t>
                        </m:r>
                      </m:sub>
                    </m:sSub>
                  </m:oMath>
                </a14:m>
                <a:r>
                  <a:rPr/>
                  <a:t> = effect of species i - </a:t>
                </a:r>
                <a14:m>
                  <m:oMath xmlns:m="http://schemas.openxmlformats.org/officeDocument/2006/math">
                    <m:sSub>
                      <m:e>
                        <m:r>
                          <m:t>β</m:t>
                        </m:r>
                      </m:e>
                      <m:sub>
                        <m:r>
                          <m:t>j</m:t>
                        </m:r>
                      </m:sub>
                    </m:sSub>
                  </m:oMath>
                </a14:m>
                <a:r>
                  <a:rPr/>
                  <a:t> = effect of sex j - </a:t>
                </a:r>
                <a14:m>
                  <m:oMath xmlns:m="http://schemas.openxmlformats.org/officeDocument/2006/math">
                    <m:sSub>
                      <m:e>
                        <m:d>
                          <m:dPr>
                            <m:begChr m:val="("/>
                            <m:sepChr m:val=""/>
                            <m:endChr m:val=")"/>
                            <m:grow/>
                          </m:dPr>
                          <m:e>
                            <m:r>
                              <m:t>α</m:t>
                            </m:r>
                            <m:r>
                              <m:t>β</m:t>
                            </m:r>
                          </m:e>
                        </m:d>
                      </m:e>
                      <m:sub>
                        <m:r>
                          <m:t>i</m:t>
                        </m:r>
                        <m:r>
                          <m:t>j</m:t>
                        </m:r>
                      </m:sub>
                    </m:sSub>
                  </m:oMath>
                </a14:m>
                <a:r>
                  <a:rPr/>
                  <a:t> = interaction effect - </a:t>
                </a:r>
                <a14:m>
                  <m:oMath xmlns:m="http://schemas.openxmlformats.org/officeDocument/2006/math">
                    <m:sSub>
                      <m:e>
                        <m:r>
                          <m:t>ε</m:t>
                        </m:r>
                      </m:e>
                      <m:sub>
                        <m:r>
                          <m:t>i</m:t>
                        </m:r>
                        <m:r>
                          <m:t>j</m:t>
                        </m:r>
                        <m:r>
                          <m:t>k</m:t>
                        </m:r>
                      </m:sub>
                    </m:sSub>
                  </m:oMath>
                </a14:m>
                <a:r>
                  <a:rPr/>
                  <a:t> = random error</a:t>
                </a:r>
              </a:p>
            </p:txBody>
          </p:sp>
        </mc:Choice>
      </mc:AlternateContent>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(palmerpenguins)</a:t>
            </a:r>
            <a:br/>
            <a:r>
              <a:rPr>
                <a:solidFill>
                  <a:srgbClr val="4758AB"/>
                </a:solidFill>
                <a:latin typeface="Courier"/>
              </a:rPr>
              <a:t>library</a:t>
            </a:r>
            <a:r>
              <a:rPr>
                <a:solidFill>
                  <a:srgbClr val="003B4F"/>
                </a:solidFill>
                <a:latin typeface="Courier"/>
              </a:rPr>
              <a:t>(emmeans)</a:t>
            </a:r>
            <a:b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(broom)</a:t>
            </a:r>
            <a:br/>
            <a:r>
              <a:rPr>
                <a:solidFill>
                  <a:srgbClr val="4758AB"/>
                </a:solidFill>
                <a:latin typeface="Courier"/>
              </a:rPr>
              <a:t>library</a:t>
            </a:r>
            <a:r>
              <a:rPr>
                <a:solidFill>
                  <a:srgbClr val="003B4F"/>
                </a:solidFill>
                <a:latin typeface="Courier"/>
              </a:rPr>
              <a:t>(tidyverse)</a:t>
            </a:r>
            <a:br/>
            <a:r>
              <a:rPr>
                <a:solidFill>
                  <a:srgbClr val="5E5E5E"/>
                </a:solidFill>
                <a:latin typeface="Courier"/>
              </a:rPr>
              <a:t># Load the penguin data</a:t>
            </a:r>
            <a:br/>
            <a:r>
              <a:rPr>
                <a:solidFill>
                  <a:srgbClr val="003B4F"/>
                </a:solidFill>
                <a:latin typeface="Courier"/>
              </a:rPr>
              <a:t>p_df &lt;- penguins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(body_mass_g), </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(sex),</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(species))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(species, sex, body_mass_g)</a:t>
            </a:r>
            <a:br/>
            <a:r>
              <a:rPr>
                <a:solidFill>
                  <a:srgbClr val="4758AB"/>
                </a:solidFill>
                <a:latin typeface="Courier"/>
              </a:rPr>
              <a:t>head</a:t>
            </a:r>
            <a:r>
              <a:rPr>
                <a:solidFill>
                  <a:srgbClr val="003B4F"/>
                </a:solidFill>
                <a:latin typeface="Courier"/>
              </a:rPr>
              <a:t>(p_df)</a:t>
            </a:r>
          </a:p>
          <a:p>
            <a:pPr lvl="0" indent="0">
              <a:buNone/>
            </a:pPr>
            <a:r>
              <a:rPr>
                <a:latin typeface="Courier"/>
              </a:rPr>
              <a:t># A tibble: 6 × 3
  species sex    body_mass_g
  &lt;fct&gt;   &lt;fct&gt;        &lt;int&gt;
1 Adelie  male          3750
2 Adelie  female        3800
3 Adelie  female        3250
4 Adelie  female        3450
5 Adelie  male          3650
6 Adelie  female        3625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Preparation - Creating Balanced Design</a:t>
            </a:r>
          </a:p>
        </p:txBody>
      </p:sp>
      <p:sp>
        <p:nvSpPr>
          <p:cNvPr id="3" name="Content Placeholder 2"/>
          <p:cNvSpPr>
            <a:spLocks noGrp="1"/>
          </p:cNvSpPr>
          <p:nvPr>
            <p:ph idx="1" sz="half"/>
          </p:nvPr>
        </p:nvSpPr>
        <p:spPr/>
        <p:txBody>
          <a:bodyPr/>
          <a:lstStyle/>
          <a:p>
            <a:pPr lvl="0" indent="0" marL="0">
              <a:spcBef>
                <a:spcPts val="3000"/>
              </a:spcBef>
              <a:buNone/>
            </a:pPr>
            <a:r>
              <a:rPr b="1"/>
              <a:t>Balancing the Penguin Data</a:t>
            </a:r>
          </a:p>
          <a:p>
            <a:pPr lvl="0" indent="0" marL="0">
              <a:buNone/>
            </a:pPr>
            <a:r>
              <a:rPr/>
              <a:t>The dataframe of penguins is unbalanced - meaning that there are unequal samples per cell</a:t>
            </a:r>
          </a:p>
          <a:p>
            <a:pPr lvl="0" indent="0">
              <a:buNone/>
            </a:pPr>
            <a:r>
              <a:rPr>
                <a:solidFill>
                  <a:srgbClr val="5E5E5E"/>
                </a:solidFill>
                <a:latin typeface="Courier"/>
              </a:rPr>
              <a:t># Check original sample sizes</a:t>
            </a:r>
            <a:br/>
            <a:r>
              <a:rPr>
                <a:solidFill>
                  <a:srgbClr val="003B4F"/>
                </a:solidFill>
                <a:latin typeface="Courier"/>
              </a:rPr>
              <a:t>original_n &lt;- 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(species, sex)</a:t>
            </a:r>
            <a:b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br/>
            <a:r>
              <a:rPr>
                <a:solidFill>
                  <a:srgbClr val="003B4F"/>
                </a:solidFill>
                <a:latin typeface="Courier"/>
              </a:rPr>
              <a:t>              </a:t>
            </a:r>
            <a:r>
              <a:rPr>
                <a:solidFill>
                  <a:srgbClr val="657422"/>
                </a:solidFill>
                <a:latin typeface="Courier"/>
              </a:rPr>
              <a:t>values_from =</a:t>
            </a:r>
            <a:r>
              <a:rPr>
                <a:solidFill>
                  <a:srgbClr val="003B4F"/>
                </a:solidFill>
                <a:latin typeface="Courier"/>
              </a:rPr>
              <a:t> n,</a:t>
            </a:r>
            <a:br/>
            <a:r>
              <a:rPr>
                <a:solidFill>
                  <a:srgbClr val="003B4F"/>
                </a:solidFill>
                <a:latin typeface="Courier"/>
              </a:rPr>
              <a:t>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 </a:t>
            </a:r>
          </a:p>
          <a:p>
            <a:pPr lvl="0" indent="0">
              <a:buNone/>
            </a:pPr>
            <a:r>
              <a:rPr>
                <a:latin typeface="Courier"/>
              </a:rPr>
              <a:t># A tibble: 3 × 3
  species   female  male
  &lt;fct&gt;      &lt;int&gt; &lt;int&gt;
1 Adelie        73    73
2 Chinstrap     34    34
3 Gentoo        58    61</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Find minimum sample size</a:t>
            </a:r>
            <a:br/>
            <a:r>
              <a:rPr>
                <a:solidFill>
                  <a:srgbClr val="003B4F"/>
                </a:solidFill>
                <a:latin typeface="Courier"/>
              </a:rPr>
              <a:t>min_n &lt;- </a:t>
            </a:r>
            <a:r>
              <a:rPr>
                <a:solidFill>
                  <a:srgbClr val="4758AB"/>
                </a:solidFill>
                <a:latin typeface="Courier"/>
              </a:rPr>
              <a:t>min</a:t>
            </a:r>
            <a:r>
              <a:rPr>
                <a:solidFill>
                  <a:srgbClr val="003B4F"/>
                </a:solidFill>
                <a:latin typeface="Courier"/>
              </a:rPr>
              <a:t>(original_n</a:t>
            </a:r>
            <a:r>
              <a:rPr>
                <a:solidFill>
                  <a:srgbClr val="5E5E5E"/>
                </a:solidFill>
                <a:latin typeface="Courier"/>
              </a:rPr>
              <a:t>$</a:t>
            </a:r>
            <a:r>
              <a:rPr>
                <a:solidFill>
                  <a:srgbClr val="003B4F"/>
                </a:solidFill>
                <a:latin typeface="Courier"/>
              </a:rPr>
              <a:t>n)</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"Minimum n ="</a:t>
            </a:r>
            <a:r>
              <a:rPr>
                <a:solidFill>
                  <a:srgbClr val="003B4F"/>
                </a:solidFill>
                <a:latin typeface="Courier"/>
              </a:rPr>
              <a:t>, min_n))</a:t>
            </a:r>
          </a:p>
          <a:p>
            <a:pPr lvl="0" indent="0">
              <a:buNone/>
            </a:pPr>
            <a:r>
              <a:rPr>
                <a:latin typeface="Courier"/>
              </a:rPr>
              <a:t>[1] "Minimum n = 34"</a:t>
            </a:r>
          </a:p>
          <a:p>
            <a:pPr lvl="0" indent="0">
              <a:buNone/>
            </a:pPr>
            <a:r>
              <a:rPr>
                <a:solidFill>
                  <a:srgbClr val="5E5E5E"/>
                </a:solidFill>
                <a:latin typeface="Courier"/>
              </a:rPr>
              <a:t># Create balanced dataset</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balanced_df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sample_n</a:t>
            </a:r>
            <a:r>
              <a:rPr>
                <a:solidFill>
                  <a:srgbClr val="003B4F"/>
                </a:solidFill>
                <a:latin typeface="Courier"/>
              </a:rPr>
              <a:t>(min_n)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Verify balanced design</a:t>
            </a:r>
            <a:br/>
            <a:r>
              <a:rPr>
                <a:solidFill>
                  <a:srgbClr val="003B4F"/>
                </a:solidFill>
                <a:latin typeface="Courier"/>
              </a:rPr>
              <a:t>balanced_n &lt;- balanced_df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count</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br/>
            <a:r>
              <a:rPr>
                <a:solidFill>
                  <a:srgbClr val="003B4F"/>
                </a:solidFill>
                <a:latin typeface="Courier"/>
              </a:rPr>
              <a:t>              </a:t>
            </a:r>
            <a:r>
              <a:rPr>
                <a:solidFill>
                  <a:srgbClr val="657422"/>
                </a:solidFill>
                <a:latin typeface="Courier"/>
              </a:rPr>
              <a:t>values_from =</a:t>
            </a:r>
            <a:r>
              <a:rPr>
                <a:solidFill>
                  <a:srgbClr val="003B4F"/>
                </a:solidFill>
                <a:latin typeface="Courier"/>
              </a:rPr>
              <a:t> n,</a:t>
            </a:r>
            <a:br/>
            <a:r>
              <a:rPr>
                <a:solidFill>
                  <a:srgbClr val="003B4F"/>
                </a:solidFill>
                <a:latin typeface="Courier"/>
              </a:rPr>
              <a:t>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balanced_n</a:t>
            </a:r>
          </a:p>
          <a:p>
            <a:pPr lvl="0" indent="0">
              <a:buNone/>
            </a:pPr>
            <a:r>
              <a:rPr>
                <a:latin typeface="Courier"/>
              </a:rPr>
              <a:t># A tibble: 3 × 3
  species   female  male
  &lt;fct&gt;      &lt;int&gt; &lt;int&gt;
1 Adelie        34    34
2 Chinstrap     34    34
3 Gentoo        34    34</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Descriptive Statistics</a:t>
            </a:r>
          </a:p>
        </p:txBody>
      </p:sp>
      <p:sp>
        <p:nvSpPr>
          <p:cNvPr id="3" name="Text Placeholder 2"/>
          <p:cNvSpPr>
            <a:spLocks noGrp="1"/>
          </p:cNvSpPr>
          <p:nvPr>
            <p:ph idx="1" type="body"/>
          </p:nvPr>
        </p:nvSpPr>
        <p:spPr/>
        <p:txBody>
          <a:bodyPr/>
          <a:lstStyle/>
          <a:p>
            <a:pPr lvl="0" indent="0" marL="0">
              <a:spcBef>
                <a:spcPts val="3000"/>
              </a:spcBef>
              <a:buNone/>
            </a:pPr>
            <a:r>
              <a:rPr b="1"/>
              <a:t>Summary Statistics by Groups</a:t>
            </a:r>
          </a:p>
          <a:p>
            <a:pPr lvl="0" indent="0">
              <a:buNone/>
            </a:pPr>
            <a:r>
              <a:rPr>
                <a:solidFill>
                  <a:srgbClr val="5E5E5E"/>
                </a:solidFill>
                <a:latin typeface="Courier"/>
              </a:rPr>
              <a:t># Calculate group means and SDs</a:t>
            </a:r>
            <a:br/>
            <a:r>
              <a:rPr>
                <a:solidFill>
                  <a:srgbClr val="003B4F"/>
                </a:solidFill>
                <a:latin typeface="Courier"/>
              </a:rPr>
              <a:t>summary_df &lt;- balanced_df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(body_mass_g)),</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(body_mass_g),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(body_mass_g),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(species, sex)</a:t>
            </a:r>
            <a:br/>
            <a:br/>
            <a:r>
              <a:rPr>
                <a:solidFill>
                  <a:srgbClr val="4758AB"/>
                </a:solidFill>
                <a:latin typeface="Courier"/>
              </a:rPr>
              <a:t>print</a:t>
            </a:r>
            <a:r>
              <a:rPr>
                <a:solidFill>
                  <a:srgbClr val="003B4F"/>
                </a:solidFill>
                <a:latin typeface="Courier"/>
              </a:rPr>
              <a:t>(summary_df)</a:t>
            </a:r>
          </a:p>
          <a:p>
            <a:pPr lvl="0" indent="0">
              <a:buNone/>
            </a:pPr>
            <a:r>
              <a:rPr>
                <a:latin typeface="Courier"/>
              </a:rPr>
              <a:t># A tibble: 6 × 6
  species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p_box_plot &lt;- balanced_df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body_mass_g, </a:t>
            </a:r>
            <a:r>
              <a:rPr>
                <a:solidFill>
                  <a:srgbClr val="657422"/>
                </a:solidFill>
                <a:latin typeface="Courier"/>
              </a:rPr>
              <a:t>fill=</a:t>
            </a:r>
            <a:r>
              <a:rPr>
                <a:solidFill>
                  <a:srgbClr val="003B4F"/>
                </a:solidFill>
                <a:latin typeface="Courier"/>
              </a:rPr>
              <a:t>sex))</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r>
              <a:rPr>
                <a:solidFill>
                  <a:srgbClr val="003B4F"/>
                </a:solidFill>
                <a:latin typeface="Courier"/>
              </a:rPr>
              <a:t>p_box_plot</a:t>
            </a:r>
          </a:p>
        </p:txBody>
      </p:sp>
      <p:pic>
        <p:nvPicPr>
          <p:cNvPr descr="12_01_lecture_powerpoint_files/figure-pptx/box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b="1"/>
                  <a:t>Model 1</a:t>
                </a:r>
                <a:r>
                  <a:rPr/>
                  <a:t> - 2 fixed factors - the focus for today….</a:t>
                </a:r>
              </a:p>
              <a:p>
                <a:pPr lvl="0"/>
                <a:r>
                  <a:rPr/>
                  <a:t>Model 2 - 2 random</a:t>
                </a:r>
              </a:p>
              <a:p>
                <a:pPr lvl="0"/>
                <a:r>
                  <a:rPr b="1"/>
                  <a:t>Model 3</a:t>
                </a:r>
                <a:r>
                  <a:rPr/>
                  <a:t> - 1 fixed, 1 random (mixed model) - often nested</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b="1"/>
                  <a:t>Model 3 interpretation is different:</a:t>
                </a:r>
              </a:p>
              <a:p>
                <a:pPr lvl="1"/>
                <a:r>
                  <a:rPr/>
                  <a:t>βj: random variable measuring variance in y across all possible levels of B, pooling across all levels of A</a:t>
                </a:r>
              </a:p>
              <a:p>
                <a:pPr lvl="1"/>
                <a:r>
                  <a:rPr/>
                  <a:t>(αβ)ij is random variable measuring variance of interaction between A and B across all possible levels of B (“is effect of A consistent across all possible levels of B that could have been chosen?”)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(WRONG for marginal means):"</a:t>
            </a:r>
          </a:p>
          <a:p>
            <a:pPr lvl="0" indent="0">
              <a:buNone/>
            </a:pPr>
            <a:r>
              <a:rPr>
                <a:latin typeface="Courier"/>
              </a:rPr>
              <a:t># A tibble: 3 × 3
  species   total_n regular_mean
  &lt;fct&gt;       &lt;int&gt;        &lt;dbl&gt;
1 Adelie        146        3706.
2 Chinstrap      68        3733.
3 Gentoo        119        5092.</a:t>
            </a:r>
          </a:p>
          <a:p>
            <a:pPr lvl="0" indent="0">
              <a:buNone/>
            </a:pPr>
            <a:r>
              <a:rPr>
                <a:latin typeface="Courier"/>
              </a:rPr>
              <a:t>[1] "\nEstimated Marginal Means for Species (CORRECT):"</a:t>
            </a:r>
          </a:p>
          <a:p>
            <a:pPr lvl="0" indent="0">
              <a:buNone/>
            </a:pPr>
            <a:r>
              <a:rPr>
                <a:latin typeface="Courier"/>
              </a:rPr>
              <a:t># A tibble: 3 × 3
  species   emm_mean calculation                   
  &lt;fct&gt;        &lt;dbl&gt; &lt;chr&gt;                         
1 Adelie       3706. (3368.8 + 4043.5) / 2 = 3706.2
2 Chinstrap    3733. (3527.2 + 3939) / 2 = 3733.1  
3 Gentoo       5082. (4679.7 + 5484.8) / 2 = 5082.3</a:t>
            </a:r>
          </a:p>
          <a:p>
            <a:pPr lvl="0" indent="0">
              <a:buNone/>
            </a:pPr>
            <a:r>
              <a:rPr>
                <a:latin typeface="Courier"/>
              </a:rPr>
              <a:t>[1] "\nComparison showing EMM calculation:"</a:t>
            </a:r>
          </a:p>
          <a:p>
            <a:pPr lvl="0" indent="0">
              <a:buNone/>
            </a:pPr>
            <a:r>
              <a:rPr>
                <a:latin typeface="Courier"/>
              </a:rPr>
              <a:t># A tibble: 3 × 6
  species   cell_mean_female cell_mean_male species_emm regular_mean difference
  &lt;fct&gt;                &lt;dbl&gt;          &lt;dbl&gt;       &lt;dbl&gt;        &lt;dbl&gt;      &lt;dbl&gt;
1 Adelie               3369.          4043.       3706.        3706.   4.55e-13
2 Chinstrap            3527.          3939.       3733.        3733.   0       
3 Gentoo               4680.          5485.       5082.        5092.  -1.01e+ 1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sex (WRONG for marginal means):"</a:t>
            </a:r>
          </a:p>
          <a:p>
            <a:pPr lvl="0" indent="0">
              <a:buNone/>
            </a:pPr>
            <a:r>
              <a:rPr>
                <a:latin typeface="Courier"/>
              </a:rPr>
              <a:t># A tibble: 2 × 3
  sex    total_n regular_mean
  &lt;fct&gt;    &lt;int&gt;        &lt;dbl&gt;
1 female     165        3862.
2 male       168        4546.</a:t>
            </a:r>
          </a:p>
          <a:p>
            <a:pPr lvl="0" indent="0">
              <a:buNone/>
            </a:pPr>
            <a:r>
              <a:rPr>
                <a:latin typeface="Courier"/>
              </a:rPr>
              <a:t>[1] "\nEstimated Marginal Means for Sex (CORRECT):"</a:t>
            </a:r>
          </a:p>
          <a:p>
            <a:pPr lvl="0" indent="0">
              <a:buNone/>
            </a:pPr>
            <a:r>
              <a:rPr>
                <a:latin typeface="Courier"/>
              </a:rPr>
              <a:t># A tibble: 2 × 3
  sex    emm_mean calculation                            
  &lt;fct&gt;     &lt;dbl&gt; &lt;chr&gt;                                  
1 female    3859. (3368.8 + 3527.2 + 4679.7) / 3 = 3858.6
2 male      4489. (4043.5 + 3939 + 5484.8) / 3 = 4489.1  </a:t>
            </a:r>
          </a:p>
          <a:p>
            <a:pPr lvl="0" indent="0">
              <a:buNone/>
            </a:pPr>
            <a:r>
              <a:rPr>
                <a:latin typeface="Courier"/>
              </a:rPr>
              <a:t>[1] "\nComparison showing difference between regular and marginal means:"</a:t>
            </a:r>
          </a:p>
          <a:p>
            <a:pPr lvl="0" indent="0">
              <a:buNone/>
            </a:pPr>
            <a:r>
              <a:rPr>
                <a:latin typeface="Courier"/>
              </a:rPr>
              <a:t># A tibble: 2 × 5
  sex    total_n regular_mean emm_mean difference
  &lt;fct&gt;    &lt;int&gt;        &lt;dbl&gt;    &lt;dbl&gt;      &lt;dbl&gt;
1 female     165        3862.    3859.      -3.68
2 male       168        4546.    4489.     -56.6 </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a:r><a:rPr /><a:t>SStotal = SSA + SSB + SSAB+ SSresidual = (Y - Grand Mean Y)^2</a:t></a:r></a:p><a:p><a:pPr lvl="0" /><a:r><a:rPr /><a:t>SSresidual = (Y - Yhat)^2 or the difference between each observation and the appropriate cell mean, summed over all observations</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 Factor A Effects</a:t>
            </a:r>
          </a:p>
        </p:txBody>
      </p:sp>
      <p:sp>
        <p:nvSpPr>
          <p:cNvPr id="4" name="Text Placeholder 3"/>
          <p:cNvSpPr>
            <a:spLocks noGrp="1"/>
          </p:cNvSpPr>
          <p:nvPr>
            <p:ph idx="2" sz="half" type="body"/>
          </p:nvPr>
        </p:nvSpPr>
        <p:spPr/>
        <p:txBody>
          <a:bodyPr/>
          <a:lstStyle/>
          <a:p>
            <a:pPr lvl="0" indent="0" marL="0">
              <a:buNone/>
            </a:pPr>
            <a:r>
              <a:rPr/>
              <a:t>SSA is SS of differences between each marginal mean of A and overall mean</a:t>
            </a:r>
          </a:p>
          <a:p>
            <a:pPr lvl="0" indent="0" marL="0">
              <a:buNone/>
            </a:pPr>
            <a:r>
              <a:rPr/>
              <a:t>If A is species then get the emmeans for factor A down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SSB: Factor B Effects</a:t>
            </a:r>
          </a:p>
        </p:txBody>
      </p:sp>
      <p:sp>
        <p:nvSpPr>
          <p:cNvPr id="4" name="Text Placeholder 3"/>
          <p:cNvSpPr>
            <a:spLocks noGrp="1"/>
          </p:cNvSpPr>
          <p:nvPr>
            <p:ph idx="2" sz="half" type="body"/>
          </p:nvPr>
        </p:nvSpPr>
        <p:spPr/>
        <p:txBody>
          <a:bodyPr/>
          <a:lstStyle/>
          <a:p>
            <a:pPr lvl="0" indent="0" marL="0">
              <a:buNone/>
            </a:pPr>
            <a:r>
              <a:rPr/>
              <a:t>SSB is SS of differences between each marginal mean of B and overall mean</a:t>
            </a:r>
          </a:p>
          <a:p>
            <a:pPr lvl="0" indent="0" marL="0">
              <a:buNone/>
            </a:pPr>
            <a:r>
              <a:rPr/>
              <a:t>If B is sex then get the emmeans for factor B across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SSAB: Interaction Effects</a:t>
            </a:r>
          </a:p>
        </p:txBody>
      </p:sp>
      <p:sp>
        <p:nvSpPr>
          <p:cNvPr id="4" name="Text Placeholder 3"/>
          <p:cNvSpPr>
            <a:spLocks noGrp="1"/>
          </p:cNvSpPr>
          <p:nvPr>
            <p:ph idx="2" sz="half" type="body"/>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3657600" y="1574800"/>
            <a:ext cx="5232400" cy="2565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penguin data that is in the package penguin</a:t>
            </a:r>
          </a:p>
          <a:p>
            <a:pPr lvl="0" indent="0" marL="0">
              <a:buNone/>
            </a:pPr>
            <a:r>
              <a:rPr/>
              <a:t>Effect of species and sex on body_mass_g</a:t>
            </a:r>
          </a:p>
          <a:p>
            <a:pPr lvl="0"/>
            <a:r>
              <a:rPr/>
              <a:t>3 species (factor A)</a:t>
            </a:r>
          </a:p>
          <a:p>
            <a:pPr lvl="0"/>
            <a:r>
              <a:rPr/>
              <a:t>2 sexes (factor B)</a:t>
            </a:r>
          </a:p>
          <a:p>
            <a:pPr lvl="0"/>
            <a:r>
              <a:rPr/>
              <a:t>34 replicates in each cell</a:t>
            </a:r>
          </a:p>
          <a:p>
            <a:pPr lvl="0"/>
            <a:r>
              <a:rPr/>
              <a:t>This analysis examines the effects of species and sex on the body mass of penguins.</a:t>
            </a:r>
          </a:p>
        </p:txBody>
      </p:sp>
      <p:pic>
        <p:nvPicPr>
          <p:cNvPr descr="images/clipboard-1581875934.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Two-Way ANOVA with 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Fitting the Model</a:t>
            </a:r>
          </a:p>
          <a:p>
            <a:pPr lvl="0" indent="0">
              <a:buNone/>
            </a:pPr>
            <a:r>
              <a:rPr>
                <a:latin typeface="Courier"/>
              </a:rPr>
              <a:t>
Call:
lm(formula = body_mass_g ~ species * sex, data = balanced_df)
Residuals:
    Min      1Q  Median      3Q     Max 
-827.21 -178.13    6.25  175.00  861.03 
Coefficients:
              Estimate Std. Error t value Pr(&gt;|t|)    
(Intercept)    4175.86      21.23 196.727  &lt; 2e-16 ***
species1       -484.31      30.02 -16.134  &lt; 2e-16 ***
species2       -442.77      30.02 -14.750  &lt; 2e-16 ***
sex1           -328.31      21.23 -15.467  &lt; 2e-16 ***
species1:sex1   -28.68      30.02  -0.955    0.341    
species2:sex1   122.43      30.02   4.078 6.57e-05 ***
---
Signif. codes:  0 '***' 0.001 '**' 0.01 '*' 0.05 '.' 0.1 ' ' 1
Residual standard error: 303.2 on 198 degrees of freedom
Multiple R-squared:  0.8596,    Adjusted R-squared:  0.856 
F-statistic: 242.4 on 5 and 198 DF,  p-value: &lt; 2.2e-16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table using car::Anova</a:t>
            </a:r>
            <a:br/>
            <a:r>
              <a:rPr>
                <a:solidFill>
                  <a:srgbClr val="003B4F"/>
                </a:solidFill>
                <a:latin typeface="Courier"/>
              </a:rPr>
              <a:t>anova_type3 &lt;- </a:t>
            </a:r>
            <a:r>
              <a:rPr>
                <a:solidFill>
                  <a:srgbClr val="4758AB"/>
                </a:solidFill>
                <a:latin typeface="Courier"/>
              </a:rPr>
              <a:t>Anova</a:t>
            </a:r>
            <a:r>
              <a:rPr>
                <a:solidFill>
                  <a:srgbClr val="003B4F"/>
                </a:solidFill>
                <a:latin typeface="Courier"/>
              </a:rPr>
              <a:t>(anova_model,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"Type III Sums of Squares ANOVA:"</a:t>
            </a:r>
            <a:r>
              <a:rPr>
                <a:solidFill>
                  <a:srgbClr val="003B4F"/>
                </a:solidFill>
                <a:latin typeface="Courier"/>
              </a:rPr>
              <a:t>)</a:t>
            </a:r>
          </a:p>
          <a:p>
            <a:pPr lvl="0" indent="0">
              <a:buNone/>
            </a:pPr>
            <a:r>
              <a:rPr>
                <a:latin typeface="Courier"/>
              </a:rPr>
              <a:t>[1] "Type III Sums of Squares ANOVA:"</a:t>
            </a:r>
          </a:p>
          <a:p>
            <a:pPr lvl="0" indent="0">
              <a:buNone/>
            </a:pPr>
            <a:r>
              <a:rPr>
                <a:solidFill>
                  <a:srgbClr val="4758AB"/>
                </a:solidFill>
                <a:latin typeface="Courier"/>
              </a:rPr>
              <a:t>print</a:t>
            </a:r>
            <a:r>
              <a:rPr>
                <a:solidFill>
                  <a:srgbClr val="003B4F"/>
                </a:solidFill>
                <a:latin typeface="Courier"/>
              </a:rPr>
              <a:t>(anova_type3)</a:t>
            </a:r>
          </a:p>
          <a:p>
            <a:pPr lvl="0" indent="0">
              <a:buNone/>
            </a:pPr>
            <a:r>
              <a:rPr>
                <a:latin typeface="Courier"/>
              </a:rPr>
              <a:t>Anova Table (Type III tests)
Response: body_mass_g
                Sum Sq  Df    F value    Pr(&gt;F)    
(Intercept) 3557308900   1 38701.5271 &lt; 2.2e-16 ***
species       87725999   2   477.2049 &lt; 2.2e-16 ***
sex           21988483   1   239.2224 &lt; 2.2e-16 ***
species:sex    1672776   2     9.0994 0.0001657 ***
Residuals     18199467 198                         
---
Signif. codes:  0 '***' 0.001 '**' 0.01 '*' 0.05 '.' 0.1 ' ' 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Type III SS</a:t>
            </a:r>
          </a:p>
        </p:txBody>
      </p:sp>
      <p:sp>
        <p:nvSpPr>
          <p:cNvPr id="3" name="Content Placeholder 2"/>
          <p:cNvSpPr>
            <a:spLocks noGrp="1"/>
          </p:cNvSpPr>
          <p:nvPr>
            <p:ph idx="1" sz="half"/>
          </p:nvPr>
        </p:nvSpPr>
        <p:spPr/>
        <p:txBody>
          <a:bodyPr/>
          <a:lstStyle/>
          <a:p>
            <a:pPr lvl="0" indent="0" marL="0">
              <a:buNone/>
            </a:pPr>
            <a:r>
              <a:rPr/>
              <a:t>Type III sums of squares test each effect after adjusting for all other effects in the model:</a:t>
            </a:r>
          </a:p>
          <a:p>
            <a:pPr lvl="0"/>
            <a:r>
              <a:rPr b="1"/>
              <a:t>Species effect</a:t>
            </a:r>
            <a:r>
              <a:rPr/>
              <a:t>: Tested after adjusting for sex and interaction</a:t>
            </a:r>
          </a:p>
          <a:p>
            <a:pPr lvl="0"/>
            <a:r>
              <a:rPr b="1"/>
              <a:t>Sex effect</a:t>
            </a:r>
            <a:r>
              <a:rPr/>
              <a:t>: Tested after adjusting for species and interaction</a:t>
            </a:r>
          </a:p>
          <a:p>
            <a:pPr lvl="0"/>
            <a:r>
              <a:rPr b="1"/>
              <a:t>Interaction</a:t>
            </a:r>
            <a:r>
              <a:rPr/>
              <a:t>: Tested after adjusting for both main effects</a:t>
            </a:r>
          </a:p>
          <a:p>
            <a:pPr lvl="0" indent="0" marL="0">
              <a:buNone/>
            </a:pPr>
            <a:r>
              <a:rPr/>
              <a:t>This is especially important for unbalanced designs, but we’re using it here for consistency with the next analysis.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effect sizes (eta-squared)</a:t>
            </a:r>
            <a:br/>
            <a:r>
              <a:rPr>
                <a:solidFill>
                  <a:srgbClr val="003B4F"/>
                </a:solidFill>
                <a:latin typeface="Courier"/>
              </a:rPr>
              <a:t>ss_total &lt;- </a:t>
            </a:r>
            <a:r>
              <a:rPr>
                <a:solidFill>
                  <a:srgbClr val="4758AB"/>
                </a:solidFill>
                <a:latin typeface="Courier"/>
              </a:rPr>
              <a:t>sum</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anova_type3</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5</a:t>
            </a:r>
            <a:r>
              <a:rPr>
                <a:solidFill>
                  <a:srgbClr val="003B4F"/>
                </a:solidFill>
                <a:latin typeface="Courier"/>
              </a:rPr>
              <a:t>]</a:t>
            </a:r>
            <a:br/>
            <a:br/>
            <a:r>
              <a:rPr>
                <a:solidFill>
                  <a:srgbClr val="003B4F"/>
                </a:solidFill>
                <a:latin typeface="Courier"/>
              </a:rPr>
              <a:t>eta_squared_df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"Interaction"</a:t>
            </a:r>
            <a:r>
              <a:rPr>
                <a:solidFill>
                  <a:srgbClr val="003B4F"/>
                </a:solidFill>
                <a:latin typeface="Courier"/>
              </a:rPr>
              <a:t>),</a:t>
            </a:r>
            <a:br/>
            <a:r>
              <a:rPr>
                <a:solidFill>
                  <a:srgbClr val="003B4F"/>
                </a:solidFill>
                <a:latin typeface="Courier"/>
              </a:rPr>
              <a:t>  </a:t>
            </a:r>
            <a:r>
              <a:rPr>
                <a:solidFill>
                  <a:srgbClr val="657422"/>
                </a:solidFill>
                <a:latin typeface="Courier"/>
              </a:rPr>
              <a:t>Eta_Squared =</a:t>
            </a:r>
            <a:r>
              <a:rPr>
                <a:solidFill>
                  <a:srgbClr val="003B4F"/>
                </a:solidFill>
                <a:latin typeface="Courier"/>
              </a:rPr>
              <a:t> anova_type3</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ss_total</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"Effect Sizes (Eta-squared):"</a:t>
            </a:r>
            <a:r>
              <a:rPr>
                <a:solidFill>
                  <a:srgbClr val="003B4F"/>
                </a:solidFill>
                <a:latin typeface="Courier"/>
              </a:rPr>
              <a:t>)</a:t>
            </a:r>
          </a:p>
          <a:p>
            <a:pPr lvl="0" indent="0">
              <a:buNone/>
            </a:pPr>
            <a:r>
              <a:rPr>
                <a:latin typeface="Courier"/>
              </a:rPr>
              <a:t>[1] "Effect Sizes (Eta-squared):"</a:t>
            </a:r>
          </a:p>
          <a:p>
            <a:pPr lvl="0" indent="0">
              <a:buNone/>
            </a:pPr>
            <a:r>
              <a:rPr>
                <a:solidFill>
                  <a:srgbClr val="4758AB"/>
                </a:solidFill>
                <a:latin typeface="Courier"/>
              </a:rPr>
              <a:t>print</a:t>
            </a:r>
            <a:r>
              <a:rPr>
                <a:solidFill>
                  <a:srgbClr val="003B4F"/>
                </a:solidFill>
                <a:latin typeface="Courier"/>
              </a:rPr>
              <a:t>(eta_squared_df)</a:t>
            </a:r>
          </a:p>
          <a:p>
            <a:pPr lvl="0" indent="0">
              <a:buNone/>
            </a:pPr>
            <a:r>
              <a:rPr>
                <a:latin typeface="Courier"/>
              </a:rPr>
              <a:t>       Effect Eta_Squared
1     Species  0.67696748
2         Sex  0.16968160
3 Interaction  0.01290854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Create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003B4F"/>
                </a:solidFill>
                <a:latin typeface="Courier"/>
              </a:rPr>
              <a:t>residuals_plot &lt;- </a:t>
            </a:r>
            <a:r>
              <a:rPr>
                <a:solidFill>
                  <a:srgbClr val="4758AB"/>
                </a:solidFill>
                <a:latin typeface="Courier"/>
              </a:rPr>
              <a:t>plot</a:t>
            </a:r>
            <a:r>
              <a:rPr>
                <a:solidFill>
                  <a:srgbClr val="003B4F"/>
                </a:solidFill>
                <a:latin typeface="Courier"/>
              </a:rPr>
              <a:t>(anova_model, </a:t>
            </a:r>
            <a:r>
              <a:rPr>
                <a:solidFill>
                  <a:srgbClr val="657422"/>
                </a:solidFill>
                <a:latin typeface="Courier"/>
              </a:rPr>
              <a:t>which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br/>
            <a:r>
              <a:rPr>
                <a:solidFill>
                  <a:srgbClr val="5E5E5E"/>
                </a:solidFill>
                <a:latin typeface="Courier"/>
              </a:rPr>
              <a:t># 2. Q-Q plot</a:t>
            </a:r>
            <a:br/>
            <a:r>
              <a:rPr>
                <a:solidFill>
                  <a:srgbClr val="003B4F"/>
                </a:solidFill>
                <a:latin typeface="Courier"/>
              </a:rPr>
              <a:t>qq_plot &lt;- </a:t>
            </a:r>
            <a:r>
              <a:rPr>
                <a:solidFill>
                  <a:srgbClr val="4758AB"/>
                </a:solidFill>
                <a:latin typeface="Courier"/>
              </a:rPr>
              <a:t>plot</a:t>
            </a:r>
            <a:r>
              <a:rPr>
                <a:solidFill>
                  <a:srgbClr val="003B4F"/>
                </a:solidFill>
                <a:latin typeface="Courier"/>
              </a:rPr>
              <a:t>(anova_model, </a:t>
            </a:r>
            <a:r>
              <a:rPr>
                <a:solidFill>
                  <a:srgbClr val="657422"/>
                </a:solidFill>
                <a:latin typeface="Courier"/>
              </a:rPr>
              <a:t>which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"Normal Q-Q"</a:t>
            </a:r>
            <a:r>
              <a:rPr>
                <a:solidFill>
                  <a:srgbClr val="003B4F"/>
                </a:solidFill>
                <a:latin typeface="Courier"/>
              </a:rPr>
              <a:t>)</a:t>
            </a:r>
            <a:br/>
            <a:br/>
            <a:r>
              <a:rPr>
                <a:solidFill>
                  <a:srgbClr val="5E5E5E"/>
                </a:solidFill>
                <a:latin typeface="Courier"/>
              </a:rPr>
              <a:t># 3. Scale-Location</a:t>
            </a:r>
            <a:br/>
            <a:r>
              <a:rPr>
                <a:solidFill>
                  <a:srgbClr val="003B4F"/>
                </a:solidFill>
                <a:latin typeface="Courier"/>
              </a:rPr>
              <a:t>scale_plot &lt;- </a:t>
            </a:r>
            <a:r>
              <a:rPr>
                <a:solidFill>
                  <a:srgbClr val="4758AB"/>
                </a:solidFill>
                <a:latin typeface="Courier"/>
              </a:rPr>
              <a:t>plot</a:t>
            </a:r>
            <a:r>
              <a:rPr>
                <a:solidFill>
                  <a:srgbClr val="003B4F"/>
                </a:solidFill>
                <a:latin typeface="Courier"/>
              </a:rPr>
              <a:t>(anova_model, </a:t>
            </a:r>
            <a:r>
              <a:rPr>
                <a:solidFill>
                  <a:srgbClr val="657422"/>
                </a:solidFill>
                <a:latin typeface="Courier"/>
              </a:rPr>
              <a:t>which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"Scale-Location"</a:t>
            </a:r>
            <a:r>
              <a:rPr>
                <a:solidFill>
                  <a:srgbClr val="003B4F"/>
                </a:solidFill>
                <a:latin typeface="Courier"/>
              </a:rPr>
              <a:t>)</a:t>
            </a:r>
            <a:br/>
            <a:br/>
            <a:r>
              <a:rPr>
                <a:solidFill>
                  <a:srgbClr val="5E5E5E"/>
                </a:solidFill>
                <a:latin typeface="Courier"/>
              </a:rPr>
              <a:t># 4. Residuals vs Leverage</a:t>
            </a:r>
            <a:br/>
            <a:r>
              <a:rPr>
                <a:solidFill>
                  <a:srgbClr val="003B4F"/>
                </a:solidFill>
                <a:latin typeface="Courier"/>
              </a:rPr>
              <a:t>leverage_plot &lt;- </a:t>
            </a:r>
            <a:r>
              <a:rPr>
                <a:solidFill>
                  <a:srgbClr val="4758AB"/>
                </a:solidFill>
                <a:latin typeface="Courier"/>
              </a:rPr>
              <a:t>plot</a:t>
            </a:r>
            <a:r>
              <a:rPr>
                <a:solidFill>
                  <a:srgbClr val="003B4F"/>
                </a:solidFill>
                <a:latin typeface="Courier"/>
              </a:rPr>
              <a:t>(anova_model, </a:t>
            </a:r>
            <a:r>
              <a:rPr>
                <a:solidFill>
                  <a:srgbClr val="657422"/>
                </a:solidFill>
                <a:latin typeface="Courier"/>
              </a:rPr>
              <a:t>which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p>
        </p:txBody>
      </p:sp>
      <p:pic>
        <p:nvPicPr>
          <p:cNvPr descr="12_01_lecture_powerpoint_files/figure-pptx/diagnostics-1.png" id="0" name="Picture 1"/>
          <p:cNvPicPr>
            <a:picLocks noGrp="1" noChangeAspect="1"/>
          </p:cNvPicPr>
          <p:nvPr/>
        </p:nvPicPr>
        <p:blipFill>
          <a:blip r:embed="rId2"/>
          <a:stretch>
            <a:fillRect/>
          </a:stretch>
        </p:blipFill>
        <p:spPr bwMode="auto">
          <a:xfrm>
            <a:off x="4851400" y="952500"/>
            <a:ext cx="28448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Formal Tests</a:t>
            </a:r>
          </a:p>
        </p:txBody>
      </p:sp>
      <p:sp>
        <p:nvSpPr>
          <p:cNvPr id="3" name="Content Placeholder 2"/>
          <p:cNvSpPr>
            <a:spLocks noGrp="1"/>
          </p:cNvSpPr>
          <p:nvPr>
            <p:ph idx="1"/>
          </p:nvPr>
        </p:nvSpPr>
        <p:spPr/>
        <p:txBody>
          <a:bodyPr/>
          <a:lstStyle/>
          <a:p>
            <a:pPr lvl="0"/>
            <a:r>
              <a:rPr/>
              <a:t>These are the formal tests of</a:t>
            </a:r>
          </a:p>
          <a:p>
            <a:pPr lvl="1"/>
            <a:r>
              <a:rPr/>
              <a:t>normality of residuuals</a:t>
            </a:r>
          </a:p>
          <a:p>
            <a:pPr lvl="1"/>
            <a:r>
              <a:rPr/>
              <a:t>homogenetiy of variances</a:t>
            </a:r>
          </a:p>
          <a:p>
            <a:pPr lvl="0" indent="0">
              <a:buNone/>
            </a:pPr>
            <a:r>
              <a:rPr>
                <a:solidFill>
                  <a:srgbClr val="5E5E5E"/>
                </a:solidFill>
                <a:latin typeface="Courier"/>
              </a:rPr>
              <a:t># Normality test</a:t>
            </a:r>
            <a:br/>
            <a:r>
              <a:rPr>
                <a:solidFill>
                  <a:srgbClr val="003B4F"/>
                </a:solidFill>
                <a:latin typeface="Courier"/>
              </a:rPr>
              <a:t>shapiro_test &lt;- </a:t>
            </a: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(anova_model))</a:t>
            </a:r>
            <a:br/>
            <a:r>
              <a:rPr>
                <a:solidFill>
                  <a:srgbClr val="4758AB"/>
                </a:solidFill>
                <a:latin typeface="Courier"/>
              </a:rPr>
              <a:t>print</a:t>
            </a:r>
            <a:r>
              <a:rPr>
                <a:solidFill>
                  <a:srgbClr val="003B4F"/>
                </a:solidFill>
                <a:latin typeface="Courier"/>
              </a:rPr>
              <a:t>(</a:t>
            </a:r>
            <a:r>
              <a:rPr>
                <a:solidFill>
                  <a:srgbClr val="20794D"/>
                </a:solidFill>
                <a:latin typeface="Courier"/>
              </a:rPr>
              <a:t>"Shapiro-Wilk Normality Test:"</a:t>
            </a:r>
            <a:r>
              <a:rPr>
                <a:solidFill>
                  <a:srgbClr val="003B4F"/>
                </a:solidFill>
                <a:latin typeface="Courier"/>
              </a:rPr>
              <a:t>)</a:t>
            </a:r>
          </a:p>
          <a:p>
            <a:pPr lvl="0" indent="0">
              <a:buNone/>
            </a:pPr>
            <a:r>
              <a:rPr>
                <a:latin typeface="Courier"/>
              </a:rPr>
              <a:t>[1] "Shapiro-Wilk Normality Test:"</a:t>
            </a:r>
          </a:p>
          <a:p>
            <a:pPr lvl="0" indent="0">
              <a:buNone/>
            </a:pPr>
            <a:r>
              <a:rPr>
                <a:solidFill>
                  <a:srgbClr val="4758AB"/>
                </a:solidFill>
                <a:latin typeface="Courier"/>
              </a:rPr>
              <a:t>print</a:t>
            </a:r>
            <a:r>
              <a:rPr>
                <a:solidFill>
                  <a:srgbClr val="003B4F"/>
                </a:solidFill>
                <a:latin typeface="Courier"/>
              </a:rPr>
              <a:t>(shapiro_test)</a:t>
            </a:r>
          </a:p>
          <a:p>
            <a:pPr lvl="0" indent="0">
              <a:buNone/>
            </a:pPr>
            <a:r>
              <a:rPr>
                <a:latin typeface="Courier"/>
              </a:rPr>
              <a:t>
    Shapiro-Wilk normality test
data:  residuals(anova_model)
W = 0.99612, p-value = 0.8886</a:t>
            </a:r>
          </a:p>
          <a:p>
            <a:pPr lvl="0" indent="0">
              <a:buNone/>
            </a:pPr>
            <a:r>
              <a:rPr>
                <a:solidFill>
                  <a:srgbClr val="5E5E5E"/>
                </a:solidFill>
                <a:latin typeface="Courier"/>
              </a:rPr>
              <a:t># Homogeneity of variance</a:t>
            </a:r>
            <a:br/>
            <a:r>
              <a:rPr>
                <a:solidFill>
                  <a:srgbClr val="003B4F"/>
                </a:solidFill>
                <a:latin typeface="Courier"/>
              </a:rPr>
              <a:t>levene_test &lt;- </a:t>
            </a:r>
            <a:r>
              <a:rPr>
                <a:solidFill>
                  <a:srgbClr val="4758AB"/>
                </a:solidFill>
                <a:latin typeface="Courier"/>
              </a:rPr>
              <a:t>leveneTest</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a:t>
            </a:r>
            <a:br/>
            <a:r>
              <a:rPr>
                <a:solidFill>
                  <a:srgbClr val="003B4F"/>
                </a:solidFill>
                <a:latin typeface="Courier"/>
              </a:rPr>
              <a:t>                          </a:t>
            </a:r>
            <a:r>
              <a:rPr>
                <a:solidFill>
                  <a:srgbClr val="657422"/>
                </a:solidFill>
                <a:latin typeface="Courier"/>
              </a:rPr>
              <a:t>data =</a:t>
            </a:r>
            <a:r>
              <a:rPr>
                <a:solidFill>
                  <a:srgbClr val="003B4F"/>
                </a:solidFill>
                <a:latin typeface="Courier"/>
              </a:rPr>
              <a:t> balanced_df)</a:t>
            </a:r>
            <a:br/>
            <a:r>
              <a:rPr>
                <a:solidFill>
                  <a:srgbClr val="4758AB"/>
                </a:solidFill>
                <a:latin typeface="Courier"/>
              </a:rPr>
              <a:t>print</a:t>
            </a:r>
            <a:r>
              <a:rPr>
                <a:solidFill>
                  <a:srgbClr val="003B4F"/>
                </a:solidFill>
                <a:latin typeface="Courier"/>
              </a:rPr>
              <a:t>(</a:t>
            </a:r>
            <a:r>
              <a:rPr>
                <a:solidFill>
                  <a:srgbClr val="20794D"/>
                </a:solidFill>
                <a:latin typeface="Courier"/>
              </a:rPr>
              <a:t>"Levene's Test for Homogeneity:"</a:t>
            </a:r>
            <a:r>
              <a:rPr>
                <a:solidFill>
                  <a:srgbClr val="003B4F"/>
                </a:solidFill>
                <a:latin typeface="Courier"/>
              </a:rPr>
              <a:t>)</a:t>
            </a:r>
          </a:p>
          <a:p>
            <a:pPr lvl="0" indent="0">
              <a:buNone/>
            </a:pPr>
            <a:r>
              <a:rPr>
                <a:latin typeface="Courier"/>
              </a:rPr>
              <a:t>[1] "Levene's Test for Homogeneity:"</a:t>
            </a:r>
          </a:p>
          <a:p>
            <a:pPr lvl="0" indent="0">
              <a:buNone/>
            </a:pPr>
            <a:r>
              <a:rPr>
                <a:solidFill>
                  <a:srgbClr val="4758AB"/>
                </a:solidFill>
                <a:latin typeface="Courier"/>
              </a:rPr>
              <a:t>print</a:t>
            </a:r>
            <a:r>
              <a:rPr>
                <a:solidFill>
                  <a:srgbClr val="003B4F"/>
                </a:solidFill>
                <a:latin typeface="Courier"/>
              </a:rPr>
              <a:t>(levene_test)</a:t>
            </a:r>
          </a:p>
          <a:p>
            <a:pPr lvl="0" indent="0">
              <a:buNone/>
            </a:pPr>
            <a:r>
              <a:rPr>
                <a:latin typeface="Courier"/>
              </a:rPr>
              <a:t>Levene's Test for Homogeneity of Variance (center = median)
       Df F value Pr(&gt;F)
group   5  0.7841 0.5622
      198               </a:t>
            </a:r>
          </a:p>
          <a:p>
            <a:pPr lvl="0" indent="0">
              <a:buNone/>
            </a:pPr>
            <a:r>
              <a:rPr>
                <a:solidFill>
                  <a:srgbClr val="5E5E5E"/>
                </a:solidFill>
                <a:latin typeface="Courier"/>
              </a:rPr>
              <a:t># Check for outliers</a:t>
            </a:r>
            <a:br/>
            <a:r>
              <a:rPr>
                <a:solidFill>
                  <a:srgbClr val="003B4F"/>
                </a:solidFill>
                <a:latin typeface="Courier"/>
              </a:rPr>
              <a:t>outliers_df &lt;- balanced_df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fitted =</a:t>
            </a:r>
            <a:r>
              <a:rPr>
                <a:solidFill>
                  <a:srgbClr val="003B4F"/>
                </a:solidFill>
                <a:latin typeface="Courier"/>
              </a:rPr>
              <a:t> </a:t>
            </a:r>
            <a:r>
              <a:rPr>
                <a:solidFill>
                  <a:srgbClr val="4758AB"/>
                </a:solidFill>
                <a:latin typeface="Courier"/>
              </a:rPr>
              <a:t>fitted</a:t>
            </a:r>
            <a:r>
              <a:rPr>
                <a:solidFill>
                  <a:srgbClr val="003B4F"/>
                </a:solidFill>
                <a:latin typeface="Courier"/>
              </a:rPr>
              <a:t>(anova_model),</a:t>
            </a:r>
            <a:br/>
            <a:r>
              <a:rPr>
                <a:solidFill>
                  <a:srgbClr val="003B4F"/>
                </a:solidFill>
                <a:latin typeface="Courier"/>
              </a:rPr>
              <a:t>    </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(anova_model),</a:t>
            </a:r>
            <a:br/>
            <a:r>
              <a:rPr>
                <a:solidFill>
                  <a:srgbClr val="003B4F"/>
                </a:solidFill>
                <a:latin typeface="Courier"/>
              </a:rPr>
              <a:t>    </a:t>
            </a:r>
            <a:r>
              <a:rPr>
                <a:solidFill>
                  <a:srgbClr val="657422"/>
                </a:solidFill>
                <a:latin typeface="Courier"/>
              </a:rPr>
              <a:t>std_resid =</a:t>
            </a:r>
            <a:r>
              <a:rPr>
                <a:solidFill>
                  <a:srgbClr val="003B4F"/>
                </a:solidFill>
                <a:latin typeface="Courier"/>
              </a:rPr>
              <a:t> </a:t>
            </a:r>
            <a:r>
              <a:rPr>
                <a:solidFill>
                  <a:srgbClr val="4758AB"/>
                </a:solidFill>
                <a:latin typeface="Courier"/>
              </a:rPr>
              <a:t>rstandard</a:t>
            </a:r>
            <a:r>
              <a:rPr>
                <a:solidFill>
                  <a:srgbClr val="003B4F"/>
                </a:solidFill>
                <a:latin typeface="Courier"/>
              </a:rPr>
              <a:t>(anova_model)</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4758AB"/>
                </a:solidFill>
                <a:latin typeface="Courier"/>
              </a:rPr>
              <a:t>abs</a:t>
            </a:r>
            <a:r>
              <a:rPr>
                <a:solidFill>
                  <a:srgbClr val="003B4F"/>
                </a:solidFill>
                <a:latin typeface="Courier"/>
              </a:rPr>
              <a:t>(std_resid)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"Number of outliers (|z| &gt; 3):"</a:t>
            </a:r>
            <a:r>
              <a:rPr>
                <a:solidFill>
                  <a:srgbClr val="003B4F"/>
                </a:solidFill>
                <a:latin typeface="Courier"/>
              </a:rPr>
              <a:t>,</a:t>
            </a:r>
            <a:br/>
            <a:r>
              <a:rPr>
                <a:solidFill>
                  <a:srgbClr val="003B4F"/>
                </a:solidFill>
                <a:latin typeface="Courier"/>
              </a:rPr>
              <a:t>            </a:t>
            </a:r>
            <a:r>
              <a:rPr>
                <a:solidFill>
                  <a:srgbClr val="4758AB"/>
                </a:solidFill>
                <a:latin typeface="Courier"/>
              </a:rPr>
              <a:t>nrow</a:t>
            </a:r>
            <a:r>
              <a:rPr>
                <a:solidFill>
                  <a:srgbClr val="003B4F"/>
                </a:solidFill>
                <a:latin typeface="Courier"/>
              </a:rPr>
              <a:t>(outliers_df)))</a:t>
            </a:r>
          </a:p>
          <a:p>
            <a:pPr lvl="0" indent="0">
              <a:buNone/>
            </a:pPr>
            <a:r>
              <a:rPr>
                <a:latin typeface="Courier"/>
              </a:rPr>
              <a:t>[1] "Number of outliers (|z| &gt; 3): 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(EMMs)</a:t>
            </a:r>
          </a:p>
        </p:txBody>
      </p:sp>
      <p:sp>
        <p:nvSpPr>
          <p:cNvPr id="3" name="Content Placeholder 2"/>
          <p:cNvSpPr>
            <a:spLocks noGrp="1"/>
          </p:cNvSpPr>
          <p:nvPr>
            <p:ph idx="1" sz="half"/>
          </p:nvPr>
        </p:nvSpPr>
        <p:spPr/>
        <p:txBody>
          <a:bodyPr/>
          <a:lstStyle/>
          <a:p>
            <a:pPr lvl="0" indent="0" marL="0">
              <a:spcBef>
                <a:spcPts val="3000"/>
              </a:spcBef>
              <a:buNone/>
            </a:pPr>
            <a:r>
              <a:rPr b="1"/>
              <a:t>Computing EMMs</a:t>
            </a:r>
          </a:p>
          <a:p>
            <a:pPr lvl="0" indent="0">
              <a:buNone/>
            </a:pPr>
            <a:r>
              <a:rPr>
                <a:latin typeface="Courier"/>
              </a:rPr>
              <a:t>[1] "Species EMMs:"</a:t>
            </a:r>
          </a:p>
          <a:p>
            <a:pPr lvl="0" indent="0">
              <a:buNone/>
            </a:pPr>
            <a:r>
              <a:rPr>
                <a:latin typeface="Courier"/>
              </a:rPr>
              <a:t> species   emmean   SE  df lower.CL upper.CL
 Adelie      3692 36.8 198     3619     3764
 Chinstrap   3733 36.8 198     3661     3806
 Gentoo      5103 36.8 198     5030     5175
Results are averaged over the levels of: sex 
Confidence level used: 0.95 </a:t>
            </a:r>
          </a:p>
          <a:p>
            <a:pPr lvl="0" indent="0">
              <a:buNone/>
            </a:pPr>
            <a:r>
              <a:rPr>
                <a:latin typeface="Courier"/>
              </a:rPr>
              <a:t>[1] "Sex EMMs:"</a:t>
            </a:r>
          </a:p>
          <a:p>
            <a:pPr lvl="0" indent="0">
              <a:buNone/>
            </a:pPr>
            <a:r>
              <a:rPr>
                <a:latin typeface="Courier"/>
              </a:rPr>
              <a:t> sex    emmean SE  df lower.CL upper.CL
 female   3848 30 198     3788     3907
 male     4504 30 198     4445     4563
Results are averaged over the levels of: species 
Confidence level used: 0.95 </a:t>
            </a:r>
          </a:p>
          <a:p>
            <a:pPr lvl="0" indent="0">
              <a:buNone/>
            </a:pPr>
            <a:r>
              <a:rPr>
                <a:latin typeface="Courier"/>
              </a:rPr>
              <a:t>[1] "Species by Sex EMMs:"</a:t>
            </a:r>
          </a:p>
          <a:p>
            <a:pPr lvl="0" indent="0">
              <a:buNone/>
            </a:pPr>
            <a:r>
              <a:rPr>
                <a:latin typeface="Courier"/>
              </a:rPr>
              <a:t> species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p:txBody>
      </p:sp>
      <p:sp>
        <p:nvSpPr>
          <p:cNvPr id="4" name="Content Placeholder 3"/>
          <p:cNvSpPr>
            <a:spLocks noGrp="1"/>
          </p:cNvSpPr>
          <p:nvPr>
            <p:ph idx="2" sz="half"/>
          </p:nvPr>
        </p:nvSpPr>
        <p:spPr/>
        <p:txBody>
          <a:bodyPr/>
          <a:lstStyle/>
          <a:p>
            <a:pPr lvl="0" indent="0" marL="0">
              <a:spcBef>
                <a:spcPts val="3000"/>
              </a:spcBef>
              <a:buNone/>
            </a:pPr>
            <a:r>
              <a:rPr b="1"/>
              <a:t>Pairwise Comparisons</a:t>
            </a:r>
          </a:p>
          <a:p>
            <a:pPr lvl="0" indent="0">
              <a:buNone/>
            </a:pPr>
            <a:r>
              <a:rPr>
                <a:latin typeface="Courier"/>
              </a:rPr>
              <a:t>[1] "Species pairwise comparisons:"</a:t>
            </a:r>
          </a:p>
          <a:p>
            <a:pPr lvl="0" indent="0">
              <a:buNone/>
            </a:pPr>
            <a:r>
              <a:rPr>
                <a:latin typeface="Courier"/>
              </a:rPr>
              <a:t> contrast           estimate SE  df t.ratio p.value
 Adelie - Chinstrap    -41.5 52 198  -0.799  0.7041
 Adelie - Gentoo     -1411.4 52 198 -27.145  &lt;.0001
 Chinstrap - Gentoo  -1369.9 52 198 -26.346  &lt;.0001
Results are averaged over the levels of: sex 
P value adjustment: tukey method for comparing a family of 3 estimates </a:t>
            </a:r>
          </a:p>
          <a:p>
            <a:pPr lvl="0" indent="0">
              <a:buNone/>
            </a:pPr>
            <a:r>
              <a:rPr>
                <a:latin typeface="Courier"/>
              </a:rPr>
              <a:t>[1] "Species comparisons within sex:"</a:t>
            </a:r>
          </a:p>
          <a:p>
            <a:pPr lvl="0" indent="0">
              <a:buNone/>
            </a:pPr>
            <a:r>
              <a:rPr>
                <a:latin typeface="Courier"/>
              </a:rPr>
              <a:t>sex = female:
 contrast           estimate   SE  df t.ratio p.value
 Adelie - Chinstrap     -193 73.5 198  -2.620  0.0256
 Adelie - Gentoo       -1346 73.5 198 -18.310  &lt;.0001
 Chinstrap - Gentoo    -1154 73.5 198 -15.690  &lt;.0001
sex = male:
 contrast           estimate   SE  df t.ratio p.value
 Adelie - Chinstrap      110 73.5 198   1.490  0.2979
 Adelie - Gentoo       -1476 73.5 198 -20.079  &lt;.0001
 Chinstrap - Gentoo    -1586 73.5 198 -21.569  &lt;.0001
P value adjustment: tukey method for comparing a family of 3 estimates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 F Test of the interaction</a:t>
            </a:r>
          </a:p>
        </p:txBody>
      </p:sp>
      <p:sp>
        <p:nvSpPr>
          <p:cNvPr id="3" name="Content Placeholder 2"/>
          <p:cNvSpPr>
            <a:spLocks noGrp="1"/>
          </p:cNvSpPr>
          <p:nvPr>
            <p:ph idx="1"/>
          </p:nvPr>
        </p:nvSpPr>
        <p:spPr/>
        <p:txBody>
          <a:bodyPr/>
          <a:lstStyle/>
          <a:p>
            <a:pPr lvl="0" indent="0" marL="0">
              <a:buNone/>
            </a:pPr>
            <a:r>
              <a:rPr/>
              <a:t>What we need to do if the interaction is significant it test the overall interaction</a:t>
            </a:r>
          </a:p>
          <a:p>
            <a:pPr lvl="0" indent="0">
              <a:buNone/>
            </a:pPr>
            <a:r>
              <a:rPr>
                <a:solidFill>
                  <a:srgbClr val="5E5E5E"/>
                </a:solidFill>
                <a:latin typeface="Courier"/>
              </a:rPr>
              <a:t># Get estimated marginal means for the interaction</a:t>
            </a:r>
            <a:br/>
            <a:r>
              <a:rPr>
                <a:solidFill>
                  <a:srgbClr val="003B4F"/>
                </a:solidFill>
                <a:latin typeface="Courier"/>
              </a:rPr>
              <a:t>emm_interaction &lt;- </a:t>
            </a:r>
            <a:r>
              <a:rPr>
                <a:solidFill>
                  <a:srgbClr val="4758AB"/>
                </a:solidFill>
                <a:latin typeface="Courier"/>
              </a:rPr>
              <a:t>emmeans</a:t>
            </a:r>
            <a:r>
              <a:rPr>
                <a:solidFill>
                  <a:srgbClr val="003B4F"/>
                </a:solidFill>
                <a:latin typeface="Courier"/>
              </a:rPr>
              <a:t>(anova_model,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a:t>
            </a:r>
            <a:r>
              <a:rPr>
                <a:solidFill>
                  <a:srgbClr val="5E5E5E"/>
                </a:solidFill>
                <a:latin typeface="Courier"/>
              </a:rPr>
              <a:t># Replace factor1 and factor2 with your actual factor names</a:t>
            </a:r>
            <a:br/>
            <a:br/>
            <a:r>
              <a:rPr>
                <a:solidFill>
                  <a:srgbClr val="5E5E5E"/>
                </a:solidFill>
                <a:latin typeface="Courier"/>
              </a:rPr>
              <a:t># Pairwise comparisons with Tukey adjustment</a:t>
            </a:r>
            <a:br/>
            <a:r>
              <a:rPr>
                <a:solidFill>
                  <a:srgbClr val="003B4F"/>
                </a:solidFill>
                <a:latin typeface="Courier"/>
              </a:rPr>
              <a:t>pairs_interaction &lt;- </a:t>
            </a:r>
            <a:r>
              <a:rPr>
                <a:solidFill>
                  <a:srgbClr val="4758AB"/>
                </a:solidFill>
                <a:latin typeface="Courier"/>
              </a:rPr>
              <a:t>pairs</a:t>
            </a:r>
            <a:r>
              <a:rPr>
                <a:solidFill>
                  <a:srgbClr val="003B4F"/>
                </a:solidFill>
                <a:latin typeface="Courier"/>
              </a:rPr>
              <a:t>(emm_interaction,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solidFill>
                  <a:srgbClr val="5E5E5E"/>
                </a:solidFill>
                <a:latin typeface="Courier"/>
              </a:rPr>
              <a:t># Get compact letter display (cld)</a:t>
            </a:r>
            <a:br/>
            <a:r>
              <a:rPr>
                <a:solidFill>
                  <a:srgbClr val="003B4F"/>
                </a:solidFill>
                <a:latin typeface="Courier"/>
              </a:rPr>
              <a:t>cld_interaction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(emm_interaction, </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5E5E5E"/>
                </a:solidFill>
                <a:latin typeface="Courier"/>
              </a:rPr>
              <a:t># Display the results</a:t>
            </a:r>
            <a:br/>
            <a:r>
              <a:rPr>
                <a:solidFill>
                  <a:srgbClr val="5E5E5E"/>
                </a:solidFill>
                <a:latin typeface="Courier"/>
              </a:rPr>
              <a:t># print(cld_interaction)</a:t>
            </a:r>
            <a:br/>
            <a:br/>
            <a:r>
              <a:rPr>
                <a:solidFill>
                  <a:srgbClr val="003B4F"/>
                </a:solidFill>
                <a:latin typeface="Courier"/>
              </a:rPr>
              <a:t>cld_df &lt;- </a:t>
            </a:r>
            <a:r>
              <a:rPr>
                <a:solidFill>
                  <a:srgbClr val="4758AB"/>
                </a:solidFill>
                <a:latin typeface="Courier"/>
              </a:rPr>
              <a:t>as.data.frame</a:t>
            </a:r>
            <a:r>
              <a:rPr>
                <a:solidFill>
                  <a:srgbClr val="003B4F"/>
                </a:solidFill>
                <a:latin typeface="Courier"/>
              </a:rPr>
              <a:t>(cld_interaction)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(species, sex)  </a:t>
            </a:r>
            <a:r>
              <a:rPr>
                <a:solidFill>
                  <a:srgbClr val="5E5E5E"/>
                </a:solidFill>
                <a:latin typeface="Courier"/>
              </a:rPr>
              <a:t># Sort by estimated marginal mean</a:t>
            </a:r>
            <a:br/>
            <a:br/>
            <a:r>
              <a:rPr>
                <a:solidFill>
                  <a:srgbClr val="5E5E5E"/>
                </a:solidFill>
                <a:latin typeface="Courier"/>
              </a:rPr>
              <a:t># View the results with means and grouping letters</a:t>
            </a:r>
            <a:br/>
            <a:r>
              <a:rPr>
                <a:solidFill>
                  <a:srgbClr val="4758AB"/>
                </a:solidFill>
                <a:latin typeface="Courier"/>
              </a:rPr>
              <a:t>print</a:t>
            </a:r>
            <a:r>
              <a:rPr>
                <a:solidFill>
                  <a:srgbClr val="003B4F"/>
                </a:solidFill>
                <a:latin typeface="Courier"/>
              </a:rPr>
              <a:t>(cld_df)</a:t>
            </a:r>
          </a:p>
          <a:p>
            <a:pPr lvl="0" indent="0">
              <a:buNone/>
            </a:pPr>
            <a:r>
              <a:rPr>
                <a:latin typeface="Courier"/>
              </a:rPr>
              <a:t> species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plot</a:t>
            </a:r>
          </a:p>
        </p:txBody>
      </p:sp>
      <p:pic>
        <p:nvPicPr>
          <p:cNvPr descr="12_01_lecture_powerpoint_files/figure-pptx/interaction_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Unbalanced Designs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The Challenge of Unbalanced Data</a:t>
                </a:r>
              </a:p>
              <a:p>
                <a:pPr lvl="0" indent="0" marL="0">
                  <a:buNone/>
                </a:pPr>
                <a:r>
                  <a:rPr/>
                  <a:t>Real-world data is often unbalanced: - Unequal sample sizes across groups - Missing data patterns - Natural variation in sampling</a:t>
                </a:r>
              </a:p>
              <a:p>
                <a:pPr lvl="0" indent="0" marL="0">
                  <a:buNone/>
                </a:pPr>
                <a:r>
                  <a:rPr/>
                  <a:t>Key Issues: - Type I, II, and III SS give different results - Order of terms matters for Type I SS - Marginal means ≠ Simple averages - Interpretation becomes complex</a:t>
                </a:r>
              </a:p>
              <a:p>
                <a:pPr lvl="0" indent="0" marL="0">
                  <a:buNone/>
                </a:pPr>
                <a:r>
                  <a:rPr/>
                  <a:t>Statistical Model (same as balanced):</a:t>
                </a:r>
              </a:p>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indent="0" marL="0">
                  <a:buNone/>
                </a:pPr>
                <a:r>
                  <a:rPr/>
                  <a:t>But parameter estimation differs!</a:t>
                </a:r>
              </a:p>
              <a:p>
                <a:pPr lvl="0" indent="0" marL="0">
                  <a:spcBef>
                    <a:spcPts val="3000"/>
                  </a:spcBef>
                  <a:buNone/>
                </a:pPr>
                <a:r>
                  <a:rPr b="1"/>
                  <a:t>Data Preparation - Using Natural Unbalanced Data</a:t>
                </a:r>
              </a:p>
              <a:p>
                <a:pPr lvl="0" indent="0">
                  <a:buNone/>
                </a:pPr>
                <a:r>
                  <a:rPr>
                    <a:solidFill>
                      <a:srgbClr val="5E5E5E"/>
                    </a:solidFill>
                    <a:latin typeface="Courier"/>
                  </a:rPr>
                  <a:t># Check sample sizes - naturally unbalanced</a:t>
                </a:r>
                <a:br/>
                <a:r>
                  <a:rPr>
                    <a:solidFill>
                      <a:srgbClr val="003B4F"/>
                    </a:solidFill>
                    <a:latin typeface="Courier"/>
                  </a:rPr>
                  <a:t>unbalanced_n &lt;- 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(species, sex)</a:t>
                </a:r>
                <a:br/>
                <a:br/>
                <a:r>
                  <a:rPr>
                    <a:solidFill>
                      <a:srgbClr val="4758AB"/>
                    </a:solidFill>
                    <a:latin typeface="Courier"/>
                  </a:rPr>
                  <a:t>print</a:t>
                </a:r>
                <a:r>
                  <a:rPr>
                    <a:solidFill>
                      <a:srgbClr val="003B4F"/>
                    </a:solidFill>
                    <a:latin typeface="Courier"/>
                  </a:rPr>
                  <a:t>(</a:t>
                </a:r>
                <a:r>
                  <a:rPr>
                    <a:solidFill>
                      <a:srgbClr val="20794D"/>
                    </a:solidFill>
                    <a:latin typeface="Courier"/>
                  </a:rPr>
                  <a:t>"Unbalanced sample sizes:"</a:t>
                </a:r>
                <a:r>
                  <a:rPr>
                    <a:solidFill>
                      <a:srgbClr val="003B4F"/>
                    </a:solidFill>
                    <a:latin typeface="Courier"/>
                  </a:rPr>
                  <a:t>)</a:t>
                </a:r>
              </a:p>
              <a:p>
                <a:pPr lvl="0" indent="0">
                  <a:buNone/>
                </a:pPr>
                <a:r>
                  <a:rPr>
                    <a:latin typeface="Courier"/>
                  </a:rPr>
                  <a:t>[1] "Unbalanced sample sizes:"</a:t>
                </a:r>
              </a:p>
              <a:p>
                <a:pPr lvl="0" indent="0">
                  <a:buNone/>
                </a:pPr>
                <a:r>
                  <a:rPr>
                    <a:solidFill>
                      <a:srgbClr val="4758AB"/>
                    </a:solidFill>
                    <a:latin typeface="Courier"/>
                  </a:rPr>
                  <a:t>print</a:t>
                </a:r>
                <a:r>
                  <a:rPr>
                    <a:solidFill>
                      <a:srgbClr val="003B4F"/>
                    </a:solidFill>
                    <a:latin typeface="Courier"/>
                  </a:rPr>
                  <a:t>(unbalanced_n)</a:t>
                </a:r>
              </a:p>
              <a:p>
                <a:pPr lvl="0" indent="0">
                  <a:buNone/>
                </a:pPr>
                <a:r>
                  <a:rPr>
                    <a:latin typeface="Courier"/>
                  </a:rPr>
                  <a:t># A tibble: 6 × 3
  species   sex        n
  &lt;fct&gt;     &lt;fct&gt;  &lt;int&gt;
1 Adelie    female    73
2 Adelie    male      73
3 Chinstrap female    34
4 Chinstrap male      34
5 Gentoo    female    58
6 Gentoo    male      61</a:t>
                </a:r>
              </a:p>
              <a:p>
                <a:pPr lvl="0" indent="0">
                  <a:buNone/>
                </a:pPr>
                <a:r>
                  <a:rPr>
                    <a:solidFill>
                      <a:srgbClr val="5E5E5E"/>
                    </a:solidFill>
                    <a:latin typeface="Courier"/>
                  </a:rPr>
                  <a:t># Calculate total N and imbalance ratio</a:t>
                </a:r>
                <a:br/>
                <a:r>
                  <a:rPr>
                    <a:solidFill>
                      <a:srgbClr val="003B4F"/>
                    </a:solidFill>
                    <a:latin typeface="Courier"/>
                  </a:rPr>
                  <a:t>total_n &lt;- </a:t>
                </a:r>
                <a:r>
                  <a:rPr>
                    <a:solidFill>
                      <a:srgbClr val="4758AB"/>
                    </a:solidFill>
                    <a:latin typeface="Courier"/>
                  </a:rPr>
                  <a:t>sum</a:t>
                </a:r>
                <a:r>
                  <a:rPr>
                    <a:solidFill>
                      <a:srgbClr val="003B4F"/>
                    </a:solidFill>
                    <a:latin typeface="Courier"/>
                  </a:rPr>
                  <a:t>(unbalanced_n</a:t>
                </a:r>
                <a:r>
                  <a:rPr>
                    <a:solidFill>
                      <a:srgbClr val="5E5E5E"/>
                    </a:solidFill>
                    <a:latin typeface="Courier"/>
                  </a:rPr>
                  <a:t>$</a:t>
                </a:r>
                <a:r>
                  <a:rPr>
                    <a:solidFill>
                      <a:srgbClr val="003B4F"/>
                    </a:solidFill>
                    <a:latin typeface="Courier"/>
                  </a:rPr>
                  <a:t>n)</a:t>
                </a:r>
                <a:br/>
                <a:r>
                  <a:rPr>
                    <a:solidFill>
                      <a:srgbClr val="003B4F"/>
                    </a:solidFill>
                    <a:latin typeface="Courier"/>
                  </a:rPr>
                  <a:t>max_n &lt;- </a:t>
                </a:r>
                <a:r>
                  <a:rPr>
                    <a:solidFill>
                      <a:srgbClr val="4758AB"/>
                    </a:solidFill>
                    <a:latin typeface="Courier"/>
                  </a:rPr>
                  <a:t>max</a:t>
                </a:r>
                <a:r>
                  <a:rPr>
                    <a:solidFill>
                      <a:srgbClr val="003B4F"/>
                    </a:solidFill>
                    <a:latin typeface="Courier"/>
                  </a:rPr>
                  <a:t>(unbalanced_n</a:t>
                </a:r>
                <a:r>
                  <a:rPr>
                    <a:solidFill>
                      <a:srgbClr val="5E5E5E"/>
                    </a:solidFill>
                    <a:latin typeface="Courier"/>
                  </a:rPr>
                  <a:t>$</a:t>
                </a:r>
                <a:r>
                  <a:rPr>
                    <a:solidFill>
                      <a:srgbClr val="003B4F"/>
                    </a:solidFill>
                    <a:latin typeface="Courier"/>
                  </a:rPr>
                  <a:t>n)</a:t>
                </a:r>
                <a:br/>
                <a:r>
                  <a:rPr>
                    <a:solidFill>
                      <a:srgbClr val="003B4F"/>
                    </a:solidFill>
                    <a:latin typeface="Courier"/>
                  </a:rPr>
                  <a:t>min_n &lt;- </a:t>
                </a:r>
                <a:r>
                  <a:rPr>
                    <a:solidFill>
                      <a:srgbClr val="4758AB"/>
                    </a:solidFill>
                    <a:latin typeface="Courier"/>
                  </a:rPr>
                  <a:t>min</a:t>
                </a:r>
                <a:r>
                  <a:rPr>
                    <a:solidFill>
                      <a:srgbClr val="003B4F"/>
                    </a:solidFill>
                    <a:latin typeface="Courier"/>
                  </a:rPr>
                  <a:t>(unbalanced_n</a:t>
                </a:r>
                <a:r>
                  <a:rPr>
                    <a:solidFill>
                      <a:srgbClr val="5E5E5E"/>
                    </a:solidFill>
                    <a:latin typeface="Courier"/>
                  </a:rPr>
                  <a:t>$</a:t>
                </a:r>
                <a:r>
                  <a:rPr>
                    <a:solidFill>
                      <a:srgbClr val="003B4F"/>
                    </a:solidFill>
                    <a:latin typeface="Courier"/>
                  </a:rPr>
                  <a:t>n)</a:t>
                </a:r>
                <a:br/>
                <a:r>
                  <a:rPr>
                    <a:solidFill>
                      <a:srgbClr val="003B4F"/>
                    </a:solidFill>
                    <a:latin typeface="Courier"/>
                  </a:rPr>
                  <a:t>imbalance_ratio &lt;- max_n </a:t>
                </a:r>
                <a:r>
                  <a:rPr>
                    <a:solidFill>
                      <a:srgbClr val="5E5E5E"/>
                    </a:solidFill>
                    <a:latin typeface="Courier"/>
                  </a:rPr>
                  <a:t>/</a:t>
                </a:r>
                <a:r>
                  <a:rPr>
                    <a:solidFill>
                      <a:srgbClr val="003B4F"/>
                    </a:solidFill>
                    <a:latin typeface="Courier"/>
                  </a:rPr>
                  <a:t> min_n</a:t>
                </a:r>
                <a:b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"Total N ="</a:t>
                </a:r>
                <a:r>
                  <a:rPr>
                    <a:solidFill>
                      <a:srgbClr val="003B4F"/>
                    </a:solidFill>
                    <a:latin typeface="Courier"/>
                  </a:rPr>
                  <a:t>, total_n))</a:t>
                </a:r>
              </a:p>
              <a:p>
                <a:pPr lvl="0" indent="0">
                  <a:buNone/>
                </a:pPr>
                <a:r>
                  <a:rPr>
                    <a:latin typeface="Courier"/>
                  </a:rPr>
                  <a:t>[1] "Total N = 333"</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"Imbalance ratio ="</a:t>
                </a:r>
                <a:r>
                  <a:rPr>
                    <a:solidFill>
                      <a:srgbClr val="003B4F"/>
                    </a:solidFill>
                    <a:latin typeface="Courier"/>
                  </a:rPr>
                  <a:t>, </a:t>
                </a:r>
                <a:r>
                  <a:rPr>
                    <a:solidFill>
                      <a:srgbClr val="4758AB"/>
                    </a:solidFill>
                    <a:latin typeface="Courier"/>
                  </a:rPr>
                  <a:t>round</a:t>
                </a:r>
                <a:r>
                  <a:rPr>
                    <a:solidFill>
                      <a:srgbClr val="003B4F"/>
                    </a:solidFill>
                    <a:latin typeface="Courier"/>
                  </a:rPr>
                  <a:t>(imbalance_ratio, </a:t>
                </a:r>
                <a:r>
                  <a:rPr>
                    <a:solidFill>
                      <a:srgbClr val="AD0000"/>
                    </a:solidFill>
                    <a:latin typeface="Courier"/>
                  </a:rPr>
                  <a:t>2</a:t>
                </a:r>
                <a:r>
                  <a:rPr>
                    <a:solidFill>
                      <a:srgbClr val="003B4F"/>
                    </a:solidFill>
                    <a:latin typeface="Courier"/>
                  </a:rPr>
                  <a:t>)))</a:t>
                </a:r>
              </a:p>
              <a:p>
                <a:pPr lvl="0" indent="0">
                  <a:buNone/>
                </a:pPr>
                <a:r>
                  <a:rPr>
                    <a:latin typeface="Courier"/>
                  </a:rPr>
                  <a:t>[1] "Imbalance ratio = 2.15"</a:t>
                </a:r>
              </a:p>
            </p:txBody>
          </p:sp>
        </mc:Choice>
      </mc:AlternateContent>
      <p:sp>
        <p:nvSpPr>
          <p:cNvPr id="5" name="Text Placeholder 4"/>
          <p:cNvSpPr>
            <a:spLocks noGrp="1"/>
          </p:cNvSpPr>
          <p:nvPr>
            <p:ph idx="3" sz="quarter" type="body"/>
          </p:nvPr>
        </p:nvSpPr>
        <p:spPr/>
        <p:txBody>
          <a:bodyPr/>
          <a:lstStyle/>
          <a:p>
            <a:pPr lvl="0" indent="0" marL="0">
              <a:spcBef>
                <a:spcPts val="3000"/>
              </a:spcBef>
              <a:buNone/>
            </a:pPr>
            <a:r>
              <a:rPr b="1"/>
              <a:t>Visualizing Imbalance</a:t>
            </a:r>
          </a:p>
          <a:p>
            <a:pPr lvl="0" indent="0">
              <a:buNone/>
            </a:pPr>
            <a:r>
              <a:rPr>
                <a:solidFill>
                  <a:srgbClr val="5E5E5E"/>
                </a:solidFill>
                <a:latin typeface="Courier"/>
              </a:rPr>
              <a:t># Create sample size plot</a:t>
            </a:r>
            <a:br/>
            <a:r>
              <a:rPr>
                <a:solidFill>
                  <a:srgbClr val="003B4F"/>
                </a:solidFill>
                <a:latin typeface="Courier"/>
              </a:rPr>
              <a:t>imbalance_plot &lt;- </a:t>
            </a:r>
            <a:r>
              <a:rPr>
                <a:solidFill>
                  <a:srgbClr val="4758AB"/>
                </a:solidFill>
                <a:latin typeface="Courier"/>
              </a:rPr>
              <a:t>ggplot</a:t>
            </a:r>
            <a:r>
              <a:rPr>
                <a:solidFill>
                  <a:srgbClr val="003B4F"/>
                </a:solidFill>
                <a:latin typeface="Courier"/>
              </a:rPr>
              <a:t>(unbalanced_n,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species, </a:t>
            </a:r>
            <a:r>
              <a:rPr>
                <a:solidFill>
                  <a:srgbClr val="657422"/>
                </a:solidFill>
                <a:latin typeface="Courier"/>
              </a:rPr>
              <a:t>y =</a:t>
            </a:r>
            <a:r>
              <a:rPr>
                <a:solidFill>
                  <a:srgbClr val="003B4F"/>
                </a:solidFill>
                <a:latin typeface="Courier"/>
              </a:rPr>
              <a:t> n, </a:t>
            </a:r>
            <a:r>
              <a:rPr>
                <a:solidFill>
                  <a:srgbClr val="657422"/>
                </a:solidFill>
                <a:latin typeface="Courier"/>
              </a:rPr>
              <a:t>fill =</a:t>
            </a:r>
            <a:r>
              <a:rPr>
                <a:solidFill>
                  <a:srgbClr val="003B4F"/>
                </a:solidFill>
                <a:latin typeface="Courier"/>
              </a:rPr>
              <a:t> sex))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20794D"/>
                </a:solidFill>
                <a:latin typeface="Courier"/>
              </a:rPr>
              <a:t>"dodge"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label =</a:t>
            </a:r>
            <a:r>
              <a:rPr>
                <a:solidFill>
                  <a:srgbClr val="003B4F"/>
                </a:solidFill>
                <a:latin typeface="Courier"/>
              </a:rPr>
              <a:t> n), </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AD0000"/>
                </a:solidFill>
                <a:latin typeface="Courier"/>
              </a:rPr>
              <a:t>0.9</a:t>
            </a:r>
            <a:r>
              <a:rPr>
                <a:solidFill>
                  <a:srgbClr val="003B4F"/>
                </a:solidFill>
                <a:latin typeface="Courier"/>
              </a:rPr>
              <a:t>),</a:t>
            </a:r>
            <a:br/>
            <a:r>
              <a:rPr>
                <a:solidFill>
                  <a:srgbClr val="003B4F"/>
                </a:solidFill>
                <a:latin typeface="Courier"/>
              </a:rPr>
              <a:t>            </a:t>
            </a:r>
            <a:r>
              <a:rPr>
                <a:solidFill>
                  <a:srgbClr val="657422"/>
                </a:solidFill>
                <a:latin typeface="Courier"/>
              </a:rPr>
              <a:t>vjust =</a:t>
            </a:r>
            <a:r>
              <a:rPr>
                <a:solidFill>
                  <a:srgbClr val="003B4F"/>
                </a:solidFill>
                <a:latin typeface="Courier"/>
              </a:rPr>
              <a:t> </a:t>
            </a:r>
            <a:r>
              <a:rPr>
                <a:solidFill>
                  <a:srgbClr val="5E5E5E"/>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scale_fill_manual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"#1f78b4"</a:t>
            </a:r>
            <a:r>
              <a:rPr>
                <a:solidFill>
                  <a:srgbClr val="003B4F"/>
                </a:solidFill>
                <a:latin typeface="Courier"/>
              </a:rPr>
              <a:t>, </a:t>
            </a:r>
            <a:r>
              <a:rPr>
                <a:solidFill>
                  <a:srgbClr val="20794D"/>
                </a:solidFill>
                <a:latin typeface="Courier"/>
              </a:rPr>
              <a:t>"#b2df8a"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"Sample Sizes by Group"</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"Unbalanced Design"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Size"</a:t>
            </a:r>
            <a:r>
              <a:rPr>
                <a:solidFill>
                  <a:srgbClr val="003B4F"/>
                </a:solidFill>
                <a:latin typeface="Courier"/>
              </a:rPr>
              <a:t>,</a:t>
            </a:r>
            <a:b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br/>
            <a:r>
              <a:rPr>
                <a:solidFill>
                  <a:srgbClr val="4758AB"/>
                </a:solidFill>
                <a:latin typeface="Courier"/>
              </a:rPr>
              <a:t>print</a:t>
            </a:r>
            <a:r>
              <a:rPr>
                <a:solidFill>
                  <a:srgbClr val="003B4F"/>
                </a:solidFill>
                <a:latin typeface="Courier"/>
              </a:rPr>
              <a:t>(imbalance_plot)</a:t>
            </a:r>
          </a:p>
        </p:txBody>
      </p:sp>
      <p:pic>
        <p:nvPicPr>
          <p:cNvPr descr="12_01_lecture_powerpoint_files/figure-pptx/visualize_imbalanc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Sums of Squares Types</a:t>
            </a:r>
          </a:p>
        </p:txBody>
      </p:sp>
      <p:sp>
        <p:nvSpPr>
          <p:cNvPr id="3" name="Content Placeholder 2"/>
          <p:cNvSpPr>
            <a:spLocks noGrp="1"/>
          </p:cNvSpPr>
          <p:nvPr>
            <p:ph idx="1" sz="half"/>
          </p:nvPr>
        </p:nvSpPr>
        <p:spPr/>
        <p:txBody>
          <a:bodyPr/>
          <a:lstStyle/>
          <a:p>
            <a:pPr lvl="0" indent="0" marL="0">
              <a:spcBef>
                <a:spcPts val="3000"/>
              </a:spcBef>
              <a:buNone/>
            </a:pPr>
            <a:r>
              <a:rPr b="1"/>
              <a:t>Type I (Sequential) SS</a:t>
            </a:r>
          </a:p>
          <a:p>
            <a:pPr lvl="0" indent="0">
              <a:buNone/>
            </a:pPr>
            <a:r>
              <a:rPr>
                <a:solidFill>
                  <a:srgbClr val="5E5E5E"/>
                </a:solidFill>
                <a:latin typeface="Courier"/>
              </a:rPr>
              <a:t># Type I SS - Order matters!</a:t>
            </a:r>
            <a:br/>
            <a:r>
              <a:rPr>
                <a:solidFill>
                  <a:srgbClr val="5E5E5E"/>
                </a:solidFill>
                <a:latin typeface="Courier"/>
              </a:rPr>
              <a:t># Model 1: Species then Sex</a:t>
            </a:r>
            <a:br/>
            <a:r>
              <a:rPr>
                <a:solidFill>
                  <a:srgbClr val="003B4F"/>
                </a:solidFill>
                <a:latin typeface="Courier"/>
              </a:rPr>
              <a:t>model1_type1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a:t>
            </a:r>
            <a:r>
              <a:rPr>
                <a:solidFill>
                  <a:srgbClr val="5E5E5E"/>
                </a:solidFill>
                <a:latin typeface="Courier"/>
              </a:rPr>
              <a:t>:</a:t>
            </a:r>
            <a:r>
              <a:rPr>
                <a:solidFill>
                  <a:srgbClr val="003B4F"/>
                </a:solidFill>
                <a:latin typeface="Courier"/>
              </a:rPr>
              <a:t>sex,</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r>
              <a:rPr>
                <a:solidFill>
                  <a:srgbClr val="003B4F"/>
                </a:solidFill>
                <a:latin typeface="Courier"/>
              </a:rPr>
              <a:t>anova1_type1 &lt;- </a:t>
            </a:r>
            <a:r>
              <a:rPr>
                <a:solidFill>
                  <a:srgbClr val="4758AB"/>
                </a:solidFill>
                <a:latin typeface="Courier"/>
              </a:rPr>
              <a:t>anova</a:t>
            </a:r>
            <a:r>
              <a:rPr>
                <a:solidFill>
                  <a:srgbClr val="003B4F"/>
                </a:solidFill>
                <a:latin typeface="Courier"/>
              </a:rPr>
              <a:t>(model1_type1)</a:t>
            </a:r>
            <a:br/>
            <a:r>
              <a:rPr>
                <a:solidFill>
                  <a:srgbClr val="4758AB"/>
                </a:solidFill>
                <a:latin typeface="Courier"/>
              </a:rPr>
              <a:t>print</a:t>
            </a:r>
            <a:r>
              <a:rPr>
                <a:solidFill>
                  <a:srgbClr val="003B4F"/>
                </a:solidFill>
                <a:latin typeface="Courier"/>
              </a:rPr>
              <a:t>(</a:t>
            </a:r>
            <a:r>
              <a:rPr>
                <a:solidFill>
                  <a:srgbClr val="20794D"/>
                </a:solidFill>
                <a:latin typeface="Courier"/>
              </a:rPr>
              <a:t>"Type I SS (Species → Sex → Interaction):"</a:t>
            </a:r>
            <a:r>
              <a:rPr>
                <a:solidFill>
                  <a:srgbClr val="003B4F"/>
                </a:solidFill>
                <a:latin typeface="Courier"/>
              </a:rPr>
              <a:t>)</a:t>
            </a:r>
          </a:p>
          <a:p>
            <a:pPr lvl="0" indent="0">
              <a:buNone/>
            </a:pPr>
            <a:r>
              <a:rPr>
                <a:latin typeface="Courier"/>
              </a:rPr>
              <a:t>[1] "Type I SS (Species → Sex → Interaction):"</a:t>
            </a:r>
          </a:p>
          <a:p>
            <a:pPr lvl="0" indent="0">
              <a:buNone/>
            </a:pPr>
            <a:r>
              <a:rPr>
                <a:solidFill>
                  <a:srgbClr val="4758AB"/>
                </a:solidFill>
                <a:latin typeface="Courier"/>
              </a:rPr>
              <a:t>print</a:t>
            </a:r>
            <a:r>
              <a:rPr>
                <a:solidFill>
                  <a:srgbClr val="003B4F"/>
                </a:solidFill>
                <a:latin typeface="Courier"/>
              </a:rPr>
              <a:t>(anova1_type1)</a:t>
            </a:r>
          </a:p>
          <a:p>
            <a:pPr lvl="0" indent="0">
              <a:buNone/>
            </a:pPr>
            <a:r>
              <a:rPr>
                <a:latin typeface="Courier"/>
              </a:rPr>
              <a:t>Analysis of Variance Table
Response: body_mass_g
             Df    Sum Sq  Mean Sq F value    Pr(&gt;F)    
species       2 145190219 72595110 758.358 &lt; 2.2e-16 ***
sex           1  37090262 37090262 387.460 &lt; 2.2e-16 ***
species:sex   2   1676557   838278   8.757 0.0001973 ***
Residuals   327  31302628    95727                      
---
Signif. codes:  0 '***' 0.001 '**' 0.01 '*' 0.05 '.' 0.1 ' ' 1</a:t>
            </a:r>
          </a:p>
          <a:p>
            <a:pPr lvl="0" indent="0">
              <a:buNone/>
            </a:pPr>
            <a:r>
              <a:rPr>
                <a:solidFill>
                  <a:srgbClr val="5E5E5E"/>
                </a:solidFill>
                <a:latin typeface="Courier"/>
              </a:rPr>
              <a:t># Model 2: Sex then Species (different order)</a:t>
            </a:r>
            <a:br/>
            <a:r>
              <a:rPr>
                <a:solidFill>
                  <a:srgbClr val="003B4F"/>
                </a:solidFill>
                <a:latin typeface="Courier"/>
              </a:rPr>
              <a:t>model2_type1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a:t>
            </a:r>
            <a:r>
              <a:rPr>
                <a:solidFill>
                  <a:srgbClr val="5E5E5E"/>
                </a:solidFill>
                <a:latin typeface="Courier"/>
              </a:rPr>
              <a:t>:</a:t>
            </a:r>
            <a:r>
              <a:rPr>
                <a:solidFill>
                  <a:srgbClr val="003B4F"/>
                </a:solidFill>
                <a:latin typeface="Courier"/>
              </a:rPr>
              <a:t>species,</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r>
              <a:rPr>
                <a:solidFill>
                  <a:srgbClr val="003B4F"/>
                </a:solidFill>
                <a:latin typeface="Courier"/>
              </a:rPr>
              <a:t>anova2_type1 &lt;- </a:t>
            </a:r>
            <a:r>
              <a:rPr>
                <a:solidFill>
                  <a:srgbClr val="4758AB"/>
                </a:solidFill>
                <a:latin typeface="Courier"/>
              </a:rPr>
              <a:t>anova</a:t>
            </a:r>
            <a:r>
              <a:rPr>
                <a:solidFill>
                  <a:srgbClr val="003B4F"/>
                </a:solidFill>
                <a:latin typeface="Courier"/>
              </a:rPr>
              <a:t>(model2_type1)</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Type I SS (Sex → Species → Interaction):"</a:t>
            </a:r>
            <a:r>
              <a:rPr>
                <a:solidFill>
                  <a:srgbClr val="003B4F"/>
                </a:solidFill>
                <a:latin typeface="Courier"/>
              </a:rPr>
              <a:t>)</a:t>
            </a:r>
          </a:p>
          <a:p>
            <a:pPr lvl="0" indent="0">
              <a:buNone/>
            </a:pPr>
            <a:r>
              <a:rPr>
                <a:latin typeface="Courier"/>
              </a:rPr>
              <a:t>[1] "\nType I SS (Sex → Species → Interaction):"</a:t>
            </a:r>
          </a:p>
          <a:p>
            <a:pPr lvl="0" indent="0">
              <a:buNone/>
            </a:pPr>
            <a:r>
              <a:rPr>
                <a:solidFill>
                  <a:srgbClr val="4758AB"/>
                </a:solidFill>
                <a:latin typeface="Courier"/>
              </a:rPr>
              <a:t>print</a:t>
            </a:r>
            <a:r>
              <a:rPr>
                <a:solidFill>
                  <a:srgbClr val="003B4F"/>
                </a:solidFill>
                <a:latin typeface="Courier"/>
              </a:rPr>
              <a:t>(anova2_type1)</a:t>
            </a:r>
          </a:p>
          <a:p>
            <a:pPr lvl="0" indent="0">
              <a:buNone/>
            </a:pPr>
            <a:r>
              <a:rPr>
                <a:latin typeface="Courier"/>
              </a:rPr>
              <a:t>Analysis of Variance Table
Response: body_mass_g
             Df    Sum Sq  Mean Sq F value    Pr(&gt;F)    
sex           1  38878897 38878897 406.145 &lt; 2.2e-16 ***
species       2 143401584 71700792 749.016 &lt; 2.2e-16 ***
sex:species   2   1676557   838278   8.757 0.0001973 ***
Residuals   327  31302628    95727                      
---
Signif. codes:  0 '***' 0.001 '**' 0.01 '*' 0.05 '.' 0.1 ' ' 1</a:t>
            </a:r>
          </a:p>
          <a:p>
            <a:pPr lvl="0" indent="0">
              <a:buNone/>
            </a:pPr>
            <a:r>
              <a:rPr>
                <a:solidFill>
                  <a:srgbClr val="5E5E5E"/>
                </a:solidFill>
                <a:latin typeface="Courier"/>
              </a:rPr>
              <a:t># Compare SS for main effects</a:t>
            </a:r>
            <a:br/>
            <a:r>
              <a:rPr>
                <a:solidFill>
                  <a:srgbClr val="003B4F"/>
                </a:solidFill>
                <a:latin typeface="Courier"/>
              </a:rPr>
              <a:t>ss_comparison_df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a:t>
            </a:r>
            <a:br/>
            <a:r>
              <a:rPr>
                <a:solidFill>
                  <a:srgbClr val="003B4F"/>
                </a:solidFill>
                <a:latin typeface="Courier"/>
              </a:rPr>
              <a:t>  </a:t>
            </a:r>
            <a:r>
              <a:rPr>
                <a:solidFill>
                  <a:srgbClr val="657422"/>
                </a:solidFill>
                <a:latin typeface="Courier"/>
              </a:rPr>
              <a:t>Order1_SS =</a:t>
            </a:r>
            <a:r>
              <a:rPr>
                <a:solidFill>
                  <a:srgbClr val="003B4F"/>
                </a:solidFill>
                <a:latin typeface="Courier"/>
              </a:rPr>
              <a:t> </a:t>
            </a:r>
            <a:r>
              <a:rPr>
                <a:solidFill>
                  <a:srgbClr val="4758AB"/>
                </a:solidFill>
                <a:latin typeface="Courier"/>
              </a:rPr>
              <a:t>c</a:t>
            </a:r>
            <a:r>
              <a:rPr>
                <a:solidFill>
                  <a:srgbClr val="003B4F"/>
                </a:solidFill>
                <a:latin typeface="Courier"/>
              </a:rPr>
              <a:t>(anova1_type1</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br/>
            <a:r>
              <a:rPr>
                <a:solidFill>
                  <a:srgbClr val="003B4F"/>
                </a:solidFill>
                <a:latin typeface="Courier"/>
              </a:rPr>
              <a:t>                anova1_type1</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Order2_SS =</a:t>
            </a:r>
            <a:r>
              <a:rPr>
                <a:solidFill>
                  <a:srgbClr val="003B4F"/>
                </a:solidFill>
                <a:latin typeface="Courier"/>
              </a:rPr>
              <a:t> </a:t>
            </a:r>
            <a:r>
              <a:rPr>
                <a:solidFill>
                  <a:srgbClr val="4758AB"/>
                </a:solidFill>
                <a:latin typeface="Courier"/>
              </a:rPr>
              <a:t>c</a:t>
            </a:r>
            <a:r>
              <a:rPr>
                <a:solidFill>
                  <a:srgbClr val="003B4F"/>
                </a:solidFill>
                <a:latin typeface="Courier"/>
              </a:rPr>
              <a:t>(anova2_type1</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003B4F"/>
                </a:solidFill>
                <a:latin typeface="Courier"/>
              </a:rPr>
              <a:t>], </a:t>
            </a:r>
            <a:br/>
            <a:r>
              <a:rPr>
                <a:solidFill>
                  <a:srgbClr val="003B4F"/>
                </a:solidFill>
                <a:latin typeface="Courier"/>
              </a:rPr>
              <a:t>                anova2_type1</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Type I SS depends on order:"</a:t>
            </a:r>
            <a:r>
              <a:rPr>
                <a:solidFill>
                  <a:srgbClr val="003B4F"/>
                </a:solidFill>
                <a:latin typeface="Courier"/>
              </a:rPr>
              <a:t>)</a:t>
            </a:r>
          </a:p>
          <a:p>
            <a:pPr lvl="0" indent="0">
              <a:buNone/>
            </a:pPr>
            <a:r>
              <a:rPr>
                <a:latin typeface="Courier"/>
              </a:rPr>
              <a:t>[1] "\nType I SS depends on order:"</a:t>
            </a:r>
          </a:p>
          <a:p>
            <a:pPr lvl="0" indent="0">
              <a:buNone/>
            </a:pPr>
            <a:r>
              <a:rPr>
                <a:solidFill>
                  <a:srgbClr val="4758AB"/>
                </a:solidFill>
                <a:latin typeface="Courier"/>
              </a:rPr>
              <a:t>print</a:t>
            </a:r>
            <a:r>
              <a:rPr>
                <a:solidFill>
                  <a:srgbClr val="003B4F"/>
                </a:solidFill>
                <a:latin typeface="Courier"/>
              </a:rPr>
              <a:t>(ss_comparison_df)</a:t>
            </a:r>
          </a:p>
          <a:p>
            <a:pPr lvl="0" indent="0">
              <a:buNone/>
            </a:pPr>
            <a:r>
              <a:rPr>
                <a:latin typeface="Courier"/>
              </a:rPr>
              <a:t>   Effect Order1_SS Order2_SS
1 Species 145190219 143401584
2     Sex  37090262  38878897</a:t>
            </a:r>
          </a:p>
        </p:txBody>
      </p:sp>
      <p:sp>
        <p:nvSpPr>
          <p:cNvPr id="4" name="Content Placeholder 3"/>
          <p:cNvSpPr>
            <a:spLocks noGrp="1"/>
          </p:cNvSpPr>
          <p:nvPr>
            <p:ph idx="2" sz="half"/>
          </p:nvPr>
        </p:nvSpPr>
        <p:spPr/>
        <p:txBody>
          <a:bodyPr/>
          <a:lstStyle/>
          <a:p>
            <a:pPr lvl="0" indent="0" marL="0">
              <a:spcBef>
                <a:spcPts val="3000"/>
              </a:spcBef>
              <a:buNone/>
            </a:pPr>
            <a:r>
              <a:rPr b="1"/>
              <a:t>How Type I SS Works</a:t>
            </a:r>
          </a:p>
          <a:p>
            <a:pPr lvl="0" indent="0" marL="0">
              <a:buNone/>
            </a:pPr>
            <a:r>
              <a:rPr b="1"/>
              <a:t>Sequential decomposition:</a:t>
            </a:r>
          </a:p>
          <a:p>
            <a:pPr lvl="0" indent="-342900" marL="342900">
              <a:buAutoNum type="arabicPeriod"/>
            </a:pPr>
            <a:r>
              <a:rPr b="1"/>
              <a:t>First term</a:t>
            </a:r>
            <a:r>
              <a:rPr/>
              <a:t> gets all SS it can explain</a:t>
            </a:r>
          </a:p>
          <a:p>
            <a:pPr lvl="0" indent="-342900" marL="342900">
              <a:buAutoNum type="arabicPeriod"/>
            </a:pPr>
            <a:r>
              <a:rPr b="1"/>
              <a:t>Second term</a:t>
            </a:r>
            <a:r>
              <a:rPr/>
              <a:t> gets SS after removing first</a:t>
            </a:r>
          </a:p>
          <a:p>
            <a:pPr lvl="0" indent="-342900" marL="342900">
              <a:buAutoNum type="arabicPeriod"/>
            </a:pPr>
            <a:r>
              <a:rPr b="1"/>
              <a:t>Third term</a:t>
            </a:r>
            <a:r>
              <a:rPr/>
              <a:t> gets SS after removing first two</a:t>
            </a:r>
          </a:p>
          <a:p>
            <a:pPr lvl="0" indent="0" marL="0">
              <a:buNone/>
            </a:pPr>
            <a:r>
              <a:rPr b="1"/>
              <a:t>Example calculation:</a:t>
            </a:r>
            <a:r>
              <a:rPr/>
              <a:t> - SS(Species) = reduction in SS from null to species-only model - SS(Sex|Species) = additional reduction adding sex - SS(Interaction|Species,Sex) = additional reduction adding interaction</a:t>
            </a:r>
          </a:p>
          <a:p>
            <a:pPr lvl="0" indent="0" marL="0">
              <a:buNone/>
            </a:pPr>
            <a:r>
              <a:rPr b="1"/>
              <a:t>Problems with unbalanced data:</a:t>
            </a:r>
            <a:r>
              <a:rPr/>
              <a:t> - Order dependency - Biased if factors are correlated - Not invariant to coding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Type III (Marginal) SS</a:t>
            </a:r>
          </a:p>
          <a:p>
            <a:pPr lvl="0" indent="0">
              <a:buNone/>
            </a:pPr>
            <a:r>
              <a:rPr>
                <a:solidFill>
                  <a:srgbClr val="5E5E5E"/>
                </a:solidFill>
                <a:latin typeface="Courier"/>
              </a:rPr>
              <a:t># Set contrasts for Type III SS</a:t>
            </a: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Fit model for Type III SS</a:t>
            </a:r>
            <a:br/>
            <a:r>
              <a:rPr>
                <a:solidFill>
                  <a:srgbClr val="003B4F"/>
                </a:solidFill>
                <a:latin typeface="Courier"/>
              </a:rPr>
              <a:t>model_u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br/>
            <a:r>
              <a:rPr>
                <a:solidFill>
                  <a:srgbClr val="5E5E5E"/>
                </a:solidFill>
                <a:latin typeface="Courier"/>
              </a:rPr>
              <a:t># Type III ANOVA</a:t>
            </a:r>
            <a:br/>
            <a:r>
              <a:rPr>
                <a:solidFill>
                  <a:srgbClr val="003B4F"/>
                </a:solidFill>
                <a:latin typeface="Courier"/>
              </a:rPr>
              <a:t>anova_type3_u &lt;- </a:t>
            </a:r>
            <a:r>
              <a:rPr>
                <a:solidFill>
                  <a:srgbClr val="4758AB"/>
                </a:solidFill>
                <a:latin typeface="Courier"/>
              </a:rPr>
              <a:t>Anova</a:t>
            </a:r>
            <a:r>
              <a:rPr>
                <a:solidFill>
                  <a:srgbClr val="003B4F"/>
                </a:solidFill>
                <a:latin typeface="Courier"/>
              </a:rPr>
              <a:t>(model_u,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"Type III Sums of Squares:"</a:t>
            </a:r>
            <a:r>
              <a:rPr>
                <a:solidFill>
                  <a:srgbClr val="003B4F"/>
                </a:solidFill>
                <a:latin typeface="Courier"/>
              </a:rPr>
              <a:t>)</a:t>
            </a:r>
          </a:p>
          <a:p>
            <a:pPr lvl="0" indent="0">
              <a:buNone/>
            </a:pPr>
            <a:r>
              <a:rPr>
                <a:latin typeface="Courier"/>
              </a:rPr>
              <a:t>[1] "Type III Sums of Squares:"</a:t>
            </a:r>
          </a:p>
          <a:p>
            <a:pPr lvl="0" indent="0">
              <a:buNone/>
            </a:pPr>
            <a:r>
              <a:rPr>
                <a:solidFill>
                  <a:srgbClr val="4758AB"/>
                </a:solidFill>
                <a:latin typeface="Courier"/>
              </a:rPr>
              <a:t>print</a:t>
            </a:r>
            <a:r>
              <a:rPr>
                <a:solidFill>
                  <a:srgbClr val="003B4F"/>
                </a:solidFill>
                <a:latin typeface="Courier"/>
              </a:rPr>
              <a:t>(anova_type3_u)</a:t>
            </a:r>
          </a:p>
          <a:p>
            <a:pPr lvl="0" indent="0">
              <a:buNone/>
            </a:pPr>
            <a:r>
              <a:rPr>
                <a:latin typeface="Courier"/>
              </a:rPr>
              <a:t>Anova Table (Type III tests)
Response: body_mass_g
                Sum Sq  Df   F value    Pr(&gt;F)    
(Intercept) 5232595969   1 54661.828 &lt; 2.2e-16 ***
species      143001222   2   746.924 &lt; 2.2e-16 ***
sex           29851220   1   311.838 &lt; 2.2e-16 ***
species:sex    1676557   2     8.757 0.0001973 ***
Residuals     31302628 327                        
---
Signif. codes:  0 '***' 0.001 '**' 0.01 '*' 0.05 '.' 0.1 ' ' 1</a:t>
            </a:r>
          </a:p>
          <a:p>
            <a:pPr lvl="0" indent="0">
              <a:buNone/>
            </a:pPr>
            <a:r>
              <a:rPr>
                <a:solidFill>
                  <a:srgbClr val="5E5E5E"/>
                </a:solidFill>
                <a:latin typeface="Courier"/>
              </a:rPr>
              <a:t># Compare with Type I</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Comparison of F-values:"</a:t>
            </a:r>
            <a:r>
              <a:rPr>
                <a:solidFill>
                  <a:srgbClr val="003B4F"/>
                </a:solidFill>
                <a:latin typeface="Courier"/>
              </a:rPr>
              <a:t>)</a:t>
            </a:r>
          </a:p>
          <a:p>
            <a:pPr lvl="0" indent="0">
              <a:buNone/>
            </a:pPr>
            <a:r>
              <a:rPr>
                <a:latin typeface="Courier"/>
              </a:rPr>
              <a:t>[1] "\nComparison of F-values:"</a:t>
            </a:r>
          </a:p>
          <a:p>
            <a:pPr lvl="0" indent="0">
              <a:buNone/>
            </a:pPr>
            <a:r>
              <a:rPr>
                <a:solidFill>
                  <a:srgbClr val="003B4F"/>
                </a:solidFill>
                <a:latin typeface="Courier"/>
              </a:rPr>
              <a:t>comparison_f_df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"Interaction"</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(anova1_type1</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(anova_type3_u</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(comparison_f_df)</a:t>
            </a:r>
          </a:p>
          <a:p>
            <a:pPr lvl="0" indent="0">
              <a:buNone/>
            </a:pPr>
            <a:r>
              <a:rPr>
                <a:latin typeface="Courier"/>
              </a:rPr>
              <a:t>       Effect Type_I_F Type_III_F
1     Species   758.36     746.92
2         Sex   387.46     311.84
3 Interaction     8.76       8.76</a:t>
            </a:r>
          </a:p>
        </p:txBody>
      </p:sp>
      <p:sp>
        <p:nvSpPr>
          <p:cNvPr id="4" name="Content Placeholder 3"/>
          <p:cNvSpPr>
            <a:spLocks noGrp="1"/>
          </p:cNvSpPr>
          <p:nvPr>
            <p:ph idx="2" sz="half"/>
          </p:nvPr>
        </p:nvSpPr>
        <p:spPr/>
        <p:txBody>
          <a:bodyPr/>
          <a:lstStyle/>
          <a:p>
            <a:pPr lvl="0" indent="0" marL="0">
              <a:spcBef>
                <a:spcPts val="3000"/>
              </a:spcBef>
              <a:buNone/>
            </a:pPr>
            <a:r>
              <a:rPr b="1"/>
              <a:t>How Type III SS Works</a:t>
            </a:r>
          </a:p>
          <a:p>
            <a:pPr lvl="0" indent="0" marL="0">
              <a:buNone/>
            </a:pPr>
            <a:r>
              <a:rPr b="1"/>
              <a:t>Marginal decomposition:</a:t>
            </a:r>
          </a:p>
          <a:p>
            <a:pPr lvl="0" indent="0" marL="0">
              <a:buNone/>
            </a:pPr>
            <a:r>
              <a:rPr/>
              <a:t>Each effect tested after adjusting for all others: - SS(Species|Sex,Interaction) - SS(Sex|Species,Interaction) - SS(Interaction|Species,Sex)</a:t>
            </a:r>
          </a:p>
          <a:p>
            <a:pPr lvl="0" indent="0" marL="0">
              <a:buNone/>
            </a:pPr>
            <a:r>
              <a:rPr b="1"/>
              <a:t>Advantages:</a:t>
            </a:r>
            <a:r>
              <a:rPr/>
              <a:t> - Order invariant - Tests hypotheses about unweighted means - Standard in most software</a:t>
            </a:r>
          </a:p>
          <a:p>
            <a:pPr lvl="0" indent="0" marL="0">
              <a:buNone/>
            </a:pPr>
            <a:r>
              <a:rPr b="1"/>
              <a:t>Disadvantages:</a:t>
            </a:r>
            <a:r>
              <a:rPr/>
              <a:t> - Lower power with missing cells - Tests may not be orthogonal - Requires careful interpretation</a:t>
            </a:r>
          </a:p>
          <a:p>
            <a:pPr lvl="0" indent="0">
              <a:buNone/>
            </a:pPr>
            <a:r>
              <a:rPr>
                <a:solidFill>
                  <a:srgbClr val="5E5E5E"/>
                </a:solidFill>
                <a:latin typeface="Courier"/>
              </a:rPr>
              <a:t># Calculate effect sizes</a:t>
            </a:r>
            <a:br/>
            <a:r>
              <a:rPr>
                <a:solidFill>
                  <a:srgbClr val="003B4F"/>
                </a:solidFill>
                <a:latin typeface="Courier"/>
              </a:rPr>
              <a:t>ss_total_u &lt;- </a:t>
            </a:r>
            <a:r>
              <a:rPr>
                <a:solidFill>
                  <a:srgbClr val="4758AB"/>
                </a:solidFill>
                <a:latin typeface="Courier"/>
              </a:rPr>
              <a:t>sum</a:t>
            </a:r>
            <a:r>
              <a:rPr>
                <a:solidFill>
                  <a:srgbClr val="003B4F"/>
                </a:solidFill>
                <a:latin typeface="Courier"/>
              </a:rPr>
              <a:t>(anova_type3_u</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a:t>
            </a:r>
            <a:br/>
            <a:br/>
            <a:r>
              <a:rPr>
                <a:solidFill>
                  <a:srgbClr val="003B4F"/>
                </a:solidFill>
                <a:latin typeface="Courier"/>
              </a:rPr>
              <a:t>eta_squared_p_df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"Interaction"</a:t>
            </a:r>
            <a:r>
              <a:rPr>
                <a:solidFill>
                  <a:srgbClr val="003B4F"/>
                </a:solidFill>
                <a:latin typeface="Courier"/>
              </a:rPr>
              <a:t>),</a:t>
            </a:r>
            <a:br/>
            <a:r>
              <a:rPr>
                <a:solidFill>
                  <a:srgbClr val="003B4F"/>
                </a:solidFill>
                <a:latin typeface="Courier"/>
              </a:rPr>
              <a:t>  </a:t>
            </a:r>
            <a:r>
              <a:rPr>
                <a:solidFill>
                  <a:srgbClr val="657422"/>
                </a:solidFill>
                <a:latin typeface="Courier"/>
              </a:rPr>
              <a:t>Eta_Squared =</a:t>
            </a:r>
            <a:r>
              <a:rPr>
                <a:solidFill>
                  <a:srgbClr val="003B4F"/>
                </a:solidFill>
                <a:latin typeface="Courier"/>
              </a:rPr>
              <a:t> </a:t>
            </a:r>
            <a:r>
              <a:rPr>
                <a:solidFill>
                  <a:srgbClr val="4758AB"/>
                </a:solidFill>
                <a:latin typeface="Courier"/>
              </a:rPr>
              <a:t>round</a:t>
            </a:r>
            <a:r>
              <a:rPr>
                <a:solidFill>
                  <a:srgbClr val="003B4F"/>
                </a:solidFill>
                <a:latin typeface="Courier"/>
              </a:rPr>
              <a:t>(</a:t>
            </a:r>
            <a:br/>
            <a:r>
              <a:rPr>
                <a:solidFill>
                  <a:srgbClr val="003B4F"/>
                </a:solidFill>
                <a:latin typeface="Courier"/>
              </a:rPr>
              <a:t>    anova_type3_u</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ss_total_u, </a:t>
            </a:r>
            <a:b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"Effect Sizes (Type III):"</a:t>
            </a:r>
            <a:r>
              <a:rPr>
                <a:solidFill>
                  <a:srgbClr val="003B4F"/>
                </a:solidFill>
                <a:latin typeface="Courier"/>
              </a:rPr>
              <a:t>)</a:t>
            </a:r>
          </a:p>
          <a:p>
            <a:pPr lvl="0" indent="0">
              <a:buNone/>
            </a:pPr>
            <a:r>
              <a:rPr>
                <a:latin typeface="Courier"/>
              </a:rPr>
              <a:t>[1] "Effect Sizes (Type III):"</a:t>
            </a:r>
          </a:p>
          <a:p>
            <a:pPr lvl="0" indent="0">
              <a:buNone/>
            </a:pPr>
            <a:r>
              <a:rPr>
                <a:solidFill>
                  <a:srgbClr val="4758AB"/>
                </a:solidFill>
                <a:latin typeface="Courier"/>
              </a:rPr>
              <a:t>print</a:t>
            </a:r>
            <a:r>
              <a:rPr>
                <a:solidFill>
                  <a:srgbClr val="003B4F"/>
                </a:solidFill>
                <a:latin typeface="Courier"/>
              </a:rPr>
              <a:t>(eta_squared_p_df)</a:t>
            </a:r>
          </a:p>
          <a:p>
            <a:pPr lvl="0" indent="0">
              <a:buNone/>
            </a:pPr>
            <a:r>
              <a:rPr>
                <a:latin typeface="Courier"/>
              </a:rPr>
              <a:t>       Effect Eta_Squared
1     Species      0.6947
2         Sex      0.1450
3 Interaction      0.0081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SS Calculation Demonstration</a:t>
            </a:r>
          </a:p>
        </p:txBody>
      </p:sp>
      <p:sp>
        <p:nvSpPr>
          <p:cNvPr id="3" name="Content Placeholder 2"/>
          <p:cNvSpPr>
            <a:spLocks noGrp="1"/>
          </p:cNvSpPr>
          <p:nvPr>
            <p:ph idx="1" sz="half"/>
          </p:nvPr>
        </p:nvSpPr>
        <p:spPr/>
        <p:txBody>
          <a:bodyPr/>
          <a:lstStyle/>
          <a:p>
            <a:pPr lvl="0" indent="0" marL="0">
              <a:spcBef>
                <a:spcPts val="3000"/>
              </a:spcBef>
              <a:buNone/>
            </a:pPr>
            <a:r>
              <a:rPr b="1"/>
              <a:t>Computing SS Step-by-Step</a:t>
            </a:r>
          </a:p>
          <a:p>
            <a:pPr lvl="0" indent="0">
              <a:buNone/>
            </a:pPr>
            <a:r>
              <a:rPr>
                <a:solidFill>
                  <a:srgbClr val="5E5E5E"/>
                </a:solidFill>
                <a:latin typeface="Courier"/>
              </a:rPr>
              <a:t># Grand mean</a:t>
            </a:r>
            <a:br/>
            <a:r>
              <a:rPr>
                <a:solidFill>
                  <a:srgbClr val="003B4F"/>
                </a:solidFill>
                <a:latin typeface="Courier"/>
              </a:rPr>
              <a:t>grand_mean &lt;- </a:t>
            </a:r>
            <a:r>
              <a:rPr>
                <a:solidFill>
                  <a:srgbClr val="4758AB"/>
                </a:solidFill>
                <a:latin typeface="Courier"/>
              </a:rPr>
              <a:t>mean</a:t>
            </a:r>
            <a:r>
              <a:rPr>
                <a:solidFill>
                  <a:srgbClr val="003B4F"/>
                </a:solidFill>
                <a:latin typeface="Courier"/>
              </a:rPr>
              <a:t>(p_df</a:t>
            </a:r>
            <a:r>
              <a:rPr>
                <a:solidFill>
                  <a:srgbClr val="5E5E5E"/>
                </a:solidFill>
                <a:latin typeface="Courier"/>
              </a:rPr>
              <a:t>$</a:t>
            </a:r>
            <a:r>
              <a:rPr>
                <a:solidFill>
                  <a:srgbClr val="003B4F"/>
                </a:solidFill>
                <a:latin typeface="Courier"/>
              </a:rPr>
              <a:t>body_mass_g)</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"Grand mean:"</a:t>
            </a:r>
            <a:r>
              <a:rPr>
                <a:solidFill>
                  <a:srgbClr val="003B4F"/>
                </a:solidFill>
                <a:latin typeface="Courier"/>
              </a:rPr>
              <a:t>, </a:t>
            </a:r>
            <a:r>
              <a:rPr>
                <a:solidFill>
                  <a:srgbClr val="4758AB"/>
                </a:solidFill>
                <a:latin typeface="Courier"/>
              </a:rPr>
              <a:t>round</a:t>
            </a:r>
            <a:r>
              <a:rPr>
                <a:solidFill>
                  <a:srgbClr val="003B4F"/>
                </a:solidFill>
                <a:latin typeface="Courier"/>
              </a:rPr>
              <a:t>(grand_mean, </a:t>
            </a:r>
            <a:r>
              <a:rPr>
                <a:solidFill>
                  <a:srgbClr val="AD0000"/>
                </a:solidFill>
                <a:latin typeface="Courier"/>
              </a:rPr>
              <a:t>1</a:t>
            </a:r>
            <a:r>
              <a:rPr>
                <a:solidFill>
                  <a:srgbClr val="003B4F"/>
                </a:solidFill>
                <a:latin typeface="Courier"/>
              </a:rPr>
              <a:t>)))</a:t>
            </a:r>
          </a:p>
          <a:p>
            <a:pPr lvl="0" indent="0">
              <a:buNone/>
            </a:pPr>
            <a:r>
              <a:rPr>
                <a:latin typeface="Courier"/>
              </a:rPr>
              <a:t>[1] "Grand mean: 4207.1"</a:t>
            </a:r>
          </a:p>
          <a:p>
            <a:pPr lvl="0" indent="0">
              <a:buNone/>
            </a:pPr>
            <a:r>
              <a:rPr>
                <a:solidFill>
                  <a:srgbClr val="5E5E5E"/>
                </a:solidFill>
                <a:latin typeface="Courier"/>
              </a:rPr>
              <a:t># Total SS</a:t>
            </a:r>
            <a:br/>
            <a:r>
              <a:rPr>
                <a:solidFill>
                  <a:srgbClr val="003B4F"/>
                </a:solidFill>
                <a:latin typeface="Courier"/>
              </a:rPr>
              <a:t>ss_total_manual &lt;- </a:t>
            </a:r>
            <a:r>
              <a:rPr>
                <a:solidFill>
                  <a:srgbClr val="4758AB"/>
                </a:solidFill>
                <a:latin typeface="Courier"/>
              </a:rPr>
              <a:t>sum</a:t>
            </a:r>
            <a:r>
              <a:rPr>
                <a:solidFill>
                  <a:srgbClr val="003B4F"/>
                </a:solidFill>
                <a:latin typeface="Courier"/>
              </a:rPr>
              <a:t>((p_df</a:t>
            </a:r>
            <a:r>
              <a:rPr>
                <a:solidFill>
                  <a:srgbClr val="5E5E5E"/>
                </a:solidFill>
                <a:latin typeface="Courier"/>
              </a:rPr>
              <a:t>$</a:t>
            </a:r>
            <a:r>
              <a:rPr>
                <a:solidFill>
                  <a:srgbClr val="003B4F"/>
                </a:solidFill>
                <a:latin typeface="Courier"/>
              </a:rPr>
              <a:t>body_mass_g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"Total SS:"</a:t>
            </a:r>
            <a:r>
              <a:rPr>
                <a:solidFill>
                  <a:srgbClr val="003B4F"/>
                </a:solidFill>
                <a:latin typeface="Courier"/>
              </a:rPr>
              <a:t>, </a:t>
            </a:r>
            <a:r>
              <a:rPr>
                <a:solidFill>
                  <a:srgbClr val="4758AB"/>
                </a:solidFill>
                <a:latin typeface="Courier"/>
              </a:rPr>
              <a:t>round</a:t>
            </a:r>
            <a:r>
              <a:rPr>
                <a:solidFill>
                  <a:srgbClr val="003B4F"/>
                </a:solidFill>
                <a:latin typeface="Courier"/>
              </a:rPr>
              <a:t>(ss_total_manual, </a:t>
            </a:r>
            <a:r>
              <a:rPr>
                <a:solidFill>
                  <a:srgbClr val="AD0000"/>
                </a:solidFill>
                <a:latin typeface="Courier"/>
              </a:rPr>
              <a:t>0</a:t>
            </a:r>
            <a:r>
              <a:rPr>
                <a:solidFill>
                  <a:srgbClr val="003B4F"/>
                </a:solidFill>
                <a:latin typeface="Courier"/>
              </a:rPr>
              <a:t>)))</a:t>
            </a:r>
          </a:p>
          <a:p>
            <a:pPr lvl="0" indent="0">
              <a:buNone/>
            </a:pPr>
            <a:r>
              <a:rPr>
                <a:latin typeface="Courier"/>
              </a:rPr>
              <a:t>[1] "Total SS: 215259666"</a:t>
            </a:r>
          </a:p>
          <a:p>
            <a:pPr lvl="0" indent="0">
              <a:buNone/>
            </a:pPr>
            <a:r>
              <a:rPr>
                <a:solidFill>
                  <a:srgbClr val="5E5E5E"/>
                </a:solidFill>
                <a:latin typeface="Courier"/>
              </a:rPr>
              <a:t># Between-group SS (full model)</a:t>
            </a:r>
            <a:br/>
            <a:r>
              <a:rPr>
                <a:solidFill>
                  <a:srgbClr val="003B4F"/>
                </a:solidFill>
                <a:latin typeface="Courier"/>
              </a:rPr>
              <a:t>group_means_df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(body_mass_g))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ss_between &lt;- </a:t>
            </a:r>
            <a:r>
              <a:rPr>
                <a:solidFill>
                  <a:srgbClr val="4758AB"/>
                </a:solidFill>
                <a:latin typeface="Courier"/>
              </a:rPr>
              <a:t>sum</a:t>
            </a:r>
            <a:r>
              <a:rPr>
                <a:solidFill>
                  <a:srgbClr val="003B4F"/>
                </a:solidFill>
                <a:latin typeface="Courier"/>
              </a:rPr>
              <a:t>((group_means_df</a:t>
            </a:r>
            <a:r>
              <a:rPr>
                <a:solidFill>
                  <a:srgbClr val="5E5E5E"/>
                </a:solidFill>
                <a:latin typeface="Courier"/>
              </a:rPr>
              <a:t>$</a:t>
            </a:r>
            <a:r>
              <a:rPr>
                <a:solidFill>
                  <a:srgbClr val="003B4F"/>
                </a:solidFill>
                <a:latin typeface="Courier"/>
              </a:rPr>
              <a:t>group_mean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"Between-groups SS:"</a:t>
            </a:r>
            <a:r>
              <a:rPr>
                <a:solidFill>
                  <a:srgbClr val="003B4F"/>
                </a:solidFill>
                <a:latin typeface="Courier"/>
              </a:rPr>
              <a:t>, </a:t>
            </a:r>
            <a:r>
              <a:rPr>
                <a:solidFill>
                  <a:srgbClr val="4758AB"/>
                </a:solidFill>
                <a:latin typeface="Courier"/>
              </a:rPr>
              <a:t>round</a:t>
            </a:r>
            <a:r>
              <a:rPr>
                <a:solidFill>
                  <a:srgbClr val="003B4F"/>
                </a:solidFill>
                <a:latin typeface="Courier"/>
              </a:rPr>
              <a:t>(ss_between, </a:t>
            </a:r>
            <a:r>
              <a:rPr>
                <a:solidFill>
                  <a:srgbClr val="AD0000"/>
                </a:solidFill>
                <a:latin typeface="Courier"/>
              </a:rPr>
              <a:t>0</a:t>
            </a:r>
            <a:r>
              <a:rPr>
                <a:solidFill>
                  <a:srgbClr val="003B4F"/>
                </a:solidFill>
                <a:latin typeface="Courier"/>
              </a:rPr>
              <a:t>)))</a:t>
            </a:r>
          </a:p>
          <a:p>
            <a:pPr lvl="0" indent="0">
              <a:buNone/>
            </a:pPr>
            <a:r>
              <a:rPr>
                <a:latin typeface="Courier"/>
              </a:rPr>
              <a:t>[1] "Between-groups SS: 183957038"</a:t>
            </a:r>
          </a:p>
          <a:p>
            <a:pPr lvl="0" indent="0">
              <a:buNone/>
            </a:pPr>
            <a:r>
              <a:rPr>
                <a:solidFill>
                  <a:srgbClr val="5E5E5E"/>
                </a:solidFill>
                <a:latin typeface="Courier"/>
              </a:rPr>
              <a:t># Within-group SS (Error SS)</a:t>
            </a:r>
            <a:br/>
            <a:r>
              <a:rPr>
                <a:solidFill>
                  <a:srgbClr val="003B4F"/>
                </a:solidFill>
                <a:latin typeface="Courier"/>
              </a:rPr>
              <a:t>ss_within &lt;- </a:t>
            </a:r>
            <a:r>
              <a:rPr>
                <a:solidFill>
                  <a:srgbClr val="4758AB"/>
                </a:solidFill>
                <a:latin typeface="Courier"/>
              </a:rPr>
              <a:t>sum</a:t>
            </a:r>
            <a:r>
              <a:rPr>
                <a:solidFill>
                  <a:srgbClr val="003B4F"/>
                </a:solidFill>
                <a:latin typeface="Courier"/>
              </a:rPr>
              <a:t>((group_means_df</a:t>
            </a:r>
            <a:r>
              <a:rPr>
                <a:solidFill>
                  <a:srgbClr val="5E5E5E"/>
                </a:solidFill>
                <a:latin typeface="Courier"/>
              </a:rPr>
              <a:t>$</a:t>
            </a:r>
            <a:r>
              <a:rPr>
                <a:solidFill>
                  <a:srgbClr val="003B4F"/>
                </a:solidFill>
                <a:latin typeface="Courier"/>
              </a:rPr>
              <a:t>body_mass_g </a:t>
            </a:r>
            <a:r>
              <a:rPr>
                <a:solidFill>
                  <a:srgbClr val="5E5E5E"/>
                </a:solidFill>
                <a:latin typeface="Courier"/>
              </a:rPr>
              <a:t>-</a:t>
            </a:r>
            <a:r>
              <a:rPr>
                <a:solidFill>
                  <a:srgbClr val="003B4F"/>
                </a:solidFill>
                <a:latin typeface="Courier"/>
              </a:rPr>
              <a:t> </a:t>
            </a:r>
            <a:br/>
            <a:r>
              <a:rPr>
                <a:solidFill>
                  <a:srgbClr val="003B4F"/>
                </a:solidFill>
                <a:latin typeface="Courier"/>
              </a:rPr>
              <a:t>                  group_means_df</a:t>
            </a:r>
            <a:r>
              <a:rPr>
                <a:solidFill>
                  <a:srgbClr val="5E5E5E"/>
                </a:solidFill>
                <a:latin typeface="Courier"/>
              </a:rPr>
              <a:t>$</a:t>
            </a:r>
            <a:r>
              <a:rPr>
                <a:solidFill>
                  <a:srgbClr val="003B4F"/>
                </a:solidFill>
                <a:latin typeface="Courier"/>
              </a:rPr>
              <a:t>group_mean)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"Within-groups SS:"</a:t>
            </a:r>
            <a:r>
              <a:rPr>
                <a:solidFill>
                  <a:srgbClr val="003B4F"/>
                </a:solidFill>
                <a:latin typeface="Courier"/>
              </a:rPr>
              <a:t>, </a:t>
            </a:r>
            <a:r>
              <a:rPr>
                <a:solidFill>
                  <a:srgbClr val="4758AB"/>
                </a:solidFill>
                <a:latin typeface="Courier"/>
              </a:rPr>
              <a:t>round</a:t>
            </a:r>
            <a:r>
              <a:rPr>
                <a:solidFill>
                  <a:srgbClr val="003B4F"/>
                </a:solidFill>
                <a:latin typeface="Courier"/>
              </a:rPr>
              <a:t>(ss_within, </a:t>
            </a:r>
            <a:r>
              <a:rPr>
                <a:solidFill>
                  <a:srgbClr val="AD0000"/>
                </a:solidFill>
                <a:latin typeface="Courier"/>
              </a:rPr>
              <a:t>0</a:t>
            </a:r>
            <a:r>
              <a:rPr>
                <a:solidFill>
                  <a:srgbClr val="003B4F"/>
                </a:solidFill>
                <a:latin typeface="Courier"/>
              </a:rPr>
              <a:t>)))</a:t>
            </a:r>
          </a:p>
          <a:p>
            <a:pPr lvl="0" indent="0">
              <a:buNone/>
            </a:pPr>
            <a:r>
              <a:rPr>
                <a:latin typeface="Courier"/>
              </a:rPr>
              <a:t>[1] "Within-groups SS: 31302628"</a:t>
            </a:r>
          </a:p>
          <a:p>
            <a:pPr lvl="0" indent="0">
              <a:buNone/>
            </a:pPr>
            <a:r>
              <a:rPr>
                <a:solidFill>
                  <a:srgbClr val="5E5E5E"/>
                </a:solidFill>
                <a:latin typeface="Courier"/>
              </a:rPr>
              <a:t># Verify: Total = Between + Within</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"Check: Between + Within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(ss_between </a:t>
            </a:r>
            <a:r>
              <a:rPr>
                <a:solidFill>
                  <a:srgbClr val="5E5E5E"/>
                </a:solidFill>
                <a:latin typeface="Courier"/>
              </a:rPr>
              <a:t>+</a:t>
            </a:r>
            <a:r>
              <a:rPr>
                <a:solidFill>
                  <a:srgbClr val="003B4F"/>
                </a:solidFill>
                <a:latin typeface="Courier"/>
              </a:rPr>
              <a:t> ss_within, </a:t>
            </a:r>
            <a:r>
              <a:rPr>
                <a:solidFill>
                  <a:srgbClr val="AD0000"/>
                </a:solidFill>
                <a:latin typeface="Courier"/>
              </a:rPr>
              <a:t>0</a:t>
            </a:r>
            <a:r>
              <a:rPr>
                <a:solidFill>
                  <a:srgbClr val="003B4F"/>
                </a:solidFill>
                <a:latin typeface="Courier"/>
              </a:rPr>
              <a:t>)))</a:t>
            </a:r>
          </a:p>
          <a:p>
            <a:pPr lvl="0" indent="0">
              <a:buNone/>
            </a:pPr>
            <a:r>
              <a:rPr>
                <a:latin typeface="Courier"/>
              </a:rPr>
              <a:t>[1] "Check: Between + Within = 215259666"</a:t>
            </a:r>
          </a:p>
        </p:txBody>
      </p:sp>
      <p:sp>
        <p:nvSpPr>
          <p:cNvPr id="4" name="Content Placeholder 3"/>
          <p:cNvSpPr>
            <a:spLocks noGrp="1"/>
          </p:cNvSpPr>
          <p:nvPr>
            <p:ph idx="2" sz="half"/>
          </p:nvPr>
        </p:nvSpPr>
        <p:spPr/>
        <p:txBody>
          <a:bodyPr/>
          <a:lstStyle/>
          <a:p>
            <a:pPr lvl="0" indent="0" marL="0">
              <a:spcBef>
                <a:spcPts val="3000"/>
              </a:spcBef>
              <a:buNone/>
            </a:pPr>
            <a:r>
              <a:rPr b="1"/>
              <a:t>Decomposing Between-Group SS</a:t>
            </a:r>
          </a:p>
          <a:p>
            <a:pPr lvl="0" indent="0">
              <a:buNone/>
            </a:pPr>
            <a:r>
              <a:rPr>
                <a:solidFill>
                  <a:srgbClr val="5E5E5E"/>
                </a:solidFill>
                <a:latin typeface="Courier"/>
              </a:rPr>
              <a:t># For Type I SS (sequential)</a:t>
            </a:r>
            <a:br/>
            <a:r>
              <a:rPr>
                <a:solidFill>
                  <a:srgbClr val="5E5E5E"/>
                </a:solidFill>
                <a:latin typeface="Courier"/>
              </a:rPr>
              <a:t># SS for species (ignoring sex)</a:t>
            </a:r>
            <a:br/>
            <a:r>
              <a:rPr>
                <a:solidFill>
                  <a:srgbClr val="003B4F"/>
                </a:solidFill>
                <a:latin typeface="Courier"/>
              </a:rPr>
              <a:t>species_only_model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r>
              <a:rPr>
                <a:solidFill>
                  <a:srgbClr val="003B4F"/>
                </a:solidFill>
                <a:latin typeface="Courier"/>
              </a:rPr>
              <a:t>ss_species_only &lt;- </a:t>
            </a:r>
            <a:r>
              <a:rPr>
                <a:solidFill>
                  <a:srgbClr val="4758AB"/>
                </a:solidFill>
                <a:latin typeface="Courier"/>
              </a:rPr>
              <a:t>sum</a:t>
            </a:r>
            <a:r>
              <a:rPr>
                <a:solidFill>
                  <a:srgbClr val="003B4F"/>
                </a:solidFill>
                <a:latin typeface="Courier"/>
              </a:rPr>
              <a:t>((</a:t>
            </a:r>
            <a:r>
              <a:rPr>
                <a:solidFill>
                  <a:srgbClr val="4758AB"/>
                </a:solidFill>
                <a:latin typeface="Courier"/>
              </a:rPr>
              <a:t>fitted</a:t>
            </a:r>
            <a:r>
              <a:rPr>
                <a:solidFill>
                  <a:srgbClr val="003B4F"/>
                </a:solidFill>
                <a:latin typeface="Courier"/>
              </a:rPr>
              <a:t>(species_only_model) </a:t>
            </a:r>
            <a:r>
              <a:rPr>
                <a:solidFill>
                  <a:srgbClr val="5E5E5E"/>
                </a:solidFill>
                <a:latin typeface="Courier"/>
              </a:rPr>
              <a:t>-</a:t>
            </a:r>
            <a:r>
              <a:rPr>
                <a:solidFill>
                  <a:srgbClr val="003B4F"/>
                </a:solidFill>
                <a:latin typeface="Courier"/>
              </a:rPr>
              <a:t> </a:t>
            </a:r>
            <a:b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"SS(Species alone):"</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(ss_species_only, </a:t>
            </a:r>
            <a:r>
              <a:rPr>
                <a:solidFill>
                  <a:srgbClr val="AD0000"/>
                </a:solidFill>
                <a:latin typeface="Courier"/>
              </a:rPr>
              <a:t>0</a:t>
            </a:r>
            <a:r>
              <a:rPr>
                <a:solidFill>
                  <a:srgbClr val="003B4F"/>
                </a:solidFill>
                <a:latin typeface="Courier"/>
              </a:rPr>
              <a:t>)))</a:t>
            </a:r>
          </a:p>
          <a:p>
            <a:pPr lvl="0" indent="0">
              <a:buNone/>
            </a:pPr>
            <a:r>
              <a:rPr>
                <a:latin typeface="Courier"/>
              </a:rPr>
              <a:t>[1] "SS(Species alone): 145190219"</a:t>
            </a:r>
          </a:p>
          <a:p>
            <a:pPr lvl="0" indent="0">
              <a:buNone/>
            </a:pPr>
            <a:r>
              <a:rPr>
                <a:solidFill>
                  <a:srgbClr val="5E5E5E"/>
                </a:solidFill>
                <a:latin typeface="Courier"/>
              </a:rPr>
              <a:t># SS for sex (ignoring species)  </a:t>
            </a:r>
            <a:br/>
            <a:r>
              <a:rPr>
                <a:solidFill>
                  <a:srgbClr val="003B4F"/>
                </a:solidFill>
                <a:latin typeface="Courier"/>
              </a:rPr>
              <a:t>sex_only_model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sex, </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r>
              <a:rPr>
                <a:solidFill>
                  <a:srgbClr val="003B4F"/>
                </a:solidFill>
                <a:latin typeface="Courier"/>
              </a:rPr>
              <a:t>ss_sex_only &lt;- </a:t>
            </a:r>
            <a:r>
              <a:rPr>
                <a:solidFill>
                  <a:srgbClr val="4758AB"/>
                </a:solidFill>
                <a:latin typeface="Courier"/>
              </a:rPr>
              <a:t>sum</a:t>
            </a:r>
            <a:r>
              <a:rPr>
                <a:solidFill>
                  <a:srgbClr val="003B4F"/>
                </a:solidFill>
                <a:latin typeface="Courier"/>
              </a:rPr>
              <a:t>((</a:t>
            </a:r>
            <a:r>
              <a:rPr>
                <a:solidFill>
                  <a:srgbClr val="4758AB"/>
                </a:solidFill>
                <a:latin typeface="Courier"/>
              </a:rPr>
              <a:t>fitted</a:t>
            </a:r>
            <a:r>
              <a:rPr>
                <a:solidFill>
                  <a:srgbClr val="003B4F"/>
                </a:solidFill>
                <a:latin typeface="Courier"/>
              </a:rPr>
              <a:t>(sex_only_model) </a:t>
            </a:r>
            <a:r>
              <a:rPr>
                <a:solidFill>
                  <a:srgbClr val="5E5E5E"/>
                </a:solidFill>
                <a:latin typeface="Courier"/>
              </a:rPr>
              <a:t>-</a:t>
            </a:r>
            <a:r>
              <a:rPr>
                <a:solidFill>
                  <a:srgbClr val="003B4F"/>
                </a:solidFill>
                <a:latin typeface="Courier"/>
              </a:rPr>
              <a:t> </a:t>
            </a:r>
            <a:b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"SS(Sex alone):"</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(ss_sex_only, </a:t>
            </a:r>
            <a:r>
              <a:rPr>
                <a:solidFill>
                  <a:srgbClr val="AD0000"/>
                </a:solidFill>
                <a:latin typeface="Courier"/>
              </a:rPr>
              <a:t>0</a:t>
            </a:r>
            <a:r>
              <a:rPr>
                <a:solidFill>
                  <a:srgbClr val="003B4F"/>
                </a:solidFill>
                <a:latin typeface="Courier"/>
              </a:rPr>
              <a:t>)))</a:t>
            </a:r>
          </a:p>
          <a:p>
            <a:pPr lvl="0" indent="0">
              <a:buNone/>
            </a:pPr>
            <a:r>
              <a:rPr>
                <a:latin typeface="Courier"/>
              </a:rPr>
              <a:t>[1] "SS(Sex alone): 38878897"</a:t>
            </a:r>
          </a:p>
          <a:p>
            <a:pPr lvl="0" indent="0">
              <a:buNone/>
            </a:pPr>
            <a:r>
              <a:rPr>
                <a:solidFill>
                  <a:srgbClr val="5E5E5E"/>
                </a:solidFill>
                <a:latin typeface="Courier"/>
              </a:rPr>
              <a:t># Note: These don't add up to between SS</a:t>
            </a:r>
            <a:br/>
            <a:r>
              <a:rPr>
                <a:solidFill>
                  <a:srgbClr val="5E5E5E"/>
                </a:solidFill>
                <a:latin typeface="Courier"/>
              </a:rPr>
              <a:t># because effects are not orthogonal!</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"Sum of main effects:"</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(ss_species_only </a:t>
            </a:r>
            <a:r>
              <a:rPr>
                <a:solidFill>
                  <a:srgbClr val="5E5E5E"/>
                </a:solidFill>
                <a:latin typeface="Courier"/>
              </a:rPr>
              <a:t>+</a:t>
            </a:r>
            <a:r>
              <a:rPr>
                <a:solidFill>
                  <a:srgbClr val="003B4F"/>
                </a:solidFill>
                <a:latin typeface="Courier"/>
              </a:rPr>
              <a:t> ss_sex_only, </a:t>
            </a:r>
            <a:r>
              <a:rPr>
                <a:solidFill>
                  <a:srgbClr val="AD0000"/>
                </a:solidFill>
                <a:latin typeface="Courier"/>
              </a:rPr>
              <a:t>0</a:t>
            </a:r>
            <a:r>
              <a:rPr>
                <a:solidFill>
                  <a:srgbClr val="003B4F"/>
                </a:solidFill>
                <a:latin typeface="Courier"/>
              </a:rPr>
              <a:t>)))</a:t>
            </a:r>
          </a:p>
          <a:p>
            <a:pPr lvl="0" indent="0">
              <a:buNone/>
            </a:pPr>
            <a:r>
              <a:rPr>
                <a:latin typeface="Courier"/>
              </a:rPr>
              <a:t>[1] "Sum of main effects: 184069116"</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"Actual between SS:"</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(ss_between, </a:t>
            </a:r>
            <a:r>
              <a:rPr>
                <a:solidFill>
                  <a:srgbClr val="AD0000"/>
                </a:solidFill>
                <a:latin typeface="Courier"/>
              </a:rPr>
              <a:t>0</a:t>
            </a:r>
            <a:r>
              <a:rPr>
                <a:solidFill>
                  <a:srgbClr val="003B4F"/>
                </a:solidFill>
                <a:latin typeface="Courier"/>
              </a:rPr>
              <a:t>)))</a:t>
            </a:r>
          </a:p>
          <a:p>
            <a:pPr lvl="0" indent="0">
              <a:buNone/>
            </a:pPr>
            <a:r>
              <a:rPr>
                <a:latin typeface="Courier"/>
              </a:rPr>
              <a:t>[1] "Actual between SS: 183957038"</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"Difference (due to correlation):"</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(ss_between </a:t>
            </a:r>
            <a:r>
              <a:rPr>
                <a:solidFill>
                  <a:srgbClr val="5E5E5E"/>
                </a:solidFill>
                <a:latin typeface="Courier"/>
              </a:rPr>
              <a:t>-</a:t>
            </a:r>
            <a:r>
              <a:rPr>
                <a:solidFill>
                  <a:srgbClr val="003B4F"/>
                </a:solidFill>
                <a:latin typeface="Courier"/>
              </a:rPr>
              <a:t> </a:t>
            </a:r>
            <a:br/>
            <a:r>
              <a:rPr>
                <a:solidFill>
                  <a:srgbClr val="003B4F"/>
                </a:solidFill>
                <a:latin typeface="Courier"/>
              </a:rPr>
              <a:t>                  (ss_species_only </a:t>
            </a:r>
            <a:r>
              <a:rPr>
                <a:solidFill>
                  <a:srgbClr val="5E5E5E"/>
                </a:solidFill>
                <a:latin typeface="Courier"/>
              </a:rPr>
              <a:t>+</a:t>
            </a:r>
            <a:r>
              <a:rPr>
                <a:solidFill>
                  <a:srgbClr val="003B4F"/>
                </a:solidFill>
                <a:latin typeface="Courier"/>
              </a:rPr>
              <a:t> ss_sex_only), </a:t>
            </a:r>
            <a:r>
              <a:rPr>
                <a:solidFill>
                  <a:srgbClr val="AD0000"/>
                </a:solidFill>
                <a:latin typeface="Courier"/>
              </a:rPr>
              <a:t>0</a:t>
            </a:r>
            <a:r>
              <a:rPr>
                <a:solidFill>
                  <a:srgbClr val="003B4F"/>
                </a:solidFill>
                <a:latin typeface="Courier"/>
              </a:rPr>
              <a:t>)))</a:t>
            </a:r>
          </a:p>
          <a:p>
            <a:pPr lvl="0" indent="0">
              <a:buNone/>
            </a:pPr>
            <a:r>
              <a:rPr>
                <a:latin typeface="Courier"/>
              </a:rPr>
              <a:t>[1] "Difference (due to correlation): -112078"</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Estimated Marginal Means - Unbalanced Data</a:t>
            </a:r>
          </a:p>
        </p:txBody>
      </p:sp>
      <p:sp>
        <p:nvSpPr>
          <p:cNvPr id="3" name="Content Placeholder 2"/>
          <p:cNvSpPr>
            <a:spLocks noGrp="1"/>
          </p:cNvSpPr>
          <p:nvPr>
            <p:ph idx="1"/>
          </p:nvPr>
        </p:nvSpPr>
        <p:spPr/>
        <p:txBody>
          <a:bodyPr/>
          <a:lstStyle/>
          <a:p>
            <a:pPr lvl="0" indent="0" marL="0">
              <a:spcBef>
                <a:spcPts val="3000"/>
              </a:spcBef>
              <a:buNone/>
            </a:pPr>
            <a:r>
              <a:rPr b="1"/>
              <a:t>Computing EMMs</a:t>
            </a:r>
          </a:p>
          <a:p>
            <a:pPr lvl="0" indent="0">
              <a:buNone/>
            </a:pPr>
            <a:r>
              <a:rPr>
                <a:solidFill>
                  <a:srgbClr val="5E5E5E"/>
                </a:solidFill>
                <a:latin typeface="Courier"/>
              </a:rPr>
              <a:t># EMMs for main effects</a:t>
            </a:r>
            <a:br/>
            <a:r>
              <a:rPr>
                <a:solidFill>
                  <a:srgbClr val="003B4F"/>
                </a:solidFill>
                <a:latin typeface="Courier"/>
              </a:rPr>
              <a:t>species_emm_u &lt;- </a:t>
            </a:r>
            <a:r>
              <a:rPr>
                <a:solidFill>
                  <a:srgbClr val="4758AB"/>
                </a:solidFill>
                <a:latin typeface="Courier"/>
              </a:rPr>
              <a:t>emmeans</a:t>
            </a:r>
            <a:r>
              <a:rPr>
                <a:solidFill>
                  <a:srgbClr val="003B4F"/>
                </a:solidFill>
                <a:latin typeface="Courier"/>
              </a:rPr>
              <a:t>(model_u, </a:t>
            </a:r>
            <a:r>
              <a:rPr>
                <a:solidFill>
                  <a:srgbClr val="5E5E5E"/>
                </a:solidFill>
                <a:latin typeface="Courier"/>
              </a:rPr>
              <a:t>~</a:t>
            </a:r>
            <a:r>
              <a:rPr>
                <a:solidFill>
                  <a:srgbClr val="003B4F"/>
                </a:solidFill>
                <a:latin typeface="Courier"/>
              </a:rPr>
              <a:t> species)</a:t>
            </a:r>
            <a:br/>
            <a:r>
              <a:rPr>
                <a:solidFill>
                  <a:srgbClr val="003B4F"/>
                </a:solidFill>
                <a:latin typeface="Courier"/>
              </a:rPr>
              <a:t>sex_emm_u &lt;- </a:t>
            </a:r>
            <a:r>
              <a:rPr>
                <a:solidFill>
                  <a:srgbClr val="4758AB"/>
                </a:solidFill>
                <a:latin typeface="Courier"/>
              </a:rPr>
              <a:t>emmeans</a:t>
            </a:r>
            <a:r>
              <a:rPr>
                <a:solidFill>
                  <a:srgbClr val="003B4F"/>
                </a:solidFill>
                <a:latin typeface="Courier"/>
              </a:rPr>
              <a:t>(model_u, </a:t>
            </a:r>
            <a:r>
              <a:rPr>
                <a:solidFill>
                  <a:srgbClr val="5E5E5E"/>
                </a:solidFill>
                <a:latin typeface="Courier"/>
              </a:rPr>
              <a:t>~</a:t>
            </a:r>
            <a:r>
              <a:rPr>
                <a:solidFill>
                  <a:srgbClr val="003B4F"/>
                </a:solidFill>
                <a:latin typeface="Courier"/>
              </a:rPr>
              <a:t> sex)</a:t>
            </a:r>
            <a:br/>
            <a:br/>
            <a:r>
              <a:rPr>
                <a:solidFill>
                  <a:srgbClr val="4758AB"/>
                </a:solidFill>
                <a:latin typeface="Courier"/>
              </a:rPr>
              <a:t>print</a:t>
            </a:r>
            <a:r>
              <a:rPr>
                <a:solidFill>
                  <a:srgbClr val="003B4F"/>
                </a:solidFill>
                <a:latin typeface="Courier"/>
              </a:rPr>
              <a:t>(</a:t>
            </a:r>
            <a:r>
              <a:rPr>
                <a:solidFill>
                  <a:srgbClr val="20794D"/>
                </a:solidFill>
                <a:latin typeface="Courier"/>
              </a:rPr>
              <a:t>"Species EMMs (model-based):"</a:t>
            </a:r>
            <a:r>
              <a:rPr>
                <a:solidFill>
                  <a:srgbClr val="003B4F"/>
                </a:solidFill>
                <a:latin typeface="Courier"/>
              </a:rPr>
              <a:t>)</a:t>
            </a:r>
          </a:p>
          <a:p>
            <a:pPr lvl="0" indent="0">
              <a:buNone/>
            </a:pPr>
            <a:r>
              <a:rPr>
                <a:latin typeface="Courier"/>
              </a:rPr>
              <a:t>[1] "Species EMMs (model-based):"</a:t>
            </a:r>
          </a:p>
          <a:p>
            <a:pPr lvl="0" indent="0">
              <a:buNone/>
            </a:pPr>
            <a:r>
              <a:rPr>
                <a:solidFill>
                  <a:srgbClr val="4758AB"/>
                </a:solidFill>
                <a:latin typeface="Courier"/>
              </a:rPr>
              <a:t>print</a:t>
            </a:r>
            <a:r>
              <a:rPr>
                <a:solidFill>
                  <a:srgbClr val="003B4F"/>
                </a:solidFill>
                <a:latin typeface="Courier"/>
              </a:rPr>
              <a:t>(species_emm_u)</a:t>
            </a:r>
          </a:p>
          <a:p>
            <a:pPr lvl="0" indent="0">
              <a:buNone/>
            </a:pPr>
            <a:r>
              <a:rPr>
                <a:latin typeface="Courier"/>
              </a:rPr>
              <a:t> species   emmean   SE  df lower.CL upper.CL
 Adelie      3706 25.6 327     3656     3757
 Chinstrap   3733 37.5 327     3659     3807
 Gentoo      5082 28.4 327     5026     5138
Results are averaged over the levels of: sex 
Confidence level used: 0.95 </a:t>
            </a:r>
          </a:p>
          <a:p>
            <a:pPr lvl="0" indent="0">
              <a:buNone/>
            </a:pP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Sex EMMs (model-based):"</a:t>
            </a:r>
            <a:r>
              <a:rPr>
                <a:solidFill>
                  <a:srgbClr val="003B4F"/>
                </a:solidFill>
                <a:latin typeface="Courier"/>
              </a:rPr>
              <a:t>)</a:t>
            </a:r>
          </a:p>
          <a:p>
            <a:pPr lvl="0" indent="0">
              <a:buNone/>
            </a:pPr>
            <a:r>
              <a:rPr>
                <a:latin typeface="Courier"/>
              </a:rPr>
              <a:t>[1] "\nSex EMMs (model-based):"</a:t>
            </a:r>
          </a:p>
          <a:p>
            <a:pPr lvl="0" indent="0">
              <a:buNone/>
            </a:pPr>
            <a:r>
              <a:rPr>
                <a:solidFill>
                  <a:srgbClr val="4758AB"/>
                </a:solidFill>
                <a:latin typeface="Courier"/>
              </a:rPr>
              <a:t>print</a:t>
            </a:r>
            <a:r>
              <a:rPr>
                <a:solidFill>
                  <a:srgbClr val="003B4F"/>
                </a:solidFill>
                <a:latin typeface="Courier"/>
              </a:rPr>
              <a:t>(sex_emm_u)</a:t>
            </a:r>
          </a:p>
          <a:p>
            <a:pPr lvl="0" indent="0">
              <a:buNone/>
            </a:pPr>
            <a:r>
              <a:rPr>
                <a:latin typeface="Courier"/>
              </a:rPr>
              <a:t> sex    emmean   SE  df lower.CL upper.CL
 female   3859 25.3 327     3809     3908
 male     4489 25.2 327     4440     4539
Results are averaged over the levels of: species 
Confidence level used: 0.95 </a:t>
            </a:r>
          </a:p>
          <a:p>
            <a:pPr lvl="0" indent="0">
              <a:buNone/>
            </a:pPr>
            <a:r>
              <a:rPr>
                <a:solidFill>
                  <a:srgbClr val="5E5E5E"/>
                </a:solidFill>
                <a:latin typeface="Courier"/>
              </a:rPr>
              <a:t># Get estimated marginal means for the interaction</a:t>
            </a:r>
            <a:br/>
            <a:r>
              <a:rPr>
                <a:solidFill>
                  <a:srgbClr val="003B4F"/>
                </a:solidFill>
                <a:latin typeface="Courier"/>
              </a:rPr>
              <a:t>emm_interaction_u &lt;- </a:t>
            </a:r>
            <a:r>
              <a:rPr>
                <a:solidFill>
                  <a:srgbClr val="4758AB"/>
                </a:solidFill>
                <a:latin typeface="Courier"/>
              </a:rPr>
              <a:t>emmeans</a:t>
            </a:r>
            <a:r>
              <a:rPr>
                <a:solidFill>
                  <a:srgbClr val="003B4F"/>
                </a:solidFill>
                <a:latin typeface="Courier"/>
              </a:rPr>
              <a:t>(model_u,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a:t>
            </a:r>
            <a:r>
              <a:rPr>
                <a:solidFill>
                  <a:srgbClr val="5E5E5E"/>
                </a:solidFill>
                <a:latin typeface="Courier"/>
              </a:rPr>
              <a:t># Replace factor1 and factor2 with your actual factor names</a:t>
            </a:r>
            <a:br/>
            <a:br/>
            <a:r>
              <a:rPr>
                <a:solidFill>
                  <a:srgbClr val="5E5E5E"/>
                </a:solidFill>
                <a:latin typeface="Courier"/>
              </a:rPr>
              <a:t># Pairwise comparisons with Tukey adjustment</a:t>
            </a:r>
            <a:br/>
            <a:r>
              <a:rPr>
                <a:solidFill>
                  <a:srgbClr val="003B4F"/>
                </a:solidFill>
                <a:latin typeface="Courier"/>
              </a:rPr>
              <a:t>pairs_interaction_u &lt;- </a:t>
            </a:r>
            <a:r>
              <a:rPr>
                <a:solidFill>
                  <a:srgbClr val="4758AB"/>
                </a:solidFill>
                <a:latin typeface="Courier"/>
              </a:rPr>
              <a:t>pairs</a:t>
            </a:r>
            <a:r>
              <a:rPr>
                <a:solidFill>
                  <a:srgbClr val="003B4F"/>
                </a:solidFill>
                <a:latin typeface="Courier"/>
              </a:rPr>
              <a:t>(emm_interaction,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pairs_interaction_u</a:t>
            </a:r>
          </a:p>
          <a:p>
            <a:pPr lvl="0" indent="0">
              <a:buNone/>
            </a:pPr>
            <a:r>
              <a:rPr>
                <a:latin typeface="Courier"/>
              </a:rPr>
              <a:t> contrast                          estimate   SE  df t.ratio p.value
 Adelie female - Chinstrap female      -193 73.5 198  -2.620  0.0973
 Adelie female - Gentoo female        -1346 73.5 198 -18.310  &lt;.0001
 Adelie female - Adelie male           -714 73.5 198  -9.710  &lt;.0001
 Adelie female - Chinstrap male        -604 73.5 198  -8.220  &lt;.0001
 Adelie female - Gentoo male          -2190 73.5 198 -29.789  &lt;.0001
 Chinstrap female - Gentoo female     -1154 73.5 198 -15.690  &lt;.0001
 Chinstrap female - Adelie male        -521 73.5 198  -7.090  &lt;.0001
 Chinstrap female - Chinstrap male     -412 73.5 198  -5.600  &lt;.0001
 Chinstrap female - Gentoo male       -1998 73.5 198 -27.169  &lt;.0001
 Gentoo female - Adelie male            632 73.5 198   8.600  &lt;.0001
 Gentoo female - Chinstrap male         742 73.5 198  10.090  &lt;.0001
 Gentoo female - Gentoo male           -844 73.5 198 -11.480  &lt;.0001
 Adelie male - Chinstrap male           110 73.5 198   1.490  0.6711
 Adelie male - Gentoo male            -1476 73.5 198 -20.079  &lt;.0001
 Chinstrap male - Gentoo male         -1586 73.5 198 -21.569  &lt;.0001
P value adjustment: tukey method for comparing a family of 6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solidFill>
                  <a:srgbClr val="5E5E5E"/>
                </a:solidFill>
                <a:latin typeface="Courier"/>
              </a:rPr>
              <a:t># Get compact letter display (cld)</a:t>
            </a:r>
            <a:br/>
            <a:r>
              <a:rPr>
                <a:solidFill>
                  <a:srgbClr val="003B4F"/>
                </a:solidFill>
                <a:latin typeface="Courier"/>
              </a:rPr>
              <a:t>cld_interaction_u &lt;- multcomp</a:t>
            </a:r>
            <a:r>
              <a:rPr>
                <a:solidFill>
                  <a:srgbClr val="5E5E5E"/>
                </a:solidFill>
                <a:latin typeface="Courier"/>
              </a:rPr>
              <a:t>::</a:t>
            </a:r>
            <a:r>
              <a:rPr>
                <a:solidFill>
                  <a:srgbClr val="4758AB"/>
                </a:solidFill>
                <a:latin typeface="Courier"/>
              </a:rPr>
              <a:t>cld</a:t>
            </a:r>
            <a:r>
              <a:rPr>
                <a:solidFill>
                  <a:srgbClr val="003B4F"/>
                </a:solidFill>
                <a:latin typeface="Courier"/>
              </a:rPr>
              <a:t>(emm_interaction_u, </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5E5E5E"/>
                </a:solidFill>
                <a:latin typeface="Courier"/>
              </a:rPr>
              <a:t># Display the results</a:t>
            </a:r>
            <a:br/>
            <a:r>
              <a:rPr>
                <a:solidFill>
                  <a:srgbClr val="5E5E5E"/>
                </a:solidFill>
                <a:latin typeface="Courier"/>
              </a:rPr>
              <a:t># print(cld_interaction)</a:t>
            </a:r>
            <a:br/>
            <a:br/>
            <a:r>
              <a:rPr>
                <a:solidFill>
                  <a:srgbClr val="003B4F"/>
                </a:solidFill>
                <a:latin typeface="Courier"/>
              </a:rPr>
              <a:t>cld_df_u &lt;- </a:t>
            </a:r>
            <a:r>
              <a:rPr>
                <a:solidFill>
                  <a:srgbClr val="4758AB"/>
                </a:solidFill>
                <a:latin typeface="Courier"/>
              </a:rPr>
              <a:t>as.data.frame</a:t>
            </a:r>
            <a:r>
              <a:rPr>
                <a:solidFill>
                  <a:srgbClr val="003B4F"/>
                </a:solidFill>
                <a:latin typeface="Courier"/>
              </a:rPr>
              <a:t>(cld_interaction_u)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(species, sex)  </a:t>
            </a:r>
            <a:r>
              <a:rPr>
                <a:solidFill>
                  <a:srgbClr val="5E5E5E"/>
                </a:solidFill>
                <a:latin typeface="Courier"/>
              </a:rPr>
              <a:t># Sort by estimated marginal mean</a:t>
            </a:r>
            <a:br/>
            <a:br/>
            <a:r>
              <a:rPr>
                <a:solidFill>
                  <a:srgbClr val="5E5E5E"/>
                </a:solidFill>
                <a:latin typeface="Courier"/>
              </a:rPr>
              <a:t># View the results with means and grouping letters</a:t>
            </a:r>
            <a:br/>
            <a:r>
              <a:rPr>
                <a:solidFill>
                  <a:srgbClr val="4758AB"/>
                </a:solidFill>
                <a:latin typeface="Courier"/>
              </a:rPr>
              <a:t>print</a:t>
            </a:r>
            <a:r>
              <a:rPr>
                <a:solidFill>
                  <a:srgbClr val="003B4F"/>
                </a:solidFill>
                <a:latin typeface="Courier"/>
              </a:rPr>
              <a:t>(cld_df_u)</a:t>
            </a:r>
          </a:p>
          <a:p>
            <a:pPr lvl="0" indent="0">
              <a:buNone/>
            </a:pPr>
            <a:r>
              <a:rPr>
                <a:latin typeface="Courier"/>
              </a:rPr>
              <a:t> species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Pairwise Comparisons</a:t>
            </a:r>
          </a:p>
        </p:txBody>
      </p:sp>
      <p:sp>
        <p:nvSpPr>
          <p:cNvPr id="3" name="Content Placeholder 2"/>
          <p:cNvSpPr>
            <a:spLocks noGrp="1"/>
          </p:cNvSpPr>
          <p:nvPr>
            <p:ph idx="1" sz="half"/>
          </p:nvPr>
        </p:nvSpPr>
        <p:spPr/>
        <p:txBody>
          <a:bodyPr/>
          <a:lstStyle/>
          <a:p>
            <a:pPr lvl="0" indent="0" marL="0">
              <a:spcBef>
                <a:spcPts val="3000"/>
              </a:spcBef>
              <a:buNone/>
            </a:pPr>
            <a:r>
              <a:rPr b="1"/>
              <a:t>Tukey HSD Comparisons</a:t>
            </a:r>
          </a:p>
          <a:p>
            <a:pPr lvl="0" indent="0">
              <a:buNone/>
            </a:pPr>
            <a:r>
              <a:rPr>
                <a:solidFill>
                  <a:srgbClr val="5E5E5E"/>
                </a:solidFill>
                <a:latin typeface="Courier"/>
              </a:rPr>
              <a:t># Pairwise comparisons for species</a:t>
            </a:r>
            <a:br/>
            <a:r>
              <a:rPr>
                <a:solidFill>
                  <a:srgbClr val="003B4F"/>
                </a:solidFill>
                <a:latin typeface="Courier"/>
              </a:rPr>
              <a:t>species_pairs_u &lt;- </a:t>
            </a:r>
            <a:r>
              <a:rPr>
                <a:solidFill>
                  <a:srgbClr val="4758AB"/>
                </a:solidFill>
                <a:latin typeface="Courier"/>
              </a:rPr>
              <a:t>pairs</a:t>
            </a:r>
            <a:r>
              <a:rPr>
                <a:solidFill>
                  <a:srgbClr val="003B4F"/>
                </a:solidFill>
                <a:latin typeface="Courier"/>
              </a:rPr>
              <a:t>(species_emm_u, </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"Species pairwise comparisons (Tukey):"</a:t>
            </a:r>
            <a:r>
              <a:rPr>
                <a:solidFill>
                  <a:srgbClr val="003B4F"/>
                </a:solidFill>
                <a:latin typeface="Courier"/>
              </a:rPr>
              <a:t>)</a:t>
            </a:r>
          </a:p>
          <a:p>
            <a:pPr lvl="0" indent="0">
              <a:buNone/>
            </a:pPr>
            <a:r>
              <a:rPr>
                <a:latin typeface="Courier"/>
              </a:rPr>
              <a:t>[1] "Species pairwise comparisons (Tukey):"</a:t>
            </a:r>
          </a:p>
          <a:p>
            <a:pPr lvl="0" indent="0">
              <a:buNone/>
            </a:pPr>
            <a:r>
              <a:rPr>
                <a:solidFill>
                  <a:srgbClr val="4758AB"/>
                </a:solidFill>
                <a:latin typeface="Courier"/>
              </a:rPr>
              <a:t>print</a:t>
            </a:r>
            <a:r>
              <a:rPr>
                <a:solidFill>
                  <a:srgbClr val="003B4F"/>
                </a:solidFill>
                <a:latin typeface="Courier"/>
              </a:rPr>
              <a:t>(species_pairs_u)</a:t>
            </a:r>
          </a:p>
          <a:p>
            <a:pPr lvl="0" indent="0">
              <a:buNone/>
            </a:pPr>
            <a:r>
              <a:rPr>
                <a:latin typeface="Courier"/>
              </a:rPr>
              <a:t> contrast           estimate   SE  df t.ratio p.value
 Adelie - Chinstrap    -26.9 45.4 327  -0.593  0.8241
 Adelie - Gentoo     -1376.1 38.2 327 -36.007  &lt;.0001
 Chinstrap - Gentoo  -1349.2 47.0 327 -28.682  &lt;.0001
Results are averaged over the levels of: sex 
P value adjustment: tukey method for comparing a family of 3 estimates </a:t>
            </a:r>
          </a:p>
          <a:p>
            <a:pPr lvl="0" indent="0">
              <a:buNone/>
            </a:pPr>
            <a:r>
              <a:rPr>
                <a:solidFill>
                  <a:srgbClr val="5E5E5E"/>
                </a:solidFill>
                <a:latin typeface="Courier"/>
              </a:rPr>
              <a:t># Effect of sex within each species</a:t>
            </a:r>
            <a:br/>
            <a:r>
              <a:rPr>
                <a:solidFill>
                  <a:srgbClr val="003B4F"/>
                </a:solidFill>
                <a:latin typeface="Courier"/>
              </a:rPr>
              <a:t>sex_by_species_emm &lt;- </a:t>
            </a:r>
            <a:r>
              <a:rPr>
                <a:solidFill>
                  <a:srgbClr val="4758AB"/>
                </a:solidFill>
                <a:latin typeface="Courier"/>
              </a:rPr>
              <a:t>emmeans</a:t>
            </a:r>
            <a:r>
              <a:rPr>
                <a:solidFill>
                  <a:srgbClr val="003B4F"/>
                </a:solidFill>
                <a:latin typeface="Courier"/>
              </a:rPr>
              <a:t>(model_u,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a:t>
            </a:r>
            <a:br/>
            <a:r>
              <a:rPr>
                <a:solidFill>
                  <a:srgbClr val="003B4F"/>
                </a:solidFill>
                <a:latin typeface="Courier"/>
              </a:rPr>
              <a:t>sex_effects_df &lt;- </a:t>
            </a:r>
            <a:r>
              <a:rPr>
                <a:solidFill>
                  <a:srgbClr val="4758AB"/>
                </a:solidFill>
                <a:latin typeface="Courier"/>
              </a:rPr>
              <a:t>pairs</a:t>
            </a:r>
            <a:r>
              <a:rPr>
                <a:solidFill>
                  <a:srgbClr val="003B4F"/>
                </a:solidFill>
                <a:latin typeface="Courier"/>
              </a:rPr>
              <a:t>(sex_by_species_emm)</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Sex effect within each species:"</a:t>
            </a:r>
            <a:r>
              <a:rPr>
                <a:solidFill>
                  <a:srgbClr val="003B4F"/>
                </a:solidFill>
                <a:latin typeface="Courier"/>
              </a:rPr>
              <a:t>)</a:t>
            </a:r>
          </a:p>
          <a:p>
            <a:pPr lvl="0" indent="0">
              <a:buNone/>
            </a:pPr>
            <a:r>
              <a:rPr>
                <a:latin typeface="Courier"/>
              </a:rPr>
              <a:t>[1] "\nSex effect within each species:"</a:t>
            </a:r>
          </a:p>
          <a:p>
            <a:pPr lvl="0" indent="0">
              <a:buNone/>
            </a:pPr>
            <a:r>
              <a:rPr>
                <a:solidFill>
                  <a:srgbClr val="4758AB"/>
                </a:solidFill>
                <a:latin typeface="Courier"/>
              </a:rPr>
              <a:t>print</a:t>
            </a:r>
            <a:r>
              <a:rPr>
                <a:solidFill>
                  <a:srgbClr val="003B4F"/>
                </a:solidFill>
                <a:latin typeface="Courier"/>
              </a:rPr>
              <a:t>(sex_effects_df)</a:t>
            </a:r>
          </a:p>
          <a:p>
            <a:pPr lvl="0" indent="0">
              <a:buNone/>
            </a:pPr>
            <a:r>
              <a:rPr>
                <a:latin typeface="Courier"/>
              </a:rPr>
              <a:t>species = Adelie:
 contrast      estimate   SE  df t.ratio p.value
 female - male     -675 51.2 327 -13.174  &lt;.0001
species = Chinstrap:
 contrast      estimate   SE  df t.ratio p.value
 female - male     -412 75.0 327  -5.487  &lt;.0001
species = Gentoo:
 contrast      estimate   SE  df t.ratio p.value
 female - male     -805 56.7 327 -14.188  &lt;.0001</a:t>
            </a:r>
          </a:p>
        </p:txBody>
      </p:sp>
      <p:sp>
        <p:nvSpPr>
          <p:cNvPr id="4" name="Content Placeholder 3"/>
          <p:cNvSpPr>
            <a:spLocks noGrp="1"/>
          </p:cNvSpPr>
          <p:nvPr>
            <p:ph idx="2" sz="half"/>
          </p:nvPr>
        </p:nvSpPr>
        <p:spPr/>
        <p:txBody>
          <a:bodyPr/>
          <a:lstStyle/>
          <a:p>
            <a:pPr lvl="0" indent="0" marL="0">
              <a:spcBef>
                <a:spcPts val="3000"/>
              </a:spcBef>
              <a:buNone/>
            </a:pPr>
            <a:r>
              <a:rPr b="1"/>
              <a:t>Interaction Contrasts</a:t>
            </a:r>
          </a:p>
          <a:p>
            <a:pPr lvl="0" indent="0">
              <a:buNone/>
            </a:pPr>
            <a:r>
              <a:rPr>
                <a:solidFill>
                  <a:srgbClr val="5E5E5E"/>
                </a:solidFill>
                <a:latin typeface="Courier"/>
              </a:rPr>
              <a:t># Test if sex effect differs across species</a:t>
            </a:r>
            <a:br/>
            <a:r>
              <a:rPr>
                <a:solidFill>
                  <a:srgbClr val="003B4F"/>
                </a:solidFill>
                <a:latin typeface="Courier"/>
              </a:rPr>
              <a:t>interaction_test &lt;- </a:t>
            </a:r>
            <a:r>
              <a:rPr>
                <a:solidFill>
                  <a:srgbClr val="4758AB"/>
                </a:solidFill>
                <a:latin typeface="Courier"/>
              </a:rPr>
              <a:t>emmeans</a:t>
            </a:r>
            <a:r>
              <a:rPr>
                <a:solidFill>
                  <a:srgbClr val="003B4F"/>
                </a:solidFill>
                <a:latin typeface="Courier"/>
              </a:rPr>
              <a:t>(model_u, </a:t>
            </a:r>
            <a:br/>
            <a:r>
              <a:rPr>
                <a:solidFill>
                  <a:srgbClr val="003B4F"/>
                </a:solidFill>
                <a:latin typeface="Courier"/>
              </a:rPr>
              <a:t>                            pairwise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a:t>
            </a:r>
            <a:br/>
            <a:br/>
            <a:r>
              <a:rPr>
                <a:solidFill>
                  <a:srgbClr val="5E5E5E"/>
                </a:solidFill>
                <a:latin typeface="Courier"/>
              </a:rPr>
              <a:t># Extract contrasts</a:t>
            </a:r>
            <a:br/>
            <a:r>
              <a:rPr>
                <a:solidFill>
                  <a:srgbClr val="003B4F"/>
                </a:solidFill>
                <a:latin typeface="Courier"/>
              </a:rPr>
              <a:t>contrasts_df &lt;- </a:t>
            </a:r>
            <a:r>
              <a:rPr>
                <a:solidFill>
                  <a:srgbClr val="4758AB"/>
                </a:solidFill>
                <a:latin typeface="Courier"/>
              </a:rPr>
              <a:t>as.data.frame</a:t>
            </a:r>
            <a:r>
              <a:rPr>
                <a:solidFill>
                  <a:srgbClr val="003B4F"/>
                </a:solidFill>
                <a:latin typeface="Courier"/>
              </a:rPr>
              <a:t>(interaction_test</a:t>
            </a:r>
            <a:r>
              <a:rPr>
                <a:solidFill>
                  <a:srgbClr val="5E5E5E"/>
                </a:solidFill>
                <a:latin typeface="Courier"/>
              </a:rPr>
              <a:t>$</a:t>
            </a:r>
            <a:r>
              <a:rPr>
                <a:solidFill>
                  <a:srgbClr val="003B4F"/>
                </a:solidFill>
                <a:latin typeface="Courier"/>
              </a:rPr>
              <a:t>contrasts)</a:t>
            </a:r>
            <a:br/>
            <a:br/>
            <a:r>
              <a:rPr>
                <a:solidFill>
                  <a:srgbClr val="5E5E5E"/>
                </a:solidFill>
                <a:latin typeface="Courier"/>
              </a:rPr>
              <a:t># Calculate difference in sex effects</a:t>
            </a:r>
            <a:br/>
            <a:r>
              <a:rPr>
                <a:solidFill>
                  <a:srgbClr val="003B4F"/>
                </a:solidFill>
                <a:latin typeface="Courier"/>
              </a:rPr>
              <a:t>sex_diff_adelie &lt;- contrasts_df[</a:t>
            </a:r>
            <a:r>
              <a:rPr>
                <a:solidFill>
                  <a:srgbClr val="AD0000"/>
                </a:solidFill>
                <a:latin typeface="Courier"/>
              </a:rPr>
              <a:t>1</a:t>
            </a:r>
            <a:r>
              <a:rPr>
                <a:solidFill>
                  <a:srgbClr val="003B4F"/>
                </a:solidFill>
                <a:latin typeface="Courier"/>
              </a:rPr>
              <a:t>, </a:t>
            </a:r>
            <a:r>
              <a:rPr>
                <a:solidFill>
                  <a:srgbClr val="20794D"/>
                </a:solidFill>
                <a:latin typeface="Courier"/>
              </a:rPr>
              <a:t>"estimate"</a:t>
            </a:r>
            <a:r>
              <a:rPr>
                <a:solidFill>
                  <a:srgbClr val="003B4F"/>
                </a:solidFill>
                <a:latin typeface="Courier"/>
              </a:rPr>
              <a:t>]</a:t>
            </a:r>
            <a:br/>
            <a:r>
              <a:rPr>
                <a:solidFill>
                  <a:srgbClr val="003B4F"/>
                </a:solidFill>
                <a:latin typeface="Courier"/>
              </a:rPr>
              <a:t>sex_diff_chinstrap &lt;- contrasts_df[</a:t>
            </a:r>
            <a:r>
              <a:rPr>
                <a:solidFill>
                  <a:srgbClr val="AD0000"/>
                </a:solidFill>
                <a:latin typeface="Courier"/>
              </a:rPr>
              <a:t>2</a:t>
            </a:r>
            <a:r>
              <a:rPr>
                <a:solidFill>
                  <a:srgbClr val="003B4F"/>
                </a:solidFill>
                <a:latin typeface="Courier"/>
              </a:rPr>
              <a:t>, </a:t>
            </a:r>
            <a:r>
              <a:rPr>
                <a:solidFill>
                  <a:srgbClr val="20794D"/>
                </a:solidFill>
                <a:latin typeface="Courier"/>
              </a:rPr>
              <a:t>"estimate"</a:t>
            </a:r>
            <a:r>
              <a:rPr>
                <a:solidFill>
                  <a:srgbClr val="003B4F"/>
                </a:solidFill>
                <a:latin typeface="Courier"/>
              </a:rPr>
              <a:t>]</a:t>
            </a:r>
            <a:br/>
            <a:r>
              <a:rPr>
                <a:solidFill>
                  <a:srgbClr val="003B4F"/>
                </a:solidFill>
                <a:latin typeface="Courier"/>
              </a:rPr>
              <a:t>sex_diff_gentoo &lt;- contrasts_df[</a:t>
            </a:r>
            <a:r>
              <a:rPr>
                <a:solidFill>
                  <a:srgbClr val="AD0000"/>
                </a:solidFill>
                <a:latin typeface="Courier"/>
              </a:rPr>
              <a:t>3</a:t>
            </a:r>
            <a:r>
              <a:rPr>
                <a:solidFill>
                  <a:srgbClr val="003B4F"/>
                </a:solidFill>
                <a:latin typeface="Courier"/>
              </a:rPr>
              <a:t>, </a:t>
            </a:r>
            <a:r>
              <a:rPr>
                <a:solidFill>
                  <a:srgbClr val="20794D"/>
                </a:solidFill>
                <a:latin typeface="Courier"/>
              </a:rPr>
              <a:t>"estimate"</a:t>
            </a:r>
            <a:r>
              <a:rPr>
                <a:solidFill>
                  <a:srgbClr val="003B4F"/>
                </a:solidFill>
                <a:latin typeface="Courier"/>
              </a:rPr>
              <a:t>]</a:t>
            </a:r>
            <a:br/>
            <a:br/>
            <a:r>
              <a:rPr>
                <a:solidFill>
                  <a:srgbClr val="003B4F"/>
                </a:solidFill>
                <a:latin typeface="Courier"/>
              </a:rPr>
              <a:t>interaction_summary_df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Species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"Adelie"</a:t>
            </a:r>
            <a:r>
              <a:rPr>
                <a:solidFill>
                  <a:srgbClr val="003B4F"/>
                </a:solidFill>
                <a:latin typeface="Courier"/>
              </a:rPr>
              <a:t>, </a:t>
            </a:r>
            <a:r>
              <a:rPr>
                <a:solidFill>
                  <a:srgbClr val="20794D"/>
                </a:solidFill>
                <a:latin typeface="Courier"/>
              </a:rPr>
              <a:t>"Chinstrap"</a:t>
            </a:r>
            <a:r>
              <a:rPr>
                <a:solidFill>
                  <a:srgbClr val="003B4F"/>
                </a:solidFill>
                <a:latin typeface="Courier"/>
              </a:rPr>
              <a:t>, </a:t>
            </a:r>
            <a:r>
              <a:rPr>
                <a:solidFill>
                  <a:srgbClr val="20794D"/>
                </a:solidFill>
                <a:latin typeface="Courier"/>
              </a:rPr>
              <a:t>"Gentoo"</a:t>
            </a:r>
            <a:r>
              <a:rPr>
                <a:solidFill>
                  <a:srgbClr val="003B4F"/>
                </a:solidFill>
                <a:latin typeface="Courier"/>
              </a:rPr>
              <a:t>),</a:t>
            </a:r>
            <a:br/>
            <a:r>
              <a:rPr>
                <a:solidFill>
                  <a:srgbClr val="003B4F"/>
                </a:solidFill>
                <a:latin typeface="Courier"/>
              </a:rPr>
              <a:t>  </a:t>
            </a:r>
            <a:r>
              <a:rPr>
                <a:solidFill>
                  <a:srgbClr val="657422"/>
                </a:solidFill>
                <a:latin typeface="Courier"/>
              </a:rPr>
              <a:t>Sex_Effect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(sex_diff_adelie, </a:t>
            </a:r>
            <a:br/>
            <a:r>
              <a:rPr>
                <a:solidFill>
                  <a:srgbClr val="003B4F"/>
                </a:solidFill>
                <a:latin typeface="Courier"/>
              </a:rPr>
              <a:t>                       sex_diff_chinstrap,</a:t>
            </a:r>
            <a:br/>
            <a:r>
              <a:rPr>
                <a:solidFill>
                  <a:srgbClr val="003B4F"/>
                </a:solidFill>
                <a:latin typeface="Courier"/>
              </a:rPr>
              <a:t>                       sex_diff_gentoo), </a:t>
            </a:r>
            <a:r>
              <a:rPr>
                <a:solidFill>
                  <a:srgbClr val="AD0000"/>
                </a:solidFill>
                <a:latin typeface="Courier"/>
              </a:rPr>
              <a:t>0</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"Sex effect (Male - Female) by species:"</a:t>
            </a:r>
            <a:r>
              <a:rPr>
                <a:solidFill>
                  <a:srgbClr val="003B4F"/>
                </a:solidFill>
                <a:latin typeface="Courier"/>
              </a:rPr>
              <a:t>)</a:t>
            </a:r>
          </a:p>
          <a:p>
            <a:pPr lvl="0" indent="0">
              <a:buNone/>
            </a:pPr>
            <a:r>
              <a:rPr>
                <a:latin typeface="Courier"/>
              </a:rPr>
              <a:t>[1] "Sex effect (Male - Female) by species:"</a:t>
            </a:r>
          </a:p>
          <a:p>
            <a:pPr lvl="0" indent="0">
              <a:buNone/>
            </a:pPr>
            <a:r>
              <a:rPr>
                <a:solidFill>
                  <a:srgbClr val="4758AB"/>
                </a:solidFill>
                <a:latin typeface="Courier"/>
              </a:rPr>
              <a:t>print</a:t>
            </a:r>
            <a:r>
              <a:rPr>
                <a:solidFill>
                  <a:srgbClr val="003B4F"/>
                </a:solidFill>
                <a:latin typeface="Courier"/>
              </a:rPr>
              <a:t>(interaction_summary_df)</a:t>
            </a:r>
          </a:p>
          <a:p>
            <a:pPr lvl="0" indent="0">
              <a:buNone/>
            </a:pPr>
            <a:r>
              <a:rPr>
                <a:latin typeface="Courier"/>
              </a:rPr>
              <a:t>    Species Sex_Effect
1    Adelie       -675
2 Chinstrap       -412
3    Gentoo       -805</a:t>
            </a:r>
          </a:p>
          <a:p>
            <a:pPr lvl="0" indent="0">
              <a:buNone/>
            </a:pPr>
            <a:r>
              <a:rPr>
                <a:solidFill>
                  <a:srgbClr val="5E5E5E"/>
                </a:solidFill>
                <a:latin typeface="Courier"/>
              </a:rPr>
              <a:t># Test if these differ significantly</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Interaction interpretation:"</a:t>
            </a:r>
            <a:r>
              <a:rPr>
                <a:solidFill>
                  <a:srgbClr val="003B4F"/>
                </a:solidFill>
                <a:latin typeface="Courier"/>
              </a:rPr>
              <a:t>)</a:t>
            </a:r>
          </a:p>
          <a:p>
            <a:pPr lvl="0" indent="0">
              <a:buNone/>
            </a:pPr>
            <a:r>
              <a:rPr>
                <a:latin typeface="Courier"/>
              </a:rPr>
              <a:t>[1] "\nInteraction interpretation:"</a:t>
            </a:r>
          </a:p>
          <a:p>
            <a:pPr lvl="0" indent="0">
              <a:buNone/>
            </a:pPr>
            <a:r>
              <a:rPr b="1">
                <a:solidFill>
                  <a:srgbClr val="003B4F"/>
                </a:solidFill>
                <a:latin typeface="Courier"/>
              </a:rPr>
              <a:t>if</a:t>
            </a:r>
            <a:r>
              <a:rPr>
                <a:solidFill>
                  <a:srgbClr val="003B4F"/>
                </a:solidFill>
                <a:latin typeface="Courier"/>
              </a:rPr>
              <a:t>(anova_type3_u</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 {</a:t>
            </a:r>
            <a:br/>
            <a:r>
              <a:rPr>
                <a:solidFill>
                  <a:srgbClr val="003B4F"/>
                </a:solidFill>
                <a:latin typeface="Courier"/>
              </a:rPr>
              <a:t>  </a:t>
            </a:r>
            <a:r>
              <a:rPr>
                <a:solidFill>
                  <a:srgbClr val="4758AB"/>
                </a:solidFill>
                <a:latin typeface="Courier"/>
              </a:rPr>
              <a:t>print</a:t>
            </a:r>
            <a:r>
              <a:rPr>
                <a:solidFill>
                  <a:srgbClr val="003B4F"/>
                </a:solidFill>
                <a:latin typeface="Courier"/>
              </a:rPr>
              <a:t>(</a:t>
            </a:r>
            <a:r>
              <a:rPr>
                <a:solidFill>
                  <a:srgbClr val="20794D"/>
                </a:solidFill>
                <a:latin typeface="Courier"/>
              </a:rPr>
              <a:t>"Sex effects differ across species"</a:t>
            </a:r>
            <a:r>
              <a:rPr>
                <a:solidFill>
                  <a:srgbClr val="003B4F"/>
                </a:solidFill>
                <a:latin typeface="Courier"/>
              </a:rPr>
              <a:t>)</a:t>
            </a:r>
            <a:br/>
            <a:r>
              <a:rPr>
                <a:solidFill>
                  <a:srgbClr val="003B4F"/>
                </a:solidFill>
                <a:latin typeface="Courier"/>
              </a:rPr>
              <a:t>} </a:t>
            </a:r>
            <a:r>
              <a:rPr b="1">
                <a:solidFill>
                  <a:srgbClr val="003B4F"/>
                </a:solidFill>
                <a:latin typeface="Courier"/>
              </a:rPr>
              <a:t>else</a:t>
            </a:r>
            <a:r>
              <a:rPr>
                <a:solidFill>
                  <a:srgbClr val="003B4F"/>
                </a:solidFill>
                <a:latin typeface="Courier"/>
              </a:rPr>
              <a:t> {</a:t>
            </a:r>
            <a:br/>
            <a:r>
              <a:rPr>
                <a:solidFill>
                  <a:srgbClr val="003B4F"/>
                </a:solidFill>
                <a:latin typeface="Courier"/>
              </a:rPr>
              <a:t>  </a:t>
            </a:r>
            <a:r>
              <a:rPr>
                <a:solidFill>
                  <a:srgbClr val="4758AB"/>
                </a:solidFill>
                <a:latin typeface="Courier"/>
              </a:rPr>
              <a:t>print</a:t>
            </a:r>
            <a:r>
              <a:rPr>
                <a:solidFill>
                  <a:srgbClr val="003B4F"/>
                </a:solidFill>
                <a:latin typeface="Courier"/>
              </a:rPr>
              <a:t>(</a:t>
            </a:r>
            <a:r>
              <a:rPr>
                <a:solidFill>
                  <a:srgbClr val="20794D"/>
                </a:solidFill>
                <a:latin typeface="Courier"/>
              </a:rPr>
              <a:t>"Sex effects similar across species"</a:t>
            </a:r>
            <a:r>
              <a:rPr>
                <a:solidFill>
                  <a:srgbClr val="003B4F"/>
                </a:solidFill>
                <a:latin typeface="Courier"/>
              </a:rPr>
              <a:t>)</a:t>
            </a:r>
            <a:br/>
            <a:r>
              <a:rPr>
                <a:solidFill>
                  <a:srgbClr val="003B4F"/>
                </a:solidFill>
                <a:latin typeface="Courier"/>
              </a:rPr>
              <a:t>}</a:t>
            </a:r>
          </a:p>
          <a:p>
            <a:pPr lvl="0" indent="0">
              <a:buNone/>
            </a:pPr>
            <a:r>
              <a:rPr>
                <a:latin typeface="Courier"/>
              </a:rPr>
              <a:t>[1] "Sex effects differ across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Diagnostic Plots - Unbalanced Design</a:t>
            </a:r>
          </a:p>
        </p:txBody>
      </p:sp>
      <p:sp>
        <p:nvSpPr>
          <p:cNvPr id="3" name="Text Placeholder 2"/>
          <p:cNvSpPr>
            <a:spLocks noGrp="1"/>
          </p:cNvSpPr>
          <p:nvPr>
            <p:ph idx="1" type="body"/>
          </p:nvPr>
        </p:nvSpPr>
        <p:spPr/>
        <p:txBody>
          <a:bodyPr/>
          <a:lstStyle/>
          <a:p>
            <a:pPr lvl="0" indent="0" marL="0">
              <a:spcBef>
                <a:spcPts val="3000"/>
              </a:spcBef>
              <a:buNone/>
            </a:pPr>
            <a:r>
              <a:rPr b="1"/>
              <a:t>Model Diagnostics</a:t>
            </a:r>
          </a:p>
          <a:p>
            <a:pPr lvl="0" indent="0">
              <a:buNone/>
            </a:pPr>
            <a:r>
              <a:rPr>
                <a:solidFill>
                  <a:srgbClr val="5E5E5E"/>
                </a:solidFill>
                <a:latin typeface="Courier"/>
              </a:rPr>
              <a:t>#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Residuals vs Fitted</a:t>
            </a:r>
            <a:br/>
            <a:r>
              <a:rPr>
                <a:solidFill>
                  <a:srgbClr val="4758AB"/>
                </a:solidFill>
                <a:latin typeface="Courier"/>
              </a:rPr>
              <a:t>plot</a:t>
            </a:r>
            <a:r>
              <a:rPr>
                <a:solidFill>
                  <a:srgbClr val="003B4F"/>
                </a:solidFill>
                <a:latin typeface="Courier"/>
              </a:rPr>
              <a:t>(model_u, </a:t>
            </a:r>
            <a:r>
              <a:rPr>
                <a:solidFill>
                  <a:srgbClr val="657422"/>
                </a:solidFill>
                <a:latin typeface="Courier"/>
              </a:rPr>
              <a:t>which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br/>
            <a:r>
              <a:rPr>
                <a:solidFill>
                  <a:srgbClr val="5E5E5E"/>
                </a:solidFill>
                <a:latin typeface="Courier"/>
              </a:rPr>
              <a:t># Q-Q plot</a:t>
            </a:r>
            <a:br/>
            <a:r>
              <a:rPr>
                <a:solidFill>
                  <a:srgbClr val="4758AB"/>
                </a:solidFill>
                <a:latin typeface="Courier"/>
              </a:rPr>
              <a:t>plot</a:t>
            </a:r>
            <a:r>
              <a:rPr>
                <a:solidFill>
                  <a:srgbClr val="003B4F"/>
                </a:solidFill>
                <a:latin typeface="Courier"/>
              </a:rPr>
              <a:t>(model_u, </a:t>
            </a:r>
            <a:r>
              <a:rPr>
                <a:solidFill>
                  <a:srgbClr val="657422"/>
                </a:solidFill>
                <a:latin typeface="Courier"/>
              </a:rPr>
              <a:t>which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"Normal Q-Q"</a:t>
            </a:r>
            <a:r>
              <a:rPr>
                <a:solidFill>
                  <a:srgbClr val="003B4F"/>
                </a:solidFill>
                <a:latin typeface="Courier"/>
              </a:rPr>
              <a:t>)</a:t>
            </a:r>
            <a:br/>
            <a:br/>
            <a:r>
              <a:rPr>
                <a:solidFill>
                  <a:srgbClr val="5E5E5E"/>
                </a:solidFill>
                <a:latin typeface="Courier"/>
              </a:rPr>
              <a:t># Scale-Location  </a:t>
            </a:r>
            <a:br/>
            <a:r>
              <a:rPr>
                <a:solidFill>
                  <a:srgbClr val="4758AB"/>
                </a:solidFill>
                <a:latin typeface="Courier"/>
              </a:rPr>
              <a:t>plot</a:t>
            </a:r>
            <a:r>
              <a:rPr>
                <a:solidFill>
                  <a:srgbClr val="003B4F"/>
                </a:solidFill>
                <a:latin typeface="Courier"/>
              </a:rPr>
              <a:t>(model_u, </a:t>
            </a:r>
            <a:r>
              <a:rPr>
                <a:solidFill>
                  <a:srgbClr val="657422"/>
                </a:solidFill>
                <a:latin typeface="Courier"/>
              </a:rPr>
              <a:t>which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"Scale-Location"</a:t>
            </a:r>
            <a:r>
              <a:rPr>
                <a:solidFill>
                  <a:srgbClr val="003B4F"/>
                </a:solidFill>
                <a:latin typeface="Courier"/>
              </a:rPr>
              <a:t>)</a:t>
            </a:r>
            <a:br/>
            <a:br/>
            <a:r>
              <a:rPr>
                <a:solidFill>
                  <a:srgbClr val="5E5E5E"/>
                </a:solidFill>
                <a:latin typeface="Courier"/>
              </a:rPr>
              <a:t># Residuals by group</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(model_u), </a:t>
            </a:r>
            <a:r>
              <a:rPr>
                <a:solidFill>
                  <a:srgbClr val="4758AB"/>
                </a:solidFill>
                <a:latin typeface="Courier"/>
              </a:rPr>
              <a:t>residuals</a:t>
            </a:r>
            <a:r>
              <a:rPr>
                <a:solidFill>
                  <a:srgbClr val="003B4F"/>
                </a:solidFill>
                <a:latin typeface="Courier"/>
              </a:rPr>
              <a:t>(model_u),</a:t>
            </a:r>
            <a:b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interaction</a:t>
            </a:r>
            <a:r>
              <a:rPr>
                <a:solidFill>
                  <a:srgbClr val="003B4F"/>
                </a:solidFill>
                <a:latin typeface="Courier"/>
              </a:rPr>
              <a:t>(p_df</a:t>
            </a:r>
            <a:r>
              <a:rPr>
                <a:solidFill>
                  <a:srgbClr val="5E5E5E"/>
                </a:solidFill>
                <a:latin typeface="Courier"/>
              </a:rPr>
              <a:t>$</a:t>
            </a:r>
            <a:r>
              <a:rPr>
                <a:solidFill>
                  <a:srgbClr val="003B4F"/>
                </a:solidFill>
                <a:latin typeface="Courier"/>
              </a:rPr>
              <a:t>species, </a:t>
            </a:r>
            <a:br/>
            <a:r>
              <a:rPr>
                <a:solidFill>
                  <a:srgbClr val="003B4F"/>
                </a:solidFill>
                <a:latin typeface="Courier"/>
              </a:rPr>
              <a:t>                                  p_df</a:t>
            </a:r>
            <a:r>
              <a:rPr>
                <a:solidFill>
                  <a:srgbClr val="5E5E5E"/>
                </a:solidFill>
                <a:latin typeface="Courier"/>
              </a:rPr>
              <a:t>$</a:t>
            </a:r>
            <a:r>
              <a:rPr>
                <a:solidFill>
                  <a:srgbClr val="003B4F"/>
                </a:solidFill>
                <a:latin typeface="Courier"/>
              </a:rPr>
              <a:t>sex)),</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by Group"</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p>
        </p:txBody>
      </p:sp>
      <p:pic>
        <p:nvPicPr>
          <p:cNvPr descr="12_01_lecture_powerpoint_files/figure-pptx/diagnostics_unbalanced-1.png" id="0" name="Picture 1"/>
          <p:cNvPicPr>
            <a:picLocks noGrp="1" noChangeAspect="1"/>
          </p:cNvPicPr>
          <p:nvPr/>
        </p:nvPicPr>
        <p:blipFill>
          <a:blip r:embed="rId2"/>
          <a:stretch>
            <a:fillRect/>
          </a:stretch>
        </p:blipFill>
        <p:spPr bwMode="auto">
          <a:xfrm>
            <a:off x="1104900" y="1270000"/>
            <a:ext cx="24765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Assumption Tests</a:t>
            </a:r>
          </a:p>
          <a:p>
            <a:pPr lvl="0" indent="0">
              <a:buNone/>
            </a:pPr>
            <a:r>
              <a:rPr>
                <a:solidFill>
                  <a:srgbClr val="5E5E5E"/>
                </a:solidFill>
                <a:latin typeface="Courier"/>
              </a:rPr>
              <a:t># Normality test</a:t>
            </a:r>
            <a:br/>
            <a:r>
              <a:rPr>
                <a:solidFill>
                  <a:srgbClr val="003B4F"/>
                </a:solidFill>
                <a:latin typeface="Courier"/>
              </a:rPr>
              <a:t>shapiro_u &lt;- </a:t>
            </a: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(model_u))</a:t>
            </a:r>
            <a:br/>
            <a:r>
              <a:rPr>
                <a:solidFill>
                  <a:srgbClr val="4758AB"/>
                </a:solidFill>
                <a:latin typeface="Courier"/>
              </a:rPr>
              <a:t>print</a:t>
            </a:r>
            <a:r>
              <a:rPr>
                <a:solidFill>
                  <a:srgbClr val="003B4F"/>
                </a:solidFill>
                <a:latin typeface="Courier"/>
              </a:rPr>
              <a:t>(</a:t>
            </a:r>
            <a:r>
              <a:rPr>
                <a:solidFill>
                  <a:srgbClr val="20794D"/>
                </a:solidFill>
                <a:latin typeface="Courier"/>
              </a:rPr>
              <a:t>"Shapiro-Wilk test:"</a:t>
            </a:r>
            <a:r>
              <a:rPr>
                <a:solidFill>
                  <a:srgbClr val="003B4F"/>
                </a:solidFill>
                <a:latin typeface="Courier"/>
              </a:rPr>
              <a:t>)</a:t>
            </a:r>
          </a:p>
          <a:p>
            <a:pPr lvl="0" indent="0">
              <a:buNone/>
            </a:pPr>
            <a:r>
              <a:rPr>
                <a:latin typeface="Courier"/>
              </a:rPr>
              <a:t>[1] "Shapiro-Wilk test:"</a:t>
            </a:r>
          </a:p>
          <a:p>
            <a:pPr lvl="0" indent="0">
              <a:buNone/>
            </a:pPr>
            <a:r>
              <a:rPr>
                <a:solidFill>
                  <a:srgbClr val="4758AB"/>
                </a:solidFill>
                <a:latin typeface="Courier"/>
              </a:rPr>
              <a:t>print</a:t>
            </a:r>
            <a:r>
              <a:rPr>
                <a:solidFill>
                  <a:srgbClr val="003B4F"/>
                </a:solidFill>
                <a:latin typeface="Courier"/>
              </a:rPr>
              <a:t>(shapiro_u)</a:t>
            </a:r>
          </a:p>
          <a:p>
            <a:pPr lvl="0" indent="0">
              <a:buNone/>
            </a:pPr>
            <a:r>
              <a:rPr>
                <a:latin typeface="Courier"/>
              </a:rPr>
              <a:t>
    Shapiro-Wilk normality test
data:  residuals(model_u)
W = 0.99776, p-value = 0.9367</a:t>
            </a:r>
          </a:p>
          <a:p>
            <a:pPr lvl="0" indent="0">
              <a:buNone/>
            </a:pPr>
            <a:r>
              <a:rPr>
                <a:solidFill>
                  <a:srgbClr val="5E5E5E"/>
                </a:solidFill>
                <a:latin typeface="Courier"/>
              </a:rPr>
              <a:t># Homogeneity of variance</a:t>
            </a:r>
            <a:br/>
            <a:r>
              <a:rPr>
                <a:solidFill>
                  <a:srgbClr val="003B4F"/>
                </a:solidFill>
                <a:latin typeface="Courier"/>
              </a:rPr>
              <a:t>levene_u &lt;- </a:t>
            </a:r>
            <a:r>
              <a:rPr>
                <a:solidFill>
                  <a:srgbClr val="4758AB"/>
                </a:solidFill>
                <a:latin typeface="Courier"/>
              </a:rPr>
              <a:t>leveneTest</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r>
              <a:rPr>
                <a:solidFill>
                  <a:srgbClr val="003B4F"/>
                </a:solidFill>
                <a:latin typeface="Courier"/>
              </a:rPr>
              <a:t>                       </a:t>
            </a:r>
            <a:r>
              <a:rPr>
                <a:solidFill>
                  <a:srgbClr val="657422"/>
                </a:solidFill>
                <a:latin typeface="Courier"/>
              </a:rPr>
              <a:t>center =</a:t>
            </a:r>
            <a:r>
              <a:rPr>
                <a:solidFill>
                  <a:srgbClr val="003B4F"/>
                </a:solidFill>
                <a:latin typeface="Courier"/>
              </a:rPr>
              <a:t> median)</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Levene's test:"</a:t>
            </a:r>
            <a:r>
              <a:rPr>
                <a:solidFill>
                  <a:srgbClr val="003B4F"/>
                </a:solidFill>
                <a:latin typeface="Courier"/>
              </a:rPr>
              <a:t>)</a:t>
            </a:r>
          </a:p>
          <a:p>
            <a:pPr lvl="0" indent="0">
              <a:buNone/>
            </a:pPr>
            <a:r>
              <a:rPr>
                <a:latin typeface="Courier"/>
              </a:rPr>
              <a:t>[1] "\nLevene's test:"</a:t>
            </a:r>
          </a:p>
          <a:p>
            <a:pPr lvl="0" indent="0">
              <a:buNone/>
            </a:pPr>
            <a:r>
              <a:rPr>
                <a:solidFill>
                  <a:srgbClr val="4758AB"/>
                </a:solidFill>
                <a:latin typeface="Courier"/>
              </a:rPr>
              <a:t>print</a:t>
            </a:r>
            <a:r>
              <a:rPr>
                <a:solidFill>
                  <a:srgbClr val="003B4F"/>
                </a:solidFill>
                <a:latin typeface="Courier"/>
              </a:rPr>
              <a:t>(levene_u)</a:t>
            </a:r>
          </a:p>
          <a:p>
            <a:pPr lvl="0" indent="0">
              <a:buNone/>
            </a:pPr>
            <a:r>
              <a:rPr>
                <a:latin typeface="Courier"/>
              </a:rPr>
              <a:t>Levene's Test for Homogeneity of Variance (center = median)
       Df F value Pr(&gt;F)
group   5  1.3908 0.2272
      327               </a:t>
            </a:r>
          </a:p>
          <a:p>
            <a:pPr lvl="0" indent="0">
              <a:buNone/>
            </a:pPr>
            <a:r>
              <a:rPr>
                <a:solidFill>
                  <a:srgbClr val="5E5E5E"/>
                </a:solidFill>
                <a:latin typeface="Courier"/>
              </a:rPr>
              <a:t># Check residuals by group</a:t>
            </a:r>
            <a:br/>
            <a:r>
              <a:rPr>
                <a:solidFill>
                  <a:srgbClr val="003B4F"/>
                </a:solidFill>
                <a:latin typeface="Courier"/>
              </a:rPr>
              <a:t>residual_summary_df &lt;- 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(model_u),</a:t>
            </a:r>
            <a:br/>
            <a:r>
              <a:rPr>
                <a:solidFill>
                  <a:srgbClr val="003B4F"/>
                </a:solidFill>
                <a:latin typeface="Courier"/>
              </a:rPr>
              <a:t>    </a:t>
            </a:r>
            <a:r>
              <a:rPr>
                <a:solidFill>
                  <a:srgbClr val="657422"/>
                </a:solidFill>
                <a:latin typeface="Courier"/>
              </a:rPr>
              <a:t>fitted =</a:t>
            </a:r>
            <a:r>
              <a:rPr>
                <a:solidFill>
                  <a:srgbClr val="003B4F"/>
                </a:solidFill>
                <a:latin typeface="Courier"/>
              </a:rPr>
              <a:t> </a:t>
            </a:r>
            <a:r>
              <a:rPr>
                <a:solidFill>
                  <a:srgbClr val="4758AB"/>
                </a:solidFill>
                <a:latin typeface="Courier"/>
              </a:rPr>
              <a:t>fitted</a:t>
            </a:r>
            <a:r>
              <a:rPr>
                <a:solidFill>
                  <a:srgbClr val="003B4F"/>
                </a:solidFill>
                <a:latin typeface="Courier"/>
              </a:rPr>
              <a:t>(model_u)</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mean_resid =</a:t>
            </a:r>
            <a:r>
              <a:rPr>
                <a:solidFill>
                  <a:srgbClr val="003B4F"/>
                </a:solidFill>
                <a:latin typeface="Courier"/>
              </a:rPr>
              <a:t> </a:t>
            </a:r>
            <a:r>
              <a:rPr>
                <a:solidFill>
                  <a:srgbClr val="4758AB"/>
                </a:solidFill>
                <a:latin typeface="Courier"/>
              </a:rPr>
              <a:t>mean</a:t>
            </a:r>
            <a:r>
              <a:rPr>
                <a:solidFill>
                  <a:srgbClr val="003B4F"/>
                </a:solidFill>
                <a:latin typeface="Courier"/>
              </a:rPr>
              <a:t>(residuals),</a:t>
            </a:r>
            <a:br/>
            <a:r>
              <a:rPr>
                <a:solidFill>
                  <a:srgbClr val="003B4F"/>
                </a:solidFill>
                <a:latin typeface="Courier"/>
              </a:rPr>
              <a:t>    </a:t>
            </a:r>
            <a:r>
              <a:rPr>
                <a:solidFill>
                  <a:srgbClr val="657422"/>
                </a:solidFill>
                <a:latin typeface="Courier"/>
              </a:rPr>
              <a:t>sd_resid =</a:t>
            </a:r>
            <a:r>
              <a:rPr>
                <a:solidFill>
                  <a:srgbClr val="003B4F"/>
                </a:solidFill>
                <a:latin typeface="Courier"/>
              </a:rPr>
              <a:t> </a:t>
            </a:r>
            <a:r>
              <a:rPr>
                <a:solidFill>
                  <a:srgbClr val="4758AB"/>
                </a:solidFill>
                <a:latin typeface="Courier"/>
              </a:rPr>
              <a:t>sd</a:t>
            </a:r>
            <a:r>
              <a:rPr>
                <a:solidFill>
                  <a:srgbClr val="003B4F"/>
                </a:solidFill>
                <a:latin typeface="Courier"/>
              </a:rPr>
              <a:t>(residuals),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Residual SD by group:"</a:t>
            </a:r>
            <a:r>
              <a:rPr>
                <a:solidFill>
                  <a:srgbClr val="003B4F"/>
                </a:solidFill>
                <a:latin typeface="Courier"/>
              </a:rPr>
              <a:t>)</a:t>
            </a:r>
          </a:p>
          <a:p>
            <a:pPr lvl="0" indent="0">
              <a:buNone/>
            </a:pPr>
            <a:r>
              <a:rPr>
                <a:latin typeface="Courier"/>
              </a:rPr>
              <a:t>[1] "\nResidual SD by group:"</a:t>
            </a:r>
          </a:p>
          <a:p>
            <a:pPr lvl="0" indent="0">
              <a:buNone/>
            </a:pPr>
            <a:r>
              <a:rPr>
                <a:solidFill>
                  <a:srgbClr val="4758AB"/>
                </a:solidFill>
                <a:latin typeface="Courier"/>
              </a:rPr>
              <a:t>print</a:t>
            </a:r>
            <a:r>
              <a:rPr>
                <a:solidFill>
                  <a:srgbClr val="003B4F"/>
                </a:solidFill>
                <a:latin typeface="Courier"/>
              </a:rPr>
              <a:t>(residual_summary_df[,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br/>
            <a:r>
              <a:rPr>
                <a:solidFill>
                  <a:srgbClr val="003B4F"/>
                </a:solidFill>
                <a:latin typeface="Courier"/>
              </a:rPr>
              <a:t>                              </a:t>
            </a:r>
            <a:r>
              <a:rPr>
                <a:solidFill>
                  <a:srgbClr val="20794D"/>
                </a:solidFill>
                <a:latin typeface="Courier"/>
              </a:rPr>
              <a:t>"sd_resid"</a:t>
            </a:r>
            <a:r>
              <a:rPr>
                <a:solidFill>
                  <a:srgbClr val="003B4F"/>
                </a:solidFill>
                <a:latin typeface="Courier"/>
              </a:rPr>
              <a:t>)])</a:t>
            </a:r>
          </a:p>
          <a:p>
            <a:pPr lvl="0" indent="0">
              <a:buNone/>
            </a:pPr>
            <a:r>
              <a:rPr>
                <a:latin typeface="Courier"/>
              </a:rPr>
              <a:t># A tibble: 6 × 3
  species   sex    sd_resid
  &lt;fct&gt;     &lt;fct&gt;     &lt;dbl&gt;
1 Adelie    female     269.
2 Adelie    male       347.
3 Chinstrap female     285.
4 Chinstrap male       362.
5 Gentoo    female     282.
6 Gentoo    male       313.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Comparing Balanced vs Unbalanced Results</a:t>
            </a:r>
          </a:p>
        </p:txBody>
      </p:sp>
      <p:sp>
        <p:nvSpPr>
          <p:cNvPr id="3" name="Text Placeholder 2"/>
          <p:cNvSpPr>
            <a:spLocks noGrp="1"/>
          </p:cNvSpPr>
          <p:nvPr>
            <p:ph idx="1" type="body"/>
          </p:nvPr>
        </p:nvSpPr>
        <p:spPr/>
        <p:txBody>
          <a:bodyPr/>
          <a:lstStyle/>
          <a:p>
            <a:pPr lvl="0" indent="0" marL="0">
              <a:spcBef>
                <a:spcPts val="3000"/>
              </a:spcBef>
              <a:buNone/>
            </a:pPr>
            <a:r>
              <a:rPr b="1"/>
              <a:t>Side-by-Side Comparison</a:t>
            </a:r>
          </a:p>
          <a:p>
            <a:pPr lvl="0" indent="0">
              <a:buNone/>
            </a:pPr>
            <a:r>
              <a:rPr>
                <a:solidFill>
                  <a:srgbClr val="5E5E5E"/>
                </a:solidFill>
                <a:latin typeface="Courier"/>
              </a:rPr>
              <a:t># Load balanced results (simulated)</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b_df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sample_n</a:t>
            </a:r>
            <a:r>
              <a:rPr>
                <a:solidFill>
                  <a:srgbClr val="003B4F"/>
                </a:solidFill>
                <a:latin typeface="Courier"/>
              </a:rPr>
              <a:t>(</a:t>
            </a:r>
            <a:r>
              <a:rPr>
                <a:solidFill>
                  <a:srgbClr val="AD0000"/>
                </a:solidFill>
                <a:latin typeface="Courier"/>
              </a:rPr>
              <a:t>34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Fit balanced model</a:t>
            </a: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r>
              <a:rPr>
                <a:solidFill>
                  <a:srgbClr val="003B4F"/>
                </a:solidFill>
                <a:latin typeface="Courier"/>
              </a:rPr>
              <a:t>model_b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b_df)</a:t>
            </a:r>
            <a:br/>
            <a:r>
              <a:rPr>
                <a:solidFill>
                  <a:srgbClr val="003B4F"/>
                </a:solidFill>
                <a:latin typeface="Courier"/>
              </a:rPr>
              <a:t>anova_b &lt;- </a:t>
            </a:r>
            <a:r>
              <a:rPr>
                <a:solidFill>
                  <a:srgbClr val="4758AB"/>
                </a:solidFill>
                <a:latin typeface="Courier"/>
              </a:rPr>
              <a:t>Anova</a:t>
            </a:r>
            <a:r>
              <a:rPr>
                <a:solidFill>
                  <a:srgbClr val="003B4F"/>
                </a:solidFill>
                <a:latin typeface="Courier"/>
              </a:rPr>
              <a:t>(model_b,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br/>
            <a:r>
              <a:rPr>
                <a:solidFill>
                  <a:srgbClr val="5E5E5E"/>
                </a:solidFill>
                <a:latin typeface="Courier"/>
              </a:rPr>
              <a:t># Create comparison table</a:t>
            </a:r>
            <a:br/>
            <a:r>
              <a:rPr>
                <a:solidFill>
                  <a:srgbClr val="003B4F"/>
                </a:solidFill>
                <a:latin typeface="Courier"/>
              </a:rPr>
              <a:t>comparison_results_df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"Interaction"</a:t>
            </a:r>
            <a:r>
              <a:rPr>
                <a:solidFill>
                  <a:srgbClr val="003B4F"/>
                </a:solidFill>
                <a:latin typeface="Courier"/>
              </a:rPr>
              <a:t>),</a:t>
            </a:r>
            <a:br/>
            <a:r>
              <a:rPr>
                <a:solidFill>
                  <a:srgbClr val="003B4F"/>
                </a:solidFill>
                <a:latin typeface="Courier"/>
              </a:rPr>
              <a:t>  </a:t>
            </a:r>
            <a:r>
              <a:rPr>
                <a:solidFill>
                  <a:srgbClr val="657422"/>
                </a:solidFill>
                <a:latin typeface="Courier"/>
              </a:rPr>
              <a:t>Balanced_F =</a:t>
            </a:r>
            <a:r>
              <a:rPr>
                <a:solidFill>
                  <a:srgbClr val="003B4F"/>
                </a:solidFill>
                <a:latin typeface="Courier"/>
              </a:rPr>
              <a:t> </a:t>
            </a:r>
            <a:r>
              <a:rPr>
                <a:solidFill>
                  <a:srgbClr val="4758AB"/>
                </a:solidFill>
                <a:latin typeface="Courier"/>
              </a:rPr>
              <a:t>round</a:t>
            </a:r>
            <a:r>
              <a:rPr>
                <a:solidFill>
                  <a:srgbClr val="003B4F"/>
                </a:solidFill>
                <a:latin typeface="Courier"/>
              </a:rPr>
              <a:t>(anova_b</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Balanced_p =</a:t>
            </a:r>
            <a:r>
              <a:rPr>
                <a:solidFill>
                  <a:srgbClr val="003B4F"/>
                </a:solidFill>
                <a:latin typeface="Courier"/>
              </a:rPr>
              <a:t> </a:t>
            </a:r>
            <a:r>
              <a:rPr>
                <a:solidFill>
                  <a:srgbClr val="4758AB"/>
                </a:solidFill>
                <a:latin typeface="Courier"/>
              </a:rPr>
              <a:t>round</a:t>
            </a:r>
            <a:r>
              <a:rPr>
                <a:solidFill>
                  <a:srgbClr val="003B4F"/>
                </a:solidFill>
                <a:latin typeface="Courier"/>
              </a:rPr>
              <a:t>(anova_b</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Unbalanced_F =</a:t>
            </a:r>
            <a:r>
              <a:rPr>
                <a:solidFill>
                  <a:srgbClr val="003B4F"/>
                </a:solidFill>
                <a:latin typeface="Courier"/>
              </a:rPr>
              <a:t> </a:t>
            </a:r>
            <a:r>
              <a:rPr>
                <a:solidFill>
                  <a:srgbClr val="4758AB"/>
                </a:solidFill>
                <a:latin typeface="Courier"/>
              </a:rPr>
              <a:t>round</a:t>
            </a:r>
            <a:r>
              <a:rPr>
                <a:solidFill>
                  <a:srgbClr val="003B4F"/>
                </a:solidFill>
                <a:latin typeface="Courier"/>
              </a:rPr>
              <a:t>(anova_type3_u</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Unbalanced_p =</a:t>
            </a:r>
            <a:r>
              <a:rPr>
                <a:solidFill>
                  <a:srgbClr val="003B4F"/>
                </a:solidFill>
                <a:latin typeface="Courier"/>
              </a:rPr>
              <a:t> </a:t>
            </a:r>
            <a:r>
              <a:rPr>
                <a:solidFill>
                  <a:srgbClr val="4758AB"/>
                </a:solidFill>
                <a:latin typeface="Courier"/>
              </a:rPr>
              <a:t>round</a:t>
            </a:r>
            <a:r>
              <a:rPr>
                <a:solidFill>
                  <a:srgbClr val="003B4F"/>
                </a:solidFill>
                <a:latin typeface="Courier"/>
              </a:rPr>
              <a:t>(anova_type3_u</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"Balanced vs Unbalanced Results:"</a:t>
            </a:r>
            <a:r>
              <a:rPr>
                <a:solidFill>
                  <a:srgbClr val="003B4F"/>
                </a:solidFill>
                <a:latin typeface="Courier"/>
              </a:rPr>
              <a:t>)</a:t>
            </a:r>
          </a:p>
          <a:p>
            <a:pPr lvl="0" indent="0">
              <a:buNone/>
            </a:pPr>
            <a:r>
              <a:rPr>
                <a:latin typeface="Courier"/>
              </a:rPr>
              <a:t>[1] "Balanced vs Unbalanced Results:"</a:t>
            </a:r>
          </a:p>
          <a:p>
            <a:pPr lvl="0" indent="0">
              <a:buNone/>
            </a:pPr>
            <a:r>
              <a:rPr>
                <a:solidFill>
                  <a:srgbClr val="4758AB"/>
                </a:solidFill>
                <a:latin typeface="Courier"/>
              </a:rPr>
              <a:t>print</a:t>
            </a:r>
            <a:r>
              <a:rPr>
                <a:solidFill>
                  <a:srgbClr val="003B4F"/>
                </a:solidFill>
                <a:latin typeface="Courier"/>
              </a:rPr>
              <a:t>(comparison_results_df)</a:t>
            </a:r>
          </a:p>
          <a:p>
            <a:pPr lvl="0" indent="0">
              <a:buNone/>
            </a:pPr>
            <a:r>
              <a:rPr>
                <a:latin typeface="Courier"/>
              </a:rPr>
              <a:t>       Effect Balanced_F Balanced_p Unbalanced_F Unbalanced_p
1     Species     477.20      0e+00       746.92        0e+00
2         Sex     239.22      0e+00       311.84        0e+00
3 Interaction       9.10      2e-04         8.76        2e-04</a:t>
            </a:r>
          </a:p>
          <a:p>
            <a:pPr lvl="0" indent="0">
              <a:buNone/>
            </a:pPr>
            <a:r>
              <a:rPr>
                <a:solidFill>
                  <a:srgbClr val="5E5E5E"/>
                </a:solidFill>
                <a:latin typeface="Courier"/>
              </a:rPr>
              <a:t># Compare power</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Sample sizes:"</a:t>
            </a:r>
            <a:r>
              <a:rPr>
                <a:solidFill>
                  <a:srgbClr val="003B4F"/>
                </a:solidFill>
                <a:latin typeface="Courier"/>
              </a:rPr>
              <a:t>)</a:t>
            </a:r>
          </a:p>
          <a:p>
            <a:pPr lvl="0" indent="0">
              <a:buNone/>
            </a:pPr>
            <a:r>
              <a:rPr>
                <a:latin typeface="Courier"/>
              </a:rPr>
              <a:t>[1] "\nSample sizes:"</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"Balanced total N:"</a:t>
            </a:r>
            <a:r>
              <a:rPr>
                <a:solidFill>
                  <a:srgbClr val="003B4F"/>
                </a:solidFill>
                <a:latin typeface="Courier"/>
              </a:rPr>
              <a:t>, </a:t>
            </a:r>
            <a:r>
              <a:rPr>
                <a:solidFill>
                  <a:srgbClr val="4758AB"/>
                </a:solidFill>
                <a:latin typeface="Courier"/>
              </a:rPr>
              <a:t>nrow</a:t>
            </a:r>
            <a:r>
              <a:rPr>
                <a:solidFill>
                  <a:srgbClr val="003B4F"/>
                </a:solidFill>
                <a:latin typeface="Courier"/>
              </a:rPr>
              <a:t>(b_df)))</a:t>
            </a:r>
          </a:p>
          <a:p>
            <a:pPr lvl="0" indent="0">
              <a:buNone/>
            </a:pPr>
            <a:r>
              <a:rPr>
                <a:latin typeface="Courier"/>
              </a:rPr>
              <a:t>[1] "Balanced total N: 204"</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"Unbalanced total N:"</a:t>
            </a:r>
            <a:r>
              <a:rPr>
                <a:solidFill>
                  <a:srgbClr val="003B4F"/>
                </a:solidFill>
                <a:latin typeface="Courier"/>
              </a:rPr>
              <a:t>, </a:t>
            </a:r>
            <a:r>
              <a:rPr>
                <a:solidFill>
                  <a:srgbClr val="4758AB"/>
                </a:solidFill>
                <a:latin typeface="Courier"/>
              </a:rPr>
              <a:t>nrow</a:t>
            </a:r>
            <a:r>
              <a:rPr>
                <a:solidFill>
                  <a:srgbClr val="003B4F"/>
                </a:solidFill>
                <a:latin typeface="Courier"/>
              </a:rPr>
              <a:t>(p_df)))</a:t>
            </a:r>
          </a:p>
          <a:p>
            <a:pPr lvl="0" indent="0">
              <a:buNone/>
            </a:pPr>
            <a:r>
              <a:rPr>
                <a:latin typeface="Courier"/>
              </a:rPr>
              <a:t>[1] "Unbalanced total N: 333"</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"Data discarded:"</a:t>
            </a:r>
            <a:r>
              <a:rPr>
                <a:solidFill>
                  <a:srgbClr val="003B4F"/>
                </a:solidFill>
                <a:latin typeface="Courier"/>
              </a:rPr>
              <a:t>, </a:t>
            </a:r>
            <a:br/>
            <a:r>
              <a:rPr>
                <a:solidFill>
                  <a:srgbClr val="003B4F"/>
                </a:solidFill>
                <a:latin typeface="Courier"/>
              </a:rPr>
              <a:t>            </a:t>
            </a:r>
            <a:r>
              <a:rPr>
                <a:solidFill>
                  <a:srgbClr val="4758AB"/>
                </a:solidFill>
                <a:latin typeface="Courier"/>
              </a:rPr>
              <a:t>nrow</a:t>
            </a:r>
            <a:r>
              <a:rPr>
                <a:solidFill>
                  <a:srgbClr val="003B4F"/>
                </a:solidFill>
                <a:latin typeface="Courier"/>
              </a:rPr>
              <a:t>(p_df) </a:t>
            </a:r>
            <a:r>
              <a:rPr>
                <a:solidFill>
                  <a:srgbClr val="5E5E5E"/>
                </a:solidFill>
                <a:latin typeface="Courier"/>
              </a:rPr>
              <a:t>-</a:t>
            </a:r>
            <a:r>
              <a:rPr>
                <a:solidFill>
                  <a:srgbClr val="003B4F"/>
                </a:solidFill>
                <a:latin typeface="Courier"/>
              </a:rPr>
              <a:t> </a:t>
            </a:r>
            <a:r>
              <a:rPr>
                <a:solidFill>
                  <a:srgbClr val="4758AB"/>
                </a:solidFill>
                <a:latin typeface="Courier"/>
              </a:rPr>
              <a:t>nrow</a:t>
            </a:r>
            <a:r>
              <a:rPr>
                <a:solidFill>
                  <a:srgbClr val="003B4F"/>
                </a:solidFill>
                <a:latin typeface="Courier"/>
              </a:rPr>
              <a:t>(b_df), </a:t>
            </a:r>
            <a:br/>
            <a:r>
              <a:rPr>
                <a:solidFill>
                  <a:srgbClr val="003B4F"/>
                </a:solidFill>
                <a:latin typeface="Courier"/>
              </a:rPr>
              <a:t>            </a:t>
            </a:r>
            <a:r>
              <a:rPr>
                <a:solidFill>
                  <a:srgbClr val="20794D"/>
                </a:solidFill>
                <a:latin typeface="Courier"/>
              </a:rPr>
              <a:t>"observations"</a:t>
            </a:r>
            <a:r>
              <a:rPr>
                <a:solidFill>
                  <a:srgbClr val="003B4F"/>
                </a:solidFill>
                <a:latin typeface="Courier"/>
              </a:rPr>
              <a:t>))</a:t>
            </a:r>
          </a:p>
          <a:p>
            <a:pPr lvl="0" indent="0">
              <a:buNone/>
            </a:pPr>
            <a:r>
              <a:rPr>
                <a:latin typeface="Courier"/>
              </a:rPr>
              <a:t>[1] "Data discarded: 129 observations"</a:t>
            </a:r>
          </a:p>
        </p:txBody>
      </p:sp>
      <p:sp>
        <p:nvSpPr>
          <p:cNvPr id="5" name="Text Placeholder 4"/>
          <p:cNvSpPr>
            <a:spLocks noGrp="1"/>
          </p:cNvSpPr>
          <p:nvPr>
            <p:ph idx="3" sz="quarter" type="body"/>
          </p:nvPr>
        </p:nvSpPr>
        <p:spPr/>
        <p:txBody>
          <a:bodyPr/>
          <a:lstStyle/>
          <a:p>
            <a:pPr lvl="0" indent="0" marL="0">
              <a:spcBef>
                <a:spcPts val="3000"/>
              </a:spcBef>
              <a:buNone/>
            </a:pPr>
            <a:r>
              <a:rPr b="1"/>
              <a:t>Visual Comparison</a:t>
            </a:r>
          </a:p>
          <a:p>
            <a:pPr lvl="0" indent="0">
              <a:buNone/>
            </a:pPr>
            <a:r>
              <a:rPr>
                <a:solidFill>
                  <a:srgbClr val="5E5E5E"/>
                </a:solidFill>
                <a:latin typeface="Courier"/>
              </a:rPr>
              <a:t># Combine EMMs from both analyses</a:t>
            </a:r>
            <a:br/>
            <a:r>
              <a:rPr>
                <a:solidFill>
                  <a:srgbClr val="003B4F"/>
                </a:solidFill>
                <a:latin typeface="Courier"/>
              </a:rPr>
              <a:t>emm_b &lt;- </a:t>
            </a:r>
            <a:r>
              <a:rPr>
                <a:solidFill>
                  <a:srgbClr val="4758AB"/>
                </a:solidFill>
                <a:latin typeface="Courier"/>
              </a:rPr>
              <a:t>as.data.frame</a:t>
            </a:r>
            <a:r>
              <a:rPr>
                <a:solidFill>
                  <a:srgbClr val="003B4F"/>
                </a:solidFill>
                <a:latin typeface="Courier"/>
              </a:rPr>
              <a:t>(</a:t>
            </a:r>
            <a:r>
              <a:rPr>
                <a:solidFill>
                  <a:srgbClr val="4758AB"/>
                </a:solidFill>
                <a:latin typeface="Courier"/>
              </a:rPr>
              <a:t>emmeans</a:t>
            </a:r>
            <a:r>
              <a:rPr>
                <a:solidFill>
                  <a:srgbClr val="003B4F"/>
                </a:solidFill>
                <a:latin typeface="Courier"/>
              </a:rPr>
              <a:t>(model_b, </a:t>
            </a:r>
            <a:r>
              <a:rPr>
                <a:solidFill>
                  <a:srgbClr val="5E5E5E"/>
                </a:solidFill>
                <a:latin typeface="Courier"/>
              </a:rPr>
              <a:t>~</a:t>
            </a:r>
            <a:r>
              <a:rPr>
                <a:solidFill>
                  <a:srgbClr val="003B4F"/>
                </a:solidFill>
                <a:latin typeface="Courier"/>
              </a:rPr>
              <a:t> species))</a:t>
            </a:r>
            <a:br/>
            <a:r>
              <a:rPr>
                <a:solidFill>
                  <a:srgbClr val="003B4F"/>
                </a:solidFill>
                <a:latin typeface="Courier"/>
              </a:rPr>
              <a:t>emm_u &lt;- </a:t>
            </a:r>
            <a:r>
              <a:rPr>
                <a:solidFill>
                  <a:srgbClr val="4758AB"/>
                </a:solidFill>
                <a:latin typeface="Courier"/>
              </a:rPr>
              <a:t>as.data.frame</a:t>
            </a:r>
            <a:r>
              <a:rPr>
                <a:solidFill>
                  <a:srgbClr val="003B4F"/>
                </a:solidFill>
                <a:latin typeface="Courier"/>
              </a:rPr>
              <a:t>(</a:t>
            </a:r>
            <a:r>
              <a:rPr>
                <a:solidFill>
                  <a:srgbClr val="4758AB"/>
                </a:solidFill>
                <a:latin typeface="Courier"/>
              </a:rPr>
              <a:t>emmeans</a:t>
            </a:r>
            <a:r>
              <a:rPr>
                <a:solidFill>
                  <a:srgbClr val="003B4F"/>
                </a:solidFill>
                <a:latin typeface="Courier"/>
              </a:rPr>
              <a:t>(model_u, </a:t>
            </a:r>
            <a:r>
              <a:rPr>
                <a:solidFill>
                  <a:srgbClr val="5E5E5E"/>
                </a:solidFill>
                <a:latin typeface="Courier"/>
              </a:rPr>
              <a:t>~</a:t>
            </a:r>
            <a:r>
              <a:rPr>
                <a:solidFill>
                  <a:srgbClr val="003B4F"/>
                </a:solidFill>
                <a:latin typeface="Courier"/>
              </a:rPr>
              <a:t> species))</a:t>
            </a:r>
            <a:br/>
            <a:br/>
            <a:r>
              <a:rPr>
                <a:solidFill>
                  <a:srgbClr val="003B4F"/>
                </a:solidFill>
                <a:latin typeface="Courier"/>
              </a:rPr>
              <a:t>comparison_plot_df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Species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levels</a:t>
            </a:r>
            <a:r>
              <a:rPr>
                <a:solidFill>
                  <a:srgbClr val="003B4F"/>
                </a:solidFill>
                <a:latin typeface="Courier"/>
              </a:rPr>
              <a:t>(</a:t>
            </a:r>
            <a:r>
              <a:rPr>
                <a:solidFill>
                  <a:srgbClr val="4758AB"/>
                </a:solidFill>
                <a:latin typeface="Courier"/>
              </a:rPr>
              <a:t>as.factor</a:t>
            </a:r>
            <a:r>
              <a:rPr>
                <a:solidFill>
                  <a:srgbClr val="003B4F"/>
                </a:solidFill>
                <a:latin typeface="Courier"/>
              </a:rPr>
              <a:t>(p_df</a:t>
            </a:r>
            <a:r>
              <a:rPr>
                <a:solidFill>
                  <a:srgbClr val="5E5E5E"/>
                </a:solidFill>
                <a:latin typeface="Courier"/>
              </a:rPr>
              <a:t>$</a:t>
            </a:r>
            <a:r>
              <a:rPr>
                <a:solidFill>
                  <a:srgbClr val="003B4F"/>
                </a:solidFill>
                <a:latin typeface="Courier"/>
              </a:rPr>
              <a:t>species)),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Design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"Balanced"</a:t>
            </a:r>
            <a:r>
              <a:rPr>
                <a:solidFill>
                  <a:srgbClr val="003B4F"/>
                </a:solidFill>
                <a:latin typeface="Courier"/>
              </a:rPr>
              <a:t>, </a:t>
            </a:r>
            <a:r>
              <a:rPr>
                <a:solidFill>
                  <a:srgbClr val="20794D"/>
                </a:solidFill>
                <a:latin typeface="Courier"/>
              </a:rPr>
              <a:t>"Unbalanced"</a:t>
            </a:r>
            <a:r>
              <a:rPr>
                <a:solidFill>
                  <a:srgbClr val="003B4F"/>
                </a:solidFill>
                <a:latin typeface="Courier"/>
              </a:rPr>
              <a:t>), </a:t>
            </a:r>
            <a:b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EMM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as.numeric</a:t>
            </a:r>
            <a:r>
              <a:rPr>
                <a:solidFill>
                  <a:srgbClr val="003B4F"/>
                </a:solidFill>
                <a:latin typeface="Courier"/>
              </a:rPr>
              <a:t>(emm_b</a:t>
            </a:r>
            <a:r>
              <a:rPr>
                <a:solidFill>
                  <a:srgbClr val="5E5E5E"/>
                </a:solidFill>
                <a:latin typeface="Courier"/>
              </a:rPr>
              <a:t>$</a:t>
            </a:r>
            <a:r>
              <a:rPr>
                <a:solidFill>
                  <a:srgbClr val="003B4F"/>
                </a:solidFill>
                <a:latin typeface="Courier"/>
              </a:rPr>
              <a:t>emmean),</a:t>
            </a:r>
            <a:br/>
            <a:r>
              <a:rPr>
                <a:solidFill>
                  <a:srgbClr val="003B4F"/>
                </a:solidFill>
                <a:latin typeface="Courier"/>
              </a:rPr>
              <a:t>          </a:t>
            </a:r>
            <a:r>
              <a:rPr>
                <a:solidFill>
                  <a:srgbClr val="4758AB"/>
                </a:solidFill>
                <a:latin typeface="Courier"/>
              </a:rPr>
              <a:t>as.numeric</a:t>
            </a:r>
            <a:r>
              <a:rPr>
                <a:solidFill>
                  <a:srgbClr val="003B4F"/>
                </a:solidFill>
                <a:latin typeface="Courier"/>
              </a:rPr>
              <a:t>(emm_u</a:t>
            </a:r>
            <a:r>
              <a:rPr>
                <a:solidFill>
                  <a:srgbClr val="5E5E5E"/>
                </a:solidFill>
                <a:latin typeface="Courier"/>
              </a:rPr>
              <a:t>$</a:t>
            </a:r>
            <a:r>
              <a:rPr>
                <a:solidFill>
                  <a:srgbClr val="003B4F"/>
                </a:solidFill>
                <a:latin typeface="Courier"/>
              </a:rPr>
              <a:t>emmean)),</a:t>
            </a:r>
            <a:b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as.numeric</a:t>
            </a:r>
            <a:r>
              <a:rPr>
                <a:solidFill>
                  <a:srgbClr val="003B4F"/>
                </a:solidFill>
                <a:latin typeface="Courier"/>
              </a:rPr>
              <a:t>(emm_b</a:t>
            </a:r>
            <a:r>
              <a:rPr>
                <a:solidFill>
                  <a:srgbClr val="5E5E5E"/>
                </a:solidFill>
                <a:latin typeface="Courier"/>
              </a:rPr>
              <a:t>$</a:t>
            </a:r>
            <a:r>
              <a:rPr>
                <a:solidFill>
                  <a:srgbClr val="003B4F"/>
                </a:solidFill>
                <a:latin typeface="Courier"/>
              </a:rPr>
              <a:t>SE),</a:t>
            </a:r>
            <a:br/>
            <a:r>
              <a:rPr>
                <a:solidFill>
                  <a:srgbClr val="003B4F"/>
                </a:solidFill>
                <a:latin typeface="Courier"/>
              </a:rPr>
              <a:t>         </a:t>
            </a:r>
            <a:r>
              <a:rPr>
                <a:solidFill>
                  <a:srgbClr val="4758AB"/>
                </a:solidFill>
                <a:latin typeface="Courier"/>
              </a:rPr>
              <a:t>as.numeric</a:t>
            </a:r>
            <a:r>
              <a:rPr>
                <a:solidFill>
                  <a:srgbClr val="003B4F"/>
                </a:solidFill>
                <a:latin typeface="Courier"/>
              </a:rPr>
              <a:t>(emm_u</a:t>
            </a:r>
            <a:r>
              <a:rPr>
                <a:solidFill>
                  <a:srgbClr val="5E5E5E"/>
                </a:solidFill>
                <a:latin typeface="Courier"/>
              </a:rPr>
              <a:t>$</a:t>
            </a:r>
            <a:r>
              <a:rPr>
                <a:solidFill>
                  <a:srgbClr val="003B4F"/>
                </a:solidFill>
                <a:latin typeface="Courier"/>
              </a:rPr>
              <a:t>SE))</a:t>
            </a:r>
            <a:br/>
            <a:r>
              <a:rPr>
                <a:solidFill>
                  <a:srgbClr val="003B4F"/>
                </a:solidFill>
                <a:latin typeface="Courier"/>
              </a:rPr>
              <a:t>)</a:t>
            </a:r>
            <a:br/>
            <a:br/>
            <a:r>
              <a:rPr>
                <a:solidFill>
                  <a:srgbClr val="003B4F"/>
                </a:solidFill>
                <a:latin typeface="Courier"/>
              </a:rPr>
              <a:t>comparison_plot &lt;- </a:t>
            </a:r>
            <a:r>
              <a:rPr>
                <a:solidFill>
                  <a:srgbClr val="4758AB"/>
                </a:solidFill>
                <a:latin typeface="Courier"/>
              </a:rPr>
              <a:t>ggplot</a:t>
            </a:r>
            <a:r>
              <a:rPr>
                <a:solidFill>
                  <a:srgbClr val="003B4F"/>
                </a:solidFill>
                <a:latin typeface="Courier"/>
              </a:rPr>
              <a:t>(comparison_plot_df,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Species, </a:t>
            </a:r>
            <a:r>
              <a:rPr>
                <a:solidFill>
                  <a:srgbClr val="657422"/>
                </a:solidFill>
                <a:latin typeface="Courier"/>
              </a:rPr>
              <a:t>y =</a:t>
            </a:r>
            <a:r>
              <a:rPr>
                <a:solidFill>
                  <a:srgbClr val="003B4F"/>
                </a:solidFill>
                <a:latin typeface="Courier"/>
              </a:rPr>
              <a:t> EMM, </a:t>
            </a:r>
            <a:br/>
            <a:r>
              <a:rPr>
                <a:solidFill>
                  <a:srgbClr val="003B4F"/>
                </a:solidFill>
                <a:latin typeface="Courier"/>
              </a:rPr>
              <a:t>           </a:t>
            </a:r>
            <a:r>
              <a:rPr>
                <a:solidFill>
                  <a:srgbClr val="657422"/>
                </a:solidFill>
                <a:latin typeface="Courier"/>
              </a:rPr>
              <a:t>color =</a:t>
            </a:r>
            <a:r>
              <a:rPr>
                <a:solidFill>
                  <a:srgbClr val="003B4F"/>
                </a:solidFill>
                <a:latin typeface="Courier"/>
              </a:rPr>
              <a:t> Design, </a:t>
            </a:r>
            <a:r>
              <a:rPr>
                <a:solidFill>
                  <a:srgbClr val="657422"/>
                </a:solidFill>
                <a:latin typeface="Courier"/>
              </a:rPr>
              <a:t>group =</a:t>
            </a:r>
            <a:r>
              <a:rPr>
                <a:solidFill>
                  <a:srgbClr val="003B4F"/>
                </a:solidFill>
                <a:latin typeface="Courier"/>
              </a:rPr>
              <a:t> Design))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AD0000"/>
                </a:solidFill>
                <a:latin typeface="Courier"/>
              </a:rPr>
              <a:t>0.3</a:t>
            </a:r>
            <a:r>
              <a:rPr>
                <a:solidFill>
                  <a:srgbClr val="003B4F"/>
                </a:solidFill>
                <a:latin typeface="Courier"/>
              </a:rPr>
              <a:t>),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ymax =</a:t>
            </a:r>
            <a:r>
              <a:rPr>
                <a:solidFill>
                  <a:srgbClr val="003B4F"/>
                </a:solidFill>
                <a:latin typeface="Courier"/>
              </a:rPr>
              <a:t> EMM </a:t>
            </a:r>
            <a:r>
              <a:rPr>
                <a:solidFill>
                  <a:srgbClr val="5E5E5E"/>
                </a:solidFill>
                <a:latin typeface="Courier"/>
              </a:rPr>
              <a:t>+</a:t>
            </a:r>
            <a:r>
              <a:rPr>
                <a:solidFill>
                  <a:srgbClr val="003B4F"/>
                </a:solidFill>
                <a:latin typeface="Courier"/>
              </a:rPr>
              <a:t> SE),</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AD0000"/>
                </a:solidFill>
                <a:latin typeface="Courier"/>
              </a:rPr>
              <a:t>0.3</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"EMMs: Balanced vs Unbalanced"</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Marginal Mean (g)"</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"Design"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br/>
            <a:r>
              <a:rPr>
                <a:solidFill>
                  <a:srgbClr val="4758AB"/>
                </a:solidFill>
                <a:latin typeface="Courier"/>
              </a:rPr>
              <a:t>print</a:t>
            </a:r>
            <a:r>
              <a:rPr>
                <a:solidFill>
                  <a:srgbClr val="003B4F"/>
                </a:solidFill>
                <a:latin typeface="Courier"/>
              </a:rPr>
              <a:t>(comparison_plot)</a:t>
            </a:r>
          </a:p>
        </p:txBody>
      </p:sp>
      <p:pic>
        <p:nvPicPr>
          <p:cNvPr descr="12_01_lecture_powerpoint_files/figure-pptx/visual_comparison-1.png" id="0" name="Picture 1"/>
          <p:cNvPicPr>
            <a:picLocks noGrp="1" noChangeAspect="1"/>
          </p:cNvPicPr>
          <p:nvPr/>
        </p:nvPicPr>
        <p:blipFill>
          <a:blip r:embed="rId2"/>
          <a:stretch>
            <a:fillRect/>
          </a:stretch>
        </p:blipFill>
        <p:spPr bwMode="auto">
          <a:xfrm>
            <a:off x="4991100" y="1295400"/>
            <a:ext cx="3556000" cy="32766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Best Practices</a:t>
            </a:r>
          </a:p>
        </p:txBody>
      </p:sp>
      <p:sp>
        <p:nvSpPr>
          <p:cNvPr id="3" name="Content Placeholder 2"/>
          <p:cNvSpPr>
            <a:spLocks noGrp="1"/>
          </p:cNvSpPr>
          <p:nvPr>
            <p:ph idx="1"/>
          </p:nvPr>
        </p:nvSpPr>
        <p:spPr/>
        <p:txBody>
          <a:bodyPr/>
          <a:lstStyle/>
          <a:p>
            <a:pPr lvl="0" indent="0" marL="0">
              <a:spcBef>
                <a:spcPts val="3000"/>
              </a:spcBef>
              <a:buNone/>
            </a:pPr>
            <a:r>
              <a:rPr b="1"/>
              <a:t>Key Takeaways</a:t>
            </a:r>
          </a:p>
          <a:p>
            <a:pPr lvl="0" indent="0" marL="0">
              <a:spcBef>
                <a:spcPts val="3000"/>
              </a:spcBef>
              <a:buNone/>
            </a:pPr>
            <a:r>
              <a:rPr b="1"/>
              <a:t>Unbalanced Designs:</a:t>
            </a:r>
          </a:p>
          <a:p>
            <a:pPr lvl="0" indent="0" marL="0">
              <a:buNone/>
            </a:pPr>
            <a:r>
              <a:rPr b="1"/>
              <a:t>Challenges:</a:t>
            </a:r>
            <a:r>
              <a:rPr/>
              <a:t> - Type I SS depends on order - Simple means ≠ EMMs - Reduced power for interactions - Complex interpretation</a:t>
            </a:r>
          </a:p>
          <a:p>
            <a:pPr lvl="0" indent="0" marL="0">
              <a:buNone/>
            </a:pPr>
            <a:r>
              <a:rPr b="1"/>
              <a:t>Solutions:</a:t>
            </a:r>
            <a:r>
              <a:rPr/>
              <a:t> - Use Type III SS for main effects - Report EMMs, not simple means - Check assumptions carefully - Consider impact of imbalance</a:t>
            </a:r>
          </a:p>
          <a:p>
            <a:pPr lvl="0" indent="0" marL="0">
              <a:spcBef>
                <a:spcPts val="3000"/>
              </a:spcBef>
              <a:buNone/>
            </a:pPr>
            <a:r>
              <a:rPr b="1"/>
              <a:t>Recommendations:</a:t>
            </a:r>
          </a:p>
          <a:p>
            <a:pPr lvl="0" indent="-342900" marL="342900">
              <a:buAutoNum type="arabicPeriod"/>
            </a:pPr>
            <a:r>
              <a:rPr b="1"/>
              <a:t>Always report:</a:t>
            </a:r>
          </a:p>
          <a:p>
            <a:pPr lvl="1"/>
            <a:r>
              <a:rPr/>
              <a:t>Sample sizes per cell</a:t>
            </a:r>
          </a:p>
          <a:p>
            <a:pPr lvl="1"/>
            <a:r>
              <a:rPr/>
              <a:t>Type of SS used</a:t>
            </a:r>
          </a:p>
          <a:p>
            <a:pPr lvl="1"/>
            <a:r>
              <a:rPr/>
              <a:t>EMMs with CIs</a:t>
            </a:r>
          </a:p>
          <a:p>
            <a:pPr lvl="0" indent="-342900" marL="342900">
              <a:buAutoNum type="arabicPeriod"/>
            </a:pPr>
            <a:r>
              <a:rPr b="1"/>
              <a:t>Visualization:</a:t>
            </a:r>
          </a:p>
          <a:p>
            <a:pPr lvl="1"/>
            <a:r>
              <a:rPr/>
              <a:t>Show actual data points</a:t>
            </a:r>
          </a:p>
          <a:p>
            <a:pPr lvl="1"/>
            <a:r>
              <a:rPr/>
              <a:t>Include error bars</a:t>
            </a:r>
          </a:p>
          <a:p>
            <a:pPr lvl="1"/>
            <a:r>
              <a:rPr/>
              <a:t>Note unequal sample sizes</a:t>
            </a:r>
          </a:p>
          <a:p>
            <a:pPr lvl="0" indent="-342900" marL="342900">
              <a:buAutoNum type="arabicPeriod"/>
            </a:pPr>
            <a:r>
              <a:rPr b="1"/>
              <a:t>Interpretation:</a:t>
            </a:r>
          </a:p>
          <a:p>
            <a:pPr lvl="1"/>
            <a:r>
              <a:rPr/>
              <a:t>Focus on effect sizes</a:t>
            </a:r>
          </a:p>
          <a:p>
            <a:pPr lvl="1"/>
            <a:r>
              <a:rPr/>
              <a:t>Consider practical significance</a:t>
            </a:r>
          </a:p>
          <a:p>
            <a:pPr lvl="1"/>
            <a:r>
              <a:rPr/>
              <a:t>Acknowledge limitations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Final Recommendations</a:t>
            </a:r>
          </a:p>
        </p:txBody>
      </p:sp>
      <p:sp>
        <p:nvSpPr>
          <p:cNvPr id="3" name="Content Placeholder 2"/>
          <p:cNvSpPr>
            <a:spLocks noGrp="1"/>
          </p:cNvSpPr>
          <p:nvPr>
            <p:ph idx="1"/>
          </p:nvPr>
        </p:nvSpPr>
        <p:spPr/>
        <p:txBody>
          <a:bodyPr/>
          <a:lstStyle/>
          <a:p>
            <a:pPr lvl="0" indent="0" marL="0">
              <a:buNone/>
            </a:pPr>
            <a:r>
              <a:rPr b="1"/>
              <a:t>For Experimental Studies:</a:t>
            </a:r>
            <a:r>
              <a:rPr/>
              <a:t> - Design for balance when possible - Randomize allocation - Plan for attrition</a:t>
            </a:r>
          </a:p>
          <a:p>
            <a:pPr lvl="0" indent="0" marL="0">
              <a:buNone/>
            </a:pPr>
            <a:r>
              <a:rPr b="1"/>
              <a:t>For Observational Studies:</a:t>
            </a:r>
            <a:r>
              <a:rPr/>
              <a:t> - Accept imbalance as reality - Use Type III SS - Report EMMs - Consider covariates (ANCOVA)</a:t>
            </a:r>
          </a:p>
          <a:p>
            <a:pPr lvl="0" indent="0" marL="0">
              <a:buNone/>
            </a:pPr>
            <a:r>
              <a:rPr b="1"/>
              <a:t>Statistical Software Defaults:</a:t>
            </a:r>
            <a:r>
              <a:rPr/>
              <a:t> - R: Type I (sequential) - SAS: Type III (marginal) - SPSS: Type III (marginal)</a:t>
            </a:r>
          </a:p>
          <a:p>
            <a:pPr lvl="0" indent="0" marL="0">
              <a:buNone/>
            </a:pPr>
            <a:r>
              <a:rPr/>
              <a:t>Always specify which type you’re using!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Penguin Mass Balanced</dc:title>
  <dc:creator>Bill Perry</dc:creator>
  <cp:keywords/>
  <dcterms:created xsi:type="dcterms:W3CDTF">2025-10-22T03:02:05Z</dcterms:created>
  <dcterms:modified xsi:type="dcterms:W3CDTF">2025-10-22T03:02:05Z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