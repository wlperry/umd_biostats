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p>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p>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p>
          <a:p>
            <a:pPr lvl="0" indent="0">
              <a:buNone/>
            </a:pPr>
            <a:r>
              <a:rPr>
                <a:latin typeface="Courier"/>
              </a:rPr>
              <a:t>[1] "PCA Summary:"</a:t>
            </a:r>
          </a:p>
          <a:p>
            <a:pPr lvl="0" indent="0">
              <a:buNone/>
            </a:pP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p>
          <a:p>
            <a:pPr lvl="0" indent="0">
              <a:buNone/>
            </a:pPr>
            <a:r>
              <a:rPr>
                <a:latin typeface="Courier"/>
              </a:rPr>
              <a:t>[1] "Components with eigenvalue &gt; 1: 1"</a:t>
            </a:r>
          </a:p>
          <a:p>
            <a:pPr lvl="0" indent="0">
              <a:buNone/>
            </a:pP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p>
          <a:p>
            <a:pPr lvl="0" indent="0">
              <a:buNone/>
            </a:pPr>
            <a:r>
              <a:rPr>
                <a:latin typeface="Courier"/>
              </a:rPr>
              <a:t>[1] "Component Loadings:"</a:t>
            </a:r>
          </a:p>
          <a:p>
            <a:pPr lvl="0" indent="0">
              <a:buNone/>
            </a:pPr>
            <a:r>
              <a:rPr>
                <a:solidFill>
                  <a:srgbClr val="003B4F"/>
                </a:solidFill>
                <a:latin typeface="Courier"/>
              </a:rPr>
              <a:t>loadings_df</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p>
          <a:p>
            <a:pPr lvl="0" indent="0">
              <a:buNone/>
            </a:pPr>
            <a:r>
              <a:rPr>
                <a:latin typeface="Courier"/>
              </a:rPr>
              <a:t>[1] "PC1 Loadings (all variables contribute similarly):"</a:t>
            </a:r>
          </a:p>
          <a:p>
            <a:pPr lvl="0" indent="0">
              <a:buNone/>
            </a:pP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0.521       -0.269        0.580        0.565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p>
          <a:p>
            <a:pPr lvl="0" indent="0">
              <a:buNone/>
            </a:pPr>
            <a:r>
              <a:rPr>
                <a:latin typeface="Courier"/>
              </a:rPr>
              <a:t>
PC1 Interpretation: Overall flower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p>
          <a:p>
            <a:pPr lvl="0" indent="0">
              <a:buNone/>
            </a:pPr>
            <a:r>
              <a:rPr>
                <a:latin typeface="Courier"/>
              </a:rPr>
              <a:t>
- All variables have similar negative loadings</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p>
          <a:p>
            <a:pPr lvl="0" indent="0">
              <a:buNone/>
            </a:pPr>
            <a:r>
              <a:rPr>
                <a:latin typeface="Courier"/>
              </a:rPr>
              <a:t>
- Higher PC1 values = smaller flowers overall</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p>
          <a:p>
            <a:pPr lvl="0" indent="0">
              <a:buNone/>
            </a:pPr>
            <a:r>
              <a:rPr>
                <a:latin typeface="Courier"/>
              </a:rPr>
              <a:t>[1] "PC2 Loadings:"</a:t>
            </a:r>
          </a:p>
          <a:p>
            <a:pPr lvl="0" indent="0">
              <a:buNone/>
            </a:pP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-0.377       -0.923       -0.024       -0.067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p>
          <a:p>
            <a:pPr lvl="0" indent="0">
              <a:buNone/>
            </a:pPr>
            <a:r>
              <a:rPr>
                <a:latin typeface="Courier"/>
              </a:rPr>
              <a:t>
PC2 Interpretation: Flower shape contrast</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p>
          <a:p>
            <a:pPr lvl="0" indent="0">
              <a:buNone/>
            </a:pPr>
            <a:r>
              <a:rPr>
                <a:latin typeface="Courier"/>
              </a:rPr>
              <a:t>
- Positive loadings: sepal width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p>
          <a:p>
            <a:pPr lvl="0" indent="0">
              <a:buNone/>
            </a:pPr>
            <a:r>
              <a:rPr>
                <a:latin typeface="Courier"/>
              </a:rPr>
              <a:t>
- Negative loadings: petal length and width, sepal length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p>
          <a:p>
            <a:pPr lvl="0" indent="0">
              <a:buNone/>
            </a:pPr>
            <a:r>
              <a:rPr>
                <a:latin typeface="Courier"/>
              </a:rPr>
              <a:t>
- Higher PC2 = wider sepals relative to petal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2025-09-09T15:37:33Z</dcterms:created>
  <dcterms:modified xsi:type="dcterms:W3CDTF">2025-09-09T15:37:33Z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