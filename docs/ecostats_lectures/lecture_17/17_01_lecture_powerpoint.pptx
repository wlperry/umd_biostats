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17 - Principal Component Analysis (PCA)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16: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917700"/>
            <a:ext cx="2781300" cy="1943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Eigenvectors and Components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Component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Component Properties</a:t>
            </a:r>
          </a:p>
        </p:txBody>
      </p:sp>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388100" y="660400"/>
            <a:ext cx="2247900" cy="44704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Eigenvalues and Eigenvectors</a:t>
            </a:r>
          </a:p>
        </p:txBody>
      </p:sp>
      <p:sp>
        <p:nvSpPr>
          <p:cNvPr id="3" name="Content Placeholder 2"/>
          <p:cNvSpPr>
            <a:spLocks noGrp="1"/>
          </p:cNvSpPr>
          <p:nvPr>
            <p:ph idx="1"/>
          </p:nvPr>
        </p:nvSpPr>
        <p:spPr/>
        <p:txBody>
          <a:bodyPr/>
          <a:lstStyle/>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17: PCA Goals and Introduction</a:t>
            </a:r>
          </a:p>
        </p:txBody>
      </p:sp>
      <p:sp>
        <p:nvSpPr>
          <p:cNvPr id="3" name="Content Placeholder 2"/>
          <p:cNvSpPr>
            <a:spLocks noGrp="1"/>
          </p:cNvSpPr>
          <p:nvPr>
            <p:ph idx="1"/>
          </p:nvPr>
        </p:nvSpPr>
        <p:spPr/>
        <p:txBody>
          <a:bodyPr/>
          <a:lstStyle/>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Data for PCA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Load the iris dataset</a:t>
            </a:r>
            <a:br/>
            <a:r>
              <a:rPr>
                <a:solidFill>
                  <a:srgbClr val="003B4F"/>
                </a:solidFill>
                <a:latin typeface="Courier"/>
              </a:rPr>
              <a:t>iris_df &lt;- iris </a:t>
            </a:r>
            <a:r>
              <a:rPr>
                <a:solidFill>
                  <a:srgbClr val="5E5E5E"/>
                </a:solidFill>
                <a:latin typeface="Courier"/>
              </a:rPr>
              <a:t>%&gt;%</a:t>
            </a:r>
            <a:r>
              <a:rPr>
                <a:solidFill>
                  <a:srgbClr val="003B4F"/>
                </a:solidFill>
                <a:latin typeface="Courier"/>
              </a:rPr>
              <a:t> </a:t>
            </a:r>
            <a:r>
              <a:rPr>
                <a:solidFill>
                  <a:srgbClr val="4758AB"/>
                </a:solidFill>
                <a:latin typeface="Courier"/>
              </a:rPr>
              <a:t>clean_names</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ind =</a:t>
            </a:r>
            <a:r>
              <a:rPr>
                <a:solidFill>
                  <a:srgbClr val="003B4F"/>
                </a:solidFill>
                <a:latin typeface="Courier"/>
              </a:rPr>
              <a:t> </a:t>
            </a:r>
            <a:r>
              <a:rPr>
                <a:solidFill>
                  <a:srgbClr val="4758AB"/>
                </a:solidFill>
                <a:latin typeface="Courier"/>
              </a:rPr>
              <a:t>row_number</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species_ind =</a:t>
            </a:r>
            <a:r>
              <a:rPr>
                <a:solidFill>
                  <a:srgbClr val="003B4F"/>
                </a:solidFill>
                <a:latin typeface="Courier"/>
              </a:rPr>
              <a:t> </a:t>
            </a:r>
            <a:r>
              <a:rPr>
                <a:solidFill>
                  <a:srgbClr val="4758AB"/>
                </a:solidFill>
                <a:latin typeface="Courier"/>
              </a:rPr>
              <a:t>paste</a:t>
            </a:r>
            <a:r>
              <a:rPr>
                <a:solidFill>
                  <a:srgbClr val="003B4F"/>
                </a:solidFill>
                <a:latin typeface="Courier"/>
              </a:rPr>
              <a:t>(species, ind, </a:t>
            </a:r>
            <a:r>
              <a:rPr>
                <a:solidFill>
                  <a:srgbClr val="657422"/>
                </a:solidFill>
                <a:latin typeface="Courier"/>
              </a:rPr>
              <a:t>sep=</a:t>
            </a:r>
            <a:r>
              <a:rPr>
                <a:solidFill>
                  <a:srgbClr val="20794D"/>
                </a:solidFill>
                <a:latin typeface="Courier"/>
              </a:rPr>
              <a:t>"_"</a:t>
            </a:r>
            <a:r>
              <a:rPr>
                <a:solidFill>
                  <a:srgbClr val="003B4F"/>
                </a:solidFill>
                <a:latin typeface="Courier"/>
              </a:rPr>
              <a:t>))</a:t>
            </a:r>
            <a:br/>
            <a:br/>
            <a:r>
              <a:rPr>
                <a:solidFill>
                  <a:srgbClr val="5E5E5E"/>
                </a:solidFill>
                <a:latin typeface="Courier"/>
              </a:rPr>
              <a:t># get values only</a:t>
            </a:r>
            <a:br/>
            <a:r>
              <a:rPr>
                <a:solidFill>
                  <a:srgbClr val="003B4F"/>
                </a:solidFill>
                <a:latin typeface="Courier"/>
              </a:rPr>
              <a:t>iris_data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species, </a:t>
            </a:r>
            <a:r>
              <a:rPr>
                <a:solidFill>
                  <a:srgbClr val="5E5E5E"/>
                </a:solidFill>
                <a:latin typeface="Courier"/>
              </a:rPr>
              <a:t>-</a:t>
            </a:r>
            <a:r>
              <a:rPr>
                <a:solidFill>
                  <a:srgbClr val="003B4F"/>
                </a:solidFill>
                <a:latin typeface="Courier"/>
              </a:rPr>
              <a:t>ind, </a:t>
            </a:r>
            <a:r>
              <a:rPr>
                <a:solidFill>
                  <a:srgbClr val="5E5E5E"/>
                </a:solidFill>
                <a:latin typeface="Courier"/>
              </a:rPr>
              <a:t>-</a:t>
            </a:r>
            <a:r>
              <a:rPr>
                <a:solidFill>
                  <a:srgbClr val="003B4F"/>
                </a:solidFill>
                <a:latin typeface="Courier"/>
              </a:rPr>
              <a:t>species_ind)</a:t>
            </a:r>
            <a:br/>
            <a:br/>
            <a:r>
              <a:rPr>
                <a:solidFill>
                  <a:srgbClr val="5E5E5E"/>
                </a:solidFill>
                <a:latin typeface="Courier"/>
              </a:rPr>
              <a:t># Keep species for later visualization</a:t>
            </a:r>
            <a:br/>
            <a:r>
              <a:rPr>
                <a:solidFill>
                  <a:srgbClr val="003B4F"/>
                </a:solidFill>
                <a:latin typeface="Courier"/>
              </a:rPr>
              <a:t>iris_species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(species, ind, species_ind)</a:t>
            </a:r>
            <a:br/>
            <a:br/>
            <a:r>
              <a:rPr>
                <a:solidFill>
                  <a:srgbClr val="5E5E5E"/>
                </a:solidFill>
                <a:latin typeface="Courier"/>
              </a:rPr>
              <a:t># pivot to long formt for viewing</a:t>
            </a:r>
            <a:br/>
            <a:r>
              <a:rPr>
                <a:solidFill>
                  <a:srgbClr val="003B4F"/>
                </a:solidFill>
                <a:latin typeface="Courier"/>
              </a:rPr>
              <a:t>iris_long_df &lt;- iris_df </a:t>
            </a:r>
            <a:r>
              <a:rPr>
                <a:solidFill>
                  <a:srgbClr val="5E5E5E"/>
                </a:solidFill>
                <a:latin typeface="Courier"/>
              </a:rPr>
              <a:t>%&gt;%</a:t>
            </a:r>
            <a:br/>
            <a:r>
              <a:rPr>
                <a:solidFill>
                  <a:srgbClr val="003B4F"/>
                </a:solidFill>
                <a:latin typeface="Courier"/>
              </a:rPr>
              <a:t>  </a:t>
            </a:r>
            <a:r>
              <a:rPr>
                <a:solidFill>
                  <a:srgbClr val="4758AB"/>
                </a:solidFill>
                <a:latin typeface="Courier"/>
              </a:rPr>
              <a:t>pivot_longer</a:t>
            </a:r>
            <a:r>
              <a:rPr>
                <a:solidFill>
                  <a:srgbClr val="003B4F"/>
                </a:solidFill>
                <a:latin typeface="Courier"/>
              </a:rPr>
              <a:t>(</a:t>
            </a:r>
            <a:br/>
            <a:r>
              <a:rPr>
                <a:solidFill>
                  <a:srgbClr val="003B4F"/>
                </a:solidFill>
                <a:latin typeface="Courier"/>
              </a:rPr>
              <a:t>    </a:t>
            </a:r>
            <a:r>
              <a:rPr>
                <a:solidFill>
                  <a:srgbClr val="657422"/>
                </a:solidFill>
                <a:latin typeface="Courier"/>
              </a:rPr>
              <a:t>cols =</a:t>
            </a:r>
            <a:r>
              <a:rPr>
                <a:solidFill>
                  <a:srgbClr val="003B4F"/>
                </a:solidFill>
                <a:latin typeface="Courier"/>
              </a:rPr>
              <a:t> </a:t>
            </a:r>
            <a:r>
              <a:rPr>
                <a:solidFill>
                  <a:srgbClr val="5E5E5E"/>
                </a:solidFill>
                <a:latin typeface="Courier"/>
              </a:rPr>
              <a:t>-</a:t>
            </a:r>
            <a:r>
              <a:rPr>
                <a:solidFill>
                  <a:srgbClr val="4758AB"/>
                </a:solidFill>
                <a:latin typeface="Courier"/>
              </a:rPr>
              <a:t>c</a:t>
            </a:r>
            <a:r>
              <a:rPr>
                <a:solidFill>
                  <a:srgbClr val="003B4F"/>
                </a:solidFill>
                <a:latin typeface="Courier"/>
              </a:rPr>
              <a:t>(species, ind, species_ind),</a:t>
            </a:r>
            <a:br/>
            <a:r>
              <a:rPr>
                <a:solidFill>
                  <a:srgbClr val="003B4F"/>
                </a:solidFill>
                <a:latin typeface="Courier"/>
              </a:rPr>
              <a:t>    </a:t>
            </a:r>
            <a:r>
              <a:rPr>
                <a:solidFill>
                  <a:srgbClr val="657422"/>
                </a:solidFill>
                <a:latin typeface="Courier"/>
              </a:rPr>
              <a:t>names_to =</a:t>
            </a:r>
            <a:r>
              <a:rPr>
                <a:solidFill>
                  <a:srgbClr val="003B4F"/>
                </a:solidFill>
                <a:latin typeface="Courier"/>
              </a:rPr>
              <a:t> </a:t>
            </a:r>
            <a:r>
              <a:rPr>
                <a:solidFill>
                  <a:srgbClr val="20794D"/>
                </a:solidFill>
                <a:latin typeface="Courier"/>
              </a:rPr>
              <a:t>"variable"</a:t>
            </a:r>
            <a:r>
              <a:rPr>
                <a:solidFill>
                  <a:srgbClr val="003B4F"/>
                </a:solidFill>
                <a:latin typeface="Courier"/>
              </a:rPr>
              <a:t>,</a:t>
            </a:r>
            <a:br/>
            <a:r>
              <a:rPr>
                <a:solidFill>
                  <a:srgbClr val="003B4F"/>
                </a:solidFill>
                <a:latin typeface="Courier"/>
              </a:rPr>
              <a:t>    </a:t>
            </a:r>
            <a:r>
              <a:rPr>
                <a:solidFill>
                  <a:srgbClr val="657422"/>
                </a:solidFill>
                <a:latin typeface="Courier"/>
              </a:rPr>
              <a:t>values_to =</a:t>
            </a:r>
            <a:r>
              <a:rPr>
                <a:solidFill>
                  <a:srgbClr val="003B4F"/>
                </a:solidFill>
                <a:latin typeface="Courier"/>
              </a:rPr>
              <a:t> </a:t>
            </a:r>
            <a:r>
              <a:rPr>
                <a:solidFill>
                  <a:srgbClr val="20794D"/>
                </a:solidFill>
                <a:latin typeface="Courier"/>
              </a:rPr>
              <a:t>"values"</a:t>
            </a:r>
            <a:r>
              <a:rPr>
                <a:solidFill>
                  <a:srgbClr val="003B4F"/>
                </a:solidFill>
                <a:latin typeface="Courier"/>
              </a:rPr>
              <a:t>)</a:t>
            </a:r>
            <a:br/>
            <a:r>
              <a:rPr>
                <a:solidFill>
                  <a:srgbClr val="003B4F"/>
                </a:solidFill>
                <a:latin typeface="Courier"/>
              </a:rPr>
              <a:t> </a:t>
            </a:r>
            <a:br/>
            <a:r>
              <a:rPr>
                <a:solidFill>
                  <a:srgbClr val="003B4F"/>
                </a:solidFill>
                <a:latin typeface="Courier"/>
              </a:rPr>
              <a:t>iris_df </a:t>
            </a:r>
          </a:p>
          <a:p>
            <a:pPr lvl="0" indent="0">
              <a:buNone/>
            </a:pPr>
            <a:r>
              <a:rPr>
                <a:latin typeface="Courier"/>
              </a:rPr>
              <a:t>    sepal_length sepal_width petal_length petal_width    species ind
1            5.1         3.5          1.4         0.2     setosa   1
2            4.9         3.0          1.4         0.2     setosa   2
3            4.7         3.2          1.3         0.2     setosa   3
4            4.6         3.1          1.5         0.2     setosa   4
5            5.0         3.6          1.4         0.2     setosa   5
6            5.4         3.9          1.7         0.4     setosa   6
7            4.6         3.4          1.4         0.3     setosa   7
8            5.0         3.4          1.5         0.2     setosa   8
9            4.4         2.9          1.4         0.2     setosa   9
10           4.9         3.1          1.5         0.1     setosa  10
11           5.4         3.7          1.5         0.2     setosa  11
12           4.8         3.4          1.6         0.2     setosa  12
13           4.8         3.0          1.4         0.1     setosa  13
14           4.3         3.0          1.1         0.1     setosa  14
15           5.8         4.0          1.2         0.2     setosa  15
16           5.7         4.4          1.5         0.4     setosa  16
17           5.4         3.9          1.3         0.4     setosa  17
18           5.1         3.5          1.4         0.3     setosa  18
19           5.7         3.8          1.7         0.3     setosa  19
20           5.1         3.8          1.5         0.3     setosa  20
21           5.4         3.4          1.7         0.2     setosa  21
22           5.1         3.7          1.5         0.4     setosa  22
23           4.6         3.6          1.0         0.2     setosa  23
24           5.1         3.3          1.7         0.5     setosa  24
25           4.8         3.4          1.9         0.2     setosa  25
26           5.0         3.0          1.6         0.2     setosa  26
27           5.0         3.4          1.6         0.4     setosa  27
28           5.2         3.5          1.5         0.2     setosa  28
29           5.2         3.4          1.4         0.2     setosa  29
30           4.7         3.2          1.6         0.2     setosa  30
31           4.8         3.1          1.6         0.2     setosa  31
32           5.4         3.4          1.5         0.4     setosa  32
33           5.2         4.1          1.5         0.1     setosa  33
34           5.5         4.2          1.4         0.2     setosa  34
35           4.9         3.1          1.5         0.2     setosa  35
36           5.0         3.2          1.2         0.2     setosa  36
37           5.5         3.5          1.3         0.2     setosa  37
38           4.9         3.6          1.4         0.1     setosa  38
39           4.4         3.0          1.3         0.2     setosa  39
40           5.1         3.4          1.5         0.2     setosa  40
41           5.0         3.5          1.3         0.3     setosa  41
42           4.5         2.3          1.3         0.3     setosa  42
43           4.4         3.2          1.3         0.2     setosa  43
44           5.0         3.5          1.6         0.6     setosa  44
45           5.1         3.8          1.9         0.4     setosa  45
46           4.8         3.0          1.4         0.3     setosa  46
47           5.1         3.8          1.6         0.2     setosa  47
48           4.6         3.2          1.4         0.2     setosa  48
49           5.3         3.7          1.5         0.2     setosa  49
50           5.0         3.3          1.4         0.2     setosa  50
51           7.0         3.2          4.7         1.4 versicolor  51
52           6.4         3.2          4.5         1.5 versicolor  52
53           6.9         3.1          4.9         1.5 versicolor  53
54           5.5         2.3          4.0         1.3 versicolor  54
55           6.5         2.8          4.6         1.5 versicolor  55
56           5.7         2.8          4.5         1.3 versicolor  56
57           6.3         3.3          4.7         1.6 versicolor  57
58           4.9         2.4          3.3         1.0 versicolor  58
59           6.6         2.9          4.6         1.3 versicolor  59
60           5.2         2.7          3.9         1.4 versicolor  60
61           5.0         2.0          3.5         1.0 versicolor  61
62           5.9         3.0          4.2         1.5 versicolor  62
63           6.0         2.2          4.0         1.0 versicolor  63
64           6.1         2.9          4.7         1.4 versicolor  64
65           5.6         2.9          3.6         1.3 versicolor  65
66           6.7         3.1          4.4         1.4 versicolor  66
67           5.6         3.0          4.5         1.5 versicolor  67
68           5.8         2.7          4.1         1.0 versicolor  68
69           6.2         2.2          4.5         1.5 versicolor  69
70           5.6         2.5          3.9         1.1 versicolor  70
71           5.9         3.2          4.8         1.8 versicolor  71
72           6.1         2.8          4.0         1.3 versicolor  72
73           6.3         2.5          4.9         1.5 versicolor  73
74           6.1         2.8          4.7         1.2 versicolor  74
75           6.4         2.9          4.3         1.3 versicolor  75
76           6.6         3.0          4.4         1.4 versicolor  76
77           6.8         2.8          4.8         1.4 versicolor  77
78           6.7         3.0          5.0         1.7 versicolor  78
79           6.0         2.9          4.5         1.5 versicolor  79
80           5.7         2.6          3.5         1.0 versicolor  80
81           5.5         2.4          3.8         1.1 versicolor  81
82           5.5         2.4          3.7         1.0 versicolor  82
83           5.8         2.7          3.9         1.2 versicolor  83
84           6.0         2.7          5.1         1.6 versicolor  84
85           5.4         3.0          4.5         1.5 versicolor  85
86           6.0         3.4          4.5         1.6 versicolor  86
87           6.7         3.1          4.7         1.5 versicolor  87
88           6.3         2.3          4.4         1.3 versicolor  88
89           5.6         3.0          4.1         1.3 versicolor  89
90           5.5         2.5          4.0         1.3 versicolor  90
91           5.5         2.6          4.4         1.2 versicolor  91
92           6.1         3.0          4.6         1.4 versicolor  92
93           5.8         2.6          4.0         1.2 versicolor  93
94           5.0         2.3          3.3         1.0 versicolor  94
95           5.6         2.7          4.2         1.3 versicolor  95
96           5.7         3.0          4.2         1.2 versicolor  96
97           5.7         2.9          4.2         1.3 versicolor  97
98           6.2         2.9          4.3         1.3 versicolor  98
99           5.1         2.5          3.0         1.1 versicolor  99
100          5.7         2.8          4.1         1.3 versicolor 100
101          6.3         3.3          6.0         2.5  virginica 101
102          5.8         2.7          5.1         1.9  virginica 102
103          7.1         3.0          5.9         2.1  virginica 103
104          6.3         2.9          5.6         1.8  virginica 104
105          6.5         3.0          5.8         2.2  virginica 105
106          7.6         3.0          6.6         2.1  virginica 106
107          4.9         2.5          4.5         1.7  virginica 107
108          7.3         2.9          6.3         1.8  virginica 108
109          6.7         2.5          5.8         1.8  virginica 109
110          7.2         3.6          6.1         2.5  virginica 110
111          6.5         3.2          5.1         2.0  virginica 111
112          6.4         2.7          5.3         1.9  virginica 112
113          6.8         3.0          5.5         2.1  virginica 113
114          5.7         2.5          5.0         2.0  virginica 114
115          5.8         2.8          5.1         2.4  virginica 115
116          6.4         3.2          5.3         2.3  virginica 116
117          6.5         3.0          5.5         1.8  virginica 117
118          7.7         3.8          6.7         2.2  virginica 118
119          7.7         2.6          6.9         2.3  virginica 119
120          6.0         2.2          5.0         1.5  virginica 120
121          6.9         3.2          5.7         2.3  virginica 121
122          5.6         2.8          4.9         2.0  virginica 122
123          7.7         2.8          6.7         2.0  virginica 123
124          6.3         2.7          4.9         1.8  virginica 124
125          6.7         3.3          5.7         2.1  virginica 125
126          7.2         3.2          6.0         1.8  virginica 126
127          6.2         2.8          4.8         1.8  virginica 127
128          6.1         3.0          4.9         1.8  virginica 128
129          6.4         2.8          5.6         2.1  virginica 129
130          7.2         3.0          5.8         1.6  virginica 130
131          7.4         2.8          6.1         1.9  virginica 131
132          7.9         3.8          6.4         2.0  virginica 132
133          6.4         2.8          5.6         2.2  virginica 133
134          6.3         2.8          5.1         1.5  virginica 134
135          6.1         2.6          5.6         1.4  virginica 135
136          7.7         3.0          6.1         2.3  virginica 136
137          6.3         3.4          5.6         2.4  virginica 137
138          6.4         3.1          5.5         1.8  virginica 138
139          6.0         3.0          4.8         1.8  virginica 139
140          6.9         3.1          5.4         2.1  virginica 140
141          6.7         3.1          5.6         2.4  virginica 141
142          6.9         3.1          5.1         2.3  virginica 142
143          5.8         2.7          5.1         1.9  virginica 143
144          6.8         3.2          5.9         2.3  virginica 144
145          6.7         3.3          5.7         2.5  virginica 145
146          6.7         3.0          5.2         2.3  virginica 146
147          6.3         2.5          5.0         1.9  virginica 147
148          6.5         3.0          5.2         2.0  virginica 148
149          6.2         3.4          5.4         2.3  virginica 149
150          5.9         3.0          5.1         1.8  virginica 150
       species_ind
1         setosa_1
2         setosa_2
3         setosa_3
4         setosa_4
5         setosa_5
6         setosa_6
7         setosa_7
8         setosa_8
9         setosa_9
10       setosa_10
11       setosa_11
12       setosa_12
13       setosa_13
14       setosa_14
15       setosa_15
16       setosa_16
17       setosa_17
18       setosa_18
19       setosa_19
20       setosa_20
21       setosa_21
22       setosa_22
23       setosa_23
24       setosa_24
25       setosa_25
26       setosa_26
27       setosa_27
28       setosa_28
29       setosa_29
30       setosa_30
31       setosa_31
32       setosa_32
33       setosa_33
34       setosa_34
35       setosa_35
36       setosa_36
37       setosa_37
38       setosa_38
39       setosa_39
40       setosa_40
41       setosa_41
42       setosa_42
43       setosa_43
44       setosa_44
45       setosa_45
46       setosa_46
47       setosa_47
48       setosa_48
49       setosa_49
50       setosa_50
51   versicolor_51
52   versicolor_52
53   versicolor_53
54   versicolor_54
55   versicolor_55
56   versicolor_56
57   versicolor_57
58   versicolor_58
59   versicolor_59
60   versicolor_60
61   versicolor_61
62   versicolor_62
63   versicolor_63
64   versicolor_64
65   versicolor_65
66   versicolor_66
67   versicolor_67
68   versicolor_68
69   versicolor_69
70   versicolor_70
71   versicolor_71
72   versicolor_72
73   versicolor_73
74   versicolor_74
75   versicolor_75
76   versicolor_76
77   versicolor_77
78   versicolor_78
79   versicolor_79
80   versicolor_80
81   versicolor_81
82   versicolor_82
83   versicolor_83
84   versicolor_84
85   versicolor_85
86   versicolor_86
87   versicolor_87
88   versicolor_88
89   versicolor_89
90   versicolor_90
91   versicolor_91
92   versicolor_92
93   versicolor_93
94   versicolor_94
95   versicolor_95
96   versicolor_96
97   versicolor_97
98   versicolor_98
99   versicolor_99
100 versicolor_100
101  virginica_101
102  virginica_102
103  virginica_103
104  virginica_104
105  virginica_105
106  virginica_106
107  virginica_107
108  virginica_108
109  virginica_109
110  virginica_110
111  virginica_111
112  virginica_112
113  virginica_113
114  virginica_114
115  virginica_115
116  virginica_116
117  virginica_117
118  virginica_118
119  virginica_119
120  virginica_120
121  virginica_121
122  virginica_122
123  virginica_123
124  virginica_124
125  virginica_125
126  virginica_126
127  virginica_127
128  virginica_128
129  virginica_129
130  virginica_130
131  virginica_131
132  virginica_132
133  virginica_133
134  virginica_134
135  virginica_135
136  virginica_136
137  virginica_137
138  virginica_138
139  virginica_139
140  virginica_140
141  virginica_141
142  virginica_142
143  virginica_143
144  virginica_144
145  virginica_145
146  virginica_146
147  virginica_147
148  virginica_148
149  virginica_149
150  virginica_150</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1: Explore the Iris Dataset</a:t>
            </a:r>
          </a:p>
        </p:txBody>
      </p:sp>
      <p:sp>
        <p:nvSpPr>
          <p:cNvPr id="3" name="Text Placeholder 2"/>
          <p:cNvSpPr>
            <a:spLocks noGrp="1"/>
          </p:cNvSpPr>
          <p:nvPr>
            <p:ph idx="1" type="body"/>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overview_plot &lt;- iris_long_df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(species, values, </a:t>
            </a:r>
            <a:r>
              <a:rPr>
                <a:solidFill>
                  <a:srgbClr val="657422"/>
                </a:solidFill>
                <a:latin typeface="Courier"/>
              </a:rPr>
              <a:t>color=</a:t>
            </a:r>
            <a:r>
              <a:rPr>
                <a:solidFill>
                  <a:srgbClr val="003B4F"/>
                </a:solidFill>
                <a:latin typeface="Courier"/>
              </a:rPr>
              <a:t>species))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variable, </a:t>
            </a:r>
            <a:r>
              <a:rPr>
                <a:solidFill>
                  <a:srgbClr val="657422"/>
                </a:solidFill>
                <a:latin typeface="Courier"/>
              </a:rPr>
              <a:t>scales =</a:t>
            </a:r>
            <a:r>
              <a:rPr>
                <a:solidFill>
                  <a:srgbClr val="003B4F"/>
                </a:solidFill>
                <a:latin typeface="Courier"/>
              </a:rPr>
              <a:t> </a:t>
            </a:r>
            <a:r>
              <a:rPr>
                <a:solidFill>
                  <a:srgbClr val="20794D"/>
                </a:solidFill>
                <a:latin typeface="Courier"/>
              </a:rPr>
              <a:t>"free"</a:t>
            </a:r>
            <a:r>
              <a:rPr>
                <a:solidFill>
                  <a:srgbClr val="003B4F"/>
                </a:solidFill>
                <a:latin typeface="Courier"/>
              </a:rPr>
              <a:t>)</a:t>
            </a:r>
            <a:br/>
            <a:r>
              <a:rPr>
                <a:solidFill>
                  <a:srgbClr val="003B4F"/>
                </a:solidFill>
                <a:latin typeface="Courier"/>
              </a:rPr>
              <a:t>overview_plot</a:t>
            </a:r>
          </a:p>
        </p:txBody>
      </p:sp>
      <p:pic>
        <p:nvPicPr>
          <p:cNvPr descr="17_01_lecture_powerpoint_files/figure-pptx/unnamed-chunk-1-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PCA? Goals and Overview</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17_01_lecture_powerpoint_files/figure-pptx/correaltions-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High-Dimensional Data Visualization</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Assumptions - Critical to Check First!</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Check PCA Assumptions - Correlations</a:t>
            </a:r>
          </a:p>
        </p:txBody>
      </p:sp>
      <p:sp>
        <p:nvSpPr>
          <p:cNvPr id="4" name="Text Placeholder 3"/>
          <p:cNvSpPr>
            <a:spLocks noGrp="1"/>
          </p:cNvSpPr>
          <p:nvPr>
            <p:ph idx="2" sz="half" type="body"/>
          </p:nvPr>
        </p:nvSpPr>
        <p:spPr/>
        <p:txBody>
          <a:bodyPr/>
          <a:lstStyle/>
          <a:p>
            <a:pPr lvl="0" indent="0">
              <a:buNone/>
            </a:pPr>
            <a:r>
              <a:rPr>
                <a:latin typeface="Courier"/>
              </a:rPr>
              <a:t>[1] "Correlation Matrix:"</a:t>
            </a:r>
          </a:p>
          <a:p>
            <a:pPr lvl="0" indent="0">
              <a:buNone/>
            </a:pPr>
            <a:r>
              <a:rPr>
                <a:latin typeface="Courier"/>
              </a:rPr>
              <a:t>             sepal_length sepal_width petal_length petal_width
sepal_length        1.000      -0.118        0.872       0.818
sepal_width        -0.118       1.000       -0.428      -0.366
petal_length        0.872      -0.428        1.000       0.963
petal_width         0.818      -0.366        0.963       1.000</a:t>
            </a:r>
          </a:p>
        </p:txBody>
      </p:sp>
      <p:pic>
        <p:nvPicPr>
          <p:cNvPr descr="17_01_lecture_powerpoint_files/figure-pptx/check_correlati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Linearity</a:t>
            </a:r>
          </a:p>
        </p:txBody>
      </p:sp>
      <p:pic>
        <p:nvPicPr>
          <p:cNvPr descr="17_01_lecture_powerpoint_files/figure-pptx/check_linearity-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Outliers</a:t>
            </a:r>
          </a:p>
        </p:txBody>
      </p:sp>
      <p:pic>
        <p:nvPicPr>
          <p:cNvPr descr="17_01_lecture_powerpoint_files/figure-pptx/check_outliers-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3: Standardize the Data</a:t>
            </a:r>
          </a:p>
        </p:txBody>
      </p:sp>
      <p:sp>
        <p:nvSpPr>
          <p:cNvPr id="3" name="Content Placeholder 2"/>
          <p:cNvSpPr>
            <a:spLocks noGrp="1"/>
          </p:cNvSpPr>
          <p:nvPr>
            <p:ph idx="1"/>
          </p:nvPr>
        </p:nvSpPr>
        <p:spPr/>
        <p:txBody>
          <a:bodyPr/>
          <a:lstStyle/>
          <a:p>
            <a:pPr lvl="0" indent="0" marL="0">
              <a:spcBef>
                <a:spcPts val="3000"/>
              </a:spcBef>
              <a:buNone/>
            </a:pPr>
            <a:r>
              <a:rPr b="1"/>
              <a:t>STANDARDIZATION: Making all variables comparable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[1] "Means after standardization (should be ~0):"</a:t>
            </a:r>
          </a:p>
          <a:p>
            <a:pPr lvl="0" indent="0">
              <a:buNone/>
            </a:pPr>
            <a:r>
              <a:rPr>
                <a:latin typeface="Courier"/>
              </a:rPr>
              <a:t>sepal_length  sepal_width petal_length  petal_width 
           0            0            0            0 </a:t>
            </a:r>
          </a:p>
          <a:p>
            <a:pPr lvl="0" indent="0">
              <a:buNone/>
            </a:pPr>
            <a:r>
              <a:rPr>
                <a:latin typeface="Courier"/>
              </a:rPr>
              <a:t>[1] "Standard deviations after standardization (should be 1):"</a:t>
            </a:r>
          </a:p>
          <a:p>
            <a:pPr lvl="0" indent="0">
              <a:buNone/>
            </a:pPr>
            <a:r>
              <a:rPr>
                <a:latin typeface="Courier"/>
              </a:rPr>
              <a:t>sepal_length  sepal_width petal_length  petal_width 
           1            1            1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4: Perform PCA - The Mathematics</a:t>
            </a:r>
          </a:p>
        </p:txBody>
      </p:sp>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a:p>
            <a:pPr lvl="0" indent="0" marL="0">
              <a:spcBef>
                <a:spcPts val="3000"/>
              </a:spcBef>
              <a:buNone/>
            </a:pPr>
            <a:r>
              <a:rPr b="1"/>
              <a:t>The mathematics (simplified):</a:t>
            </a:r>
          </a:p>
          <a:p>
            <a:pPr lvl="0"/>
            <a:r>
              <a:rPr/>
              <a:t>PCA rotates your data to find the direction with maximum spread (PC1)</a:t>
            </a:r>
          </a:p>
          <a:p>
            <a:pPr lvl="0"/>
            <a:r>
              <a:rPr/>
              <a:t>Then finds the next direction with maximum spread perpendicular to PC1 (PC2)</a:t>
            </a:r>
          </a:p>
          <a:p>
            <a:pPr lvl="0"/>
            <a:r>
              <a:rPr/>
              <a:t>Continues until it has as many components as original variables (4 in our case)</a:t>
            </a:r>
          </a:p>
          <a:p>
            <a:pPr lvl="0" indent="0" marL="0">
              <a:spcBef>
                <a:spcPts val="3000"/>
              </a:spcBef>
              <a:buNone/>
            </a:pPr>
            <a:r>
              <a:rPr b="1"/>
              <a:t>Why center = FALSE and scale = FALSE?</a:t>
            </a:r>
          </a:p>
          <a:p>
            <a:pPr lvl="0" indent="0" marL="0">
              <a:buNone/>
            </a:pPr>
            <a:r>
              <a:rPr/>
              <a:t>We already standardized our data in Step 3, so we tell R not to do it again: - center = FALSE: Don’t subtract the mean (we already did) - scale = FALSE: Don’t divide by standard deviation (we already did)</a:t>
            </a:r>
          </a:p>
          <a:p>
            <a:pPr lvl="0" indent="0" marL="0">
              <a:spcBef>
                <a:spcPts val="3000"/>
              </a:spcBef>
              <a:buNone/>
            </a:pPr>
            <a:r>
              <a:rPr b="1"/>
              <a:t>What the summary shows:</a:t>
            </a:r>
          </a:p>
          <a:p>
            <a:pPr lvl="0"/>
            <a:r>
              <a:rPr b="1"/>
              <a:t>Standard deviation</a:t>
            </a:r>
            <a:r>
              <a:rPr/>
              <a:t>: How much variation each component captures</a:t>
            </a:r>
          </a:p>
          <a:p>
            <a:pPr lvl="0"/>
            <a:r>
              <a:rPr b="1"/>
              <a:t>Proportion of Variance</a:t>
            </a:r>
            <a:r>
              <a:rPr/>
              <a:t>: Percentage of total variation explained by each component</a:t>
            </a:r>
          </a:p>
          <a:p>
            <a:pPr lvl="0"/>
            <a:r>
              <a:rPr b="1"/>
              <a:t>Cumulative Proportion</a:t>
            </a:r>
            <a:r>
              <a:rPr/>
              <a:t>: Running total of variance explained</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Perform PCA on standardized data</a:t>
            </a:r>
            <a:br/>
            <a:r>
              <a:rPr>
                <a:solidFill>
                  <a:srgbClr val="003B4F"/>
                </a:solidFill>
                <a:latin typeface="Courier"/>
              </a:rPr>
              <a:t>iris_pca &lt;- </a:t>
            </a:r>
            <a:r>
              <a:rPr>
                <a:solidFill>
                  <a:srgbClr val="4758AB"/>
                </a:solidFill>
                <a:latin typeface="Courier"/>
              </a:rPr>
              <a:t>prcomp</a:t>
            </a:r>
            <a:r>
              <a:rPr>
                <a:solidFill>
                  <a:srgbClr val="003B4F"/>
                </a:solidFill>
                <a:latin typeface="Courier"/>
              </a:rPr>
              <a:t>(iris_scaled, </a:t>
            </a:r>
            <a:r>
              <a:rPr>
                <a:solidFill>
                  <a:srgbClr val="657422"/>
                </a:solidFill>
                <a:latin typeface="Courier"/>
              </a:rPr>
              <a:t>center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5E5E5E"/>
                </a:solidFill>
                <a:latin typeface="Courier"/>
              </a:rPr>
              <a:t># Note: center and scale are FALSE because we already standardized</a:t>
            </a:r>
            <a:br/>
            <a:br/>
            <a:r>
              <a:rPr>
                <a:solidFill>
                  <a:srgbClr val="5E5E5E"/>
                </a:solidFill>
                <a:latin typeface="Courier"/>
              </a:rPr>
              <a:t># Alternative using vegan package</a:t>
            </a:r>
            <a:br/>
            <a:r>
              <a:rPr>
                <a:solidFill>
                  <a:srgbClr val="003B4F"/>
                </a:solidFill>
                <a:latin typeface="Courier"/>
              </a:rPr>
              <a:t>iris_pca_vegan &lt;- </a:t>
            </a:r>
            <a:r>
              <a:rPr>
                <a:solidFill>
                  <a:srgbClr val="4758AB"/>
                </a:solidFill>
                <a:latin typeface="Courier"/>
              </a:rPr>
              <a:t>rda</a:t>
            </a:r>
            <a:r>
              <a:rPr>
                <a:solidFill>
                  <a:srgbClr val="003B4F"/>
                </a:solidFill>
                <a:latin typeface="Courier"/>
              </a:rPr>
              <a:t>(iris_scaled)</a:t>
            </a:r>
            <a:br/>
            <a:br/>
            <a:r>
              <a:rPr>
                <a:solidFill>
                  <a:srgbClr val="5E5E5E"/>
                </a:solidFill>
                <a:latin typeface="Courier"/>
              </a:rPr>
              <a:t># Summary of PCA results</a:t>
            </a:r>
            <a:br/>
            <a:r>
              <a:rPr>
                <a:solidFill>
                  <a:srgbClr val="4758AB"/>
                </a:solidFill>
                <a:latin typeface="Courier"/>
              </a:rPr>
              <a:t>summary</a:t>
            </a:r>
            <a:r>
              <a:rPr>
                <a:solidFill>
                  <a:srgbClr val="003B4F"/>
                </a:solidFill>
                <a:latin typeface="Courier"/>
              </a:rPr>
              <a:t>(iris_pca)</a:t>
            </a:r>
          </a:p>
          <a:p>
            <a:pPr lvl="0" indent="0">
              <a:buNone/>
            </a:pPr>
            <a:r>
              <a:rPr>
                <a:latin typeface="Courier"/>
              </a:rPr>
              <a:t>Importance of components:
                          PC1    PC2     PC3     PC4
Standard deviation     1.7084 0.9560 0.38309 0.14393
Proportion of Variance 0.7296 0.2285 0.03669 0.00518
Cumulative Proportion  0.7296 0.9581 0.99482 1.00000</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Deriving Components: 2D Visualization</a:t>
            </a:r>
          </a:p>
        </p:txBody>
      </p:sp>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739900"/>
            <a:ext cx="2781300" cy="2311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Axis Rotation</a:t>
            </a:r>
          </a:p>
        </p:txBody>
      </p:sp>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473200"/>
            <a:ext cx="2781300" cy="28321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Multivariate Extension</a:t>
            </a:r>
          </a:p>
        </p:txBody>
      </p:sp>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397000"/>
            <a:ext cx="2781300" cy="3009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Component Information: Eigenvalues and Eigenvectors</a:t>
            </a:r>
          </a:p>
        </p:txBody>
      </p:sp>
      <p:sp>
        <p:nvSpPr>
          <p:cNvPr id="3" name="Content Placeholder 2"/>
          <p:cNvSpPr>
            <a:spLocks noGrp="1"/>
          </p:cNvSpPr>
          <p:nvPr>
            <p:ph idx="1"/>
          </p:nvPr>
        </p:nvSpPr>
        <p:spPr/>
        <p:txBody>
          <a:bodyPr/>
          <a:lstStyle/>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4: Understanding Eigenvalues and Variance</a:t>
            </a:r>
          </a:p>
        </p:txBody>
      </p:sp>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Extract eigenvalues (variance explained by each component)</a:t>
            </a:r>
            <a:br/>
            <a:r>
              <a:rPr>
                <a:solidFill>
                  <a:srgbClr val="003B4F"/>
                </a:solidFill>
                <a:latin typeface="Courier"/>
              </a:rPr>
              <a:t>eigenvalues &lt;- iris_pca</a:t>
            </a:r>
            <a:r>
              <a:rPr>
                <a:solidFill>
                  <a:srgbClr val="5E5E5E"/>
                </a:solidFill>
                <a:latin typeface="Courier"/>
              </a:rPr>
              <a:t>$</a:t>
            </a:r>
            <a:r>
              <a:rPr>
                <a:solidFill>
                  <a:srgbClr val="003B4F"/>
                </a:solidFill>
                <a:latin typeface="Courier"/>
              </a:rPr>
              <a:t>sdev</a:t>
            </a:r>
            <a:r>
              <a:rPr>
                <a:solidFill>
                  <a:srgbClr val="5E5E5E"/>
                </a:solidFill>
                <a:latin typeface="Courier"/>
              </a:rPr>
              <a:t>^</a:t>
            </a:r>
            <a:r>
              <a:rPr>
                <a:solidFill>
                  <a:srgbClr val="AD0000"/>
                </a:solidFill>
                <a:latin typeface="Courier"/>
              </a:rPr>
              <a:t>2</a:t>
            </a:r>
            <a:br/>
            <a:r>
              <a:rPr>
                <a:solidFill>
                  <a:srgbClr val="003B4F"/>
                </a:solidFill>
                <a:latin typeface="Courier"/>
              </a:rPr>
              <a:t>prop_variance &lt;- eigenvalues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(eigenvalues)</a:t>
            </a:r>
            <a:br/>
            <a:r>
              <a:rPr>
                <a:solidFill>
                  <a:srgbClr val="003B4F"/>
                </a:solidFill>
                <a:latin typeface="Courier"/>
              </a:rPr>
              <a:t>cumsum_variance &lt;- </a:t>
            </a:r>
            <a:r>
              <a:rPr>
                <a:solidFill>
                  <a:srgbClr val="4758AB"/>
                </a:solidFill>
                <a:latin typeface="Courier"/>
              </a:rPr>
              <a:t>cumsum</a:t>
            </a:r>
            <a:r>
              <a:rPr>
                <a:solidFill>
                  <a:srgbClr val="003B4F"/>
                </a:solidFill>
                <a:latin typeface="Courier"/>
              </a:rPr>
              <a:t>(prop_variance)</a:t>
            </a:r>
            <a:br/>
            <a:br/>
            <a:r>
              <a:rPr>
                <a:solidFill>
                  <a:srgbClr val="5E5E5E"/>
                </a:solidFill>
                <a:latin typeface="Courier"/>
              </a:rPr>
              <a:t># Create a summary table</a:t>
            </a:r>
            <a:br/>
            <a:r>
              <a:rPr>
                <a:solidFill>
                  <a:srgbClr val="003B4F"/>
                </a:solidFill>
                <a:latin typeface="Courier"/>
              </a:rPr>
              <a:t>pca_summary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4758AB"/>
                </a:solidFill>
                <a:latin typeface="Courier"/>
              </a:rPr>
              <a:t>length</a:t>
            </a:r>
            <a:r>
              <a:rPr>
                <a:solidFill>
                  <a:srgbClr val="003B4F"/>
                </a:solidFill>
                <a:latin typeface="Courier"/>
              </a:rPr>
              <a:t>(eigenvalues)),</a:t>
            </a:r>
            <a:br/>
            <a:r>
              <a:rPr>
                <a:solidFill>
                  <a:srgbClr val="003B4F"/>
                </a:solidFill>
                <a:latin typeface="Courier"/>
              </a:rPr>
              <a:t>  </a:t>
            </a:r>
            <a:r>
              <a:rPr>
                <a:solidFill>
                  <a:srgbClr val="657422"/>
                </a:solidFill>
                <a:latin typeface="Courier"/>
              </a:rPr>
              <a:t>Eigenvalue =</a:t>
            </a:r>
            <a:r>
              <a:rPr>
                <a:solidFill>
                  <a:srgbClr val="003B4F"/>
                </a:solidFill>
                <a:latin typeface="Courier"/>
              </a:rPr>
              <a:t> eigenvalues,</a:t>
            </a:r>
            <a:br/>
            <a:r>
              <a:rPr>
                <a:solidFill>
                  <a:srgbClr val="003B4F"/>
                </a:solidFill>
                <a:latin typeface="Courier"/>
              </a:rPr>
              <a:t>  </a:t>
            </a:r>
            <a:r>
              <a:rPr>
                <a:solidFill>
                  <a:srgbClr val="657422"/>
                </a:solidFill>
                <a:latin typeface="Courier"/>
              </a:rPr>
              <a:t>Prop_Variance =</a:t>
            </a:r>
            <a:r>
              <a:rPr>
                <a:solidFill>
                  <a:srgbClr val="003B4F"/>
                </a:solidFill>
                <a:latin typeface="Courier"/>
              </a:rPr>
              <a:t> prop_variance,</a:t>
            </a:r>
            <a:br/>
            <a:r>
              <a:rPr>
                <a:solidFill>
                  <a:srgbClr val="003B4F"/>
                </a:solidFill>
                <a:latin typeface="Courier"/>
              </a:rPr>
              <a:t>  </a:t>
            </a:r>
            <a:r>
              <a:rPr>
                <a:solidFill>
                  <a:srgbClr val="657422"/>
                </a:solidFill>
                <a:latin typeface="Courier"/>
              </a:rPr>
              <a:t>Cumsum_Variance =</a:t>
            </a:r>
            <a:r>
              <a:rPr>
                <a:solidFill>
                  <a:srgbClr val="003B4F"/>
                </a:solidFill>
                <a:latin typeface="Courier"/>
              </a:rPr>
              <a:t> cumsum_variance</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"PCA Summary:"</a:t>
            </a:r>
            <a:r>
              <a:rPr>
                <a:solidFill>
                  <a:srgbClr val="003B4F"/>
                </a:solidFill>
                <a:latin typeface="Courier"/>
              </a:rPr>
              <a:t>)</a:t>
            </a:r>
          </a:p>
          <a:p>
            <a:pPr lvl="0" indent="0">
              <a:buNone/>
            </a:pPr>
            <a:r>
              <a:rPr>
                <a:latin typeface="Courier"/>
              </a:rPr>
              <a:t>[1] "PCA Summary:"</a:t>
            </a:r>
          </a:p>
          <a:p>
            <a:pPr lvl="0" indent="0">
              <a:buNone/>
            </a:pPr>
            <a:r>
              <a:rPr>
                <a:solidFill>
                  <a:srgbClr val="4758AB"/>
                </a:solidFill>
                <a:latin typeface="Courier"/>
              </a:rPr>
              <a:t>kable</a:t>
            </a:r>
            <a:r>
              <a:rPr>
                <a:solidFill>
                  <a:srgbClr val="003B4F"/>
                </a:solidFill>
                <a:latin typeface="Courier"/>
              </a:rPr>
              <a:t>(pca_summary, </a:t>
            </a:r>
            <a:r>
              <a:rPr>
                <a:solidFill>
                  <a:srgbClr val="657422"/>
                </a:solidFill>
                <a:latin typeface="Courier"/>
              </a:rPr>
              <a:t>digits =</a:t>
            </a:r>
            <a:r>
              <a:rPr>
                <a:solidFill>
                  <a:srgbClr val="003B4F"/>
                </a:solidFill>
                <a:latin typeface="Courier"/>
              </a:rPr>
              <a:t> </a:t>
            </a:r>
            <a:r>
              <a:rPr>
                <a:solidFill>
                  <a:srgbClr val="AD0000"/>
                </a:solidFill>
                <a:latin typeface="Courier"/>
              </a:rPr>
              <a:t>3</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5: Determine Number of Components - Scree Plot</a:t>
            </a:r>
          </a:p>
        </p:txBody>
      </p:sp>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a:p>
            <a:pPr lvl="0" indent="0" marL="0">
              <a:spcBef>
                <a:spcPts val="3000"/>
              </a:spcBef>
              <a:buNone/>
            </a:pPr>
            <a:r>
              <a:rPr b="1"/>
              <a:t>How to read a Scree Plot:</a:t>
            </a:r>
          </a:p>
          <a:p>
            <a:pPr lvl="0"/>
            <a:r>
              <a:rPr b="1"/>
              <a:t>Y-axis</a:t>
            </a:r>
            <a:r>
              <a:rPr/>
              <a:t>: Percentage of variance explained by each component</a:t>
            </a:r>
          </a:p>
          <a:p>
            <a:pPr lvl="0"/>
            <a:r>
              <a:rPr b="1"/>
              <a:t>X-axis</a:t>
            </a:r>
            <a:r>
              <a:rPr/>
              <a:t>: Component number (PC1, PC2, etc.)</a:t>
            </a:r>
          </a:p>
          <a:p>
            <a:pPr lvl="0"/>
            <a:r>
              <a:rPr b="1"/>
              <a:t>The pattern</a:t>
            </a:r>
            <a:r>
              <a:rPr/>
              <a:t>: Usually shows a steep drop followed by a leveling off</a:t>
            </a:r>
          </a:p>
          <a:p>
            <a:pPr lvl="0" indent="0" marL="0">
              <a:spcBef>
                <a:spcPts val="3000"/>
              </a:spcBef>
              <a:buNone/>
            </a:pPr>
            <a:r>
              <a:rPr b="1"/>
              <a:t>The “Elbow Method”:</a:t>
            </a:r>
          </a:p>
          <a:p>
            <a:pPr lvl="0" indent="0" marL="0">
              <a:buNone/>
            </a:pPr>
            <a:r>
              <a:rPr/>
              <a:t>Look for where the line “bends” or forms an elbow:</a:t>
            </a:r>
          </a:p>
          <a:p>
            <a:pPr lvl="0"/>
            <a:r>
              <a:rPr/>
              <a:t>Components before the elbow = important (steep slope)</a:t>
            </a:r>
          </a:p>
          <a:p>
            <a:pPr lvl="0"/>
            <a:r>
              <a:rPr/>
              <a:t>Components after the elbow = less important (gentle slope)</a:t>
            </a:r>
          </a:p>
          <a:p>
            <a:pPr lvl="0"/>
            <a:r>
              <a:rPr/>
              <a:t>Keep components up to and including the elbow</a:t>
            </a:r>
          </a:p>
          <a:p>
            <a:pPr lvl="0" indent="0" marL="0">
              <a:spcBef>
                <a:spcPts val="3000"/>
              </a:spcBef>
              <a:buNone/>
            </a:pPr>
            <a:r>
              <a:rPr b="1"/>
              <a:t>What to look for in our plot:</a:t>
            </a:r>
          </a:p>
          <a:p>
            <a:pPr lvl="0"/>
            <a:r>
              <a:rPr/>
              <a:t>If PC1 explains 70% and PC2 explains 20%, but PC3 only explains 5%, the elbow is at PC2</a:t>
            </a:r>
          </a:p>
          <a:p>
            <a:pPr lvl="0"/>
            <a:r>
              <a:rPr/>
              <a:t>This suggests keeping the first 2 components</a:t>
            </a:r>
          </a:p>
          <a:p>
            <a:pPr lvl="0"/>
            <a:r>
              <a:rPr/>
              <a:t>The dramatic drop from PC1 to PC2, then gentle decline after, confirms our dimension reduction worked well</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5: Component Selection Rules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Eigenvalue &gt; 1 rule (Kaiser criterion)</a:t>
            </a:r>
            <a:br/>
            <a:r>
              <a:rPr>
                <a:solidFill>
                  <a:srgbClr val="003B4F"/>
                </a:solidFill>
                <a:latin typeface="Courier"/>
              </a:rPr>
              <a:t>components_to_keep &lt;- </a:t>
            </a:r>
            <a:r>
              <a:rPr>
                <a:solidFill>
                  <a:srgbClr val="4758AB"/>
                </a:solidFill>
                <a:latin typeface="Courier"/>
              </a:rPr>
              <a:t>sum</a:t>
            </a:r>
            <a:r>
              <a:rPr>
                <a:solidFill>
                  <a:srgbClr val="003B4F"/>
                </a:solidFill>
                <a:latin typeface="Courier"/>
              </a:rPr>
              <a:t>(eigenvalues </a:t>
            </a:r>
            <a:r>
              <a:rPr>
                <a:solidFill>
                  <a:srgbClr val="5E5E5E"/>
                </a:solidFill>
                <a:latin typeface="Courier"/>
              </a:rPr>
              <a:t>&gt;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with eigenvalue &gt; 1:"</a:t>
            </a:r>
            <a:r>
              <a:rPr>
                <a:solidFill>
                  <a:srgbClr val="003B4F"/>
                </a:solidFill>
                <a:latin typeface="Courier"/>
              </a:rPr>
              <a:t>, components_to_keep))</a:t>
            </a:r>
          </a:p>
          <a:p>
            <a:pPr lvl="0" indent="0">
              <a:buNone/>
            </a:pPr>
            <a:r>
              <a:rPr>
                <a:latin typeface="Courier"/>
              </a:rPr>
              <a:t>[1] "Components with eigenvalue &gt; 1: 1"</a:t>
            </a:r>
          </a:p>
          <a:p>
            <a:pPr lvl="0" indent="0">
              <a:buNone/>
            </a:pPr>
            <a:r>
              <a:rPr>
                <a:solidFill>
                  <a:srgbClr val="5E5E5E"/>
                </a:solidFill>
                <a:latin typeface="Courier"/>
              </a:rPr>
              <a:t># Components explaining at least 80% of variance</a:t>
            </a:r>
            <a:br/>
            <a:r>
              <a:rPr>
                <a:solidFill>
                  <a:srgbClr val="003B4F"/>
                </a:solidFill>
                <a:latin typeface="Courier"/>
              </a:rPr>
              <a:t>components_80_percent &lt;- </a:t>
            </a:r>
            <a:r>
              <a:rPr>
                <a:solidFill>
                  <a:srgbClr val="4758AB"/>
                </a:solidFill>
                <a:latin typeface="Courier"/>
              </a:rPr>
              <a:t>which</a:t>
            </a:r>
            <a:r>
              <a:rPr>
                <a:solidFill>
                  <a:srgbClr val="003B4F"/>
                </a:solidFill>
                <a:latin typeface="Courier"/>
              </a:rPr>
              <a:t>(cumsum_variance </a:t>
            </a:r>
            <a:r>
              <a:rPr>
                <a:solidFill>
                  <a:srgbClr val="5E5E5E"/>
                </a:solidFill>
                <a:latin typeface="Courier"/>
              </a:rPr>
              <a:t>&gt;=</a:t>
            </a:r>
            <a:r>
              <a:rPr>
                <a:solidFill>
                  <a:srgbClr val="003B4F"/>
                </a:solidFill>
                <a:latin typeface="Courier"/>
              </a:rPr>
              <a:t> </a:t>
            </a:r>
            <a:r>
              <a:rPr>
                <a:solidFill>
                  <a:srgbClr val="AD0000"/>
                </a:solidFill>
                <a:latin typeface="Courier"/>
              </a:rPr>
              <a:t>0.80</a:t>
            </a:r>
            <a:r>
              <a:rPr>
                <a:solidFill>
                  <a:srgbClr val="003B4F"/>
                </a:solidFill>
                <a:latin typeface="Courier"/>
              </a:rPr>
              <a:t>)[</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needed for 80% variance:"</a:t>
            </a:r>
            <a:r>
              <a:rPr>
                <a:solidFill>
                  <a:srgbClr val="003B4F"/>
                </a:solidFill>
                <a:latin typeface="Courier"/>
              </a:rPr>
              <a:t>, components_80_percent))</a:t>
            </a:r>
          </a:p>
          <a:p>
            <a:pPr lvl="0" indent="0">
              <a:buNone/>
            </a:pPr>
            <a:r>
              <a:rPr>
                <a:latin typeface="Courier"/>
              </a:rPr>
              <a:t>[1] "Components needed for 80% variance: 2"</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 Interpret the Components - Loadings</a:t>
            </a:r>
          </a:p>
        </p:txBody>
      </p:sp>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a:p>
            <a:pPr lvl="0" indent="0" marL="0">
              <a:spcBef>
                <a:spcPts val="3000"/>
              </a:spcBef>
              <a:buNone/>
            </a:pPr>
            <a:r>
              <a:rPr b="1"/>
              <a:t>How to read the loadings table</a:t>
            </a:r>
          </a:p>
          <a:p>
            <a:pPr lvl="0"/>
            <a:r>
              <a:rPr b="1"/>
              <a:t>Values range from -1 to +1</a:t>
            </a:r>
            <a:r>
              <a:rPr/>
              <a:t> (like correlations)</a:t>
            </a:r>
          </a:p>
          <a:p>
            <a:pPr lvl="0"/>
            <a:r>
              <a:rPr b="1"/>
              <a:t>Large positive values</a:t>
            </a:r>
            <a:r>
              <a:rPr/>
              <a:t> (e.g., 0.8): This variable contributes strongly in the positive direction</a:t>
            </a:r>
          </a:p>
          <a:p>
            <a:pPr lvl="0"/>
            <a:r>
              <a:rPr b="1"/>
              <a:t>Large negative values</a:t>
            </a:r>
            <a:r>
              <a:rPr/>
              <a:t> (e.g., -0.8): This variable contributes strongly in the negative direction</a:t>
            </a:r>
          </a:p>
          <a:p>
            <a:pPr lvl="0"/>
            <a:r>
              <a:rPr b="1"/>
              <a:t>Values near 0</a:t>
            </a:r>
            <a:r>
              <a:rPr/>
              <a:t>: This variable doesn’t contribute much to this component</a:t>
            </a:r>
          </a:p>
          <a:p>
            <a:pPr lvl="0" indent="0" marL="0">
              <a:spcBef>
                <a:spcPts val="3000"/>
              </a:spcBef>
              <a:buNone/>
            </a:pPr>
            <a:r>
              <a:rPr b="1"/>
              <a:t>Interpreting the patterns:</a:t>
            </a:r>
          </a:p>
          <a:p>
            <a:pPr lvl="0"/>
            <a:r>
              <a:rPr b="1"/>
              <a:t>If all loadings have similar signs</a:t>
            </a:r>
            <a:r>
              <a:rPr/>
              <a:t>: Component represents overall size (all measurements increase/decrease together)</a:t>
            </a:r>
          </a:p>
          <a:p>
            <a:pPr lvl="0"/>
            <a:r>
              <a:rPr b="1"/>
              <a:t>If loadings have mixed signs</a:t>
            </a:r>
            <a:r>
              <a:rPr/>
              <a:t>: Component represents shape or proportions (some measurements increase while others decrease)</a:t>
            </a:r>
          </a:p>
          <a:p>
            <a:pPr lvl="0"/>
            <a:r>
              <a:rPr b="1"/>
              <a:t>Dominant variables</a:t>
            </a:r>
            <a:r>
              <a:rPr/>
              <a:t>: Variables with the largest absolute loadings drive that component’s meaning</a:t>
            </a:r>
          </a:p>
          <a:p>
            <a:pPr lvl="0" indent="0" marL="0">
              <a:spcBef>
                <a:spcPts val="3000"/>
              </a:spcBef>
              <a:buNone/>
            </a:pPr>
            <a:r>
              <a:rPr b="1"/>
              <a:t>Example interpretation:</a:t>
            </a:r>
          </a:p>
          <a:p>
            <a:pPr lvl="0" indent="0" marL="0">
              <a:buNone/>
            </a:pPr>
            <a:r>
              <a:rPr/>
              <a:t>If PC1 has all negative loadings around -0.5, it means:</a:t>
            </a:r>
          </a:p>
          <a:p>
            <a:pPr lvl="0"/>
            <a:r>
              <a:rPr/>
              <a:t>Flowers with high PC1 scores have small values for ALL measurements</a:t>
            </a:r>
          </a:p>
          <a:p>
            <a:pPr lvl="0"/>
            <a:r>
              <a:rPr/>
              <a:t>This component captures “overall flower size”</a:t>
            </a:r>
          </a:p>
          <a:p>
            <a:pPr lvl="0"/>
            <a:r>
              <a:rPr/>
              <a:t>The negative sign just indicates direction (could flip signs and interpretation)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Component loadings (how much each original variable contributes)</a:t>
            </a:r>
            <a:br/>
            <a:r>
              <a:rPr>
                <a:solidFill>
                  <a:srgbClr val="003B4F"/>
                </a:solidFill>
                <a:latin typeface="Courier"/>
              </a:rPr>
              <a:t>loadings_df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Variable =</a:t>
            </a:r>
            <a:r>
              <a:rPr>
                <a:solidFill>
                  <a:srgbClr val="003B4F"/>
                </a:solidFill>
                <a:latin typeface="Courier"/>
              </a:rPr>
              <a:t> </a:t>
            </a:r>
            <a:r>
              <a:rPr>
                <a:solidFill>
                  <a:srgbClr val="4758AB"/>
                </a:solidFill>
                <a:latin typeface="Courier"/>
              </a:rPr>
              <a:t>rownames</a:t>
            </a:r>
            <a:r>
              <a:rPr>
                <a:solidFill>
                  <a:srgbClr val="003B4F"/>
                </a:solidFill>
                <a:latin typeface="Courier"/>
              </a:rPr>
              <a:t>(iris_pca</a:t>
            </a:r>
            <a:r>
              <a:rPr>
                <a:solidFill>
                  <a:srgbClr val="5E5E5E"/>
                </a:solidFill>
                <a:latin typeface="Courier"/>
              </a:rPr>
              <a:t>$</a:t>
            </a:r>
            <a:r>
              <a:rPr>
                <a:solidFill>
                  <a:srgbClr val="003B4F"/>
                </a:solidFill>
                <a:latin typeface="Courier"/>
              </a:rPr>
              <a:t>rotation),</a:t>
            </a:r>
            <a:br/>
            <a:r>
              <a:rPr>
                <a:solidFill>
                  <a:srgbClr val="003B4F"/>
                </a:solidFill>
                <a:latin typeface="Courier"/>
              </a:rPr>
              <a:t>  </a:t>
            </a:r>
            <a:r>
              <a:rPr>
                <a:solidFill>
                  <a:srgbClr val="657422"/>
                </a:solidFill>
                <a:latin typeface="Courier"/>
              </a:rPr>
              <a:t>PC1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PC2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PC3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PC4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4</a:t>
            </a:r>
            <a:r>
              <a:rPr>
                <a:solidFill>
                  <a:srgbClr val="003B4F"/>
                </a:solidFill>
                <a:latin typeface="Courier"/>
              </a:rPr>
              <a:t>]</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"Component Loadings:"</a:t>
            </a:r>
            <a:r>
              <a:rPr>
                <a:solidFill>
                  <a:srgbClr val="003B4F"/>
                </a:solidFill>
                <a:latin typeface="Courier"/>
              </a:rPr>
              <a:t>)</a:t>
            </a:r>
          </a:p>
          <a:p>
            <a:pPr lvl="0" indent="0">
              <a:buNone/>
            </a:pPr>
            <a:r>
              <a:rPr>
                <a:latin typeface="Courier"/>
              </a:rPr>
              <a:t>[1] "Component Loadings:"</a:t>
            </a:r>
          </a:p>
          <a:p>
            <a:pPr lvl="0" indent="0">
              <a:buNone/>
            </a:pPr>
            <a:r>
              <a:rPr>
                <a:solidFill>
                  <a:srgbClr val="003B4F"/>
                </a:solidFill>
                <a:latin typeface="Courier"/>
              </a:rPr>
              <a:t>loadings_df</a:t>
            </a:r>
          </a:p>
          <a:p>
            <a:pPr lvl="0" indent="0">
              <a:buNone/>
            </a:pPr>
            <a:r>
              <a:rPr>
                <a:latin typeface="Courier"/>
              </a:rPr>
              <a:t>                 Variable        PC1         PC2        PC3        PC4
sepal_length sepal_length  0.5210659 -0.37741762  0.7195664  0.2612863
sepal_width   sepal_width -0.2693474 -0.92329566 -0.2443818 -0.1235096
petal_length petal_length  0.5804131 -0.02449161 -0.1421264 -0.8014492
petal_width   petal_width  0.5648565 -0.06694199 -0.6342727  0.5235971</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6: Eigenvector Properties</a:t>
            </a:r>
          </a:p>
        </p:txBody>
      </p:sp>
      <p:sp>
        <p:nvSpPr>
          <p:cNvPr id="3" name="Content Placeholder 2"/>
          <p:cNvSpPr>
            <a:spLocks noGrp="1"/>
          </p:cNvSpPr>
          <p:nvPr>
            <p:ph idx="1"/>
          </p:nvPr>
        </p:nvSpPr>
        <p:spPr/>
        <p:txBody>
          <a:bodyPr/>
          <a:lstStyle/>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6b: Visualization of Component Loadings</a:t>
            </a:r>
          </a:p>
        </p:txBody>
      </p:sp>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7: PCA Biplot - The Main Result</a:t>
            </a:r>
          </a:p>
        </p:txBody>
      </p:sp>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7: PCA Scores Plot - Alternative Visualization</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Alternative scores plot</a:t>
            </a:r>
            <a:br/>
            <a:r>
              <a:rPr>
                <a:solidFill>
                  <a:srgbClr val="4758AB"/>
                </a:solidFill>
                <a:latin typeface="Courier"/>
              </a:rPr>
              <a:t>ggplot</a:t>
            </a:r>
            <a:r>
              <a:rPr>
                <a:solidFill>
                  <a:srgbClr val="003B4F"/>
                </a:solidFill>
                <a:latin typeface="Courier"/>
              </a:rPr>
              <a:t>(pca_scores,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657422"/>
                </a:solidFill>
                <a:latin typeface="Courier"/>
              </a:rPr>
              <a:t>y =</a:t>
            </a:r>
            <a:r>
              <a:rPr>
                <a:solidFill>
                  <a:srgbClr val="003B4F"/>
                </a:solidFill>
                <a:latin typeface="Courier"/>
              </a:rPr>
              <a:t> PC2, </a:t>
            </a:r>
            <a:r>
              <a:rPr>
                <a:solidFill>
                  <a:srgbClr val="657422"/>
                </a:solidFill>
                <a:latin typeface="Courier"/>
              </a:rPr>
              <a:t>color =</a:t>
            </a:r>
            <a:r>
              <a:rPr>
                <a:solidFill>
                  <a:srgbClr val="003B4F"/>
                </a:solidFill>
                <a:latin typeface="Courier"/>
              </a:rPr>
              <a:t> species))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stat_ellipse</a:t>
            </a:r>
            <a:r>
              <a:rPr>
                <a:solidFill>
                  <a:srgbClr val="003B4F"/>
                </a:solidFill>
                <a:latin typeface="Courier"/>
              </a:rPr>
              <a:t>(</a:t>
            </a:r>
            <a:r>
              <a:rPr>
                <a:solidFill>
                  <a:srgbClr val="657422"/>
                </a:solidFill>
                <a:latin typeface="Courier"/>
              </a:rPr>
              <a:t>level =</a:t>
            </a:r>
            <a:r>
              <a:rPr>
                <a:solidFill>
                  <a:srgbClr val="003B4F"/>
                </a:solidFill>
                <a:latin typeface="Courier"/>
              </a:rPr>
              <a:t> </a:t>
            </a:r>
            <a:r>
              <a:rPr>
                <a:solidFill>
                  <a:srgbClr val="AD0000"/>
                </a:solidFill>
                <a:latin typeface="Courier"/>
              </a:rPr>
              <a:t>0.68</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5E5E5E"/>
                </a:solidFill>
                <a:latin typeface="Courier"/>
              </a:rPr>
              <a:t># Add ellipses</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Scores Plot"</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20794D"/>
                </a:solidFill>
                <a:latin typeface="Courier"/>
              </a:rPr>
              <a:t>"% of variance, PC2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"PC2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"#00AFBB"</a:t>
            </a:r>
            <a:r>
              <a:rPr>
                <a:solidFill>
                  <a:srgbClr val="003B4F"/>
                </a:solidFill>
                <a:latin typeface="Courier"/>
              </a:rPr>
              <a:t>, </a:t>
            </a:r>
            <a:r>
              <a:rPr>
                <a:solidFill>
                  <a:srgbClr val="20794D"/>
                </a:solidFill>
                <a:latin typeface="Courier"/>
              </a:rPr>
              <a:t>"#E7B800"</a:t>
            </a:r>
            <a:r>
              <a:rPr>
                <a:solidFill>
                  <a:srgbClr val="003B4F"/>
                </a:solidFill>
                <a:latin typeface="Courier"/>
              </a:rPr>
              <a:t>, </a:t>
            </a:r>
            <a:r>
              <a:rPr>
                <a:solidFill>
                  <a:srgbClr val="20794D"/>
                </a:solidFill>
                <a:latin typeface="Courier"/>
              </a:rPr>
              <a:t>"#FC4E07"</a:t>
            </a:r>
            <a:r>
              <a:rPr>
                <a:solidFill>
                  <a:srgbClr val="003B4F"/>
                </a:solidFill>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PC1 Results</a:t>
            </a:r>
          </a:p>
        </p:txBody>
      </p:sp>
      <p:sp>
        <p:nvSpPr>
          <p:cNvPr id="3" name="Content Placeholder 2"/>
          <p:cNvSpPr>
            <a:spLocks noGrp="1"/>
          </p:cNvSpPr>
          <p:nvPr>
            <p:ph idx="1"/>
          </p:nvPr>
        </p:nvSpPr>
        <p:spPr/>
        <p:txBody>
          <a:bodyPr/>
          <a:lstStyle/>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solidFill>
                  <a:srgbClr val="5E5E5E"/>
                </a:solidFill>
                <a:latin typeface="Courier"/>
              </a:rPr>
              <a:t># What does PC1 represent?</a:t>
            </a:r>
            <a:br/>
            <a:r>
              <a:rPr>
                <a:solidFill>
                  <a:srgbClr val="003B4F"/>
                </a:solidFill>
                <a:latin typeface="Courier"/>
              </a:rPr>
              <a:t>pc1_loadings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"PC1 Loadings (all variables contribute similarly):"</a:t>
            </a:r>
            <a:r>
              <a:rPr>
                <a:solidFill>
                  <a:srgbClr val="003B4F"/>
                </a:solidFill>
                <a:latin typeface="Courier"/>
              </a:rPr>
              <a:t>)</a:t>
            </a:r>
          </a:p>
          <a:p>
            <a:pPr lvl="0" indent="0">
              <a:buNone/>
            </a:pPr>
            <a:r>
              <a:rPr>
                <a:latin typeface="Courier"/>
              </a:rPr>
              <a:t>[1] "PC1 Loadings (all variables contribute similarly):"</a:t>
            </a:r>
          </a:p>
          <a:p>
            <a:pPr lvl="0" indent="0">
              <a:buNone/>
            </a:pPr>
            <a:r>
              <a:rPr>
                <a:solidFill>
                  <a:srgbClr val="4758AB"/>
                </a:solidFill>
                <a:latin typeface="Courier"/>
              </a:rPr>
              <a:t>round</a:t>
            </a:r>
            <a:r>
              <a:rPr>
                <a:solidFill>
                  <a:srgbClr val="003B4F"/>
                </a:solidFill>
                <a:latin typeface="Courier"/>
              </a:rPr>
              <a:t>(pc1_loadings,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0.521       -0.269        0.580        0.565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PC1 Interpretation: Overall flower size"</a:t>
            </a:r>
            <a:r>
              <a:rPr>
                <a:solidFill>
                  <a:srgbClr val="003B4F"/>
                </a:solidFill>
                <a:latin typeface="Courier"/>
              </a:rPr>
              <a:t>)</a:t>
            </a:r>
          </a:p>
          <a:p>
            <a:pPr lvl="0" indent="0">
              <a:buNone/>
            </a:pPr>
            <a:r>
              <a:rPr>
                <a:latin typeface="Courier"/>
              </a:rPr>
              <a:t>
PC1 Interpretation: Overall flower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All variables have similar negative loadings"</a:t>
            </a:r>
            <a:r>
              <a:rPr>
                <a:solidFill>
                  <a:srgbClr val="003B4F"/>
                </a:solidFill>
                <a:latin typeface="Courier"/>
              </a:rPr>
              <a:t>)</a:t>
            </a:r>
          </a:p>
          <a:p>
            <a:pPr lvl="0" indent="0">
              <a:buNone/>
            </a:pPr>
            <a:r>
              <a:rPr>
                <a:latin typeface="Courier"/>
              </a:rPr>
              <a:t>
- All variables have similar negative loadings</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PC1 values = smaller flowers overall"</a:t>
            </a:r>
            <a:r>
              <a:rPr>
                <a:solidFill>
                  <a:srgbClr val="003B4F"/>
                </a:solidFill>
                <a:latin typeface="Courier"/>
              </a:rPr>
              <a:t>)</a:t>
            </a:r>
          </a:p>
          <a:p>
            <a:pPr lvl="0" indent="0">
              <a:buNone/>
            </a:pPr>
            <a:r>
              <a:rPr>
                <a:latin typeface="Courier"/>
              </a:rPr>
              <a:t>
- Higher PC1 values = smaller flowers overall</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PC1 values = larger flowers overall"</a:t>
            </a:r>
            <a:r>
              <a:rPr>
                <a:solidFill>
                  <a:srgbClr val="003B4F"/>
                </a:solidFill>
                <a:latin typeface="Courier"/>
              </a:rPr>
              <a:t>)</a:t>
            </a:r>
          </a:p>
          <a:p>
            <a:pPr lvl="0" indent="0">
              <a:buNone/>
            </a:pPr>
            <a:r>
              <a:rPr>
                <a:latin typeface="Courier"/>
              </a:rPr>
              <a:t>
- Lower PC1 values = larger flowers overall</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PC2 Results</a:t>
            </a:r>
          </a:p>
        </p:txBody>
      </p:sp>
      <p:sp>
        <p:nvSpPr>
          <p:cNvPr id="3" name="Content Placeholder 2"/>
          <p:cNvSpPr>
            <a:spLocks noGrp="1"/>
          </p:cNvSpPr>
          <p:nvPr>
            <p:ph idx="1"/>
          </p:nvPr>
        </p:nvSpPr>
        <p:spPr/>
        <p:txBody>
          <a:bodyPr/>
          <a:lstStyle/>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solidFill>
                  <a:srgbClr val="5E5E5E"/>
                </a:solidFill>
                <a:latin typeface="Courier"/>
              </a:rPr>
              <a:t># What does PC2 represent?</a:t>
            </a:r>
            <a:br/>
            <a:r>
              <a:rPr>
                <a:solidFill>
                  <a:srgbClr val="003B4F"/>
                </a:solidFill>
                <a:latin typeface="Courier"/>
              </a:rPr>
              <a:t>pc2_loadings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"PC2 Loadings:"</a:t>
            </a:r>
            <a:r>
              <a:rPr>
                <a:solidFill>
                  <a:srgbClr val="003B4F"/>
                </a:solidFill>
                <a:latin typeface="Courier"/>
              </a:rPr>
              <a:t>)</a:t>
            </a:r>
          </a:p>
          <a:p>
            <a:pPr lvl="0" indent="0">
              <a:buNone/>
            </a:pPr>
            <a:r>
              <a:rPr>
                <a:latin typeface="Courier"/>
              </a:rPr>
              <a:t>[1] "PC2 Loadings:"</a:t>
            </a:r>
          </a:p>
          <a:p>
            <a:pPr lvl="0" indent="0">
              <a:buNone/>
            </a:pPr>
            <a:r>
              <a:rPr>
                <a:solidFill>
                  <a:srgbClr val="4758AB"/>
                </a:solidFill>
                <a:latin typeface="Courier"/>
              </a:rPr>
              <a:t>round</a:t>
            </a:r>
            <a:r>
              <a:rPr>
                <a:solidFill>
                  <a:srgbClr val="003B4F"/>
                </a:solidFill>
                <a:latin typeface="Courier"/>
              </a:rPr>
              <a:t>(pc2_loadings,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-0.377       -0.923       -0.024       -0.067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PC2 Interpretation: Flower shape contrast"</a:t>
            </a:r>
            <a:r>
              <a:rPr>
                <a:solidFill>
                  <a:srgbClr val="003B4F"/>
                </a:solidFill>
                <a:latin typeface="Courier"/>
              </a:rPr>
              <a:t>)</a:t>
            </a:r>
          </a:p>
          <a:p>
            <a:pPr lvl="0" indent="0">
              <a:buNone/>
            </a:pPr>
            <a:r>
              <a:rPr>
                <a:latin typeface="Courier"/>
              </a:rPr>
              <a:t>
PC2 Interpretation: Flower shape contrast</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Positive loadings: sepal width"</a:t>
            </a:r>
            <a:r>
              <a:rPr>
                <a:solidFill>
                  <a:srgbClr val="003B4F"/>
                </a:solidFill>
                <a:latin typeface="Courier"/>
              </a:rPr>
              <a:t>)</a:t>
            </a:r>
          </a:p>
          <a:p>
            <a:pPr lvl="0" indent="0">
              <a:buNone/>
            </a:pPr>
            <a:r>
              <a:rPr>
                <a:latin typeface="Courier"/>
              </a:rPr>
              <a:t>
- Positive loadings: sepal width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Negative loadings: petal length and width, sepal length"</a:t>
            </a:r>
            <a:r>
              <a:rPr>
                <a:solidFill>
                  <a:srgbClr val="003B4F"/>
                </a:solidFill>
                <a:latin typeface="Courier"/>
              </a:rPr>
              <a:t>)</a:t>
            </a:r>
          </a:p>
          <a:p>
            <a:pPr lvl="0" indent="0">
              <a:buNone/>
            </a:pPr>
            <a:r>
              <a:rPr>
                <a:latin typeface="Courier"/>
              </a:rPr>
              <a:t>
- Negative loadings: petal length and width, sepal length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PC2 = wider sepals relative to petal size"</a:t>
            </a:r>
            <a:r>
              <a:rPr>
                <a:solidFill>
                  <a:srgbClr val="003B4F"/>
                </a:solidFill>
                <a:latin typeface="Courier"/>
              </a:rPr>
              <a:t>)</a:t>
            </a:r>
          </a:p>
          <a:p>
            <a:pPr lvl="0" indent="0">
              <a:buNone/>
            </a:pPr>
            <a:r>
              <a:rPr>
                <a:latin typeface="Courier"/>
              </a:rPr>
              <a:t>
- Higher PC2 = wider sepals relative to petal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PC2 = longer/wider petals relative to sepal width"</a:t>
            </a:r>
            <a:r>
              <a:rPr>
                <a:solidFill>
                  <a:srgbClr val="003B4F"/>
                </a:solidFill>
                <a:latin typeface="Courier"/>
              </a:rPr>
              <a:t>)</a:t>
            </a:r>
          </a:p>
          <a:p>
            <a:pPr lvl="0" indent="0">
              <a:buNone/>
            </a:pPr>
            <a:r>
              <a:rPr>
                <a:latin typeface="Courier"/>
              </a:rPr>
              <a:t>
- Lower PC2 = longer/wider petals relative to sepal width</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9: How Well Does PCA Work?</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Calculate total variance explained by first 2 components</a:t>
            </a:r>
            <a:br/>
            <a:r>
              <a:rPr>
                <a:solidFill>
                  <a:srgbClr val="003B4F"/>
                </a:solidFill>
                <a:latin typeface="Courier"/>
              </a:rPr>
              <a:t>variance_explained_2pc &lt;- </a:t>
            </a:r>
            <a:r>
              <a:rPr>
                <a:solidFill>
                  <a:srgbClr val="4758AB"/>
                </a:solidFill>
                <a:latin typeface="Courier"/>
              </a:rPr>
              <a:t>sum</a:t>
            </a:r>
            <a:r>
              <a:rPr>
                <a:solidFill>
                  <a:srgbClr val="003B4F"/>
                </a:solidFill>
                <a:latin typeface="Courier"/>
              </a:rPr>
              <a:t>(prop_variance[</a:t>
            </a:r>
            <a:r>
              <a:rPr>
                <a:solidFill>
                  <a:srgbClr val="AD0000"/>
                </a:solidFill>
                <a:latin typeface="Courier"/>
              </a:rPr>
              <a:t>1</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caption_pca &lt;- </a:t>
            </a:r>
            <a:r>
              <a:rPr>
                <a:solidFill>
                  <a:srgbClr val="4758AB"/>
                </a:solidFill>
                <a:latin typeface="Courier"/>
              </a:rPr>
              <a:t>paste</a:t>
            </a:r>
            <a:r>
              <a:rPr>
                <a:solidFill>
                  <a:srgbClr val="003B4F"/>
                </a:solidFill>
                <a:latin typeface="Courier"/>
              </a:rPr>
              <a:t>(</a:t>
            </a:r>
            <a:r>
              <a:rPr>
                <a:solidFill>
                  <a:srgbClr val="20794D"/>
                </a:solidFill>
                <a:latin typeface="Courier"/>
              </a:rPr>
              <a:t>"Variance explained by first 2 components:"</a:t>
            </a:r>
            <a:r>
              <a:rPr>
                <a:solidFill>
                  <a:srgbClr val="003B4F"/>
                </a:solidFill>
                <a:latin typeface="Courier"/>
              </a:rPr>
              <a:t>, </a:t>
            </a:r>
            <a:r>
              <a:rPr>
                <a:solidFill>
                  <a:srgbClr val="4758AB"/>
                </a:solidFill>
                <a:latin typeface="Courier"/>
              </a:rPr>
              <a:t>round</a:t>
            </a:r>
            <a:r>
              <a:rPr>
                <a:solidFill>
                  <a:srgbClr val="003B4F"/>
                </a:solidFill>
                <a:latin typeface="Courier"/>
              </a:rPr>
              <a:t>(variance_explained_2pc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br/>
            <a:r>
              <a:rPr>
                <a:solidFill>
                  <a:srgbClr val="5E5E5E"/>
                </a:solidFill>
                <a:latin typeface="Courier"/>
              </a:rPr>
              <a:t># This means we reduced 4 variables to 2 components while retaining most information!</a:t>
            </a:r>
            <a:br/>
            <a:br/>
            <a:r>
              <a:rPr>
                <a:solidFill>
                  <a:srgbClr val="5E5E5E"/>
                </a:solidFill>
                <a:latin typeface="Courier"/>
              </a:rPr>
              <a:t># Create a summary plot showing dimension reduction success</a:t>
            </a:r>
            <a:b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factor</a:t>
            </a:r>
            <a:r>
              <a:rPr>
                <a:solidFill>
                  <a:srgbClr val="003B4F"/>
                </a:solidFill>
                <a:latin typeface="Courier"/>
              </a:rPr>
              <a:t>(</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Variance =</a:t>
            </a:r>
            <a:r>
              <a:rPr>
                <a:solidFill>
                  <a:srgbClr val="003B4F"/>
                </a:solidFill>
                <a:latin typeface="Courier"/>
              </a:rPr>
              <a:t> prop_variance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r>
              <a:rPr>
                <a:solidFill>
                  <a:srgbClr val="657422"/>
                </a:solidFill>
                <a:latin typeface="Courier"/>
              </a:rPr>
              <a:t>Cumulative =</a:t>
            </a:r>
            <a:r>
              <a:rPr>
                <a:solidFill>
                  <a:srgbClr val="003B4F"/>
                </a:solidFill>
                <a:latin typeface="Courier"/>
              </a:rPr>
              <a:t> cumsum_variance </a:t>
            </a:r>
            <a:r>
              <a:rPr>
                <a:solidFill>
                  <a:srgbClr val="5E5E5E"/>
                </a:solidFill>
                <a:latin typeface="Courier"/>
              </a:rPr>
              <a:t>*</a:t>
            </a:r>
            <a:r>
              <a:rPr>
                <a:solidFill>
                  <a:srgbClr val="003B4F"/>
                </a:solidFill>
                <a:latin typeface="Courier"/>
              </a:rPr>
              <a:t> </a:t>
            </a:r>
            <a:r>
              <a:rPr>
                <a:solidFill>
                  <a:srgbClr val="AD0000"/>
                </a:solidFill>
                <a:latin typeface="Courier"/>
              </a:rPr>
              <a:t>100</a:t>
            </a:r>
            <a:b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Component)) </a:t>
            </a:r>
            <a:r>
              <a:rPr>
                <a:solidFill>
                  <a:srgbClr val="5E5E5E"/>
                </a:solidFill>
                <a:latin typeface="Courier"/>
              </a:rPr>
              <a:t>+</a:t>
            </a:r>
            <a:br/>
            <a:r>
              <a:rPr>
                <a:solidFill>
                  <a:srgbClr val="003B4F"/>
                </a:solidFill>
                <a:latin typeface="Courier"/>
              </a:rPr>
              <a:t>  </a:t>
            </a:r>
            <a:r>
              <a:rPr>
                <a:solidFill>
                  <a:srgbClr val="4758AB"/>
                </a:solidFill>
                <a:latin typeface="Courier"/>
              </a:rPr>
              <a:t>geom_col</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Variance), </a:t>
            </a:r>
            <a:r>
              <a:rPr>
                <a:solidFill>
                  <a:srgbClr val="657422"/>
                </a:solidFill>
                <a:latin typeface="Courier"/>
              </a:rPr>
              <a:t>fill =</a:t>
            </a:r>
            <a:r>
              <a:rPr>
                <a:solidFill>
                  <a:srgbClr val="003B4F"/>
                </a:solidFill>
                <a:latin typeface="Courier"/>
              </a:rPr>
              <a:t> </a:t>
            </a:r>
            <a:r>
              <a:rPr>
                <a:solidFill>
                  <a:srgbClr val="20794D"/>
                </a:solidFill>
                <a:latin typeface="Courier"/>
              </a:rPr>
              <a:t>"lightblue"</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group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Dimension Reduction Success"</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"Blue bars = individual variance, Red line = cumulative variance"</a:t>
            </a:r>
            <a:r>
              <a:rPr>
                <a:solidFill>
                  <a:srgbClr val="003B4F"/>
                </a:solidFill>
                <a:latin typeface="Courier"/>
              </a:rPr>
              <a:t>,</a:t>
            </a:r>
            <a:br/>
            <a:r>
              <a:rPr>
                <a:solidFill>
                  <a:srgbClr val="003B4F"/>
                </a:solidFill>
                <a:latin typeface="Courier"/>
              </a:rPr>
              <a:t>       </a:t>
            </a:r>
            <a:r>
              <a:rPr>
                <a:solidFill>
                  <a:srgbClr val="657422"/>
                </a:solidFill>
                <a:latin typeface="Courier"/>
              </a:rPr>
              <a:t>caption =</a:t>
            </a:r>
            <a:r>
              <a:rPr>
                <a:solidFill>
                  <a:srgbClr val="003B4F"/>
                </a:solidFill>
                <a:latin typeface="Courier"/>
              </a:rPr>
              <a:t> caption_pca,</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"Principal Component"</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"Percentage of Variance Explained"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What We Learned</a:t>
            </a:r>
          </a:p>
        </p:txBody>
      </p:sp>
      <p:sp>
        <p:nvSpPr>
          <p:cNvPr id="3" name="Content Placeholder 2"/>
          <p:cNvSpPr>
            <a:spLocks noGrp="1"/>
          </p:cNvSpPr>
          <p:nvPr>
            <p:ph idx="1"/>
          </p:nvPr>
        </p:nvSpPr>
        <p:spPr/>
        <p:txBody>
          <a:bodyPr/>
          <a:lstStyle/>
          <a:p>
            <a:pPr lvl="0" indent="0" marL="0">
              <a:spcBef>
                <a:spcPts val="3000"/>
              </a:spcBef>
              <a:buNone/>
            </a:pPr>
            <a:r>
              <a:rPr b="1"/>
              <a:t>Key Findings:</a:t>
            </a:r>
          </a:p>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a:p>
            <a:pPr lvl="0" indent="0" marL="0">
              <a:spcBef>
                <a:spcPts val="3000"/>
              </a:spcBef>
              <a:buNone/>
            </a:pPr>
            <a:r>
              <a:rPr b="1"/>
              <a:t>PCA Success Criteria Met:</a:t>
            </a:r>
          </a:p>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 vs. Other Methods</a:t>
            </a:r>
          </a:p>
        </p:txBody>
      </p:sp>
      <p:sp>
        <p:nvSpPr>
          <p:cNvPr id="3" name="Content Placeholder 2"/>
          <p:cNvSpPr>
            <a:spLocks noGrp="1"/>
          </p:cNvSpPr>
          <p:nvPr>
            <p:ph idx="1"/>
          </p:nvPr>
        </p:nvSpPr>
        <p:spPr/>
        <p:txBody>
          <a:bodyPr/>
          <a:lstStyle/>
          <a:p>
            <a:pPr lvl="0" indent="0" marL="0">
              <a:spcBef>
                <a:spcPts val="3000"/>
              </a:spcBef>
              <a:buNone/>
            </a:pPr>
            <a:r>
              <a:rPr b="1"/>
              <a:t>Use PCA when:</a:t>
            </a:r>
          </a:p>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a:p>
            <a:pPr lvl="0" indent="0" marL="0">
              <a:spcBef>
                <a:spcPts val="3000"/>
              </a:spcBef>
              <a:buNone/>
            </a:pPr>
            <a:r>
              <a:rPr b="1"/>
              <a:t>Consider alternatives when:</a:t>
            </a:r>
          </a:p>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17 - Principal Component Analysis (PCA)</dc:title>
  <dc:creator>Bill Perry</dc:creator>
  <cp:keywords/>
  <dcterms:created xsi:type="dcterms:W3CDTF">2025-10-13T14:27:34Z</dcterms:created>
  <dcterms:modified xsi:type="dcterms:W3CDTF">2025-10-13T14:27:34Z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