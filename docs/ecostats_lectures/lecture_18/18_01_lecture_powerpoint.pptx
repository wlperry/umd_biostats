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</a:t>
            </a:r>
          </a:p>
          <a:p>
            <a:pPr lvl="0"/>
            <a:r>
              <a:rPr/>
              <a:t>contains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explained,</a:t>
            </a:r>
          </a:p>
          <a:p>
            <a:pPr lvl="1"/>
            <a:r>
              <a:rPr/>
              <a:t>focuses on preserving the </a:t>
            </a:r>
            <a:r>
              <a:rPr i="1"/>
              <a:t>rank order</a:t>
            </a:r>
            <a:r>
              <a:rPr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outlines the workflow for Non-metric Multidimensional Scaling (NMDS). Unlike PCA, NMDS is rank-based and handles the “zero-rich” nature of ecological data much better.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(joint absences don’t contribute to similarity)</a:t>
                </a:r>
              </a:p>
              <a:p>
                <a:pPr lvl="1"/>
                <a:r>
                  <a:rPr/>
                  <a:t>bounded between 0 and 1, weights by abundance (not just presence/absence)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j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j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  <m:r>
                                        <m:t>k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/>
                  <a:t>numerator sums up the absolute differences in abundance for each species between two sites</a:t>
                </a:r>
              </a:p>
              <a:p>
                <a:pPr lvl="0"/>
                <a:r>
                  <a:rPr/>
                  <a:t>denominator sums up the total abundance at both sites</a:t>
                </a:r>
              </a:p>
              <a:p>
                <a:pPr lvl="0"/>
                <a:r>
                  <a:rPr/>
                  <a:t>Bray-Curtis asks: “Of all the individuals at these two sites, what proportion would need to be moved to make the sites identical?”</a:t>
                </a:r>
              </a:p>
              <a:p>
                <a:pPr lvl="0"/>
                <a:r>
                  <a:rPr b="1"/>
                  <a:t>Bray-Curtis</a:t>
                </a:r>
                <a:r>
                  <a:rPr/>
                  <a:t> ignores joint absences entirely. Similarity is based only on what’s actually present and shared between sites.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that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the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(y-axis), with a fitted monotonic line.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Shepard diagram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 for Fish NMDS"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76400"/>
            <a:ext cx="4038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meaning it can only go up or stay flat, never down</a:t>
            </a:r>
          </a:p>
          <a:p>
            <a:pPr lvl="1"/>
            <a:r>
              <a:rPr/>
              <a:t>because NMDS preserves rank order - “stress” value quantifies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There’s minimal scatter, especially at low dissimilarities</a:t>
            </a:r>
          </a:p>
          <a:p>
            <a:pPr lvl="1"/>
            <a:r>
              <a:rPr/>
              <a:t>indicates this 2D solution captures the community relationships well</a:t>
            </a:r>
          </a:p>
          <a:p>
            <a:pPr lvl="1"/>
            <a:r>
              <a:rPr b="1"/>
              <a:t>Stress Guidelines</a:t>
            </a:r>
          </a:p>
          <a:p>
            <a:pPr lvl="2"/>
            <a:r>
              <a:rPr/>
              <a:t>Clarke (1993) provided widely-used guidelines for interpreting stress values</a:t>
            </a:r>
          </a:p>
          <a:p>
            <a:pPr lvl="3"/>
            <a:r>
              <a:rPr/>
              <a:t>below 0.05 considered excellent representation w/no misinterpretation</a:t>
            </a:r>
          </a:p>
          <a:p>
            <a:pPr lvl="3"/>
            <a:r>
              <a:rPr/>
              <a:t>0.05 - 0.10 good ordination with no real risk of drawing false inferences</a:t>
            </a:r>
          </a:p>
          <a:p>
            <a:pPr lvl="3"/>
            <a:r>
              <a:rPr/>
              <a:t>0.10 - 0.20 usable ordination but details at lower end interpreted cautiously</a:t>
            </a:r>
          </a:p>
          <a:p>
            <a:pPr lvl="3"/>
            <a:r>
              <a:rPr/>
              <a:t>0.20 and 0.30 used with caution/ potentially higher dimensions considered</a:t>
            </a:r>
          </a:p>
          <a:p>
            <a:pPr lvl="3"/>
            <a:r>
              <a:rPr/>
              <a:t>&gt;0.30 is essentially random placement.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4.373442e-06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0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 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1"/>
            <a:r>
              <a:rPr/>
              <a:t>If violated, PERMANOVA tests dispersion differences,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  <a:r>
              <a:rPr/>
              <a:t> - </a:t>
            </a:r>
            <a:r>
              <a:rPr b="1"/>
              <a:t>Line-by-line interpretation:</a:t>
            </a:r>
          </a:p>
          <a:p>
            <a:pPr lvl="1" indent="-342900" marL="6858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1" indent="-342900" marL="6858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1" indent="-342900" marL="6858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1" indent="-342900" marL="6858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1" indent="-342900" marL="6858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1" indent="-342900" marL="6858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Each comparison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6
##   comparison              F_stat    R2 p_value p_adjusted significant
##   &lt;chr&gt;                    &lt;dbl&gt; &lt;dbl&gt;   &lt;dbl&gt;      &lt;dbl&gt; &lt;chr&gt;      
## 1 Upstream vs Midstream     3.44 0.168   0.017      0.051 No         
## 2 Upstream vs Downstream   15.5  0.477   0.001      0.003 Yes        
## 3 Midstream vs Downstream   9.97 0.357   0.002      0.006 Yes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ANOSIM?</a:t>
            </a:r>
          </a:p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“good”nseparation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separation—there’s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are smaller than all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0"/>
            <a:r>
              <a:rPr b="1"/>
              <a:t>ANOSIM:</a:t>
            </a:r>
          </a:p>
          <a:p>
            <a:pPr lvl="1"/>
            <a:r>
              <a:rPr/>
              <a:t>More robust to outliers</a:t>
            </a:r>
          </a:p>
          <a:p>
            <a:pPr lvl="1"/>
            <a:r>
              <a:rPr/>
              <a:t>Simpler interpretation</a:t>
            </a:r>
          </a:p>
          <a:p>
            <a:pPr lvl="1"/>
            <a:r>
              <a:rPr/>
              <a:t>Good for initial exploratory analysis</a:t>
            </a:r>
          </a:p>
          <a:p>
            <a:pPr lvl="1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</a:t>
            </a:r>
          </a:p>
          <a:p>
            <a:pPr lvl="2"/>
            <a:r>
              <a:rPr/>
              <a:t>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</a:t>
            </a:r>
          </a:p>
          <a:p>
            <a:pPr lvl="2"/>
            <a:r>
              <a:rPr/>
              <a:t>Compares rank distributions</a:t>
            </a:r>
          </a:p>
          <a:p>
            <a:pPr lvl="0"/>
            <a:r>
              <a:rPr/>
              <a:t>Three Critical Scenarios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2025-11-30T03:40:00Z</dcterms:created>
  <dcterms:modified xsi:type="dcterms:W3CDTF">2025-11-30T03:40:00Z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