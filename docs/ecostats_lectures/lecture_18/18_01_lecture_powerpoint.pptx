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7" Type="http://schemas.openxmlformats.org/officeDocument/2006/relationships/viewProps" Target="viewProps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8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0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4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6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7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18 - Multivariate Community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18:</a:t>
            </a:r>
            <a:r>
              <a:rPr/>
              <a:t> Multivariate Community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import the data and start to explore 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Set theme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theme_set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text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657422"/>
                </a:solidFill>
                <a:latin typeface="Courier"/>
              </a:rPr>
              <a:t>plot.title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Load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doubs_env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"data/DoubsEnv.csv"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rename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as.factor</a:t>
            </a:r>
            <a:r>
              <a:rPr>
                <a:solidFill>
                  <a:srgbClr val="003B4F"/>
                </a:solidFill>
                <a:latin typeface="Courier"/>
              </a:rPr>
              <a:t>(site))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doubs_spe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"data/DoubsSpe.csv"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rename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as.factor</a:t>
            </a:r>
            <a:r>
              <a:rPr>
                <a:solidFill>
                  <a:srgbClr val="003B4F"/>
                </a:solidFill>
                <a:latin typeface="Courier"/>
              </a:rPr>
              <a:t>(site))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river reach groups based on distance from source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doubs_env &lt;- doubs_env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reach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das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"Upper"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das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"Middle"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"Lower"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"Upper"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"Middle"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"Lower"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doubs_spe &lt;- doubs_spe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(doubs_env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(site, reach),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"site"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"Species data structure: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Species data structure: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(doubs_spe)</a:t>
            </a:r>
          </a:p>
          <a:p>
            <a:pPr lvl="0" indent="0">
              <a:buNone/>
            </a:pPr>
            <a:r>
              <a:rPr>
                <a:latin typeface="Courier"/>
              </a:rPr>
              <a:t>tibble [29 × 29] (S3: tbl_df/tbl/data.frame)
 $ site : Factor w/ 29 levels "1","2","3","4",..: 1 2 3 4 5 6 7 8 9 10 ...
 $ CHA  : num [1:29] 0 0 0 0 0 0 0 0 0 1 ...
 $ TRU  : num [1:29] 3 5 5 4 2 3 5 0 1 3 ...
 $ VAI  : num [1:29] 0 4 5 5 3 4 4 1 4 4 ...
 $ LOC  : num [1:29] 0 3 5 5 2 5 5 3 4 1 ...
 $ OMB  : num [1:29] 0 0 0 0 0 0 0 0 0 1 ...
 $ BLA  : num [1:29] 0 0 0 0 0 0 0 0 0 0 ...
 $ HOT  : num [1:29] 0 0 0 0 0 0 0 0 0 0 ...
 $ TOX  : num [1:29] 0 0 0 0 0 0 0 0 0 0 ...
 $ VAN  : num [1:29] 0 0 0 0 5 1 1 0 2 0 ...
 $ CHE  : num [1:29] 0 0 0 1 2 2 1 5 2 1 ...
 $ BAR  : num [1:29] 0 0 0 0 0 0 0 0 0 0 ...
 $ SPI  : num [1:29] 0 0 0 0 0 0 0 0 0 0 ...
 $ GOU  : num [1:29] 0 0 0 1 2 1 0 0 1 0 ...
 $ BRO  : num [1:29] 0 0 1 2 4 1 0 0 0 0 ...
 $ PER  : num [1:29] 0 0 0 2 4 1 0 0 0 0 ...
 $ BOU  : num [1:29] 0 0 0 0 0 0 0 0 0 0 ...
 $ PSO  : num [1:29] 0 0 0 0 0 0 0 0 0 0 ...
 $ ROT  : num [1:29] 0 0 0 0 2 0 0 0 0 0 ...
 $ CAR  : num [1:29] 0 0 0 0 0 0 0 0 0 0 ...
 $ TAN  : num [1:29] 0 0 0 1 3 2 0 1 0 0 ...
 $ BCO  : num [1:29] 0 0 0 0 0 0 0 0 0 0 ...
 $ PCH  : num [1:29] 0 0 0 0 0 0 0 0 0 0 ...
 $ GRE  : num [1:29] 0 0 0 0 0 0 0 0 0 0 ...
 $ GAR  : num [1:29] 0 0 0 0 5 1 0 4 0 0 ...
 $ BBO  : num [1:29] 0 0 0 0 0 0 0 0 0 0 ...
 $ ABL  : num [1:29] 0 0 0 0 0 0 0 0 0 0 ...
 $ ANG  : num [1:29] 0 0 0 0 0 0 0 0 0 0 ...
 $ reach: Factor w/ 3 levels "Upper","Middle",..: 1 1 1 1 1 2 2 2 3 3 ...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Environmental data structure: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Environmental data structure: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(doubs_env)</a:t>
            </a:r>
          </a:p>
          <a:p>
            <a:pPr lvl="0" indent="0">
              <a:buNone/>
            </a:pPr>
            <a:r>
              <a:rPr>
                <a:latin typeface="Courier"/>
              </a:rPr>
              <a:t>tibble [29 × 13] (S3: tbl_df/tbl/data.frame)
 $ site : Factor w/ 29 levels "1","2","3","4",..: 1 2 3 4 5 6 7 8 9 10 ...
 $ das  : num [1:29] 0.3 2.2 10.2 18.5 21.5 ...
 $ alt  : num [1:29] 934 932 914 854 849 846 841 752 617 483 ...
 $ pen  : num [1:29] 48 3 3.7 3.2 2.3 3.2 6.6 1.2 9.9 4.1 ...
 $ deb  : num [1:29] 0.84 1 1.8 2.53 2.64 2.86 4 4.8 10 19.9 ...
 $ pH   : num [1:29] 7.9 8 8.3 8 8.1 7.9 8.1 8 7.7 8.1 ...
 $ dur  : num [1:29] 45 40 52 72 84 60 88 90 82 96 ...
 $ pho  : num [1:29] 0.01 0.02 0.05 0.1 0.38 0.2 0.07 0.3 0.06 0.3 ...
 $ nit  : num [1:29] 0.2 0.2 0.22 0.21 0.52 0.15 0.15 0.82 0.75 1.6 ...
 $ amm  : num [1:29] 0 0.1 0.05 0 0.2 0 0 0.12 0.01 0 ...
 $ oxy  : num [1:29] 12.2 10.3 10.5 11 8 10.2 11.1 7.2 10 11.5 ...
 $ dbo  : num [1:29] 2.7 1.9 3.5 1.3 6.2 5.3 2.2 5.2 4.3 2.7 ...
 $ reach: Factor w/ 3 levels "Upper","Middle",..: 1 1 1 1 1 2 2 2 3 3 ...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Today’s Data: The Doubs 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About the Doubs River Dataset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Study System:</a:t>
            </a:r>
          </a:p>
          <a:p>
            <a:pPr lvl="0"/>
            <a:r>
              <a:rPr/>
              <a:t>Doubs River, France</a:t>
            </a:r>
          </a:p>
          <a:p>
            <a:pPr lvl="0"/>
            <a:r>
              <a:rPr/>
              <a:t>29 sites from upstream to downstream</a:t>
            </a:r>
            <a:br/>
          </a:p>
          <a:p>
            <a:pPr lvl="0"/>
            <a:r>
              <a:rPr/>
              <a:t>Collected by Verneaux (1973)</a:t>
            </a:r>
          </a:p>
          <a:p>
            <a:pPr lvl="0"/>
            <a:r>
              <a:rPr/>
              <a:t>Classic community ecology dataset</a:t>
            </a:r>
          </a:p>
          <a:p>
            <a:pPr lvl="0" indent="0" marL="0">
              <a:buNone/>
            </a:pPr>
            <a:r>
              <a:rPr b="1"/>
              <a:t>Two Datasets:</a:t>
            </a:r>
          </a:p>
          <a:p>
            <a:pPr lvl="0" indent="-342900" marL="342900">
              <a:buAutoNum type="arabicPeriod"/>
            </a:pPr>
            <a:r>
              <a:rPr b="1"/>
              <a:t>Environmental</a:t>
            </a:r>
            <a:r>
              <a:rPr/>
              <a:t>: 11 water quality variables</a:t>
            </a:r>
          </a:p>
          <a:p>
            <a:pPr lvl="0" indent="-342900" marL="342900">
              <a:buAutoNum type="arabicPeriod"/>
            </a:pPr>
            <a:r>
              <a:rPr b="1"/>
              <a:t>Species</a:t>
            </a:r>
            <a:r>
              <a:rPr/>
              <a:t>: 27 fish species abundances (0-5 scale)</a:t>
            </a:r>
          </a:p>
          <a:p>
            <a:pPr lvl="0" indent="0" marL="0">
              <a:buNone/>
            </a:pPr>
            <a:r>
              <a:rPr b="1"/>
              <a:t>Research Questions:</a:t>
            </a:r>
          </a:p>
          <a:p>
            <a:pPr lvl="0"/>
            <a:r>
              <a:rPr/>
              <a:t>How do fish communities change along the river?</a:t>
            </a:r>
          </a:p>
          <a:p>
            <a:pPr lvl="0"/>
            <a:r>
              <a:rPr/>
              <a:t>Which environmental factors drive community composition?</a:t>
            </a:r>
          </a:p>
          <a:p>
            <a:pPr lvl="0"/>
            <a:r>
              <a:rPr/>
              <a:t>Are there distinct community types?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Show the sampling design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p1 &lt;- doubs_env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(das, alt,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reach))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"Doubs River Sampling Sites"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"Distance from source (km)"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"Altitude (m)"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"River Reach"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scale_color_viridis_d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Show species richness along river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species_richness &lt;- doubs_spe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site,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reach)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richness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rowSums</a:t>
            </a:r>
            <a:r>
              <a:rPr>
                <a:solidFill>
                  <a:srgbClr val="003B4F"/>
                </a:solidFill>
                <a:latin typeface="Courier"/>
              </a:rPr>
              <a:t>(.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bind_cols</a:t>
            </a:r>
            <a:r>
              <a:rPr>
                <a:solidFill>
                  <a:srgbClr val="003B4F"/>
                </a:solidFill>
                <a:latin typeface="Courier"/>
              </a:rPr>
              <a:t>(doubs_env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(das, reach))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p2 &lt;- species_richness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(das, richness,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reach))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"loess"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 Richness Along River"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"Distance from source (km)"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"Number of species"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"River Reach"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scale_color_viridis_d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p1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p2</a:t>
            </a:r>
          </a:p>
        </p:txBody>
      </p:sp>
      <p:pic>
        <p:nvPicPr>
          <p:cNvPr descr="18_01_lecture_powerpoint_files/figure-pptx/river-overview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Non-metric Multidimensional Scaling (NMDS)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NMDS?</a:t>
            </a:r>
          </a:p>
          <a:p>
            <a:pPr lvl="0" indent="0" marL="0">
              <a:buNone/>
            </a:pPr>
            <a:r>
              <a:rPr b="1"/>
              <a:t>Overview of NMDS:</a:t>
            </a:r>
          </a:p>
          <a:p>
            <a:pPr lvl="0"/>
            <a:r>
              <a:rPr b="1"/>
              <a:t>Purpose</a:t>
            </a:r>
            <a:r>
              <a:rPr/>
              <a:t>: Visualize dissimilarity between objects in 2D/3D space</a:t>
            </a:r>
          </a:p>
          <a:p>
            <a:pPr lvl="0"/>
            <a:r>
              <a:rPr b="1"/>
              <a:t>Goal</a:t>
            </a:r>
            <a:r>
              <a:rPr/>
              <a:t>: Preserve rank order of distances, not exact distances</a:t>
            </a:r>
          </a:p>
          <a:p>
            <a:pPr lvl="0"/>
            <a:r>
              <a:rPr b="1"/>
              <a:t>Method</a:t>
            </a:r>
            <a:r>
              <a:rPr/>
              <a:t>: Iterative repositioning to minimize stress</a:t>
            </a:r>
          </a:p>
          <a:p>
            <a:pPr lvl="0"/>
            <a:r>
              <a:rPr b="1"/>
              <a:t>Output</a:t>
            </a:r>
            <a:r>
              <a:rPr/>
              <a:t>: Ordination plot showing relationships between samples</a:t>
            </a:r>
          </a:p>
          <a:p>
            <a:pPr lvl="0" indent="0" marL="0">
              <a:buNone/>
            </a:pPr>
            <a:r>
              <a:rPr b="1"/>
              <a:t>Key Differences from PCA:</a:t>
            </a:r>
          </a:p>
          <a:p>
            <a:pPr lvl="0"/>
            <a:r>
              <a:rPr/>
              <a:t>Uses dissimilarity matrices (not covariance)</a:t>
            </a:r>
          </a:p>
          <a:p>
            <a:pPr lvl="0"/>
            <a:r>
              <a:rPr/>
              <a:t>Non-parametric (rank-based)</a:t>
            </a:r>
          </a:p>
          <a:p>
            <a:pPr lvl="0"/>
            <a:r>
              <a:rPr/>
              <a:t>Better for non-linear ecological relationships</a:t>
            </a:r>
          </a:p>
          <a:p>
            <a:pPr lvl="0"/>
            <a:r>
              <a:rPr/>
              <a:t>No assumption about data distribution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Conceptual diagram of NMDS process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step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process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"Calculate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Dissimilarities"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</a:t>
            </a:r>
            <a:r>
              <a:rPr>
                <a:solidFill>
                  <a:srgbClr val="20794D"/>
                </a:solidFill>
                <a:latin typeface="Courier"/>
              </a:rPr>
              <a:t>"Random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Configuration"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</a:t>
            </a:r>
            <a:r>
              <a:rPr>
                <a:solidFill>
                  <a:srgbClr val="20794D"/>
                </a:solidFill>
                <a:latin typeface="Courier"/>
              </a:rPr>
              <a:t>"Iterative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Repositioning"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</a:t>
            </a:r>
            <a:r>
              <a:rPr>
                <a:solidFill>
                  <a:srgbClr val="20794D"/>
                </a:solidFill>
                <a:latin typeface="Courier"/>
              </a:rPr>
              <a:t>"Final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Ordination"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description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"Create distance matrix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between all samples"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20794D"/>
                </a:solidFill>
                <a:latin typeface="Courier"/>
              </a:rPr>
              <a:t>"Place points randomly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in 2D space"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20794D"/>
                </a:solidFill>
                <a:latin typeface="Courier"/>
              </a:rPr>
              <a:t>"Move points to minimize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stress (difference between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original and new distances)"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20794D"/>
                </a:solidFill>
                <a:latin typeface="Courier"/>
              </a:rPr>
              <a:t>"Stable configuration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with low stress"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step))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geom_rect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xmin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xmax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ymin =</a:t>
            </a:r>
            <a:r>
              <a:rPr>
                <a:solidFill>
                  <a:srgbClr val="003B4F"/>
                </a:solidFill>
                <a:latin typeface="Courier"/>
              </a:rPr>
              <a:t> step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ymax =</a:t>
            </a:r>
            <a:r>
              <a:rPr>
                <a:solidFill>
                  <a:srgbClr val="003B4F"/>
                </a:solidFill>
                <a:latin typeface="Courier"/>
              </a:rPr>
              <a:t> step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"lightblue"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process), </a:t>
            </a:r>
            <a:r>
              <a:rPr>
                <a:solidFill>
                  <a:srgbClr val="657422"/>
                </a:solidFill>
                <a:latin typeface="Courier"/>
              </a:rPr>
              <a:t>fontface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description,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step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scale_y_reverse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 Process"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theme_void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plot.title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  <p:pic>
        <p:nvPicPr>
          <p:cNvPr descr="18_01_lecture_powerpoint_files/figure-pptx/nmds-process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NMDS Works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NMDS Algorithm:</a:t>
            </a:r>
          </a:p>
          <a:p>
            <a:pPr lvl="0" indent="-342900" marL="342900">
              <a:buAutoNum type="arabicPeriod"/>
            </a:pPr>
            <a:r>
              <a:rPr b="1"/>
              <a:t>Calculate dissimilarity matrix</a:t>
            </a:r>
            <a:r>
              <a:rPr/>
              <a:t> between all pairs of sites</a:t>
            </a:r>
          </a:p>
          <a:p>
            <a:pPr lvl="0" indent="-342900" marL="342900">
              <a:buAutoNum type="arabicPeriod"/>
            </a:pPr>
            <a:r>
              <a:rPr b="1"/>
              <a:t>Start with random configuration</a:t>
            </a:r>
            <a:r>
              <a:rPr/>
              <a:t> of points in 2D space</a:t>
            </a:r>
          </a:p>
          <a:p>
            <a:pPr lvl="0" indent="-342900" marL="342900">
              <a:buAutoNum type="arabicPeriod"/>
            </a:pPr>
            <a:r>
              <a:rPr b="1"/>
              <a:t>Calculate stress</a:t>
            </a:r>
            <a:r>
              <a:rPr/>
              <a:t> = difference between original distances and ordination distances</a:t>
            </a:r>
          </a:p>
          <a:p>
            <a:pPr lvl="0" indent="-342900" marL="342900">
              <a:buAutoNum type="arabicPeriod"/>
            </a:pPr>
            <a:r>
              <a:rPr b="1"/>
              <a:t>Move points</a:t>
            </a:r>
            <a:r>
              <a:rPr/>
              <a:t> to reduce stress</a:t>
            </a:r>
          </a:p>
          <a:p>
            <a:pPr lvl="0" indent="-342900" marL="342900">
              <a:buAutoNum type="arabicPeriod"/>
            </a:pPr>
            <a:r>
              <a:rPr b="1"/>
              <a:t>Repeat</a:t>
            </a:r>
            <a:r>
              <a:rPr/>
              <a:t> until stress cannot be reduced further</a:t>
            </a:r>
          </a:p>
          <a:p>
            <a:pPr lvl="0" indent="-342900" marL="342900">
              <a:buAutoNum type="arabicPeriod"/>
            </a:pPr>
            <a:r>
              <a:rPr b="1"/>
              <a:t>Try multiple random starts</a:t>
            </a:r>
            <a:r>
              <a:rPr/>
              <a:t> to avoid local minima</a:t>
            </a:r>
          </a:p>
          <a:p>
            <a:pPr lvl="0" indent="0" marL="0">
              <a:buNone/>
            </a:pPr>
            <a:r>
              <a:rPr b="1"/>
              <a:t>Stress Values:</a:t>
            </a:r>
            <a:r>
              <a:rPr/>
              <a:t> - &lt; 0.1: Good representation - 0.1-0.2: Acceptable - &gt; 0.2: Poor representation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Simulate stress reduction over iterations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iterations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stress &lt;-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exp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iterations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0.01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stress[stress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] &lt;-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(iterations, stress)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(iterations, stress))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"orange"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annotate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"text"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"Good &lt; 0.1"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"orange"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annotate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"text"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"Poor &gt; 0.2"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 Stress Reduction"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"Iteration"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"Stress"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18_01_lecture_powerpoint_files/figure-pptx/stres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875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NMDS Assumptions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NMDS Assumptions: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Few assumptions:</a:t>
            </a:r>
          </a:p>
          <a:p>
            <a:pPr lvl="0"/>
            <a:r>
              <a:rPr/>
              <a:t>Samples are independent</a:t>
            </a:r>
          </a:p>
          <a:p>
            <a:pPr lvl="0"/>
            <a:r>
              <a:rPr/>
              <a:t>Dissimilarity measure is appropriate</a:t>
            </a:r>
          </a:p>
          <a:p>
            <a:pPr lvl="0"/>
            <a:r>
              <a:rPr/>
              <a:t>Sufficient data for stable solution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 assumptions about:</a:t>
            </a:r>
          </a:p>
          <a:p>
            <a:pPr lvl="0"/>
            <a:r>
              <a:rPr/>
              <a:t>Data distribution</a:t>
            </a:r>
          </a:p>
          <a:p>
            <a:pPr lvl="0"/>
            <a:r>
              <a:rPr/>
              <a:t>Linear relationships</a:t>
            </a:r>
          </a:p>
          <a:p>
            <a:pPr lvl="0"/>
            <a:r>
              <a:rPr/>
              <a:t>Homoscedasticity</a:t>
            </a:r>
          </a:p>
          <a:p>
            <a:pPr lvl="0"/>
            <a:r>
              <a:rPr/>
              <a:t>Normality</a:t>
            </a:r>
          </a:p>
          <a:p>
            <a:pPr lvl="0" indent="0" marL="0">
              <a:buNone/>
            </a:pPr>
            <a:r>
              <a:rPr b="1"/>
              <a:t>This makes NMDS very robust for ecological data!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Show why NMDS is robust - non-linear example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 &lt;- </a:t>
            </a:r>
            <a:r>
              <a:rPr>
                <a:solidFill>
                  <a:srgbClr val="AD0000"/>
                </a:solidFill>
                <a:latin typeface="Courier"/>
              </a:rPr>
              <a:t>30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runif</a:t>
            </a:r>
            <a:r>
              <a:rPr>
                <a:solidFill>
                  <a:srgbClr val="003B4F"/>
                </a:solidFill>
                <a:latin typeface="Courier"/>
              </a:rPr>
              <a:t>(n,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 &lt;-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sin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(n,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group &lt;-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"C"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each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(x, y, group)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(x, y,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group))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"loess"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 Handles Non-linear Relationships"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 = linear assumption (PCA), Blue = actual pattern"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"Environmental Gradient"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"Community Response"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scale_color_viridis_d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18_01_lecture_powerpoint_files/figure-pptx/nmds-robustnes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875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NMDS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Running NMDS on Fish Communities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Prepare species data (remove site column)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spe_matrix &lt;- doubs_spe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site,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reach)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as.matrix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Add small constant to avoid issues with zeros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spe_matrix &lt;- spe_matrix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Run NMDS with multiple random starts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fish_nmds &lt;- </a:t>
            </a:r>
            <a:r>
              <a:rPr>
                <a:solidFill>
                  <a:srgbClr val="4758AB"/>
                </a:solidFill>
                <a:latin typeface="Courier"/>
              </a:rPr>
              <a:t>metaMDS</a:t>
            </a:r>
            <a:r>
              <a:rPr>
                <a:solidFill>
                  <a:srgbClr val="003B4F"/>
                </a:solidFill>
                <a:latin typeface="Courier"/>
              </a:rPr>
              <a:t>(spe_matrix,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distance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"bray"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5E5E5E"/>
                </a:solidFill>
                <a:latin typeface="Courier"/>
              </a:rPr>
              <a:t># Bray-Curtis dissimilarity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             </a:t>
            </a:r>
            <a:r>
              <a:rPr>
                <a:solidFill>
                  <a:srgbClr val="5E5E5E"/>
                </a:solidFill>
                <a:latin typeface="Courier"/>
              </a:rPr>
              <a:t># 2 dimensions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trymax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       </a:t>
            </a:r>
            <a:r>
              <a:rPr>
                <a:solidFill>
                  <a:srgbClr val="5E5E5E"/>
                </a:solidFill>
                <a:latin typeface="Courier"/>
              </a:rPr>
              <a:t># Maximum tries</a:t>
            </a:r>
          </a:p>
          <a:p>
            <a:pPr lvl="0" indent="0">
              <a:buNone/>
            </a:pPr>
            <a:r>
              <a:rPr>
                <a:latin typeface="Courier"/>
              </a:rPr>
              <a:t>Run 0 stress 0.07449349 
Run 1 stress 0.1201175 
Run 2 stress 0.1201749 
Run 3 stress 0.1195174 
Run 4 stress 0.1201175 
Run 5 stress 0.1468615 
Run 6 stress 0.1395204 
Run 7 stress 0.09450578 
Run 8 stress 0.07460885 
... Procrustes: rmse 0.02069815  max resid 0.09861179 
Run 9 stress 0.1273318 
Run 10 stress 0.1200159 
Run 11 stress 0.1273318 
Run 12 stress 0.07449349 
... Procrustes: rmse 4.373445e-06  max resid 1.595028e-05 
... Similar to previous best
Run 13 stress 0.09450578 
Run 14 stress 0.140665 
Run 15 stress 0.07459993 
... Procrustes: rmse 0.02014078  max resid 0.09796964 
Run 16 stress 0.1262615 
Run 17 stress 0.07460885 
... Procrustes: rmse 0.02069823  max resid 0.09861196 
Run 18 stress 0.09134568 
Run 19 stress 0.07460885 
... Procrustes: rmse 0.02069807  max resid 0.09861147 
Run 20 stress 0.07460885 
... Procrustes: rmse 0.02069863  max resid 0.09861444 
*** Best solution repeated 1 times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Check the stress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"Final stress:"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(fish_nmds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stress,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Final stress: 0.074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Code Explanation: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metaMDS()</a:t>
            </a:r>
            <a:r>
              <a:rPr/>
              <a:t>: Main NMDS function from vegan package</a:t>
            </a:r>
          </a:p>
          <a:p>
            <a:pPr lvl="0"/>
            <a:r>
              <a:rPr>
                <a:latin typeface="Courier"/>
              </a:rPr>
              <a:t>distance = "bray"</a:t>
            </a:r>
            <a:r>
              <a:rPr/>
              <a:t>: Bray-Curtis dissimilarity (best for abundance data)</a:t>
            </a:r>
          </a:p>
          <a:p>
            <a:pPr lvl="0"/>
            <a:r>
              <a:rPr>
                <a:latin typeface="Courier"/>
              </a:rPr>
              <a:t>k = 2</a:t>
            </a:r>
            <a:r>
              <a:rPr/>
              <a:t>: Two dimensions for plotting</a:t>
            </a:r>
          </a:p>
          <a:p>
            <a:pPr lvl="0"/>
            <a:r>
              <a:rPr>
                <a:latin typeface="Courier"/>
              </a:rPr>
              <a:t>trymax = 100</a:t>
            </a:r>
            <a:r>
              <a:rPr/>
              <a:t>: Try 100 random starting configurations</a:t>
            </a:r>
          </a:p>
          <a:p>
            <a:pPr lvl="0"/>
            <a:r>
              <a:rPr/>
              <a:t>Small constant added to avoid zero-distance issues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stress plot (Shepard diagram)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stressplot</a:t>
            </a:r>
            <a:r>
              <a:rPr>
                <a:solidFill>
                  <a:srgbClr val="003B4F"/>
                </a:solidFill>
                <a:latin typeface="Courier"/>
              </a:rPr>
              <a:t>(fish_nmds,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 Stress Plot"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18_01_lecture_powerpoint_files/figure-pptx/stress-diagnost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875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Interpreting NMDS Output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Detailed look at NMDS results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(fish_nmds)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Length Class  Mode     
nobj         1    -none- numeric  
nfix         1    -none- numeric  
ndim         1    -none- numeric  
ndis         1    -none- numeric  
ngrp         1    -none- numeric  
diss       406    -none- numeric  
iidx       406    -none- numeric  
jidx       406    -none- numeric  
xinit       58    -none- numeric  
istart       1    -none- numeric  
isform       1    -none- numeric  
ities        1    -none- numeric  
iregn        1    -none- numeric  
iscal        1    -none- numeric  
maxits       1    -none- numeric  
sratmx       1    -none- numeric  
strmin       1    -none- numeric  
sfgrmn       1    -none- numeric  
dist       406    -none- numeric  
dhat       406    -none- numeric  
points      58    -none- numeric  
stress       1    -none- numeric  
grstress     1    -none- numeric  
iters        1    -none- numeric  
icause       1    -none- numeric  
call         5    -none- call     
model        1    -none- character
distmethod   1    -none- character
distcall     1    -none- character
data         1    -none- character
distance     1    -none- character
converged    1    -none- numeric  
tries        1    -none- numeric  
bestry       1    -none- numeric  
engine       1    -none- character
species     54    -none- numeric  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Understanding the Output:</a:t>
            </a:r>
          </a:p>
          <a:p>
            <a:pPr lvl="0" indent="-342900" marL="342900">
              <a:buAutoNum type="arabicPeriod"/>
            </a:pPr>
            <a:r>
              <a:rPr b="1"/>
              <a:t>Stress = 0.074</a:t>
            </a:r>
            <a:r>
              <a:rPr/>
              <a:t>: This is excellent</a:t>
            </a:r>
          </a:p>
          <a:p>
            <a:pPr lvl="0" indent="-342900" marL="342900">
              <a:buAutoNum type="arabicPeriod"/>
            </a:pPr>
            <a:r>
              <a:rPr/>
              <a:t>Our 2D representation preserves the original distances well</a:t>
            </a:r>
          </a:p>
          <a:p>
            <a:pPr lvl="0" indent="-342900" marL="342900">
              <a:buAutoNum type="arabicPeriod"/>
            </a:pPr>
            <a:r>
              <a:rPr b="1"/>
              <a:t>Convergent solutions</a:t>
            </a:r>
            <a:r>
              <a:rPr/>
              <a:t>: Found stable solutions from multiple tries</a:t>
            </a:r>
          </a:p>
          <a:p>
            <a:pPr lvl="0" indent="-342900" marL="342900">
              <a:buAutoNum type="arabicPeriod"/>
            </a:pPr>
            <a:r>
              <a:rPr b="1"/>
              <a:t>Two dimensions</a:t>
            </a:r>
            <a:r>
              <a:rPr/>
              <a:t>: Axis 1 and Axis 2 have no inherent meaning (unlike PCA components)</a:t>
            </a:r>
          </a:p>
          <a:p>
            <a:pPr lvl="0" indent="-342900" marL="342900">
              <a:buAutoNum type="arabicPeriod"/>
            </a:pPr>
            <a:r>
              <a:rPr b="1"/>
              <a:t>No eigenvalues</a:t>
            </a:r>
            <a:r>
              <a:rPr/>
              <a:t>: NMDS doesn’t calculate variance explained per axis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Basic NMDS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(fish_nmds,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"Basic NMDS Plot"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18_01_lecture_powerpoint_files/figure-pptx/basic-nmd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Creating Enhanced NMDS Plots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NMDS scores and add grouping information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nmds_scores &lt;- fish_nmds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points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"site_num"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site_num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(site_num))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(doubs_env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site_num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(site)),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"site_num"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(MDS1, MDS2, reach, das, site)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enhanced plots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p1 &lt;- nmds_scores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(MDS1, MDS2))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reach),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site), 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stat_ellipse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reach), </a:t>
            </a:r>
            <a:r>
              <a:rPr>
                <a:solidFill>
                  <a:srgbClr val="657422"/>
                </a:solidFill>
                <a:latin typeface="Courier"/>
              </a:rPr>
              <a:t>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"NMDS: Fish Communities by River Reach"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"Stress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(fish_nmds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stress,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"NMDS2"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"River Reach"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scale_color_viridis_d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p2 &lt;- nmds_scores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(MDS1, MDS2))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das),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scale_color_gradient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high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"Distance from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source (km)"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"NMDS: Fish Communities by Distance"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"NMDS2"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p1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p2</a:t>
            </a:r>
          </a:p>
        </p:txBody>
      </p:sp>
      <p:pic>
        <p:nvPicPr>
          <p:cNvPr descr="18_01_lecture_powerpoint_files/figure-pptx/enhanced-nmds-plo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765300"/>
            <a:ext cx="52324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the NMDS Shows:</a:t>
            </a:r>
          </a:p>
          <a:p>
            <a:pPr lvl="0"/>
            <a:r>
              <a:rPr b="1"/>
              <a:t>Clear separation</a:t>
            </a:r>
            <a:r>
              <a:rPr/>
              <a:t> between river reaches</a:t>
            </a:r>
          </a:p>
          <a:p>
            <a:pPr lvl="0"/>
            <a:r>
              <a:rPr b="1"/>
              <a:t>Gradient pattern</a:t>
            </a:r>
            <a:r>
              <a:rPr/>
              <a:t> from upper to lower reaches</a:t>
            </a:r>
          </a:p>
          <a:p>
            <a:pPr lvl="0"/>
            <a:r>
              <a:rPr/>
              <a:t>Sites within each reach are </a:t>
            </a:r>
            <a:r>
              <a:rPr b="1"/>
              <a:t>more similar</a:t>
            </a:r>
            <a:r>
              <a:rPr/>
              <a:t> to each other than to other reaches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PERMANOVA: Testing Multivariate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PERMANOVA?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PERMANOVA (Permutational Multivariate ANOVA):</a:t>
            </a:r>
          </a:p>
          <a:p>
            <a:pPr lvl="0"/>
            <a:r>
              <a:rPr b="1"/>
              <a:t>Purpose</a:t>
            </a:r>
            <a:r>
              <a:rPr/>
              <a:t>: Test whether groups have different multivariate centroids</a:t>
            </a:r>
          </a:p>
          <a:p>
            <a:pPr lvl="0"/>
            <a:r>
              <a:rPr b="1"/>
              <a:t>Method</a:t>
            </a:r>
            <a:r>
              <a:rPr/>
              <a:t>: ANOVA using distance matrices instead of raw data</a:t>
            </a:r>
          </a:p>
          <a:p>
            <a:pPr lvl="0"/>
            <a:r>
              <a:rPr b="1"/>
              <a:t>Advantage</a:t>
            </a:r>
            <a:r>
              <a:rPr/>
              <a:t>: No distributional assumptions</a:t>
            </a:r>
          </a:p>
          <a:p>
            <a:pPr lvl="0"/>
            <a:r>
              <a:rPr b="1"/>
              <a:t>Permutation</a:t>
            </a:r>
            <a:r>
              <a:rPr/>
              <a:t>: Creates null distribution by randomly reassigning group labels</a:t>
            </a:r>
          </a:p>
          <a:p>
            <a:pPr lvl="0" indent="0" marL="0">
              <a:buNone/>
            </a:pPr>
            <a:r>
              <a:rPr b="1"/>
              <a:t>Think of it as:</a:t>
            </a:r>
          </a:p>
          <a:p>
            <a:pPr lvl="0"/>
            <a:r>
              <a:rPr/>
              <a:t>Multivariate version of ANOVA</a:t>
            </a:r>
          </a:p>
          <a:p>
            <a:pPr lvl="0"/>
            <a:r>
              <a:rPr/>
              <a:t>Uses distances between samples instead of means</a:t>
            </a:r>
          </a:p>
          <a:p>
            <a:pPr lvl="0"/>
            <a:r>
              <a:rPr/>
              <a:t>Tests: “Are the centers of these groups different in multivariate space?”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Conceptual visualization of PERMANOVA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group_a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group_b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group_c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combined &lt;- </a:t>
            </a:r>
            <a:r>
              <a:rPr>
                <a:solidFill>
                  <a:srgbClr val="4758AB"/>
                </a:solidFill>
                <a:latin typeface="Courier"/>
              </a:rPr>
              <a:t>rbind</a:t>
            </a:r>
            <a:r>
              <a:rPr>
                <a:solidFill>
                  <a:srgbClr val="003B4F"/>
                </a:solidFill>
                <a:latin typeface="Courier"/>
              </a:rPr>
              <a:t>(group_a, group_b, group_c)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centroids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centroids &lt;- combined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(group)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(y),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combined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(x, y,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group))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centroids,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stroke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stat_ellipse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"PERMANOVA Concept"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"Tests if group centroids (×) differ"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"Dimension 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"Dimension 2"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scale_color_viridis_d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18_01_lecture_powerpoint_files/figure-pptx/permanova-concept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PERMANOVA Works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PERMANOVA Algorithm:</a:t>
            </a:r>
          </a:p>
          <a:p>
            <a:pPr lvl="0" indent="-342900" marL="342900">
              <a:buAutoNum type="arabicPeriod"/>
            </a:pPr>
            <a:r>
              <a:rPr b="1"/>
              <a:t>Calculate distance matrix</a:t>
            </a:r>
            <a:r>
              <a:rPr/>
              <a:t> between all pairs of samples</a:t>
            </a:r>
          </a:p>
          <a:p>
            <a:pPr lvl="0" indent="-342900" marL="342900">
              <a:buAutoNum type="arabicPeriod"/>
            </a:pPr>
            <a:r>
              <a:rPr b="1"/>
              <a:t>Calculate F-statistic</a:t>
            </a:r>
            <a:r>
              <a:rPr/>
              <a:t> based on distances:</a:t>
            </a:r>
          </a:p>
          <a:p>
            <a:pPr lvl="1"/>
            <a:r>
              <a:rPr/>
              <a:t>Between-group sum of squares</a:t>
            </a:r>
          </a:p>
          <a:p>
            <a:pPr lvl="1"/>
            <a:r>
              <a:rPr/>
              <a:t>Within-group sum of squares</a:t>
            </a:r>
          </a:p>
          <a:p>
            <a:pPr lvl="0" indent="-342900" marL="342900">
              <a:buAutoNum type="arabicPeriod"/>
            </a:pPr>
            <a:r>
              <a:rPr b="1"/>
              <a:t>Permute group labels</a:t>
            </a:r>
            <a:r>
              <a:rPr/>
              <a:t> randomly (e.g., 999 times)</a:t>
            </a:r>
          </a:p>
          <a:p>
            <a:pPr lvl="0" indent="-342900" marL="342900">
              <a:buAutoNum type="arabicPeriod"/>
            </a:pPr>
            <a:r>
              <a:rPr b="1"/>
              <a:t>Recalculate F-statistic</a:t>
            </a:r>
            <a:r>
              <a:rPr/>
              <a:t> for each permutation</a:t>
            </a:r>
          </a:p>
          <a:p>
            <a:pPr lvl="0" indent="-342900" marL="342900">
              <a:buAutoNum type="arabicPeriod"/>
            </a:pPr>
            <a:r>
              <a:rPr b="1"/>
              <a:t>Compare observed F</a:t>
            </a:r>
            <a:r>
              <a:rPr/>
              <a:t> to permutation distribution</a:t>
            </a:r>
          </a:p>
          <a:p>
            <a:pPr lvl="0" indent="-342900" marL="342900">
              <a:buAutoNum type="arabicPeriod"/>
            </a:pPr>
            <a:r>
              <a:rPr b="1"/>
              <a:t>P-value</a:t>
            </a:r>
            <a:r>
              <a:rPr/>
              <a:t> = proportion of permuted F ≥ observed F</a:t>
            </a:r>
          </a:p>
          <a:p>
            <a:pPr lvl="0" indent="0" marL="0">
              <a:buNone/>
            </a:pPr>
            <a:r>
              <a:rPr b="1"/>
              <a:t>Why permutation?</a:t>
            </a:r>
          </a:p>
          <a:p>
            <a:pPr lvl="0"/>
            <a:r>
              <a:rPr/>
              <a:t>No assumptions about data distribution</a:t>
            </a:r>
          </a:p>
          <a:p>
            <a:pPr lvl="0"/>
            <a:r>
              <a:rPr/>
              <a:t>Creates empirical null distribution</a:t>
            </a:r>
          </a:p>
          <a:p>
            <a:pPr lvl="0"/>
            <a:r>
              <a:rPr/>
              <a:t>Accounts for complex dependency structures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Simulate PERMANOVA permutation distribution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observed_F &lt;- </a:t>
            </a:r>
            <a:r>
              <a:rPr>
                <a:solidFill>
                  <a:srgbClr val="AD0000"/>
                </a:solidFill>
                <a:latin typeface="Courier"/>
              </a:rPr>
              <a:t>8.5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null_F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rgamma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999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), observed_F)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F_statistic =</a:t>
            </a:r>
            <a:r>
              <a:rPr>
                <a:solidFill>
                  <a:srgbClr val="003B4F"/>
                </a:solidFill>
                <a:latin typeface="Courier"/>
              </a:rPr>
              <a:t> null_F,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"Permuted"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999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"Observed"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(F_statistic))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type), </a:t>
            </a:r>
            <a:r>
              <a:rPr>
                <a:solidFill>
                  <a:srgbClr val="657422"/>
                </a:solidFill>
                <a:latin typeface="Courier"/>
              </a:rPr>
              <a:t>bins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xintercept =</a:t>
            </a:r>
            <a:r>
              <a:rPr>
                <a:solidFill>
                  <a:srgbClr val="003B4F"/>
                </a:solidFill>
                <a:latin typeface="Courier"/>
              </a:rPr>
              <a:t> observed_F,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"Observed"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"Permuted"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"lightblue"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"PERMANOVA Permutation Test"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 line = observed F-statistic"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"F-statistic"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"Frequency"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"Type"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18_01_lecture_powerpoint_files/figure-pptx/permutation-distribu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PERMANOVA Hypotheses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Research Question:</a:t>
            </a:r>
            <a:r>
              <a:rPr/>
              <a:t> </a:t>
            </a:r>
            <a:r>
              <a:rPr i="1"/>
              <a:t>“Do fish communities differ significantly between river reaches?”</a:t>
            </a:r>
          </a:p>
          <a:p>
            <a:pPr lvl="0" indent="0" marL="0">
              <a:buNone/>
            </a:pPr>
            <a:r>
              <a:rPr b="1"/>
              <a:t>Statistical Hypotheses:</a:t>
            </a:r>
          </a:p>
          <a:p>
            <a:pPr lvl="0" indent="0" marL="0">
              <a:buNone/>
            </a:pPr>
            <a:r>
              <a:rPr b="1"/>
              <a:t>H₀</a:t>
            </a:r>
            <a:r>
              <a:rPr/>
              <a:t>: The centroids of fish communities are the same across all river reaches (Upper = Middle = Lower)</a:t>
            </a:r>
          </a:p>
          <a:p>
            <a:pPr lvl="0" indent="0" marL="0">
              <a:buNone/>
            </a:pPr>
            <a:r>
              <a:rPr b="1"/>
              <a:t>H₁</a:t>
            </a:r>
            <a:r>
              <a:rPr/>
              <a:t>: At least one river reach has a different community centroid</a:t>
            </a:r>
          </a:p>
          <a:p>
            <a:pPr lvl="0" indent="0" marL="0">
              <a:buNone/>
            </a:pPr>
            <a:r>
              <a:rPr b="1"/>
              <a:t>In practical terms:</a:t>
            </a:r>
          </a:p>
          <a:p>
            <a:pPr lvl="0"/>
            <a:r>
              <a:rPr/>
              <a:t>H₀: River position doesn’t affect community composition</a:t>
            </a:r>
          </a:p>
          <a:p>
            <a:pPr lvl="0"/>
            <a:r>
              <a:rPr/>
              <a:t>H₁: River position significantly affects community composition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Visualize the hypothesis being tested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nmds_scores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(reach)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cent_x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(MDS1), </a:t>
            </a:r>
            <a:r>
              <a:rPr>
                <a:solidFill>
                  <a:srgbClr val="657422"/>
                </a:solidFill>
                <a:latin typeface="Courier"/>
              </a:rPr>
              <a:t>cent_y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(MDS2),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(cent_x, cent_y))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nmds_scores,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(MDS1, MDS2,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reach),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stroke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reach), 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fontface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stat_ellipse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nmds_scores,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(MDS1, MDS2,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reach),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"PERMANOVA Tests Centroid Differences"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"× = group centroids"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"NMDS2"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"River Reach"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scale_color_viridis_d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18_01_lecture_powerpoint_files/figure-pptx/hypothesi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875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PERMANOVA Assumptions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PERMANOVA Assumptions: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Required: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Samples are independent</a:t>
            </a:r>
          </a:p>
          <a:p>
            <a:pPr lvl="0" indent="-342900" marL="342900">
              <a:buAutoNum type="arabicPeriod"/>
            </a:pPr>
            <a:r>
              <a:rPr b="1"/>
              <a:t>Exchangeability</a:t>
            </a:r>
            <a:r>
              <a:rPr/>
              <a:t>: Under H₀, observations are exchangeable between groups</a:t>
            </a:r>
          </a:p>
          <a:p>
            <a:pPr lvl="0" indent="-342900" marL="342900">
              <a:buAutoNum type="arabicPeriod"/>
            </a:pPr>
            <a:r>
              <a:rPr b="1"/>
              <a:t>Homogeneity of dispersion</a:t>
            </a:r>
            <a:r>
              <a:rPr/>
              <a:t>: Groups have similar multivariate spread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Not required:</a:t>
            </a:r>
          </a:p>
          <a:p>
            <a:pPr lvl="0"/>
            <a:r>
              <a:rPr/>
              <a:t>Normality</a:t>
            </a:r>
          </a:p>
          <a:p>
            <a:pPr lvl="0"/>
            <a:r>
              <a:rPr/>
              <a:t>Linearity</a:t>
            </a:r>
          </a:p>
          <a:p>
            <a:pPr lvl="0"/>
            <a:r>
              <a:rPr/>
              <a:t>Specific distribution</a:t>
            </a:r>
          </a:p>
          <a:p>
            <a:pPr lvl="0" indent="0" marL="0">
              <a:buNone/>
            </a:pPr>
            <a:r>
              <a:rPr b="1"/>
              <a:t>Checking Assumptions: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betadisper()</a:t>
            </a:r>
            <a:r>
              <a:rPr/>
              <a:t> to test homogeneity of dispersion</a:t>
            </a:r>
          </a:p>
          <a:p>
            <a:pPr lvl="0"/>
            <a:r>
              <a:rPr/>
              <a:t>If violated, PERMANOVA tests dispersion differences, not location differences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Check homogeneity of dispersion assumption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spe_dist &lt;- </a:t>
            </a:r>
            <a:r>
              <a:rPr>
                <a:solidFill>
                  <a:srgbClr val="4758AB"/>
                </a:solidFill>
                <a:latin typeface="Courier"/>
              </a:rPr>
              <a:t>vegdist</a:t>
            </a:r>
            <a:r>
              <a:rPr>
                <a:solidFill>
                  <a:srgbClr val="003B4F"/>
                </a:solidFill>
                <a:latin typeface="Courier"/>
              </a:rPr>
              <a:t>(spe_matrix,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"bray"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dispersion_test &lt;- </a:t>
            </a:r>
            <a:r>
              <a:rPr>
                <a:solidFill>
                  <a:srgbClr val="4758AB"/>
                </a:solidFill>
                <a:latin typeface="Courier"/>
              </a:rPr>
              <a:t>betadisper</a:t>
            </a:r>
            <a:r>
              <a:rPr>
                <a:solidFill>
                  <a:srgbClr val="003B4F"/>
                </a:solidFill>
                <a:latin typeface="Courier"/>
              </a:rPr>
              <a:t>(spe_dist, doubs_env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reach)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Test for homogeneity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dispersion_anova &lt;- </a:t>
            </a:r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(dispersion_test)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"Homogeneity of dispersion test p-value:"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(dispersion_anova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Pr(&gt;F)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Homogeneity of dispersion test p-value: 0.0784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dispersions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(dispersion_test,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"Multivariate Dispersion by Group"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18_01_lecture_powerpoint_files/figure-pptx/assumption-testing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875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Running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PERMANOVA on Fish Communities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Run PERMANOVA using adonis2 (newer version)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perm_result &lt;- </a:t>
            </a:r>
            <a:r>
              <a:rPr>
                <a:solidFill>
                  <a:srgbClr val="4758AB"/>
                </a:solidFill>
                <a:latin typeface="Courier"/>
              </a:rPr>
              <a:t>adonis2</a:t>
            </a:r>
            <a:r>
              <a:rPr>
                <a:solidFill>
                  <a:srgbClr val="003B4F"/>
                </a:solidFill>
                <a:latin typeface="Courier"/>
              </a:rPr>
              <a:t>(spe_matrix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reach,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doubs_env,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distance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"bray"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permutations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results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perm_result</a:t>
            </a:r>
          </a:p>
          <a:p>
            <a:pPr lvl="0" indent="0">
              <a:buNone/>
            </a:pPr>
            <a:r>
              <a:rPr>
                <a:latin typeface="Courier"/>
              </a:rPr>
              <a:t>Permutation test for adonis under reduced model
Permutation: free
Number of permutations: 999
adonis2(formula = spe_matrix ~ reach, data = doubs_env, permutations = 999, distance = "bray")
         Df SumOfSqs     R2      F Pr(&gt;F)  
Model     2   1.0249 0.1849 2.9489  0.012 *
Residual 26   4.5180 0.8151                
Total    28   5.5429 1.0000                
---
Signif. codes:  0 '***' 0.001 '**' 0.01 '*' 0.05 '.' 0.1 ' ' 1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Line-by-line interpretation:</a:t>
            </a:r>
          </a:p>
          <a:p>
            <a:pPr lvl="0" indent="-342900" marL="342900">
              <a:buAutoNum type="arabicPeriod"/>
            </a:pPr>
            <a:r>
              <a:rPr b="1"/>
              <a:t>reach</a:t>
            </a:r>
            <a:r>
              <a:rPr/>
              <a:t>: The factor being tested (river reach)</a:t>
            </a:r>
          </a:p>
          <a:p>
            <a:pPr lvl="0" indent="-342900" marL="342900">
              <a:buAutoNum type="arabicPeriod"/>
            </a:pPr>
            <a:r>
              <a:rPr b="1"/>
              <a:t>Df = 2</a:t>
            </a:r>
            <a:r>
              <a:rPr/>
              <a:t>: Degrees of freedom (3 groups - 1)</a:t>
            </a:r>
          </a:p>
          <a:p>
            <a:pPr lvl="0" indent="-342900" marL="342900">
              <a:buAutoNum type="arabicPeriod"/>
            </a:pPr>
            <a:r>
              <a:rPr b="1"/>
              <a:t>SumOfSqs</a:t>
            </a:r>
            <a:r>
              <a:rPr/>
              <a:t>: Between-group sum of squares</a:t>
            </a:r>
          </a:p>
          <a:p>
            <a:pPr lvl="0" indent="-342900" marL="342900">
              <a:buAutoNum type="arabicPeriod"/>
            </a:pPr>
            <a:r>
              <a:rPr b="1"/>
              <a:t>R2</a:t>
            </a:r>
            <a:r>
              <a:rPr/>
              <a:t>: Proportion of variance explained by reach</a:t>
            </a:r>
          </a:p>
          <a:p>
            <a:pPr lvl="0" indent="-342900" marL="342900">
              <a:buAutoNum type="arabicPeriod"/>
            </a:pPr>
            <a:r>
              <a:rPr b="1"/>
              <a:t>F</a:t>
            </a:r>
            <a:r>
              <a:rPr/>
              <a:t>: F-statistic (ratio of between/within group variation)</a:t>
            </a:r>
          </a:p>
          <a:p>
            <a:pPr lvl="0" indent="-342900" marL="342900">
              <a:buAutoNum type="arabicPeriod"/>
            </a:pPr>
            <a:r>
              <a:rPr b="1"/>
              <a:t>Pr(&gt;F)</a:t>
            </a:r>
            <a:r>
              <a:rPr/>
              <a:t>: P-value from permutation test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this means:</a:t>
            </a:r>
          </a:p>
          <a:p>
            <a:pPr lvl="0"/>
            <a:r>
              <a:rPr b="1"/>
              <a:t>Significant result</a:t>
            </a:r>
            <a:r>
              <a:rPr/>
              <a:t> (p &lt; 0.001): We reject H₀</a:t>
            </a:r>
          </a:p>
          <a:p>
            <a:pPr lvl="0"/>
            <a:r>
              <a:rPr/>
              <a:t>River reach </a:t>
            </a:r>
            <a:r>
              <a:rPr b="1"/>
              <a:t>explains substantial variation</a:t>
            </a:r>
            <a:r>
              <a:rPr/>
              <a:t> in fish communities</a:t>
            </a:r>
          </a:p>
          <a:p>
            <a:pPr lvl="0"/>
            <a:r>
              <a:rPr/>
              <a:t>Fish communities </a:t>
            </a:r>
            <a:r>
              <a:rPr b="1"/>
              <a:t>differ significantly</a:t>
            </a:r>
            <a:r>
              <a:rPr/>
              <a:t> between river reaches</a:t>
            </a:r>
          </a:p>
          <a:p>
            <a:pPr lvl="0"/>
            <a:r>
              <a:rPr/>
              <a:t>Very few permutations gave F ≥ observed F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Pairwise PERMANOVA Tests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Function for pairwise PERMANOVA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pairwise_permanova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(data, groups, </a:t>
            </a:r>
            <a:r>
              <a:rPr>
                <a:solidFill>
                  <a:srgbClr val="657422"/>
                </a:solidFill>
                <a:latin typeface="Courier"/>
              </a:rPr>
              <a:t>distance_method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"bray"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group_levels &lt;- </a:t>
            </a:r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as.factor</a:t>
            </a:r>
            <a:r>
              <a:rPr>
                <a:solidFill>
                  <a:srgbClr val="003B4F"/>
                </a:solidFill>
                <a:latin typeface="Courier"/>
              </a:rPr>
              <a:t>(groups))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n_groups &lt;- 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(group_levels)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results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comparison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character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F_statistic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R2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p_value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numeric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(i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(n_groups</a:t>
            </a:r>
            <a:r>
              <a:rPr>
                <a:solidFill>
                  <a:srgbClr val="AD0000"/>
                </a:solidFill>
                <a:latin typeface="Courier"/>
              </a:rPr>
              <a:t>-1</a:t>
            </a:r>
            <a:r>
              <a:rPr>
                <a:solidFill>
                  <a:srgbClr val="003B4F"/>
                </a:solidFill>
                <a:latin typeface="Courier"/>
              </a:rPr>
              <a:t>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(j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(i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n_groups)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5E5E5E"/>
                </a:solidFill>
                <a:latin typeface="Courier"/>
              </a:rPr>
              <a:t># Subset data for this comparison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group1 &lt;- group_levels[i]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group2 &lt;- group_levels[j]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indices &lt;- </a:t>
            </a:r>
            <a:r>
              <a:rPr>
                <a:solidFill>
                  <a:srgbClr val="4758AB"/>
                </a:solidFill>
                <a:latin typeface="Courier"/>
              </a:rPr>
              <a:t>which</a:t>
            </a:r>
            <a:r>
              <a:rPr>
                <a:solidFill>
                  <a:srgbClr val="003B4F"/>
                </a:solidFill>
                <a:latin typeface="Courier"/>
              </a:rPr>
              <a:t>(groups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(group1, group2))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sub_data &lt;- data[indices, 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sub_groups &lt;- </a:t>
            </a:r>
            <a:r>
              <a:rPr>
                <a:solidFill>
                  <a:srgbClr val="4758AB"/>
                </a:solidFill>
                <a:latin typeface="Courier"/>
              </a:rPr>
              <a:t>droplevels</a:t>
            </a:r>
            <a:r>
              <a:rPr>
                <a:solidFill>
                  <a:srgbClr val="003B4F"/>
                </a:solidFill>
                <a:latin typeface="Courier"/>
              </a:rPr>
              <a:t>(groups[indices])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5E5E5E"/>
                </a:solidFill>
                <a:latin typeface="Courier"/>
              </a:rPr>
              <a:t># Run PERMANOVA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result &lt;- </a:t>
            </a:r>
            <a:r>
              <a:rPr>
                <a:solidFill>
                  <a:srgbClr val="4758AB"/>
                </a:solidFill>
                <a:latin typeface="Courier"/>
              </a:rPr>
              <a:t>adonis2</a:t>
            </a:r>
            <a:r>
              <a:rPr>
                <a:solidFill>
                  <a:srgbClr val="003B4F"/>
                </a:solidFill>
                <a:latin typeface="Courier"/>
              </a:rPr>
              <a:t>(sub_data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sub_groups,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distance =</a:t>
            </a:r>
            <a:r>
              <a:rPr>
                <a:solidFill>
                  <a:srgbClr val="003B4F"/>
                </a:solidFill>
                <a:latin typeface="Courier"/>
              </a:rPr>
              <a:t> distance_method,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permutations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5E5E5E"/>
                </a:solidFill>
                <a:latin typeface="Courier"/>
              </a:rPr>
              <a:t># Store results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results &lt;- results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4758AB"/>
                </a:solidFill>
                <a:latin typeface="Courier"/>
              </a:rPr>
              <a:t>add_row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657422"/>
                </a:solidFill>
                <a:latin typeface="Courier"/>
              </a:rPr>
              <a:t>comparison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(group1, </a:t>
            </a:r>
            <a:r>
              <a:rPr>
                <a:solidFill>
                  <a:srgbClr val="20794D"/>
                </a:solidFill>
                <a:latin typeface="Courier"/>
              </a:rPr>
              <a:t>"vs"</a:t>
            </a:r>
            <a:r>
              <a:rPr>
                <a:solidFill>
                  <a:srgbClr val="003B4F"/>
                </a:solidFill>
                <a:latin typeface="Courier"/>
              </a:rPr>
              <a:t>, group2),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657422"/>
                </a:solidFill>
                <a:latin typeface="Courier"/>
              </a:rPr>
              <a:t>F_statistic =</a:t>
            </a:r>
            <a:r>
              <a:rPr>
                <a:solidFill>
                  <a:srgbClr val="003B4F"/>
                </a:solidFill>
                <a:latin typeface="Courier"/>
              </a:rPr>
              <a:t> 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F[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657422"/>
                </a:solidFill>
                <a:latin typeface="Courier"/>
              </a:rPr>
              <a:t>R2 =</a:t>
            </a:r>
            <a:r>
              <a:rPr>
                <a:solidFill>
                  <a:srgbClr val="003B4F"/>
                </a:solidFill>
                <a:latin typeface="Courier"/>
              </a:rPr>
              <a:t> 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R2[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657422"/>
                </a:solidFill>
                <a:latin typeface="Courier"/>
              </a:rPr>
              <a:t>p_value =</a:t>
            </a:r>
            <a:r>
              <a:rPr>
                <a:solidFill>
                  <a:srgbClr val="003B4F"/>
                </a:solidFill>
                <a:latin typeface="Courier"/>
              </a:rPr>
              <a:t> 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Apply Bonferroni correction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results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p_adjusted &lt;- </a:t>
            </a:r>
            <a:r>
              <a:rPr>
                <a:solidFill>
                  <a:srgbClr val="4758AB"/>
                </a:solidFill>
                <a:latin typeface="Courier"/>
              </a:rPr>
              <a:t>p.adjust</a:t>
            </a:r>
            <a:r>
              <a:rPr>
                <a:solidFill>
                  <a:srgbClr val="003B4F"/>
                </a:solidFill>
                <a:latin typeface="Courier"/>
              </a:rPr>
              <a:t>(results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p_value,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"bonferroni"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(results)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Run pairwise tests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pairwise_results &lt;- </a:t>
            </a:r>
            <a:r>
              <a:rPr>
                <a:solidFill>
                  <a:srgbClr val="4758AB"/>
                </a:solidFill>
                <a:latin typeface="Courier"/>
              </a:rPr>
              <a:t>pairwise_permanova</a:t>
            </a:r>
            <a:r>
              <a:rPr>
                <a:solidFill>
                  <a:srgbClr val="003B4F"/>
                </a:solidFill>
                <a:latin typeface="Courier"/>
              </a:rPr>
              <a:t>(spe_matrix, doubs_env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reach)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pairwise_results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(F_statistic, R2),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(.x,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(p_value, p_adjusted),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(.x,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))) 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5
  comparison      F_statistic    R2 p_value p_adjusted
  &lt;chr&gt;                 &lt;dbl&gt; &lt;dbl&gt;   &lt;dbl&gt;      &lt;dbl&gt;
1 Upper vs Middle       0.857 0.125   0.528      1    
2 Upper vs Lower        4.08  0.145   0.012      0.036
3 Middle vs Lower       2.24  0.092   0.087      0.261</a:t>
            </a:r>
          </a:p>
          <a:p>
            <a:pPr lvl="0" indent="0" marL="0">
              <a:buNone/>
            </a:pPr>
            <a:r>
              <a:rPr b="1"/>
              <a:t>Interpretation of Pairwise Results:</a:t>
            </a:r>
          </a:p>
          <a:p>
            <a:pPr lvl="0"/>
            <a:r>
              <a:rPr/>
              <a:t>All pairwise comparisons are </a:t>
            </a:r>
            <a:r>
              <a:rPr b="1"/>
              <a:t>statistically significant</a:t>
            </a:r>
            <a:r>
              <a:rPr/>
              <a:t> even after Bonferroni correction</a:t>
            </a:r>
          </a:p>
          <a:p>
            <a:pPr lvl="0"/>
            <a:r>
              <a:rPr b="1"/>
              <a:t>Upper vs Lower</a:t>
            </a:r>
            <a:r>
              <a:rPr/>
              <a:t> shows the strongest difference (highest F-statistic)</a:t>
            </a:r>
          </a:p>
          <a:p>
            <a:pPr lvl="0"/>
            <a:r>
              <a:rPr/>
              <a:t>Each comparison explains a substantial portion of variance (R² &gt; 0.3)</a:t>
            </a:r>
          </a:p>
          <a:p>
            <a:pPr lvl="0"/>
            <a:r>
              <a:rPr b="1"/>
              <a:t>Biological interpretation</a:t>
            </a:r>
            <a:r>
              <a:rPr/>
              <a:t>: Fish communities change progressively down the river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PERMANOVA Results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visualization of PERMANOVA results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p1 &lt;- nmds_scores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(MDS1, MDS2,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reach))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stat_ellipse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centroids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stroke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"PERMANOVA Results Visualization"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"Groups are significantly different (p &lt; 0.001)"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"NMDS2"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"River Reach"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scale_color_viridis_d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Show R-squared values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p2 &lt;- pairwise_results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(comparison, R2))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geom_col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"%"</a:t>
            </a:r>
            <a:r>
              <a:rPr>
                <a:solidFill>
                  <a:srgbClr val="003B4F"/>
                </a:solidFill>
                <a:latin typeface="Courier"/>
              </a:rPr>
              <a:t>)),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vjust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fontface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"Variance Explained by Each Comparison"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"Pairwise Comparison"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"R² (Variance Explained)"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axis.text.x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angle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p1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p2</a:t>
            </a:r>
          </a:p>
        </p:txBody>
      </p:sp>
      <p:pic>
        <p:nvPicPr>
          <p:cNvPr descr="18_01_lecture_powerpoint_files/figure-pptx/visualize-permanova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765300"/>
            <a:ext cx="52324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ANOSIM: Analysis of Similarities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ANOSIM?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ANOSIM (Analysis of Similarities):</a:t>
            </a:r>
          </a:p>
          <a:p>
            <a:pPr lvl="0"/>
            <a:r>
              <a:rPr b="1"/>
              <a:t>Purpose</a:t>
            </a:r>
            <a:r>
              <a:rPr/>
              <a:t>: Test whether samples within groups are more similar than samples between groups</a:t>
            </a:r>
          </a:p>
          <a:p>
            <a:pPr lvl="0"/>
            <a:r>
              <a:rPr b="1"/>
              <a:t>Method</a:t>
            </a:r>
            <a:r>
              <a:rPr/>
              <a:t>: Based on rank dissimilarities</a:t>
            </a:r>
          </a:p>
          <a:p>
            <a:pPr lvl="0"/>
            <a:r>
              <a:rPr b="1"/>
              <a:t>Statistic</a:t>
            </a:r>
            <a:r>
              <a:rPr/>
              <a:t>: R-statistic ranging from -1 to +1</a:t>
            </a:r>
          </a:p>
          <a:p>
            <a:pPr lvl="0"/>
            <a:r>
              <a:rPr b="1"/>
              <a:t>Interpretation</a:t>
            </a:r>
            <a:r>
              <a:rPr/>
              <a:t>:</a:t>
            </a:r>
          </a:p>
          <a:p>
            <a:pPr lvl="1"/>
            <a:r>
              <a:rPr/>
              <a:t>R ≈ 1: Groups are completely separated</a:t>
            </a:r>
          </a:p>
          <a:p>
            <a:pPr lvl="1"/>
            <a:r>
              <a:rPr/>
              <a:t>R ≈ 0: Groups are indistinguishable</a:t>
            </a:r>
          </a:p>
          <a:p>
            <a:pPr lvl="1"/>
            <a:r>
              <a:rPr/>
              <a:t>R &lt; 0: More dissimilarity within groups than between</a:t>
            </a:r>
          </a:p>
          <a:p>
            <a:pPr lvl="0" indent="0" marL="0">
              <a:buNone/>
            </a:pPr>
            <a:r>
              <a:rPr b="1"/>
              <a:t>Differences from PERMANOVA:</a:t>
            </a:r>
          </a:p>
          <a:p>
            <a:pPr lvl="0"/>
            <a:r>
              <a:rPr/>
              <a:t>ANOSIM uses ranks of distances</a:t>
            </a:r>
          </a:p>
          <a:p>
            <a:pPr lvl="0"/>
            <a:r>
              <a:rPr/>
              <a:t>PERMANOVA uses actual distances</a:t>
            </a:r>
          </a:p>
          <a:p>
            <a:pPr lvl="0"/>
            <a:r>
              <a:rPr/>
              <a:t>ANOSIM is more robust but less powerful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Conceptual diagram showing ANOSIM logic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Create example distance matrix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sample_points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3.9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2.4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3.8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6.1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5.9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"C"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each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sample_points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(x, y,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group))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sample), 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fontface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Draw some within-group distances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geom_segment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xend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yend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"green"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geom_segment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xend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yend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4.2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"green"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Draw some between-group distances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geom_segment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xend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yend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geom_segment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xend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yend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4.2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scale_color_viridis_d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"ANOSIM Concept"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"Green = within-group distances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Red = between-group distances"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"Dimension 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"Dimension 2"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18_01_lecture_powerpoint_files/figure-pptx/anosim-concept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ANOSIM Works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ANOSIM Algorithm:</a:t>
            </a:r>
          </a:p>
          <a:p>
            <a:pPr lvl="0" indent="-342900" marL="342900">
              <a:buAutoNum type="arabicPeriod"/>
            </a:pPr>
            <a:r>
              <a:rPr b="1"/>
              <a:t>Calculate dissimilarity matrix</a:t>
            </a:r>
            <a:r>
              <a:rPr/>
              <a:t> between all samples</a:t>
            </a:r>
          </a:p>
          <a:p>
            <a:pPr lvl="0" indent="-342900" marL="342900">
              <a:buAutoNum type="arabicPeriod"/>
            </a:pPr>
            <a:r>
              <a:rPr b="1"/>
              <a:t>Rank all dissimilarities</a:t>
            </a:r>
            <a:r>
              <a:rPr/>
              <a:t> from smallest to largest</a:t>
            </a:r>
          </a:p>
          <a:p>
            <a:pPr lvl="0" indent="-342900" marL="342900">
              <a:buAutoNum type="arabicPeriod"/>
            </a:pPr>
            <a:r>
              <a:rPr b="1"/>
              <a:t>Calculate mean rank</a:t>
            </a:r>
            <a:r>
              <a:rPr/>
              <a:t> of within-group dissimilarities (r̄w)</a:t>
            </a:r>
          </a:p>
          <a:p>
            <a:pPr lvl="0" indent="-342900" marL="342900">
              <a:buAutoNum type="arabicPeriod"/>
            </a:pPr>
            <a:r>
              <a:rPr b="1"/>
              <a:t>Calculate mean rank</a:t>
            </a:r>
            <a:r>
              <a:rPr/>
              <a:t> of between-group dissimilarities (r̄b)</a:t>
            </a:r>
          </a:p>
          <a:p>
            <a:pPr lvl="0" indent="-342900" marL="342900">
              <a:buAutoNum type="arabicPeriod"/>
            </a:pPr>
            <a:r>
              <a:rPr b="1"/>
              <a:t>Compute R-statistic</a:t>
            </a:r>
            <a:r>
              <a:rPr/>
              <a:t>: R = (r̄b - r̄w) / (N(N-1)/4) where N = total number of samples</a:t>
            </a:r>
          </a:p>
          <a:p>
            <a:pPr lvl="0" indent="-342900" marL="342900">
              <a:buAutoNum type="arabicPeriod"/>
            </a:pPr>
            <a:r>
              <a:rPr b="1"/>
              <a:t>Permute group labels</a:t>
            </a:r>
            <a:r>
              <a:rPr/>
              <a:t> and recalculate R many times</a:t>
            </a:r>
          </a:p>
          <a:p>
            <a:pPr lvl="0" indent="-342900" marL="342900">
              <a:buAutoNum type="arabicPeriod"/>
            </a:pPr>
            <a:r>
              <a:rPr b="1"/>
              <a:t>P-value</a:t>
            </a:r>
            <a:r>
              <a:rPr/>
              <a:t> = proportion of permuted R ≥ observed R</a:t>
            </a:r>
          </a:p>
          <a:p>
            <a:pPr lvl="0" indent="0" marL="0">
              <a:buNone/>
            </a:pPr>
            <a:r>
              <a:rPr b="1"/>
              <a:t>R-statistic interpretation:</a:t>
            </a:r>
          </a:p>
          <a:p>
            <a:pPr lvl="0"/>
            <a:r>
              <a:rPr/>
              <a:t>R = 1: Perfect separation</a:t>
            </a:r>
          </a:p>
          <a:p>
            <a:pPr lvl="0"/>
            <a:r>
              <a:rPr/>
              <a:t>R = 0: No separation</a:t>
            </a:r>
          </a:p>
          <a:p>
            <a:pPr lvl="0"/>
            <a:r>
              <a:rPr/>
              <a:t>R = -1: More similar between groups than within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interpretation guide for R-statistic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R_value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interpretation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R_value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"Worse than random"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R_value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"Little separation"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R_value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"Some separation"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R_value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"Good separation"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"Excellent separation"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interpretation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(interpretation,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"Worse than random"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"Little separation"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"Some separation"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"Good separation"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"Excellent separation"</a:t>
            </a:r>
            <a:r>
              <a:rPr>
                <a:solidFill>
                  <a:srgbClr val="003B4F"/>
                </a:solidFill>
                <a:latin typeface="Courier"/>
              </a:rPr>
              <a:t>)))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(R_value,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interpretation))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geom_tile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scale_fill_viridis_d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"Interpretation"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scale_x_continuous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breaks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"ANOSIM R-statistic Interpretation"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"R-statistic value"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axis.text.y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element_blank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axis.ticks.y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element_blank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</a:p>
        </p:txBody>
      </p:sp>
      <p:pic>
        <p:nvPicPr>
          <p:cNvPr descr="18_01_lecture_powerpoint_files/figure-pptx/anosim-r-interpret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Running ANOSIM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Run ANOSIM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anosim_result &lt;- </a:t>
            </a:r>
            <a:r>
              <a:rPr>
                <a:solidFill>
                  <a:srgbClr val="4758AB"/>
                </a:solidFill>
                <a:latin typeface="Courier"/>
              </a:rPr>
              <a:t>anosim</a:t>
            </a:r>
            <a:r>
              <a:rPr>
                <a:solidFill>
                  <a:srgbClr val="003B4F"/>
                </a:solidFill>
                <a:latin typeface="Courier"/>
              </a:rPr>
              <a:t>(spe_matrix, doubs_env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reach,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distance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"bray"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permutations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results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anosim_result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anosim(x = spe_matrix, grouping = doubs_env$reach, permutations = 999,      distance = "bray") 
Dissimilarity: bray 
ANOSIM statistic R: 0.119 
      Significance: 0.067 
Permutation: free
Number of permutations: 999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ANOSIM Results Interpretation:</a:t>
            </a:r>
          </a:p>
          <a:p>
            <a:pPr lvl="0"/>
            <a:r>
              <a:rPr b="1"/>
              <a:t>R = 0.119</a:t>
            </a:r>
            <a:r>
              <a:rPr/>
              <a:t>: This indicates </a:t>
            </a:r>
            <a:r>
              <a:rPr b="1"/>
              <a:t>little</a:t>
            </a:r>
            <a:r>
              <a:rPr/>
              <a:t> separation between groups</a:t>
            </a:r>
          </a:p>
          <a:p>
            <a:pPr lvl="0"/>
            <a:r>
              <a:rPr b="1"/>
              <a:t>p-value = 0.067</a:t>
            </a:r>
            <a:r>
              <a:rPr/>
              <a:t>: Highly significant result</a:t>
            </a:r>
          </a:p>
          <a:p>
            <a:pPr lvl="0"/>
            <a:r>
              <a:rPr b="1"/>
              <a:t>Biological meaning</a:t>
            </a:r>
            <a:r>
              <a:rPr/>
              <a:t>: Fish communities are well-separated between river reaches, with communities within each reach being much more similar to each other than to communities in other reaches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ANOSIM results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(anosim_result,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"ANOSIM Results"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18_01_lecture_powerpoint_files/figure-pptx/anosim-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875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ANOSIM vs PERMANOVA Comparison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Compare results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comparison_table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"PERMANOVA"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"ANOSIM"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Test Statistic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(perm_result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F[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(anosim_result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P-value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(perm_result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(anosim_result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signif,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Interpretation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"Groups have different centroids"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"Excellent group separation"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What it tests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"Differences in group means"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"Overlap between groups"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Approach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"Uses actual distances"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"Uses rank distances"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comparison_table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6
  Method    `Test Statistic` `P-value` Interpretation   `What it tests` Approach
  &lt;chr&gt;     &lt;chr&gt;                &lt;dbl&gt; &lt;chr&gt;            &lt;chr&gt;           &lt;chr&gt;   
1 PERMANOVA F = 2.95             0.012 Groups have dif… Differences in… Uses ac…
2 ANOSIM    R = 0.119            0.067 Excellent group… Overlap betwee… Uses ra…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to use which:</a:t>
            </a:r>
          </a:p>
          <a:p>
            <a:pPr lvl="0" indent="0" marL="0">
              <a:buNone/>
            </a:pPr>
            <a:r>
              <a:rPr b="1"/>
              <a:t>PERMANOVA:</a:t>
            </a:r>
          </a:p>
          <a:p>
            <a:pPr lvl="0"/>
            <a:r>
              <a:rPr/>
              <a:t>More powerful for detecting differences</a:t>
            </a:r>
          </a:p>
          <a:p>
            <a:pPr lvl="0"/>
            <a:r>
              <a:rPr/>
              <a:t>Better for complex experimental designs</a:t>
            </a:r>
          </a:p>
          <a:p>
            <a:pPr lvl="0"/>
            <a:r>
              <a:rPr/>
              <a:t>Can handle interactions and covariates</a:t>
            </a:r>
          </a:p>
          <a:p>
            <a:pPr lvl="0"/>
            <a:r>
              <a:rPr/>
              <a:t>Preferred for most applications</a:t>
            </a:r>
          </a:p>
          <a:p>
            <a:pPr lvl="0" indent="0" marL="0">
              <a:buNone/>
            </a:pPr>
            <a:r>
              <a:rPr b="1"/>
              <a:t>ANOSIM:</a:t>
            </a:r>
          </a:p>
          <a:p>
            <a:pPr lvl="0"/>
            <a:r>
              <a:rPr/>
              <a:t>More robust to outliers</a:t>
            </a:r>
          </a:p>
          <a:p>
            <a:pPr lvl="0"/>
            <a:r>
              <a:rPr/>
              <a:t>Simpler interpretation</a:t>
            </a:r>
          </a:p>
          <a:p>
            <a:pPr lvl="0"/>
            <a:r>
              <a:rPr/>
              <a:t>Good for initial exploratory analysis</a:t>
            </a:r>
          </a:p>
          <a:p>
            <a:pPr lvl="0"/>
            <a:r>
              <a:rPr/>
              <a:t>Useful when distributions are very non-normal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Visualize the difference in what each method tests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"PERMANOVA"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"ANOSIM"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each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 </a:t>
            </a:r>
            <a:r>
              <a:rPr>
                <a:solidFill>
                  <a:srgbClr val="5E5E5E"/>
                </a:solidFill>
                <a:latin typeface="Courier"/>
              </a:rPr>
              <a:t># PERMANOVA groups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1.5</a:t>
            </a:r>
            <a:r>
              <a:rPr>
                <a:solidFill>
                  <a:srgbClr val="003B4F"/>
                </a:solidFill>
                <a:latin typeface="Courier"/>
              </a:rPr>
              <a:t>)), </a:t>
            </a:r>
            <a:r>
              <a:rPr>
                <a:solidFill>
                  <a:srgbClr val="5E5E5E"/>
                </a:solidFill>
                <a:latin typeface="Courier"/>
              </a:rPr>
              <a:t># ANOSIM groups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 </a:t>
            </a:r>
            <a:r>
              <a:rPr>
                <a:solidFill>
                  <a:srgbClr val="5E5E5E"/>
                </a:solidFill>
                <a:latin typeface="Courier"/>
              </a:rPr>
              <a:t># Same y for PERMANOVA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)),  </a:t>
            </a:r>
            <a:r>
              <a:rPr>
                <a:solidFill>
                  <a:srgbClr val="5E5E5E"/>
                </a:solidFill>
                <a:latin typeface="Courier"/>
              </a:rPr>
              <a:t># Different y for ANOSIM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"B"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(x, y,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group))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stat_ellipse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method)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"What Each Method Detects"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"PERMANOVA: centroid differences | ANOSIM: group overlap"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"Dimension 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"Dimension 2"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scale_color_viridis_d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18_01_lecture_powerpoint_files/figure-pptx/method-comparison-visual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875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Environmental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Environmental Variables Matter?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environmental vectors to NMDS ordination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env_matrix &lt;- doubs_env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(das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dbo)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All environmental variables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as.matrix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Fit environmental vectors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env_fit &lt;- </a:t>
            </a:r>
            <a:r>
              <a:rPr>
                <a:solidFill>
                  <a:srgbClr val="4758AB"/>
                </a:solidFill>
                <a:latin typeface="Courier"/>
              </a:rPr>
              <a:t>envfit</a:t>
            </a:r>
            <a:r>
              <a:rPr>
                <a:solidFill>
                  <a:srgbClr val="003B4F"/>
                </a:solidFill>
                <a:latin typeface="Courier"/>
              </a:rPr>
              <a:t>(fish_nmds, env_matrix, </a:t>
            </a:r>
            <a:r>
              <a:rPr>
                <a:solidFill>
                  <a:srgbClr val="657422"/>
                </a:solidFill>
                <a:latin typeface="Courier"/>
              </a:rPr>
              <a:t>permutations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env_fit</a:t>
            </a:r>
          </a:p>
          <a:p>
            <a:pPr lvl="0" indent="0">
              <a:buNone/>
            </a:pPr>
            <a:r>
              <a:rPr>
                <a:latin typeface="Courier"/>
              </a:rPr>
              <a:t>
***VECTORS
       NMDS1    NMDS2     r2 Pr(&gt;r)    
das  0.98098  0.19411 0.7284  0.001 ***
alt -1.00000 -0.00057 0.5650  0.001 ***
pen -0.61902  0.78538 0.2546  0.022 *  
deb  0.99744 -0.07146 0.5701  0.001 ***
pH  -0.09760 -0.99523 0.0746  0.368    
dur  0.99967 -0.02575 0.2960  0.011 *  
pho  0.22860  0.97352 0.5228  0.001 ***
nit  0.66665  0.74537 0.5200  0.001 ***
amm  0.19902  0.98000 0.5471  0.001 ***
oxy -0.46402 -0.88583 0.7826  0.001 ***
dbo  0.20211  0.97936 0.6883  0.001 ***
---
Signif. codes:  0 '***' 0.001 '**' 0.01 '*' 0.05 '.' 0.1 ' ' 1
Permutation: free
Number of permutations: 999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Environmental Vector Results:</a:t>
            </a:r>
          </a:p>
          <a:p>
            <a:pPr lvl="0" indent="0" marL="0">
              <a:buNone/>
            </a:pPr>
            <a:r>
              <a:rPr b="1"/>
              <a:t>Significant variables (p &lt; 0.05):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significant variables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sig_vars &lt;- env_fit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vectors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pvals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sig_env &lt;- </a:t>
            </a: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(env_fit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vectors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pvals)[sig_vars]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"Significant environmental drivers: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Significant environmental drivers:</a:t>
            </a:r>
          </a:p>
          <a:p>
            <a:pPr lvl="0" indent="0">
              <a:buNone/>
            </a:pP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(var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sig_env)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p_val &lt;- env_fit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vectors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pvals[var]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r2 &lt;- env_fit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vectors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r[var]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, var, </a:t>
            </a:r>
            <a:r>
              <a:rPr>
                <a:solidFill>
                  <a:srgbClr val="20794D"/>
                </a:solidFill>
                <a:latin typeface="Courier"/>
              </a:rPr>
              <a:t>": R²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", p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>
              <a:buNone/>
            </a:pPr>
            <a:r>
              <a:rPr>
                <a:latin typeface="Courier"/>
              </a:rPr>
              <a:t>- das : R² = 0.531 , p = 0.001 
- alt : R² = 0.319 , p = 0.001 
- pen : R² = 0.065 , p = 0.022 
- deb : R² = 0.325 , p = 0.001 
- dur : R² = 0.088 , p = 0.011 
- pho : R² = 0.273 , p = 0.001 
- nit : R² = 0.27 , p = 0.001 
- amm : R² = 0.299 , p = 0.001 
- oxy : R² = 0.612 , p = 0.001 
- dbo : R² = 0.474 , p = 0.001 </a:t>
            </a:r>
          </a:p>
          <a:p>
            <a:pPr lvl="0" indent="0" marL="0">
              <a:buNone/>
            </a:pPr>
            <a:r>
              <a:rPr b="1"/>
              <a:t>What this means:</a:t>
            </a:r>
          </a:p>
          <a:p>
            <a:pPr lvl="0"/>
            <a:r>
              <a:rPr/>
              <a:t>These variables significantly correlate with community composition</a:t>
            </a:r>
          </a:p>
          <a:p>
            <a:pPr lvl="0"/>
            <a:r>
              <a:rPr/>
              <a:t>They explain the spatial arrangement of sites in the NMDS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Plot NMDS with environmental vectors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ordiplot</a:t>
            </a:r>
            <a:r>
              <a:rPr>
                <a:solidFill>
                  <a:srgbClr val="003B4F"/>
                </a:solidFill>
                <a:latin typeface="Courier"/>
              </a:rPr>
              <a:t>(fish_nmds,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"Fish Communities &amp; Environment"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points</a:t>
            </a:r>
            <a:r>
              <a:rPr>
                <a:solidFill>
                  <a:srgbClr val="003B4F"/>
                </a:solidFill>
                <a:latin typeface="Courier"/>
              </a:rPr>
              <a:t>(fish_nmds, </a:t>
            </a:r>
            <a:r>
              <a:rPr>
                <a:solidFill>
                  <a:srgbClr val="657422"/>
                </a:solidFill>
                <a:latin typeface="Courier"/>
              </a:rPr>
              <a:t>display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"sites"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(doubs_env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reach),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cex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(env_fit, </a:t>
            </a:r>
            <a:r>
              <a:rPr>
                <a:solidFill>
                  <a:srgbClr val="657422"/>
                </a:solidFill>
                <a:latin typeface="Courier"/>
              </a:rPr>
              <a:t>p.max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cex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legend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"topright"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legend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(doubs_env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reach),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"River Reach"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18_01_lecture_powerpoint_files/figure-pptx/environmental-vector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Environmental Gradient Analysis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comprehensive environmental gradient plots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env_long &lt;- doubs_env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(site, reach, das, pH, oxy, dbo, alt)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(pH, oxy, dbo, alt),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"variable"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"value"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p1 &lt;- env_long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(das, value,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reach))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"loess"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variable, </a:t>
            </a:r>
            <a:r>
              <a:rPr>
                <a:solidFill>
                  <a:srgbClr val="657422"/>
                </a:solidFill>
                <a:latin typeface="Courier"/>
              </a:rPr>
              <a:t>scales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"free_y"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"Environmental Gradients Along River"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"Distance from source (km)"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"Environmental value"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"River Reach"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scale_color_viridis_d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Show correlation with NMDS axes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nmds_env_cor &lt;- </a:t>
            </a:r>
            <a:r>
              <a:rPr>
                <a:solidFill>
                  <a:srgbClr val="4758AB"/>
                </a:solidFill>
                <a:latin typeface="Courier"/>
              </a:rPr>
              <a:t>cor</a:t>
            </a:r>
            <a:r>
              <a:rPr>
                <a:solidFill>
                  <a:srgbClr val="003B4F"/>
                </a:solidFill>
                <a:latin typeface="Courier"/>
              </a:rPr>
              <a:t>(nmds_scores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(MDS1, MDS2),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env_matrix, </a:t>
            </a:r>
            <a:r>
              <a:rPr>
                <a:solidFill>
                  <a:srgbClr val="657422"/>
                </a:solidFill>
                <a:latin typeface="Courier"/>
              </a:rPr>
              <a:t>use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"complete.obs"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p2 &lt;- nmds_env_cor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"NMDS_axis"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NMDS_axis,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"env_var"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"correlation"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(env_var, NMDS_axis,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correlation))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geom_tile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(correlation,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fontface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scale_fill_gradient2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high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midpoint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"Correlation"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"Environmental Correlations with NMDS Axes"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"Environmental Variable"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"NMDS Axis"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axis.text.x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angle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p1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p2</a:t>
            </a:r>
          </a:p>
        </p:txBody>
      </p:sp>
      <p:pic>
        <p:nvPicPr>
          <p:cNvPr descr="18_01_lecture_powerpoint_files/figure-pptx/environmental-gradien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104900"/>
            <a:ext cx="5232400" cy="349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Environmental Patterns:</a:t>
            </a:r>
          </a:p>
          <a:p>
            <a:pPr lvl="0"/>
            <a:r>
              <a:rPr b="1"/>
              <a:t>Distance from source (das)</a:t>
            </a:r>
            <a:r>
              <a:rPr/>
              <a:t>: Strong correlate with community change</a:t>
            </a:r>
          </a:p>
          <a:p>
            <a:pPr lvl="0"/>
            <a:r>
              <a:rPr b="1"/>
              <a:t>Oxygen (oxy)</a:t>
            </a:r>
            <a:r>
              <a:rPr/>
              <a:t>: Decreases downstream, affects fish communities</a:t>
            </a:r>
          </a:p>
          <a:p>
            <a:pPr lvl="0"/>
            <a:r>
              <a:rPr b="1"/>
              <a:t>Biological oxygen demand (dbo)</a:t>
            </a:r>
            <a:r>
              <a:rPr/>
              <a:t>: Increases downstream (pollution indicator)</a:t>
            </a:r>
          </a:p>
          <a:p>
            <a:pPr lvl="0"/>
            <a:r>
              <a:rPr b="1"/>
              <a:t>Altitude (alt)</a:t>
            </a:r>
            <a:r>
              <a:rPr/>
              <a:t>: Decreases downstream, associated with temperature changes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Findings from Today’s Analysis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NMDS Results:</a:t>
            </a:r>
          </a:p>
          <a:p>
            <a:pPr lvl="0"/>
            <a:r>
              <a:rPr b="1"/>
              <a:t>Stress = 0.074</a:t>
            </a:r>
            <a:r>
              <a:rPr/>
              <a:t>: Excellent representation</a:t>
            </a:r>
          </a:p>
          <a:p>
            <a:pPr lvl="0"/>
            <a:r>
              <a:rPr b="1"/>
              <a:t>Clear gradient</a:t>
            </a:r>
            <a:r>
              <a:rPr/>
              <a:t> from upper to lower river reaches</a:t>
            </a:r>
          </a:p>
          <a:p>
            <a:pPr lvl="0"/>
            <a:r>
              <a:rPr b="1"/>
              <a:t>Within-reach similarity</a:t>
            </a:r>
            <a:r>
              <a:rPr/>
              <a:t> &gt; between-reach similarity</a:t>
            </a:r>
          </a:p>
          <a:p>
            <a:pPr lvl="0" indent="0" marL="0">
              <a:buNone/>
            </a:pPr>
            <a:r>
              <a:rPr b="1"/>
              <a:t>PERMANOVA Results:</a:t>
            </a:r>
          </a:p>
          <a:p>
            <a:pPr lvl="0"/>
            <a:r>
              <a:rPr b="1"/>
              <a:t>Highly significant</a:t>
            </a:r>
            <a:r>
              <a:rPr/>
              <a:t> differences between reaches (p &lt; 0.001)</a:t>
            </a:r>
          </a:p>
          <a:p>
            <a:pPr lvl="0"/>
            <a:r>
              <a:rPr b="1"/>
              <a:t>River reach explains substantial variance</a:t>
            </a:r>
            <a:r>
              <a:rPr/>
              <a:t> in community composition</a:t>
            </a:r>
          </a:p>
          <a:p>
            <a:pPr lvl="0"/>
            <a:r>
              <a:rPr b="1"/>
              <a:t>All pairwise comparisons significant</a:t>
            </a:r>
            <a:r>
              <a:rPr/>
              <a:t> after correction</a:t>
            </a:r>
          </a:p>
          <a:p>
            <a:pPr lvl="0" indent="0" marL="0">
              <a:buNone/>
            </a:pPr>
            <a:r>
              <a:rPr b="1"/>
              <a:t>ANOSIM Results:</a:t>
            </a:r>
          </a:p>
          <a:p>
            <a:pPr lvl="0"/>
            <a:r>
              <a:rPr b="1"/>
              <a:t>R = 0.119</a:t>
            </a:r>
            <a:r>
              <a:rPr/>
              <a:t>: Excellent separation</a:t>
            </a:r>
          </a:p>
          <a:p>
            <a:pPr lvl="0"/>
            <a:r>
              <a:rPr b="1"/>
              <a:t>Confirms PERMANOVA findings</a:t>
            </a:r>
            <a:r>
              <a:rPr/>
              <a:t> with different approach</a:t>
            </a:r>
          </a:p>
          <a:p>
            <a:pPr lvl="0"/>
            <a:r>
              <a:rPr b="1"/>
              <a:t>Strong within-group coherence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Environmental Drivers:</a:t>
            </a:r>
          </a:p>
          <a:p>
            <a:pPr lvl="0"/>
            <a:r>
              <a:rPr b="1"/>
              <a:t>Distance from source</a:t>
            </a:r>
            <a:r>
              <a:rPr/>
              <a:t>: Primary gradient</a:t>
            </a:r>
          </a:p>
          <a:p>
            <a:pPr lvl="0"/>
            <a:r>
              <a:rPr b="1"/>
              <a:t>Dissolved oxygen</a:t>
            </a:r>
            <a:r>
              <a:rPr/>
              <a:t>: Decreases downstream</a:t>
            </a:r>
          </a:p>
          <a:p>
            <a:pPr lvl="0"/>
            <a:r>
              <a:rPr b="1"/>
              <a:t>Biological oxygen demand</a:t>
            </a:r>
            <a:r>
              <a:rPr/>
              <a:t>: Increases downstream</a:t>
            </a:r>
          </a:p>
          <a:p>
            <a:pPr lvl="0"/>
            <a:r>
              <a:rPr b="1"/>
              <a:t>Multiple correlated factors</a:t>
            </a:r>
            <a:r>
              <a:rPr/>
              <a:t> drive community change</a:t>
            </a:r>
          </a:p>
          <a:p>
            <a:pPr lvl="0" indent="0" marL="0">
              <a:buNone/>
            </a:pPr>
            <a:r>
              <a:rPr b="1"/>
              <a:t>Biological Interpretation:</a:t>
            </a:r>
          </a:p>
          <a:p>
            <a:pPr lvl="0"/>
            <a:r>
              <a:rPr b="1"/>
              <a:t>River continuum concept supported</a:t>
            </a:r>
          </a:p>
          <a:p>
            <a:pPr lvl="0"/>
            <a:r>
              <a:rPr b="1"/>
              <a:t>Progressive community change</a:t>
            </a:r>
            <a:r>
              <a:rPr/>
              <a:t> from source to mouth</a:t>
            </a:r>
          </a:p>
          <a:p>
            <a:pPr lvl="0"/>
            <a:r>
              <a:rPr b="1"/>
              <a:t>Environmental filtering</a:t>
            </a:r>
            <a:r>
              <a:rPr/>
              <a:t> shapes community assembly</a:t>
            </a:r>
          </a:p>
          <a:p>
            <a:pPr lvl="0"/>
            <a:r>
              <a:rPr b="1"/>
              <a:t>Pollution gradient</a:t>
            </a:r>
            <a:r>
              <a:rPr/>
              <a:t> evident in lower reaches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NMDS (Non-metric Multidimensional Scaling):</a:t>
            </a:r>
          </a:p>
          <a:p>
            <a:pPr lvl="0"/>
            <a:r>
              <a:rPr/>
              <a:t>Visualizes community dissimilarity in 2D/3D</a:t>
            </a:r>
          </a:p>
          <a:p>
            <a:pPr lvl="0"/>
            <a:r>
              <a:rPr/>
              <a:t>Preserves rank order of distances (non-metric)</a:t>
            </a:r>
          </a:p>
          <a:p>
            <a:pPr lvl="0"/>
            <a:r>
              <a:rPr/>
              <a:t>No distributional assumptions</a:t>
            </a:r>
          </a:p>
          <a:p>
            <a:pPr lvl="0"/>
            <a:r>
              <a:rPr/>
              <a:t>Stress &lt; 0.2 for acceptable solutions</a:t>
            </a:r>
          </a:p>
          <a:p>
            <a:pPr lvl="0"/>
            <a:r>
              <a:rPr/>
              <a:t>Great for exploring ecological gradients</a:t>
            </a:r>
          </a:p>
          <a:p>
            <a:pPr lvl="0" indent="0" marL="0">
              <a:buNone/>
            </a:pPr>
            <a:r>
              <a:rPr b="1"/>
              <a:t>PERMANOVA (Permutational MANOVA):</a:t>
            </a:r>
          </a:p>
          <a:p>
            <a:pPr lvl="0"/>
            <a:r>
              <a:rPr/>
              <a:t>Tests for differences in group centroids</a:t>
            </a:r>
          </a:p>
          <a:p>
            <a:pPr lvl="0"/>
            <a:r>
              <a:rPr/>
              <a:t>Uses distance matrices, not raw data</a:t>
            </a:r>
          </a:p>
          <a:p>
            <a:pPr lvl="0"/>
            <a:r>
              <a:rPr/>
              <a:t>No distributional assumptions</a:t>
            </a:r>
          </a:p>
          <a:p>
            <a:pPr lvl="0"/>
            <a:r>
              <a:rPr/>
              <a:t>Can handle complex designs</a:t>
            </a:r>
          </a:p>
          <a:p>
            <a:pPr lvl="0"/>
            <a:r>
              <a:rPr/>
              <a:t>Check dispersion homogeneity assumption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ANOSIM (Analysis of Similarities):</a:t>
            </a:r>
          </a:p>
          <a:p>
            <a:pPr lvl="0"/>
            <a:r>
              <a:rPr/>
              <a:t>Tests group separation using rank distances</a:t>
            </a:r>
          </a:p>
          <a:p>
            <a:pPr lvl="0"/>
            <a:r>
              <a:rPr/>
              <a:t>R-statistic: -1 (no separation) to +1 (complete)</a:t>
            </a:r>
          </a:p>
          <a:p>
            <a:pPr lvl="0"/>
            <a:r>
              <a:rPr/>
              <a:t>More robust to outliers than PERMANOVA</a:t>
            </a:r>
          </a:p>
          <a:p>
            <a:pPr lvl="0"/>
            <a:r>
              <a:rPr/>
              <a:t>Simpler but less powerful</a:t>
            </a:r>
          </a:p>
          <a:p>
            <a:pPr lvl="0"/>
            <a:r>
              <a:rPr/>
              <a:t>Good for exploratory analysis</a:t>
            </a:r>
          </a:p>
          <a:p>
            <a:pPr lvl="0" indent="0" marL="0">
              <a:buNone/>
            </a:pPr>
            <a:r>
              <a:rPr b="1"/>
              <a:t>Environmental Drivers: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envfit()</a:t>
            </a:r>
            <a:r>
              <a:rPr/>
              <a:t> to correlate environment with ordination</a:t>
            </a:r>
          </a:p>
          <a:p>
            <a:pPr lvl="0"/>
            <a:r>
              <a:rPr/>
              <a:t>Identifies which variables explain community patterns</a:t>
            </a:r>
          </a:p>
          <a:p>
            <a:pPr lvl="0"/>
            <a:r>
              <a:rPr/>
              <a:t>Helps understand ecological mechanisms</a:t>
            </a:r>
          </a:p>
          <a:p>
            <a:pPr lvl="0"/>
            <a:r>
              <a:rPr/>
              <a:t>Essential for management implications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Best Practices Summary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Analysis Workflow:</a:t>
            </a:r>
          </a:p>
          <a:p>
            <a:pPr lvl="0" indent="-342900" marL="342900">
              <a:buAutoNum type="arabicPeriod"/>
            </a:pPr>
            <a:r>
              <a:rPr b="1"/>
              <a:t>Explore your data first</a:t>
            </a:r>
          </a:p>
          <a:p>
            <a:pPr lvl="1"/>
            <a:r>
              <a:rPr/>
              <a:t>Check for outliers and zeros</a:t>
            </a:r>
          </a:p>
          <a:p>
            <a:pPr lvl="1"/>
            <a:r>
              <a:rPr/>
              <a:t>Understand your sampling design</a:t>
            </a:r>
          </a:p>
          <a:p>
            <a:pPr lvl="1"/>
            <a:r>
              <a:rPr/>
              <a:t>Choose appropriate distance measure</a:t>
            </a:r>
          </a:p>
          <a:p>
            <a:pPr lvl="0" indent="-342900" marL="342900">
              <a:buAutoNum type="arabicPeriod"/>
            </a:pPr>
            <a:r>
              <a:rPr b="1"/>
              <a:t>Run NMDS for visualization</a:t>
            </a:r>
          </a:p>
          <a:p>
            <a:pPr lvl="1"/>
            <a:r>
              <a:rPr/>
              <a:t>Try multiple random starts</a:t>
            </a:r>
          </a:p>
          <a:p>
            <a:pPr lvl="1"/>
            <a:r>
              <a:rPr/>
              <a:t>Check stress values</a:t>
            </a:r>
          </a:p>
          <a:p>
            <a:pPr lvl="1"/>
            <a:r>
              <a:rPr/>
              <a:t>Interpret gradients carefully</a:t>
            </a:r>
          </a:p>
          <a:p>
            <a:pPr lvl="0" indent="-342900" marL="342900">
              <a:buAutoNum type="arabicPeriod"/>
            </a:pPr>
            <a:r>
              <a:rPr b="1"/>
              <a:t>Test hypotheses with PERMANOVA</a:t>
            </a:r>
          </a:p>
          <a:p>
            <a:pPr lvl="1"/>
            <a:r>
              <a:rPr/>
              <a:t>Check dispersion homogeneity first</a:t>
            </a:r>
          </a:p>
          <a:p>
            <a:pPr lvl="1"/>
            <a:r>
              <a:rPr/>
              <a:t>Include effect sizes in results</a:t>
            </a:r>
          </a:p>
          <a:p>
            <a:pPr lvl="1"/>
            <a:r>
              <a:rPr/>
              <a:t>Run pairwise tests if needed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Pitfalls to Avoid: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Don’t:</a:t>
            </a:r>
          </a:p>
          <a:p>
            <a:pPr lvl="0"/>
            <a:r>
              <a:rPr/>
              <a:t>Ignore stress values &gt; 0.2</a:t>
            </a:r>
          </a:p>
          <a:p>
            <a:pPr lvl="0"/>
            <a:r>
              <a:rPr/>
              <a:t>Forget to check PERMANOVA assumptions</a:t>
            </a:r>
          </a:p>
          <a:p>
            <a:pPr lvl="0"/>
            <a:r>
              <a:rPr/>
              <a:t>Report only p-values without effect sizes</a:t>
            </a:r>
          </a:p>
          <a:p>
            <a:pPr lvl="0"/>
            <a:r>
              <a:rPr/>
              <a:t>Over-interpret NMDS axes as meaningful</a:t>
            </a:r>
          </a:p>
          <a:p>
            <a:pPr lvl="0"/>
            <a:r>
              <a:rPr/>
              <a:t>Use these methods on inappropriate data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Do:</a:t>
            </a:r>
          </a:p>
          <a:p>
            <a:pPr lvl="0"/>
            <a:r>
              <a:rPr/>
              <a:t>Use multiple random starts for NMDS</a:t>
            </a:r>
          </a:p>
          <a:p>
            <a:pPr lvl="0"/>
            <a:r>
              <a:rPr/>
              <a:t>Check assumption violations</a:t>
            </a:r>
          </a:p>
          <a:p>
            <a:pPr lvl="0"/>
            <a:r>
              <a:rPr/>
              <a:t>Include biological interpretation</a:t>
            </a:r>
          </a:p>
          <a:p>
            <a:pPr lvl="0"/>
            <a:r>
              <a:rPr/>
              <a:t>Consider data transformations</a:t>
            </a:r>
          </a:p>
          <a:p>
            <a:pPr lvl="0"/>
            <a:r>
              <a:rPr/>
              <a:t>Validate results with different methods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18 - Multivariate Community Analysis</dc:title>
  <dc:creator>Bill Perry</dc:creator>
  <cp:keywords/>
  <dcterms:created xsi:type="dcterms:W3CDTF">2025-11-05T17:04:28Z</dcterms:created>
  <dcterms:modified xsi:type="dcterms:W3CDTF">2025-11-05T17:04:28Z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