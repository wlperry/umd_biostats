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3.png"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5.png" /><Relationship Id="rId2" Type="http://schemas.openxmlformats.org/officeDocument/2006/relationships/image" Target="../media/image1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04: Probability and Inference</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 Probability and Statistical Inference</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p:txBody>
      </p:sp>
      <p:pic>
        <p:nvPicPr>
          <p:cNvPr descr="04_01_lecture_powerpoint_files/figure-pptx/unnamed-chunk-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1: Exploring the Grayling Dataset</a:t>
            </a:r>
          </a:p>
        </p:txBody>
      </p:sp>
      <p:sp>
        <p:nvSpPr>
          <p:cNvPr id="3" name="Content Placeholder 2"/>
          <p:cNvSpPr>
            <a:spLocks noGrp="1"/>
          </p:cNvSpPr>
          <p:nvPr>
            <p:ph idx="1"/>
          </p:nvPr>
        </p:nvSpPr>
        <p:spPr/>
        <p:txBody>
          <a:bodyPr/>
          <a:lstStyle/>
          <a:p>
            <a:pPr lvl="0" indent="0" marL="1270000">
              <a:buNone/>
            </a:pPr>
            <a:r>
              <a:rPr sz="2000" b="1"/>
              <a:t>Practice Exercise 1: Exploring the Grayling Dataset</a:t>
            </a:r>
          </a:p>
          <a:p>
            <a:pPr lvl="0" indent="0" marL="1270000">
              <a:buNone/>
            </a:pPr>
            <a:r>
              <a:rPr sz="2000"/>
              <a:t>Let’s explore the Arctic grayling data from lakes I3 and I8. Use the </a:t>
            </a:r>
            <a:r>
              <a:rPr sz="2000">
                <a:latin typeface="Courier"/>
              </a:rPr>
              <a:t>grayling_df</a:t>
            </a:r>
            <a:r>
              <a:rPr sz="2000"/>
              <a:t> data frame to create basic summary statistics.</a:t>
            </a:r>
          </a:p>
          <a:p>
            <a:pPr lvl="0" indent="0">
              <a:buNone/>
            </a:pPr>
            <a:r>
              <a:rPr>
                <a:solidFill>
                  <a:srgbClr val="5E5E5E"/>
                </a:solidFill>
                <a:latin typeface="Courier"/>
              </a:rPr>
              <a:t># Write your code here to explore the basic structure of the data</a:t>
            </a:r>
            <a:br/>
            <a:r>
              <a:rPr>
                <a:solidFill>
                  <a:srgbClr val="5E5E5E"/>
                </a:solidFill>
                <a:latin typeface="Courier"/>
              </a:rPr>
              <a:t># also note plottig a box plot is really useful</a:t>
            </a:r>
            <a:br/>
            <a:br/>
            <a:br/>
            <a:r>
              <a:rPr>
                <a:solidFill>
                  <a:srgbClr val="5E5E5E"/>
                </a:solidFill>
                <a:latin typeface="Courier"/>
              </a:rPr>
              <a:t># Calculate summary statistics</a:t>
            </a:r>
            <a:br/>
            <a:r>
              <a:rPr>
                <a:solidFill>
                  <a:srgbClr val="003B4F"/>
                </a:solidFill>
                <a:latin typeface="Courier"/>
              </a:rPr>
              <a:t>grayling_summary &lt;- grayling_df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mean_length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sd_length =</a:t>
            </a:r>
            <a:r>
              <a:rPr>
                <a:solidFill>
                  <a:srgbClr val="003B4F"/>
                </a:solidFill>
                <a:latin typeface="Courier"/>
              </a:rPr>
              <a:t> </a:t>
            </a:r>
            <a:r>
              <a:rPr>
                <a:solidFill>
                  <a:srgbClr val="4758AB"/>
                </a:solidFill>
                <a:latin typeface="Courier"/>
              </a:rPr>
              <a:t>sd</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se_length =</a:t>
            </a:r>
            <a:r>
              <a:rPr>
                <a:solidFill>
                  <a:srgbClr val="003B4F"/>
                </a:solidFill>
                <a:latin typeface="Courier"/>
              </a:rPr>
              <a:t> sd_length</a:t>
            </a:r>
            <a:r>
              <a:rPr>
                <a:solidFill>
                  <a:srgbClr val="5E5E5E"/>
                </a:solidFill>
                <a:latin typeface="Courier"/>
              </a:rPr>
              <a:t>/</a:t>
            </a:r>
            <a:r>
              <a:rPr>
                <a:solidFill>
                  <a:srgbClr val="4758AB"/>
                </a:solidFill>
                <a:latin typeface="Courier"/>
              </a:rPr>
              <a:t>sqrt</a:t>
            </a:r>
            <a:r>
              <a:rPr>
                <a:solidFill>
                  <a:srgbClr val="003B4F"/>
                </a:solidFill>
                <a:latin typeface="Courier"/>
              </a:rPr>
              <a:t>(</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count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r>
              <a:rPr>
                <a:solidFill>
                  <a:srgbClr val="003B4F"/>
                </a:solidFill>
                <a:latin typeface="Courier"/>
              </a:rPr>
              <a:t>grayling_summary</a:t>
            </a:r>
          </a:p>
          <a:p>
            <a:pPr lvl="0" indent="0">
              <a:buNone/>
            </a:pPr>
            <a:r>
              <a:rPr sz="2000">
                <a:latin typeface="Courier"/>
              </a:rPr>
              <a:t># A tibble: 2 × 5
  lake  mean_length sd_length se_length count
  &lt;chr&gt;       &lt;dbl&gt;     &lt;dbl&gt;     &lt;dbl&gt; &lt;int&gt;
1 I3           266.      28.3      3.48    66
2 I8           363.      52.3      5.18   102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p:txBody>
      </p:sp>
      <p:pic>
        <p:nvPicPr>
          <p:cNvPr descr="04_01_lecture_powerpoint_files/figure-pptx/unnamed-chunk-4-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p:txBody>
      </p:sp>
      <p:pic>
        <p:nvPicPr>
          <p:cNvPr descr="04_01_lecture_powerpoint_files/figure-pptx/unnamed-chunk-5-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2: Calculating Z-scores of lake I3</a:t>
            </a:r>
          </a:p>
        </p:txBody>
      </p:sp>
      <p:sp>
        <p:nvSpPr>
          <p:cNvPr id="3" name="Content Placeholder 2"/>
          <p:cNvSpPr>
            <a:spLocks noGrp="1"/>
          </p:cNvSpPr>
          <p:nvPr>
            <p:ph idx="1"/>
          </p:nvPr>
        </p:nvSpPr>
        <p:spPr/>
        <p:txBody>
          <a:bodyPr/>
          <a:lstStyle/>
          <a:p>
            <a:pPr lvl="0" indent="0" marL="1270000">
              <a:buNone/>
            </a:pPr>
            <a:r>
              <a:rPr sz="2000" b="1"/>
              <a:t>Practice Exercise 2: Calculating Z-scores</a:t>
            </a:r>
          </a:p>
          <a:p>
            <a:pPr lvl="0" indent="0" marL="1270000">
              <a:buNone/>
            </a:pPr>
            <a:r>
              <a:rPr sz="2000"/>
              <a:t>Let’s practice converting raw values to Z-scores using the Arctic grayling data.</a:t>
            </a:r>
          </a:p>
          <a:p>
            <a:pPr lvl="0" indent="0" marL="1270000">
              <a:buNone/>
            </a:pPr>
            <a:r>
              <a:rPr sz="2000" b="1"/>
              <a:t>Z Score = (length - mean) / standard deviation</a:t>
            </a:r>
          </a:p>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sz="2000">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fish data as a z score</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distributon?</a:t>
            </a:r>
          </a:p>
        </p:txBody>
      </p:sp>
      <p:pic>
        <p:nvPicPr>
          <p:cNvPr descr="04_01_lecture_powerpoint_files/figure-pptx/unnamed-chunk-7-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Z-score Results</a:t>
            </a:r>
          </a:p>
        </p:txBody>
      </p:sp>
      <p:sp>
        <p:nvSpPr>
          <p:cNvPr id="3" name="Content Placeholder 2"/>
          <p:cNvSpPr>
            <a:spLocks noGrp="1"/>
          </p:cNvSpPr>
          <p:nvPr>
            <p:ph idx="1"/>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a:p>
            <a:pPr lvl="0" indent="0">
              <a:buNone/>
            </a:pPr>
            <a:r>
              <a:rPr>
                <a:solidFill>
                  <a:srgbClr val="5E5E5E"/>
                </a:solidFill>
                <a:latin typeface="Courier"/>
              </a:rPr>
              <a:t># What proportion of fish are within 1 standard deviation of the mean?</a:t>
            </a:r>
            <a:br/>
            <a:r>
              <a:rPr>
                <a:solidFill>
                  <a:srgbClr val="003B4F"/>
                </a:solidFill>
                <a:latin typeface="Courier"/>
              </a:rPr>
              <a:t>within_1sd &lt;- </a:t>
            </a:r>
            <a:r>
              <a:rPr>
                <a:solidFill>
                  <a:srgbClr val="4758AB"/>
                </a:solidFill>
                <a:latin typeface="Courier"/>
              </a:rPr>
              <a:t>sum</a:t>
            </a:r>
            <a:r>
              <a:rPr>
                <a:solidFill>
                  <a:srgbClr val="003B4F"/>
                </a:solidFill>
                <a:latin typeface="Courier"/>
              </a:rPr>
              <a:t>(</a:t>
            </a:r>
            <a:r>
              <a:rPr>
                <a:solidFill>
                  <a:srgbClr val="4758AB"/>
                </a:solidFill>
                <a:latin typeface="Courier"/>
              </a:rPr>
              <a:t>abs</a:t>
            </a:r>
            <a:r>
              <a:rPr>
                <a:solidFill>
                  <a:srgbClr val="003B4F"/>
                </a:solidFill>
                <a:latin typeface="Courier"/>
              </a:rPr>
              <a:t>(i3_df</a:t>
            </a:r>
            <a:r>
              <a:rPr>
                <a:solidFill>
                  <a:srgbClr val="5E5E5E"/>
                </a:solidFill>
                <a:latin typeface="Courier"/>
              </a:rPr>
              <a:t>$</a:t>
            </a:r>
            <a:r>
              <a:rPr>
                <a:solidFill>
                  <a:srgbClr val="003B4F"/>
                </a:solidFill>
                <a:latin typeface="Courier"/>
              </a:rPr>
              <a:t>z_score) </a:t>
            </a:r>
            <a:r>
              <a:rPr>
                <a:solidFill>
                  <a:srgbClr val="5E5E5E"/>
                </a:solidFill>
                <a:latin typeface="Courier"/>
              </a:rPr>
              <a:t>&lt;=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(i3_df</a:t>
            </a:r>
            <a:r>
              <a:rPr>
                <a:solidFill>
                  <a:srgbClr val="5E5E5E"/>
                </a:solidFill>
                <a:latin typeface="Courier"/>
              </a:rPr>
              <a:t>$</a:t>
            </a:r>
            <a:r>
              <a:rPr>
                <a:solidFill>
                  <a:srgbClr val="003B4F"/>
                </a:solidFill>
                <a:latin typeface="Courier"/>
              </a:rPr>
              <a:t>z_score))</a:t>
            </a:r>
            <a:br/>
            <a:r>
              <a:rPr>
                <a:solidFill>
                  <a:srgbClr val="4758AB"/>
                </a:solidFill>
                <a:latin typeface="Courier"/>
              </a:rPr>
              <a:t>cat</a:t>
            </a:r>
            <a:r>
              <a:rPr>
                <a:solidFill>
                  <a:srgbClr val="003B4F"/>
                </a:solidFill>
                <a:latin typeface="Courier"/>
              </a:rPr>
              <a:t>(</a:t>
            </a:r>
            <a:r>
              <a:rPr>
                <a:solidFill>
                  <a:srgbClr val="20794D"/>
                </a:solidFill>
                <a:latin typeface="Courier"/>
              </a:rPr>
              <a:t>"Proportion within 1 SD:"</a:t>
            </a:r>
            <a:r>
              <a:rPr>
                <a:solidFill>
                  <a:srgbClr val="003B4F"/>
                </a:solidFill>
                <a:latin typeface="Courier"/>
              </a:rPr>
              <a:t>, </a:t>
            </a:r>
            <a:r>
              <a:rPr>
                <a:solidFill>
                  <a:srgbClr val="4758AB"/>
                </a:solidFill>
                <a:latin typeface="Courier"/>
              </a:rPr>
              <a:t>round</a:t>
            </a:r>
            <a:r>
              <a:rPr>
                <a:solidFill>
                  <a:srgbClr val="003B4F"/>
                </a:solidFill>
                <a:latin typeface="Courier"/>
              </a:rPr>
              <a:t>(within_1sd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4: 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04_01_lecture_powerpoint_files/figure-pptx/unnamed-chunk-9-1.png" id="0" name="Picture 1"/>
          <p:cNvPicPr>
            <a:picLocks noGrp="1" noChangeAspect="1"/>
          </p:cNvPicPr>
          <p:nvPr/>
        </p:nvPicPr>
        <p:blipFill>
          <a:blip r:embed="rId2"/>
          <a:stretch>
            <a:fillRect/>
          </a:stretch>
        </p:blipFill>
        <p:spPr bwMode="auto">
          <a:xfrm>
            <a:off x="4749800" y="1320800"/>
            <a:ext cx="40386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Standard normal distribution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p:txBody>
      </p:sp>
      <p:pic>
        <p:nvPicPr>
          <p:cNvPr descr="04_01_lecture_powerpoint_files/figure-pptx/unnamed-chunk-10-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Have been calculated for a range of sample sizes</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04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04_01_lecture_powerpoint_files/figure-pptx/unnamed-chunk-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from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11.27%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6121400" y="1447800"/>
            <a:ext cx="2781300" cy="2908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calculation in r</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003B4F"/>
                </a:solidFill>
                <a:latin typeface="Courier"/>
              </a:rPr>
              <a:t>z_value &lt;-  </a:t>
            </a:r>
            <a:r>
              <a:rPr>
                <a:solidFill>
                  <a:srgbClr val="AD0000"/>
                </a:solidFill>
                <a:latin typeface="Courier"/>
              </a:rPr>
              <a:t>1.22</a:t>
            </a:r>
            <a:br/>
            <a:r>
              <a:rPr>
                <a:solidFill>
                  <a:srgbClr val="003B4F"/>
                </a:solidFill>
                <a:latin typeface="Courier"/>
              </a:rPr>
              <a:t>prob_left &lt;- </a:t>
            </a:r>
            <a:r>
              <a:rPr>
                <a:solidFill>
                  <a:srgbClr val="4758AB"/>
                </a:solidFill>
                <a:latin typeface="Courier"/>
              </a:rPr>
              <a:t>pnorm</a:t>
            </a:r>
            <a:r>
              <a:rPr>
                <a:solidFill>
                  <a:srgbClr val="003B4F"/>
                </a:solidFill>
                <a:latin typeface="Courier"/>
              </a:rPr>
              <a:t>(z_value)          </a:t>
            </a:r>
            <a:r>
              <a:rPr>
                <a:solidFill>
                  <a:srgbClr val="5E5E5E"/>
                </a:solidFill>
                <a:latin typeface="Courier"/>
              </a:rPr>
              <a:t># 0.975 (97.5% to the left)</a:t>
            </a:r>
            <a:br/>
            <a:r>
              <a:rPr>
                <a:solidFill>
                  <a:srgbClr val="003B4F"/>
                </a:solidFill>
                <a:latin typeface="Courier"/>
              </a:rPr>
              <a:t>prob_right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(z_value)     </a:t>
            </a:r>
            <a:r>
              <a:rPr>
                <a:solidFill>
                  <a:srgbClr val="5E5E5E"/>
                </a:solidFill>
                <a:latin typeface="Courier"/>
              </a:rPr>
              <a:t># 0.025 (2.5% to the right)</a:t>
            </a:r>
            <a:br/>
            <a:r>
              <a:rPr>
                <a:solidFill>
                  <a:srgbClr val="003B4F"/>
                </a:solidFill>
                <a:latin typeface="Courier"/>
              </a:rPr>
              <a:t>prob_between &lt;- </a:t>
            </a:r>
            <a:r>
              <a:rPr>
                <a:solidFill>
                  <a:srgbClr val="4758AB"/>
                </a:solidFill>
                <a:latin typeface="Courier"/>
              </a:rPr>
              <a:t>pnorm</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 0.95 (95% between ±1.96)</a:t>
            </a:r>
            <a:br/>
            <a:r>
              <a:rPr>
                <a:solidFill>
                  <a:srgbClr val="5E5E5E"/>
                </a:solidFill>
                <a:latin typeface="Courier"/>
              </a:rPr>
              <a:t># To find z-value for a given probability:</a:t>
            </a:r>
            <a:br/>
            <a:r>
              <a:rPr>
                <a:solidFill>
                  <a:srgbClr val="003B4F"/>
                </a:solidFill>
                <a:latin typeface="Courier"/>
              </a:rPr>
              <a:t>z_for_95_percent &lt;- </a:t>
            </a:r>
            <a:r>
              <a:rPr>
                <a:solidFill>
                  <a:srgbClr val="4758AB"/>
                </a:solidFill>
                <a:latin typeface="Courier"/>
              </a:rPr>
              <a:t>qnorm</a:t>
            </a:r>
            <a:r>
              <a:rPr>
                <a:solidFill>
                  <a:srgbClr val="003B4F"/>
                </a:solidFill>
                <a:latin typeface="Courier"/>
              </a:rPr>
              <a:t>(</a:t>
            </a:r>
            <a:r>
              <a:rPr>
                <a:solidFill>
                  <a:srgbClr val="AD0000"/>
                </a:solidFill>
                <a:latin typeface="Courier"/>
              </a:rPr>
              <a:t>0.888</a:t>
            </a:r>
            <a:r>
              <a:rPr>
                <a:solidFill>
                  <a:srgbClr val="003B4F"/>
                </a:solidFill>
                <a:latin typeface="Courier"/>
              </a:rPr>
              <a:t>)     </a:t>
            </a:r>
            <a:r>
              <a:rPr>
                <a:solidFill>
                  <a:srgbClr val="5E5E5E"/>
                </a:solidFill>
                <a:latin typeface="Courier"/>
              </a:rPr>
              <a:t># 1.96</a:t>
            </a:r>
            <a:br/>
            <a:r>
              <a:rPr>
                <a:solidFill>
                  <a:srgbClr val="4758AB"/>
                </a:solidFill>
                <a:latin typeface="Courier"/>
              </a:rPr>
              <a:t>print</a:t>
            </a:r>
            <a:r>
              <a:rPr>
                <a:solidFill>
                  <a:srgbClr val="003B4F"/>
                </a:solidFill>
                <a:latin typeface="Courier"/>
              </a:rPr>
              <a:t>(prob_left)</a:t>
            </a:r>
          </a:p>
          <a:p>
            <a:pPr lvl="0" indent="0">
              <a:buNone/>
            </a:pPr>
            <a:r>
              <a:rPr>
                <a:latin typeface="Courier"/>
              </a:rPr>
              <a:t>[1] 0.8887676</a:t>
            </a:r>
          </a:p>
          <a:p>
            <a:pPr lvl="0" indent="0">
              <a:buNone/>
            </a:pPr>
            <a:r>
              <a:rPr>
                <a:solidFill>
                  <a:srgbClr val="4758AB"/>
                </a:solidFill>
                <a:latin typeface="Courier"/>
              </a:rPr>
              <a:t>print</a:t>
            </a:r>
            <a:r>
              <a:rPr>
                <a:solidFill>
                  <a:srgbClr val="003B4F"/>
                </a:solidFill>
                <a:latin typeface="Courier"/>
              </a:rPr>
              <a:t>(prob_right)</a:t>
            </a:r>
          </a:p>
          <a:p>
            <a:pPr lvl="0" indent="0">
              <a:buNone/>
            </a:pPr>
            <a:r>
              <a:rPr>
                <a:latin typeface="Courier"/>
              </a:rPr>
              <a:t>[1] 0.1112324</a:t>
            </a:r>
          </a:p>
          <a:p>
            <a:pPr lvl="0" indent="0">
              <a:buNone/>
            </a:pPr>
            <a:r>
              <a:rPr>
                <a:solidFill>
                  <a:srgbClr val="4758AB"/>
                </a:solidFill>
                <a:latin typeface="Courier"/>
              </a:rPr>
              <a:t>print</a:t>
            </a:r>
            <a:r>
              <a:rPr>
                <a:solidFill>
                  <a:srgbClr val="003B4F"/>
                </a:solidFill>
                <a:latin typeface="Courier"/>
              </a:rPr>
              <a:t>(prob_between)</a:t>
            </a:r>
          </a:p>
          <a:p>
            <a:pPr lvl="0" indent="0">
              <a:buNone/>
            </a:pPr>
            <a:r>
              <a:rPr>
                <a:latin typeface="Courier"/>
              </a:rPr>
              <a:t>[1] 0.9544997</a:t>
            </a:r>
          </a:p>
          <a:p>
            <a:pPr lvl="0" indent="0">
              <a:buNone/>
            </a:pPr>
            <a:r>
              <a:rPr>
                <a:solidFill>
                  <a:srgbClr val="4758AB"/>
                </a:solidFill>
                <a:latin typeface="Courier"/>
              </a:rPr>
              <a:t>print</a:t>
            </a:r>
            <a:r>
              <a:rPr>
                <a:solidFill>
                  <a:srgbClr val="003B4F"/>
                </a:solidFill>
                <a:latin typeface="Courier"/>
              </a:rPr>
              <a:t>(z_for_95_percent)</a:t>
            </a:r>
          </a:p>
          <a:p>
            <a:pPr lvl="0" indent="0">
              <a:buNone/>
            </a:pPr>
            <a:r>
              <a:rPr>
                <a:latin typeface="Courier"/>
              </a:rPr>
              <a:t>[1] 1.21596</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We can now use this for fun in the fish</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5E5E5E"/>
                </a:solidFill>
                <a:latin typeface="Courier"/>
              </a:rPr>
              <a:t># What fish length corresponds to the top 5% (unlikely)?</a:t>
            </a:r>
            <a:br/>
            <a:r>
              <a:rPr>
                <a:solidFill>
                  <a:srgbClr val="003B4F"/>
                </a:solidFill>
                <a:latin typeface="Courier"/>
              </a:rPr>
              <a:t>top_5_percent_z &lt;- </a:t>
            </a:r>
            <a:r>
              <a:rPr>
                <a:solidFill>
                  <a:srgbClr val="4758AB"/>
                </a:solidFill>
                <a:latin typeface="Courier"/>
              </a:rPr>
              <a:t>qnorm</a:t>
            </a:r>
            <a:r>
              <a:rPr>
                <a:solidFill>
                  <a:srgbClr val="003B4F"/>
                </a:solidFill>
                <a:latin typeface="Courier"/>
              </a:rPr>
              <a:t>(</a:t>
            </a:r>
            <a:r>
              <a:rPr>
                <a:solidFill>
                  <a:srgbClr val="AD0000"/>
                </a:solidFill>
                <a:latin typeface="Courier"/>
              </a:rPr>
              <a:t>0.95</a:t>
            </a:r>
            <a:r>
              <a:rPr>
                <a:solidFill>
                  <a:srgbClr val="003B4F"/>
                </a:solidFill>
                <a:latin typeface="Courier"/>
              </a:rPr>
              <a:t>)  </a:t>
            </a:r>
            <a:r>
              <a:rPr>
                <a:solidFill>
                  <a:srgbClr val="5E5E5E"/>
                </a:solidFill>
                <a:latin typeface="Courier"/>
              </a:rPr>
              <a:t># z-score for 95th percentile</a:t>
            </a:r>
            <a:br/>
            <a:r>
              <a:rPr>
                <a:solidFill>
                  <a:srgbClr val="003B4F"/>
                </a:solidFill>
                <a:latin typeface="Courier"/>
              </a:rPr>
              <a:t>unlikely_length &lt;- mean_length </a:t>
            </a:r>
            <a:r>
              <a:rPr>
                <a:solidFill>
                  <a:srgbClr val="5E5E5E"/>
                </a:solidFill>
                <a:latin typeface="Courier"/>
              </a:rPr>
              <a:t>+</a:t>
            </a:r>
            <a:r>
              <a:rPr>
                <a:solidFill>
                  <a:srgbClr val="003B4F"/>
                </a:solidFill>
                <a:latin typeface="Courier"/>
              </a:rPr>
              <a:t> (top_5_percent_z </a:t>
            </a:r>
            <a:r>
              <a:rPr>
                <a:solidFill>
                  <a:srgbClr val="5E5E5E"/>
                </a:solidFill>
                <a:latin typeface="Courier"/>
              </a:rPr>
              <a:t>*</a:t>
            </a:r>
            <a:r>
              <a:rPr>
                <a:solidFill>
                  <a:srgbClr val="003B4F"/>
                </a:solidFill>
                <a:latin typeface="Courier"/>
              </a:rPr>
              <a:t> sd_length)</a:t>
            </a:r>
            <a:br/>
            <a:br/>
            <a:r>
              <a:rPr>
                <a:solidFill>
                  <a:srgbClr val="4758AB"/>
                </a:solidFill>
                <a:latin typeface="Courier"/>
              </a:rPr>
              <a:t>cat</a:t>
            </a:r>
            <a:r>
              <a:rPr>
                <a:solidFill>
                  <a:srgbClr val="003B4F"/>
                </a:solidFill>
                <a:latin typeface="Courier"/>
              </a:rPr>
              <a:t>(</a:t>
            </a:r>
            <a:r>
              <a:rPr>
                <a:solidFill>
                  <a:srgbClr val="20794D"/>
                </a:solidFill>
                <a:latin typeface="Courier"/>
              </a:rPr>
              <a:t>"Only 5% of fish are longer than:"</a:t>
            </a:r>
            <a:r>
              <a:rPr>
                <a:solidFill>
                  <a:srgbClr val="003B4F"/>
                </a:solidFill>
                <a:latin typeface="Courier"/>
              </a:rPr>
              <a:t>, </a:t>
            </a:r>
            <a:r>
              <a:rPr>
                <a:solidFill>
                  <a:srgbClr val="4758AB"/>
                </a:solidFill>
                <a:latin typeface="Courier"/>
              </a:rPr>
              <a:t>round</a:t>
            </a:r>
            <a:r>
              <a:rPr>
                <a:solidFill>
                  <a:srgbClr val="003B4F"/>
                </a:solidFill>
                <a:latin typeface="Courier"/>
              </a:rPr>
              <a:t>(unlikely_length,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Only 5% of fish are longer than: 312.2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"This corresponds to z-score:"</a:t>
            </a:r>
            <a:r>
              <a:rPr>
                <a:solidFill>
                  <a:srgbClr val="003B4F"/>
                </a:solidFill>
                <a:latin typeface="Courier"/>
              </a:rPr>
              <a:t>, </a:t>
            </a:r>
            <a:r>
              <a:rPr>
                <a:solidFill>
                  <a:srgbClr val="4758AB"/>
                </a:solidFill>
                <a:latin typeface="Courier"/>
              </a:rPr>
              <a:t>round</a:t>
            </a:r>
            <a:r>
              <a:rPr>
                <a:solidFill>
                  <a:srgbClr val="003B4F"/>
                </a:solidFill>
                <a:latin typeface="Courier"/>
              </a:rPr>
              <a:t>(top_5_percent_z,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What this means</a:t>
            </a:r>
          </a:p>
        </p:txBody>
      </p:sp>
      <p:sp>
        <p:nvSpPr>
          <p:cNvPr id="3" name="Content Placeholder 2"/>
          <p:cNvSpPr>
            <a:spLocks noGrp="1"/>
          </p:cNvSpPr>
          <p:nvPr>
            <p:ph idx="1"/>
          </p:nvPr>
        </p:nvSpPr>
        <p:spPr/>
        <p:txBody>
          <a:bodyPr/>
          <a:lstStyle/>
          <a:p>
            <a:pPr lvl="0" indent="0" marL="0">
              <a:buNone/>
            </a:pPr>
            <a:r>
              <a:rPr/>
              <a:t>Given that we can: transform data to z-scores from standard normal distribution…</a:t>
            </a:r>
          </a:p>
          <a:p>
            <a:pPr lvl="0" indent="0" marL="0">
              <a:buNone/>
            </a:pPr>
            <a:r>
              <a:rPr/>
              <a:t>…figure out area under the curve (probability) associated with range of z-scores…</a:t>
            </a:r>
          </a:p>
          <a:p>
            <a:pPr lvl="0" indent="0" marL="0">
              <a:buNone/>
            </a:pPr>
            <a:r>
              <a:rPr/>
              <a:t>…can therefore figure out probability associated with a range of original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So what is next…</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4:</a:t>
            </a:r>
            <a:r>
              <a:rPr/>
              <a:t> When Population σ is Unknown</a:t>
            </a:r>
          </a:p>
        </p:txBody>
      </p:sp>
      <p:sp>
        <p:nvSpPr>
          <p:cNvPr id="3" name="Content Placeholder 2"/>
          <p:cNvSpPr>
            <a:spLocks noGrp="1"/>
          </p:cNvSpPr>
          <p:nvPr>
            <p:ph idx="1"/>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estimate it from the samples when don’t know the population σ or 𝝁</a:t>
            </a:r>
          </a:p>
          <a:p>
            <a:pPr lvl="0"/>
            <a:r>
              <a:rPr/>
              <a:t>and when sample size is small &lt; ~30</a:t>
            </a:r>
          </a:p>
          <a:p>
            <a:pPr lvl="0"/>
            <a:r>
              <a:rPr/>
              <a:t>can’t use the standard normal (z) distribution</a:t>
            </a:r>
          </a:p>
          <a:p>
            <a:pPr lvl="0" indent="0" marL="0">
              <a:buNone/>
            </a:pPr>
            <a:r>
              <a:rPr i="1"/>
              <a:t>Instead, we use Student’s t distribution</a:t>
            </a:r>
          </a:p>
          <a:p>
            <a:pPr lvl="0" indent="0" marL="0">
              <a:buNone/>
            </a:pP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p:txBody>
      </p:sp>
      <p:pic>
        <p:nvPicPr>
          <p:cNvPr descr="04_01_lecture_powerpoint_files/figure-pptx/unnamed-chunk-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127000" y="1701800"/>
            <a:ext cx="4432300" cy="2451100"/>
          </a:xfrm>
          <a:prstGeom prst="rect">
            <a:avLst/>
          </a:prstGeom>
          <a:noFill/>
          <a:ln w="9525">
            <a:noFill/>
            <a:headEnd/>
            <a:tailEnd/>
          </a:ln>
        </p:spPr>
      </p:pic>
      <p:pic>
        <p:nvPicPr>
          <p:cNvPr descr="images/clipboard-641796945.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127000" y="1651000"/>
            <a:ext cx="4432300" cy="2540000"/>
          </a:xfrm>
          <a:prstGeom prst="rect">
            <a:avLst/>
          </a:prstGeom>
          <a:noFill/>
          <a:ln w="9525">
            <a:noFill/>
            <a:headEnd/>
            <a:tailEnd/>
          </a:ln>
        </p:spPr>
      </p:pic>
      <p:pic>
        <p:nvPicPr>
          <p:cNvPr descr="images/clipboard-1734806681.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20, and s = 37.81 - t is ?</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4: Using the t-distribution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a:buNone/>
                </a:pP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(sample_mean,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251.2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deviation:"</a:t>
                </a:r>
                <a:r>
                  <a:rPr>
                    <a:solidFill>
                      <a:srgbClr val="003B4F"/>
                    </a:solidFill>
                    <a:latin typeface="Courier"/>
                  </a:rPr>
                  <a:t>, </a:t>
                </a:r>
                <a:r>
                  <a:rPr>
                    <a:solidFill>
                      <a:srgbClr val="4758AB"/>
                    </a:solidFill>
                    <a:latin typeface="Courier"/>
                  </a:rPr>
                  <a:t>round</a:t>
                </a:r>
                <a:r>
                  <a:rPr>
                    <a:solidFill>
                      <a:srgbClr val="003B4F"/>
                    </a:solidFill>
                    <a:latin typeface="Courier"/>
                  </a:rPr>
                  <a:t>(sample_sd,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deviation: 41.47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error:"</a:t>
                </a:r>
                <a:r>
                  <a:rPr>
                    <a:solidFill>
                      <a:srgbClr val="003B4F"/>
                    </a:solidFill>
                    <a:latin typeface="Courier"/>
                  </a:rPr>
                  <a:t>, </a:t>
                </a:r>
                <a:r>
                  <a:rPr>
                    <a:solidFill>
                      <a:srgbClr val="4758AB"/>
                    </a:solidFill>
                    <a:latin typeface="Courier"/>
                  </a:rPr>
                  <a:t>round</a:t>
                </a:r>
                <a:r>
                  <a:rPr>
                    <a:solidFill>
                      <a:srgbClr val="003B4F"/>
                    </a:solidFill>
                    <a:latin typeface="Courier"/>
                  </a:rPr>
                  <a:t>(sample_se,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error: 13.11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z:"</a:t>
                </a:r>
                <a:r>
                  <a:rPr>
                    <a:solidFill>
                      <a:srgbClr val="003B4F"/>
                    </a:solidFill>
                    <a:latin typeface="Courier"/>
                  </a:rPr>
                  <a:t>, </a:t>
                </a:r>
                <a:r>
                  <a:rPr>
                    <a:solidFill>
                      <a:srgbClr val="4758AB"/>
                    </a:solidFill>
                    <a:latin typeface="Courier"/>
                  </a:rPr>
                  <a:t>round</a:t>
                </a:r>
                <a:r>
                  <a:rPr>
                    <a:solidFill>
                      <a:srgbClr val="003B4F"/>
                    </a:solidFill>
                    <a:latin typeface="Courier"/>
                  </a:rPr>
                  <a:t>(z_ci_lower,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(z_ci_upper,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z: 225.5 to 276.9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t:"</a:t>
                </a:r>
                <a:r>
                  <a:rPr>
                    <a:solidFill>
                      <a:srgbClr val="003B4F"/>
                    </a:solidFill>
                    <a:latin typeface="Courier"/>
                  </a:rPr>
                  <a:t>, </a:t>
                </a:r>
                <a:r>
                  <a:rPr>
                    <a:solidFill>
                      <a:srgbClr val="4758AB"/>
                    </a:solidFill>
                    <a:latin typeface="Courier"/>
                  </a:rPr>
                  <a:t>round</a:t>
                </a:r>
                <a:r>
                  <a:rPr>
                    <a:solidFill>
                      <a:srgbClr val="003B4F"/>
                    </a:solidFill>
                    <a:latin typeface="Courier"/>
                  </a:rPr>
                  <a:t>(t_ci_lower,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(t_ci_upper,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t: 221.5 to 280.9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 critical value:"</a:t>
                </a:r>
                <a:r>
                  <a:rPr>
                    <a:solidFill>
                      <a:srgbClr val="003B4F"/>
                    </a:solidFill>
                    <a:latin typeface="Courier"/>
                  </a:rPr>
                  <a:t>, </a:t>
                </a:r>
                <a:r>
                  <a:rPr>
                    <a:solidFill>
                      <a:srgbClr val="4758AB"/>
                    </a:solidFill>
                    <a:latin typeface="Courier"/>
                  </a:rPr>
                  <a:t>round</a:t>
                </a:r>
                <a:r>
                  <a:rPr>
                    <a:solidFill>
                      <a:srgbClr val="003B4F"/>
                    </a:solidFill>
                    <a:latin typeface="Courier"/>
                  </a:rPr>
                  <a:t>(t_crit, </a:t>
                </a:r>
                <a:r>
                  <a:rPr>
                    <a:solidFill>
                      <a:srgbClr val="AD0000"/>
                    </a:solidFill>
                    <a:latin typeface="Courier"/>
                  </a:rPr>
                  <a:t>3</a:t>
                </a:r>
                <a:r>
                  <a:rPr>
                    <a:solidFill>
                      <a:srgbClr val="003B4F"/>
                    </a:solidFill>
                    <a:latin typeface="Courier"/>
                  </a:rPr>
                  <a:t>), </a:t>
                </a:r>
                <a:r>
                  <a:rPr>
                    <a:solidFill>
                      <a:srgbClr val="20794D"/>
                    </a:solidFill>
                    <a:latin typeface="Courier"/>
                  </a:rPr>
                  <a:t>"vs z critical value: 1.96</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t critical value: 2.262 vs z critical value: 1.96</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sp>
        <p:nvSpPr>
          <p:cNvPr id="4" name="Content Placeholder 3"/>
          <p:cNvSpPr>
            <a:spLocks noGrp="1"/>
          </p:cNvSpPr>
          <p:nvPr>
            <p:ph idx="2" sz="half"/>
          </p:nvPr>
        </p:nvSpPr>
        <p:spPr/>
        <p:txBody>
          <a:bodyPr/>
          <a:lstStyle/>
          <a:p>
            <a:pPr lvl="0" indent="0">
              <a:buNone/>
            </a:pPr>
            <a:r>
              <a:rPr>
                <a:latin typeface="Courier"/>
              </a:rPr>
              <a:t>Summary of One-Tailed Hypothesis Test:</a:t>
            </a:r>
          </a:p>
          <a:p>
            <a:pPr lvl="0" indent="0">
              <a:buNone/>
            </a:pPr>
            <a:r>
              <a:rPr>
                <a:latin typeface="Courier"/>
              </a:rPr>
              <a:t>Sample mean: 320 </a:t>
            </a:r>
          </a:p>
          <a:p>
            <a:pPr lvl="0" indent="0">
              <a:buNone/>
            </a:pPr>
            <a:r>
              <a:rPr>
                <a:latin typeface="Courier"/>
              </a:rPr>
              <a:t>Hypothesized mean: 285 </a:t>
            </a:r>
          </a:p>
          <a:p>
            <a:pPr lvl="0" indent="0">
              <a:buNone/>
            </a:pPr>
            <a:r>
              <a:rPr>
                <a:latin typeface="Courier"/>
              </a:rPr>
              <a:t>Sample size: 12 </a:t>
            </a:r>
          </a:p>
          <a:p>
            <a:pPr lvl="0" indent="0">
              <a:buNone/>
            </a:pPr>
            <a:r>
              <a:rPr>
                <a:latin typeface="Courier"/>
              </a:rPr>
              <a:t>Standard deviation: 42.15 </a:t>
            </a:r>
          </a:p>
          <a:p>
            <a:pPr lvl="0" indent="0">
              <a:buNone/>
            </a:pPr>
            <a:r>
              <a:rPr>
                <a:latin typeface="Courier"/>
              </a:rPr>
              <a:t>Standard error: 12.168 </a:t>
            </a:r>
          </a:p>
          <a:p>
            <a:pPr lvl="0" indent="0">
              <a:buNone/>
            </a:pPr>
            <a:r>
              <a:rPr>
                <a:latin typeface="Courier"/>
              </a:rPr>
              <a:t>t-statistic: 2.876 </a:t>
            </a:r>
          </a:p>
          <a:p>
            <a:pPr lvl="0" indent="0">
              <a:buNone/>
            </a:pPr>
            <a:r>
              <a:rPr>
                <a:latin typeface="Courier"/>
              </a:rPr>
              <a:t>Critical t-value (one-tailed): 1.796 </a:t>
            </a:r>
          </a:p>
          <a:p>
            <a:pPr lvl="0" indent="0">
              <a:buNone/>
            </a:pPr>
            <a:r>
              <a:rPr>
                <a:latin typeface="Courier"/>
              </a:rPr>
              <a:t>Critical value: 306.85 </a:t>
            </a:r>
          </a:p>
          <a:p>
            <a:pPr lvl="0" indent="0">
              <a:buNone/>
            </a:pPr>
            <a:r>
              <a:rPr>
                <a:latin typeface="Courier"/>
              </a:rPr>
              <a:t>Decision: Reject Ho (sample mean falls in upper rejection region)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pic>
        <p:nvPicPr>
          <p:cNvPr descr="04_01_lecture_powerpoint_files/figure-pptx/unnamed-chunk-17-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br/>
          </a:p>
        </p:txBody>
      </p:sp>
      <p:sp>
        <p:nvSpPr>
          <p:cNvPr id="4" name="Content Placeholder 3"/>
          <p:cNvSpPr>
            <a:spLocks noGrp="1"/>
          </p:cNvSpPr>
          <p:nvPr>
            <p:ph idx="2" sz="half"/>
          </p:nvPr>
        </p:nvSpPr>
        <p:spPr/>
        <p:txBody>
          <a:bodyPr/>
          <a:lstStyle/>
          <a:p>
            <a:pPr lvl="0" indent="0">
              <a:buNone/>
            </a:pPr>
            <a:r>
              <a:rPr>
                <a:latin typeface="Courier"/>
              </a:rPr>
              <a:t>Summary of Hypothesis Test:</a:t>
            </a:r>
          </a:p>
          <a:p>
            <a:pPr lvl="0" indent="0">
              <a:buNone/>
            </a:pPr>
            <a:r>
              <a:rPr>
                <a:latin typeface="Courier"/>
              </a:rPr>
              <a:t>Sample mean: 320 </a:t>
            </a:r>
          </a:p>
          <a:p>
            <a:pPr lvl="0" indent="0">
              <a:buNone/>
            </a:pPr>
            <a:r>
              <a:rPr>
                <a:latin typeface="Courier"/>
              </a:rPr>
              <a:t>Hypothesized mean: 270 </a:t>
            </a:r>
          </a:p>
          <a:p>
            <a:pPr lvl="0" indent="0">
              <a:buNone/>
            </a:pPr>
            <a:r>
              <a:rPr>
                <a:latin typeface="Courier"/>
              </a:rPr>
              <a:t>Standard error: 12.603 </a:t>
            </a:r>
          </a:p>
          <a:p>
            <a:pPr lvl="0" indent="0">
              <a:buNone/>
            </a:pPr>
            <a:r>
              <a:rPr>
                <a:latin typeface="Courier"/>
              </a:rPr>
              <a:t>t-statistic: 3.967 </a:t>
            </a:r>
          </a:p>
          <a:p>
            <a:pPr lvl="0" indent="0">
              <a:buNone/>
            </a:pPr>
            <a:r>
              <a:rPr>
                <a:latin typeface="Courier"/>
              </a:rPr>
              <a:t>Critical t-value (±): 2.306 </a:t>
            </a:r>
          </a:p>
          <a:p>
            <a:pPr lvl="0" indent="0">
              <a:buNone/>
            </a:pPr>
            <a:r>
              <a:rPr>
                <a:latin typeface="Courier"/>
              </a:rPr>
              <a:t>Critical values: 240.94 to 299.06 </a:t>
            </a:r>
          </a:p>
          <a:p>
            <a:pPr lvl="0" indent="0">
              <a:buNone/>
            </a:pPr>
            <a:r>
              <a:rPr>
                <a:latin typeface="Courier"/>
              </a:rPr>
              <a:t>Decision: Reject Ho (sample mean falls in rejection region)</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04_01_lecture_powerpoint_files/figure-pptx/unnamed-chunk-1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5: One-Sample t-Test</a:t>
            </a:r>
          </a:p>
        </p:txBody>
      </p:sp>
      <p:sp>
        <p:nvSpPr>
          <p:cNvPr id="3" name="Content Placeholder 2"/>
          <p:cNvSpPr>
            <a:spLocks noGrp="1"/>
          </p:cNvSpPr>
          <p:nvPr>
            <p:ph idx="1"/>
          </p:nvPr>
        </p:nvSpPr>
        <p:spPr/>
        <p:txBody>
          <a:bodyPr/>
          <a:lstStyle/>
          <a:p>
            <a:pPr lvl="0" indent="0" marL="1270000">
              <a:buNone/>
            </a:pPr>
            <a:r>
              <a:rPr sz="2000" b="1"/>
              <a:t>Practice Exercise 5: Lets practice a One-Sample t-Test</a:t>
            </a:r>
          </a:p>
          <a:p>
            <a:pPr lvl="0" indent="0" marL="1270000">
              <a:buNone/>
            </a:pPr>
            <a:r>
              <a:rPr sz="2000"/>
              <a:t>Let’s perform a one-sample t-test to determine if the mean fish length in Lake I3 differs from 260 mm:</a:t>
            </a:r>
          </a:p>
          <a:p>
            <a:pPr lvl="0" indent="0">
              <a:buNone/>
            </a:pPr>
            <a:r>
              <a:rPr>
                <a:solidFill>
                  <a:srgbClr val="5E5E5E"/>
                </a:solidFill>
                <a:latin typeface="Courier"/>
              </a:rPr>
              <a:t># get only lake I3</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br/>
            <a:r>
              <a:rPr>
                <a:solidFill>
                  <a:srgbClr val="5E5E5E"/>
                </a:solidFill>
                <a:latin typeface="Courier"/>
              </a:rPr>
              <a:t># what is the mean</a:t>
            </a:r>
            <a:br/>
            <a:r>
              <a:rPr>
                <a:solidFill>
                  <a:srgbClr val="003B4F"/>
                </a:solidFill>
                <a:latin typeface="Courier"/>
              </a:rPr>
              <a:t>i3_mean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(i3_mean,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265.6 mm</a:t>
            </a:r>
          </a:p>
          <a:p>
            <a:pPr lvl="0" indent="0">
              <a:buNone/>
            </a:pPr>
            <a:r>
              <a:rPr>
                <a:solidFill>
                  <a:srgbClr val="5E5E5E"/>
                </a:solidFill>
                <a:latin typeface="Courier"/>
              </a:rPr>
              <a:t># Perform a one-sample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mu =</a:t>
            </a:r>
            <a:r>
              <a:rPr>
                <a:solidFill>
                  <a:srgbClr val="003B4F"/>
                </a:solidFill>
                <a:latin typeface="Courier"/>
              </a:rPr>
              <a:t> </a:t>
            </a:r>
            <a:r>
              <a:rPr>
                <a:solidFill>
                  <a:srgbClr val="AD0000"/>
                </a:solidFill>
                <a:latin typeface="Courier"/>
              </a:rPr>
              <a:t>260</a:t>
            </a:r>
            <a:r>
              <a:rPr>
                <a:solidFill>
                  <a:srgbClr val="003B4F"/>
                </a:solidFill>
                <a:latin typeface="Courier"/>
              </a:rPr>
              <a:t>)</a:t>
            </a:r>
            <a:br/>
            <a:br/>
            <a:r>
              <a:rPr>
                <a:solidFill>
                  <a:srgbClr val="5E5E5E"/>
                </a:solidFill>
                <a:latin typeface="Courier"/>
              </a:rPr>
              <a:t># View the test results</a:t>
            </a:r>
            <a:br/>
            <a:r>
              <a:rPr>
                <a:solidFill>
                  <a:srgbClr val="003B4F"/>
                </a:solidFill>
                <a:latin typeface="Courier"/>
              </a:rPr>
              <a:t>t_test_result</a:t>
            </a:r>
          </a:p>
          <a:p>
            <a:pPr lvl="0" indent="0">
              <a:buNone/>
            </a:pPr>
            <a:r>
              <a:rPr sz="2000">
                <a:latin typeface="Courier"/>
              </a:rPr>
              <a:t>
    One Sample t-test
data:  i3_df$length_mm
t = 1.6091, df = 65, p-value = 0.1124
alternative hypothesis: true mean is not equal to 260
95 percent confidence interval:
 258.6481 272.5640
sample estimates:
mean of x 
 265.6061 </a:t>
            </a:r>
          </a:p>
          <a:p>
            <a:pPr lvl="0" indent="0" marL="1270000">
              <a:buNone/>
            </a:pPr>
            <a:r>
              <a:rPr sz="2000"/>
              <a:t>Interpret this test result by answering these questions:</a:t>
            </a:r>
          </a:p>
          <a:p>
            <a:pPr lvl="0" indent="-342900" marL="342900">
              <a:buAutoNum type="arabicPeriod"/>
            </a:pPr>
            <a:r>
              <a:rPr sz="2000"/>
              <a:t>What was the null hypothesis?</a:t>
            </a:r>
          </a:p>
          <a:p>
            <a:pPr lvl="0" indent="-342900" marL="342900">
              <a:buAutoNum type="arabicPeriod"/>
            </a:pPr>
            <a:r>
              <a:rPr sz="2000"/>
              <a:t>What was the alternative hypothesis?</a:t>
            </a:r>
          </a:p>
          <a:p>
            <a:pPr lvl="0" indent="-342900" marL="342900">
              <a:buAutoNum type="arabicPeriod"/>
            </a:pPr>
            <a:r>
              <a:rPr sz="2000"/>
              <a:t>What does the p-value tell us?</a:t>
            </a:r>
          </a:p>
          <a:p>
            <a:pPr lvl="0" indent="-342900" marL="342900">
              <a:buAutoNum type="arabicPeriod"/>
            </a:pPr>
            <a:r>
              <a:rPr sz="2000"/>
              <a:t>Should we reject or fail to reject the null hypothesis at α = 0.05?</a:t>
            </a:r>
          </a:p>
          <a:p>
            <a:pPr lvl="0" indent="-342900" marL="342900">
              <a:buAutoNum type="arabicPeriod"/>
            </a:pPr>
            <a:r>
              <a:rPr sz="2000"/>
              <a:t>What is the practical interpretation of this result for fish biologists?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6: Formulating Hypotheses</a:t>
            </a:r>
          </a:p>
        </p:txBody>
      </p:sp>
      <p:sp>
        <p:nvSpPr>
          <p:cNvPr id="3" name="Content Placeholder 2"/>
          <p:cNvSpPr>
            <a:spLocks noGrp="1"/>
          </p:cNvSpPr>
          <p:nvPr>
            <p:ph idx="1"/>
          </p:nvPr>
        </p:nvSpPr>
        <p:spPr/>
        <p:txBody>
          <a:bodyPr/>
          <a:lstStyle/>
          <a:p>
            <a:pPr lvl="0" indent="0" marL="1270000">
              <a:buNone/>
            </a:pPr>
            <a:r>
              <a:rPr sz="2000" b="1"/>
              <a:t>Practice Exercise 6: Formulating Hypotheses</a:t>
            </a:r>
          </a:p>
          <a:p>
            <a:pPr lvl="0" indent="0" marL="1270000">
              <a:buNone/>
            </a:pPr>
            <a:r>
              <a:rPr sz="2000"/>
              <a:t>For the following research questions about Arctic grayling, write the null and alternative hypotheses:</a:t>
            </a:r>
          </a:p>
          <a:p>
            <a:pPr lvl="0" indent="-342900" marL="342900">
              <a:buAutoNum type="arabicPeriod"/>
            </a:pPr>
            <a:r>
              <a:rPr sz="2000"/>
              <a:t>Are fish in Lake I8 longer than fish in Lake I3?</a:t>
            </a:r>
          </a:p>
          <a:p>
            <a:pPr lvl="0" indent="0">
              <a:buNone/>
            </a:pPr>
            <a:r>
              <a:rPr>
                <a:solidFill>
                  <a:srgbClr val="5E5E5E"/>
                </a:solidFill>
                <a:latin typeface="Courier"/>
              </a:rPr>
              <a:t># Let's test one of these hypotheses: Are fish in Lake I8 longer than fish in Lake I3?</a:t>
            </a:r>
            <a:br/>
            <a:br/>
            <a:r>
              <a:rPr>
                <a:solidFill>
                  <a:srgbClr val="5E5E5E"/>
                </a:solidFill>
                <a:latin typeface="Courier"/>
              </a:rPr>
              <a:t># Perform an independent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(length_mm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grayling_df, </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"less"</a:t>
            </a:r>
            <a:r>
              <a:rPr>
                <a:solidFill>
                  <a:srgbClr val="003B4F"/>
                </a:solidFill>
                <a:latin typeface="Courier"/>
              </a:rPr>
              <a:t>)  </a:t>
            </a:r>
            <a:r>
              <a:rPr>
                <a:solidFill>
                  <a:srgbClr val="5E5E5E"/>
                </a:solidFill>
                <a:latin typeface="Courier"/>
              </a:rPr>
              <a:t># H₀: μ_I3 ≥ μ_I8, H₁: μ_I3 &lt; μ_I8</a:t>
            </a:r>
            <a:br/>
            <a:br/>
            <a:r>
              <a:rPr>
                <a:solidFill>
                  <a:srgbClr val="5E5E5E"/>
                </a:solidFill>
                <a:latin typeface="Courier"/>
              </a:rPr>
              <a:t># Display the results</a:t>
            </a:r>
            <a:br/>
            <a:r>
              <a:rPr>
                <a:solidFill>
                  <a:srgbClr val="003B4F"/>
                </a:solidFill>
                <a:latin typeface="Courier"/>
              </a:rPr>
              <a:t>t_test_result</a:t>
            </a:r>
          </a:p>
          <a:p>
            <a:pPr lvl="0" indent="0">
              <a:buNone/>
            </a:pPr>
            <a:r>
              <a:rPr sz="2000">
                <a:latin typeface="Courier"/>
              </a:rPr>
              <a:t>
    Welch Two Sample t-test
data:  length_mm by lake
t = -15.532, df = 161.63, p-value &lt; 2.2e-16
alternative hypothesis: true difference in means between group I3 and group I8 is less than 0
95 percent confidence interval:
      -Inf -86.66138
sample estimates:
mean in group I3 mean in group I8 
        265.6061         362.5980 </a:t>
            </a:r>
          </a:p>
          <a:p>
            <a:pPr lvl="0" indent="0" marL="1270000">
              <a:buNone/>
            </a:pPr>
            <a:r>
              <a:rPr sz="2000"/>
              <a:t>Based on this t-test, what can we conclude about the difference in fish length between the two lakes?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the smaller the p value does not necessarily mean much… use &lt; 0.05 even if is is 10^-16</a:t>
            </a:r>
          </a:p>
        </p:txBody>
      </p:sp>
      <p:pic>
        <p:nvPicPr>
          <p:cNvPr descr="04_01_lecture_powerpoint_files/figure-pptx/unnamed-chunk-2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p:txBody>
      </p:sp>
      <p:pic>
        <p:nvPicPr>
          <p:cNvPr descr="04_01_lecture_powerpoint_files/figure-pptx/unnamed-chunk-2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04_01_lecture_powerpoint_files/figure-pptx/unnamed-chunk-2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7: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indent="0">
              <a:buNone/>
            </a:pPr>
            <a:r>
              <a:rPr>
                <a:solidFill>
                  <a:srgbClr val="5E5E5E"/>
                </a:solidFill>
                <a:latin typeface="Courier"/>
              </a:rPr>
              <a:t># Calculate power for detecting a 30 mm difference</a:t>
            </a:r>
            <a:br/>
            <a:r>
              <a:rPr>
                <a:solidFill>
                  <a:srgbClr val="5E5E5E"/>
                </a:solidFill>
                <a:latin typeface="Courier"/>
              </a:rPr>
              <a:t># First determine parameters</a:t>
            </a:r>
            <a:br/>
            <a:r>
              <a:rPr>
                <a:solidFill>
                  <a:srgbClr val="003B4F"/>
                </a:solidFill>
                <a:latin typeface="Courier"/>
              </a:rPr>
              <a:t>lake_I3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"I3"</a:t>
            </a:r>
            <a:r>
              <a:rPr>
                <a:solidFill>
                  <a:srgbClr val="003B4F"/>
                </a:solidFill>
                <a:latin typeface="Courier"/>
              </a:rPr>
              <a:t>)</a:t>
            </a:r>
            <a:br/>
            <a:r>
              <a:rPr>
                <a:solidFill>
                  <a:srgbClr val="003B4F"/>
                </a:solidFill>
                <a:latin typeface="Courier"/>
              </a:rPr>
              <a:t>lake_I8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"I8"</a:t>
            </a:r>
            <a:r>
              <a:rPr>
                <a:solidFill>
                  <a:srgbClr val="003B4F"/>
                </a:solidFill>
                <a:latin typeface="Courier"/>
              </a:rPr>
              <a:t>) </a:t>
            </a:r>
            <a:br/>
            <a:br/>
            <a:r>
              <a:rPr>
                <a:solidFill>
                  <a:srgbClr val="003B4F"/>
                </a:solidFill>
                <a:latin typeface="Courier"/>
              </a:rPr>
              <a:t>n1 &lt;- </a:t>
            </a:r>
            <a:r>
              <a:rPr>
                <a:solidFill>
                  <a:srgbClr val="4758AB"/>
                </a:solidFill>
                <a:latin typeface="Courier"/>
              </a:rPr>
              <a:t>nrow</a:t>
            </a:r>
            <a:r>
              <a:rPr>
                <a:solidFill>
                  <a:srgbClr val="003B4F"/>
                </a:solidFill>
                <a:latin typeface="Courier"/>
              </a:rPr>
              <a:t>(lake_I3)</a:t>
            </a:r>
            <a:br/>
            <a:r>
              <a:rPr>
                <a:solidFill>
                  <a:srgbClr val="003B4F"/>
                </a:solidFill>
                <a:latin typeface="Courier"/>
              </a:rPr>
              <a:t>n2 &lt;- </a:t>
            </a:r>
            <a:r>
              <a:rPr>
                <a:solidFill>
                  <a:srgbClr val="4758AB"/>
                </a:solidFill>
                <a:latin typeface="Courier"/>
              </a:rPr>
              <a:t>nrow</a:t>
            </a:r>
            <a:r>
              <a:rPr>
                <a:solidFill>
                  <a:srgbClr val="003B4F"/>
                </a:solidFill>
                <a:latin typeface="Courier"/>
              </a:rPr>
              <a:t>(lake_I8)</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(lake_I3</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(lake_I8</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1.96 × SE</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04_01_lecture_powerpoint_files/figure-pptx/unnamed-chunk-2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04: Probability and Inference</dc:title>
  <dc:creator>Bill Perry</dc:creator>
  <cp:keywords/>
  <dcterms:created xsi:type="dcterms:W3CDTF">2025-10-11T18:52:48Z</dcterms:created>
  <dcterms:modified xsi:type="dcterms:W3CDTF">2025-10-11T18:52:48Z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