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 </a:t>
            </a:r>
            <a:b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buNone/>
            </a:pPr>
            <a:r>
              <a:rPr/>
              <a:t>When calculating confidence intervals we usually DON’T know the population σ (standard deviation)</a:t>
            </a:r>
          </a:p>
          <a:p>
            <a:pPr lvl="0"/>
            <a:r>
              <a:rPr/>
              <a:t>estimate it from the samples when don’t know the population σ</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buNone/>
            </a:pPr>
            <a:r>
              <a:rPr/>
              <a:t>When sample sizes are small, the </a:t>
            </a:r>
            <a:r>
              <a:rPr b="1"/>
              <a:t>t-distribution</a:t>
            </a:r>
            <a:r>
              <a:rPr/>
              <a:t>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buNone/>
            </a:pPr>
            <a:r>
              <a:rPr/>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buNone/>
            </a:pPr>
            <a:r>
              <a:rPr/>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a:t>
                </a:r>
              </a:p>
              <a:p>
                <a:pPr lvl="0" indent="0" marL="1270000">
                  <a:buNone/>
                </a:pPr>
                <a:r>
                  <a:rPr sz="2000"/>
                  <a:t>I3 data and 10 fish</a:t>
                </a:r>
              </a:p>
              <a:p>
                <a:pPr lvl="0" indent="0" marL="1270000">
                  <a:buNone/>
                </a:pPr>
                <a:r>
                  <a:rPr sz="2000"/>
                  <a:t>Mean is 266.7 - sd is 17.12 - se is 5.41</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Calculate CI using both z and t distributions for a smaller subset</a:t>
                </a:r>
                <a:br/>
                <a:r>
                  <a:rPr>
                    <a:solidFill>
                      <a:srgbClr val="003B4F"/>
                    </a:solidFill>
                    <a:latin typeface="Courier"/>
                  </a:rPr>
                  <a:t>small_sample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Calculate statistics</a:t>
                </a:r>
                <a:br/>
                <a:r>
                  <a:rPr>
                    <a:solidFill>
                      <a:srgbClr val="003B4F"/>
                    </a:solidFill>
                    <a:latin typeface="Courier"/>
                  </a:rPr>
                  <a:t>sample_mean &lt;- </a:t>
                </a:r>
                <a:r>
                  <a:rPr>
                    <a:solidFill>
                      <a:srgbClr val="4758AB"/>
                    </a:solidFill>
                    <a:latin typeface="Courier"/>
                  </a:rPr>
                  <a:t>mean</a:t>
                </a:r>
                <a:r>
                  <a:rPr>
                    <a:solidFill>
                      <a:srgbClr val="003B4F"/>
                    </a:solidFill>
                    <a:latin typeface="Courier"/>
                  </a:rPr>
                  <a:t>(small_sample</a:t>
                </a:r>
                <a:r>
                  <a:rPr>
                    <a:solidFill>
                      <a:srgbClr val="5E5E5E"/>
                    </a:solidFill>
                    <a:latin typeface="Courier"/>
                  </a:rPr>
                  <a:t>$</a:t>
                </a:r>
                <a:r>
                  <a:rPr>
                    <a:solidFill>
                      <a:srgbClr val="003B4F"/>
                    </a:solidFill>
                    <a:latin typeface="Courier"/>
                  </a:rPr>
                  <a:t>length_mm)</a:t>
                </a:r>
                <a:br/>
                <a:r>
                  <a:rPr>
                    <a:solidFill>
                      <a:srgbClr val="003B4F"/>
                    </a:solidFill>
                    <a:latin typeface="Courier"/>
                  </a:rPr>
                  <a:t>sample_sd &lt;- </a:t>
                </a:r>
                <a:r>
                  <a:rPr>
                    <a:solidFill>
                      <a:srgbClr val="4758AB"/>
                    </a:solidFill>
                    <a:latin typeface="Courier"/>
                  </a:rPr>
                  <a:t>sd</a:t>
                </a:r>
                <a:r>
                  <a:rPr>
                    <a:solidFill>
                      <a:srgbClr val="003B4F"/>
                    </a:solidFill>
                    <a:latin typeface="Courier"/>
                  </a:rPr>
                  <a:t>(small_sample</a:t>
                </a:r>
                <a:r>
                  <a:rPr>
                    <a:solidFill>
                      <a:srgbClr val="5E5E5E"/>
                    </a:solidFill>
                    <a:latin typeface="Courier"/>
                  </a:rPr>
                  <a:t>$</a:t>
                </a:r>
                <a:r>
                  <a:rPr>
                    <a:solidFill>
                      <a:srgbClr val="003B4F"/>
                    </a:solidFill>
                    <a:latin typeface="Courier"/>
                  </a:rPr>
                  <a:t>length_mm)</a:t>
                </a:r>
                <a:br/>
                <a:r>
                  <a:rPr>
                    <a:solidFill>
                      <a:srgbClr val="003B4F"/>
                    </a:solidFill>
                    <a:latin typeface="Courier"/>
                  </a:rPr>
                  <a:t>sample_n &lt;- </a:t>
                </a:r>
                <a:r>
                  <a:rPr>
                    <a:solidFill>
                      <a:srgbClr val="4758AB"/>
                    </a:solidFill>
                    <a:latin typeface="Courier"/>
                  </a:rPr>
                  <a:t>nrow</a:t>
                </a:r>
                <a:r>
                  <a:rPr>
                    <a:solidFill>
                      <a:srgbClr val="003B4F"/>
                    </a:solidFill>
                    <a:latin typeface="Courier"/>
                  </a:rPr>
                  <a:t>(small_sample)</a:t>
                </a:r>
                <a:br/>
                <a:r>
                  <a:rPr>
                    <a:solidFill>
                      <a:srgbClr val="003B4F"/>
                    </a:solidFill>
                    <a:latin typeface="Courier"/>
                  </a:rPr>
                  <a:t>sample_se &lt;- sample_sd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(sample_n)</a:t>
                </a:r>
                <a:br/>
                <a:br/>
                <a:r>
                  <a:rPr>
                    <a:solidFill>
                      <a:srgbClr val="5E5E5E"/>
                    </a:solidFill>
                    <a:latin typeface="Courier"/>
                  </a:rPr>
                  <a:t># Calculate confidence intervals</a:t>
                </a:r>
                <a:br/>
                <a:r>
                  <a:rPr>
                    <a:solidFill>
                      <a:srgbClr val="003B4F"/>
                    </a:solidFill>
                    <a:latin typeface="Courier"/>
                  </a:rPr>
                  <a:t>z_ci_lower &lt;- sample_mean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sample_se</a:t>
                </a:r>
                <a:br/>
                <a:r>
                  <a:rPr>
                    <a:solidFill>
                      <a:srgbClr val="003B4F"/>
                    </a:solidFill>
                    <a:latin typeface="Courier"/>
                  </a:rPr>
                  <a:t>z_ci_upper &lt;- sample_mean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sample_se</a:t>
                </a:r>
                <a:br/>
                <a:br/>
                <a:r>
                  <a:rPr>
                    <a:solidFill>
                      <a:srgbClr val="5E5E5E"/>
                    </a:solidFill>
                    <a:latin typeface="Courier"/>
                  </a:rPr>
                  <a:t># For t-distribution, get critical value for 95% CI with df = n-1</a:t>
                </a:r>
                <a:br/>
                <a:r>
                  <a:rPr>
                    <a:solidFill>
                      <a:srgbClr val="003B4F"/>
                    </a:solidFill>
                    <a:latin typeface="Courier"/>
                  </a:rPr>
                  <a:t>t_crit &lt;- </a:t>
                </a:r>
                <a:r>
                  <a:rPr>
                    <a:solidFill>
                      <a:srgbClr val="4758AB"/>
                    </a:solidFill>
                    <a:latin typeface="Courier"/>
                  </a:rPr>
                  <a:t>qt</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657422"/>
                    </a:solidFill>
                    <a:latin typeface="Courier"/>
                  </a:rPr>
                  <a:t>df =</a:t>
                </a:r>
                <a:r>
                  <a:rPr>
                    <a:solidFill>
                      <a:srgbClr val="003B4F"/>
                    </a:solidFill>
                    <a:latin typeface="Courier"/>
                  </a:rPr>
                  <a:t> sample_n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t_ci_lower &lt;- sample_mean </a:t>
                </a:r>
                <a:r>
                  <a:rPr>
                    <a:solidFill>
                      <a:srgbClr val="5E5E5E"/>
                    </a:solidFill>
                    <a:latin typeface="Courier"/>
                  </a:rPr>
                  <a:t>-</a:t>
                </a:r>
                <a:r>
                  <a:rPr>
                    <a:solidFill>
                      <a:srgbClr val="003B4F"/>
                    </a:solidFill>
                    <a:latin typeface="Courier"/>
                  </a:rPr>
                  <a:t> t_crit </a:t>
                </a:r>
                <a:r>
                  <a:rPr>
                    <a:solidFill>
                      <a:srgbClr val="5E5E5E"/>
                    </a:solidFill>
                    <a:latin typeface="Courier"/>
                  </a:rPr>
                  <a:t>*</a:t>
                </a:r>
                <a:r>
                  <a:rPr>
                    <a:solidFill>
                      <a:srgbClr val="003B4F"/>
                    </a:solidFill>
                    <a:latin typeface="Courier"/>
                  </a:rPr>
                  <a:t> sample_se</a:t>
                </a:r>
                <a:br/>
                <a:r>
                  <a:rPr>
                    <a:solidFill>
                      <a:srgbClr val="003B4F"/>
                    </a:solidFill>
                    <a:latin typeface="Courier"/>
                  </a:rPr>
                  <a:t>t_ci_upper &lt;- sample_mean </a:t>
                </a:r>
                <a:r>
                  <a:rPr>
                    <a:solidFill>
                      <a:srgbClr val="5E5E5E"/>
                    </a:solidFill>
                    <a:latin typeface="Courier"/>
                  </a:rPr>
                  <a:t>+</a:t>
                </a:r>
                <a:r>
                  <a:rPr>
                    <a:solidFill>
                      <a:srgbClr val="003B4F"/>
                    </a:solidFill>
                    <a:latin typeface="Courier"/>
                  </a:rPr>
                  <a:t> t_crit </a:t>
                </a:r>
                <a:r>
                  <a:rPr>
                    <a:solidFill>
                      <a:srgbClr val="5E5E5E"/>
                    </a:solidFill>
                    <a:latin typeface="Courier"/>
                  </a:rPr>
                  <a:t>*</a:t>
                </a:r>
                <a:r>
                  <a:rPr>
                    <a:solidFill>
                      <a:srgbClr val="003B4F"/>
                    </a:solidFill>
                    <a:latin typeface="Courier"/>
                  </a:rPr>
                  <a:t> sample_se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274.1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14.56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4.61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265.1 to 283.1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263.7 to 284.5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pic>
        <p:nvPicPr>
          <p:cNvPr descr="04_01_lecture_powerpoint_files/figure-pptx/unnamed-chunk-1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2025-09-09T20:46:50Z</dcterms:created>
  <dcterms:modified xsi:type="dcterms:W3CDTF">2025-09-09T20:46:50Z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