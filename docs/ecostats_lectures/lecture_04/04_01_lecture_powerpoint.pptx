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</p:txBody>
      </p:sp>
      <p:pic>
        <p:nvPicPr>
          <p:cNvPr descr="04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plottig a box plot is really useful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spc_tbl_ [168 × 5] (S3: spec_tbl_df/tbl_df/tbl/data.frame)
 $ site     : num [1:168] 113 113 113 113 113 113 113 113 113 113 ...
 $ lake     : chr [1:168] "I3" "I3" "I3" "I3" ...
 $ species  : chr [1:168] "arctic grayling" "arctic grayling" "arctic grayling" "arctic grayling" ...
 $ length_mm: num [1:168] 266 290 262 275 240 265 265 253 246 203 ...
 $ mass_g   : num [1:168] 135 185 145 160 105 145 150 130 130 71 ...
 - attr(*, "spec")=
  .. cols(
  ..   site = col_double(),
  ..   lake = col_character(),
  ..   species = col_character(),
  ..   length_mm = col_double(),
  ..   mass_g = col_double()
  .. )
 - attr(*, "problems")=&lt;externalptr&gt;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    site         lake             species            length_mm    
 Min.   :113   Length:168         Length:168         Min.   :191.0  
 1st Qu.:113   Class :character   Class :character   1st Qu.:270.8  
 Median :118   Mode  :character   Mode  :character   Median :324.5  
 Mean   :116                                         Mean   :324.5  
 3rd Qu.:118                                         3rd Qu.:377.0  
 Max.   :118                                         Max.   :440.0  
     mass_g     
 Min.   : 53.0  
 1st Qu.:151.2  
 Median :340.0  
 Mean   :351.2  
 3rd Qu.:519.5  
 Max.   :889.0  
 NA's   :2      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a standard normal distribution and a t distribution</a:t>
            </a:r>
          </a:p>
        </p:txBody>
      </p:sp>
      <p:pic>
        <p:nvPicPr>
          <p:cNvPr descr="04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/>
              <a:t>Approximately: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normal distribution to the standard normal distribution.</a:t>
            </a:r>
          </a:p>
        </p:txBody>
      </p:sp>
      <p:pic>
        <p:nvPicPr>
          <p:cNvPr descr="04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-0.900
2   113 I3    arctic grayling       290    185  -0.531
3   113 I3    arctic grayling       262    145  -0.961
4   113 I3    arctic grayling       275    160  -0.761
5   113 I3    arctic grayling       240    105  -1.30 
6   113 I3    arctic grayling       265    145  -0.915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64.3 %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04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04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Have been calculated for a range of sample sizes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</p:txBody>
      </p:sp>
      <p:pic>
        <p:nvPicPr>
          <p:cNvPr descr="04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i3_stats &lt;- gray_i3_df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mean_length sd_length     n se_length
        &lt;dbl&gt;     &lt;dbl&gt; &lt;int&gt;     &lt;dbl&gt;
1        266.      28.3    66      3.48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4: Z-score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lets do this for a fish that is 320mm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(320 - 265.61)/28.3 = 1.92</a:t>
                </a:r>
              </a:p>
              <a:p>
                <a:pPr lvl="0" indent="0" marL="0">
                  <a:buNone/>
                </a:pPr>
                <a:r>
                  <a:rPr/>
                  <a:t>or .9726 in table or 97.3% is the area left of the curve and</a:t>
                </a:r>
              </a:p>
              <a:p>
                <a:pPr lvl="0" indent="0" marL="0">
                  <a:buNone/>
                </a:pPr>
                <a:r>
                  <a:rPr/>
                  <a:t>100 - 97.3 = 2.7% or 2.7% of fish are expected to be longer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Sampling a population - Std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Sampling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Sampling Distributions</a:t>
            </a:r>
          </a:p>
          <a:p>
            <a:pPr lvl="0" indent="0" marL="1270000">
              <a:buNone/>
            </a:pPr>
            <a:r>
              <a:rPr sz="2000"/>
              <a:t>Let’s explore how sample size affects our estimates by taking samples of different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seed for reproducibility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samples of different sizes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 and standard error for each sample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medium_mean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medium_se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(medium_sample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large_mean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large_se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(large_sample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(small_mean, medium_mean, large_mean),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(small_se, medium_se, large_se)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  Sample_Size    Mean        SE
1          10 302.000 26.607330
2          30 319.200 12.082989
3         100 323.328  6.478149</a:t>
            </a:r>
          </a:p>
          <a:p>
            <a:pPr lvl="0" indent="0" marL="1270000">
              <a:buNone/>
            </a:pPr>
            <a:r>
              <a:rPr sz="2000"/>
              <a:t>What do you observe about the standard error as sample size increases? Why does this happen?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Estimating µ - population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Every sample gives slightly different estimate of µ</a:t>
            </a:r>
          </a:p>
          <a:p>
            <a:pPr lvl="0"/>
            <a:r>
              <a:rPr/>
              <a:t>Can take many samples and calculate means</a:t>
            </a:r>
          </a:p>
          <a:p>
            <a:pPr lvl="0"/>
            <a:r>
              <a:rPr/>
              <a:t>Plot the frequency distribution of means</a:t>
            </a:r>
          </a:p>
          <a:p>
            <a:pPr lvl="0"/>
            <a:r>
              <a:rPr/>
              <a:t>Get the “sampling distribution of means”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important properties:</a:t>
            </a:r>
          </a:p>
          <a:p>
            <a:pPr lvl="0"/>
            <a:r>
              <a:rPr/>
              <a:t>Sampling distribution of means (SDM) from normal population will be normal</a:t>
            </a:r>
          </a:p>
          <a:p>
            <a:pPr lvl="0"/>
            <a:r>
              <a:rPr/>
              <a:t>Large Sampling distribution of means from any population will be normal (Central Limit Theorem)</a:t>
            </a:r>
          </a:p>
          <a:p>
            <a:pPr lvl="0"/>
            <a:r>
              <a:rPr/>
              <a:t>The mean of Sampling distribution of means will equal µ or the mean</a:t>
            </a:r>
          </a:p>
        </p:txBody>
      </p:sp>
      <p:pic>
        <p:nvPicPr>
          <p:cNvPr descr="04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Given above</a:t>
                </a:r>
              </a:p>
              <a:p>
                <a:pPr lvl="0"/>
                <a:r>
                  <a:rPr/>
                  <a:t>can estimate the standard deviation of sample means</a:t>
                </a:r>
              </a:p>
              <a:p>
                <a:pPr lvl="0"/>
                <a:r>
                  <a:rPr/>
                  <a:t>“Standard error of sample mean”</a:t>
                </a:r>
              </a:p>
              <a:p>
                <a:pPr lvl="0"/>
                <a:r>
                  <a:rPr/>
                  <a:t>How good is your estimate of population mean? (based on the sample collected)</a:t>
                </a:r>
              </a:p>
              <a:p>
                <a:pPr lvl="0"/>
                <a:r>
                  <a:rPr/>
                  <a:t>quantifies how much the sample means are expected to vary from samples</a:t>
                </a:r>
              </a:p>
              <a:p>
                <a:pPr lvl="0"/>
                <a:r>
                  <a:rPr/>
                  <a:t>gives an estimate of the error associated with using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to estimate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…</a:t>
                </a:r>
              </a:p>
            </p:txBody>
          </p:sp>
        </mc:Choice>
      </mc:AlternateContent>
      <p:pic>
        <p:nvPicPr>
          <p:cNvPr descr="04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and Sample Size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Notice: -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</m:oMath>
                </a14:m>
                <a:r>
                  <a:rPr/>
                  <a:t> depends on - sample s (standard deviation) - sample n - (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)</a:t>
                </a:r>
              </a:p>
              <a:p>
                <a:pPr lvl="0" indent="0" marL="0">
                  <a:buNone/>
                </a:pPr>
                <a:r>
                  <a:rPr/>
                  <a:t>How and why? - Decreases with sample n - number - increases with sample s - standard deviation</a:t>
                </a:r>
              </a:p>
              <a:p>
                <a:pPr lvl="0"/>
                <a:r>
                  <a:rPr/>
                  <a:t>Large sample, low s = greater confidence in estimate of </a:t>
                </a: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</a:p>
            </p:txBody>
          </p:sp>
        </mc:Choice>
      </mc:AlternateContent>
      <p:pic>
        <p:nvPicPr>
          <p:cNvPr descr="04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Standard Error of 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tells us how precise our sample mean is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Standard Error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the sample standard deviation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sample size</a:t>
                </a:r>
              </a:p>
              <a:p>
                <a:pPr lvl="0" indent="0" marL="0">
                  <a:buNone/>
                </a:pPr>
                <a:r>
                  <a:rPr b="1"/>
                  <a:t>Key properties:</a:t>
                </a:r>
              </a:p>
              <a:p>
                <a:pPr lvl="0"/>
                <a:r>
                  <a:rPr/>
                  <a:t>SEM decreases as sample size increases</a:t>
                </a:r>
              </a:p>
              <a:p>
                <a:pPr lvl="0"/>
                <a:r>
                  <a:rPr/>
                  <a:t>SEM is used to construct confidence intervals</a:t>
                </a:r>
              </a:p>
              <a:p>
                <a:pPr lvl="0"/>
                <a:r>
                  <a:rPr/>
                  <a:t>SEM measures the precision of the sample mean</a:t>
                </a:r>
              </a:p>
            </p:txBody>
          </p:sp>
        </mc:Choice>
      </mc:AlternateContent>
      <p:pic>
        <p:nvPicPr>
          <p:cNvPr descr="04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Basic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95% Confidence Interval Formula: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95% 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z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the sample mean</a:t>
                </a:r>
              </a:p>
              <a:p>
                <a:pPr lvl="0"/>
                <a:r>
                  <a:rPr/>
                  <a:t>𝑛 is the sample size</a:t>
                </a:r>
              </a:p>
              <a:p>
                <a:pPr lvl="0"/>
                <a:r>
                  <a:rPr/>
                  <a:t>σ is the population standard deviation</a:t>
                </a:r>
              </a:p>
              <a:p>
                <a:pPr lvl="0"/>
                <a:r>
                  <a:rPr/>
                  <a:t>z is the z-value corresponding the probability of the CI</a:t>
                </a:r>
              </a:p>
            </p:txBody>
          </p:sp>
        </mc:Choice>
      </mc:AlternateContent>
      <p:pic>
        <p:nvPicPr>
          <p:cNvPr descr="images/clipboard-20455355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24000"/>
            <a:ext cx="2781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Confidence Intervals -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confidence interval</a:t>
            </a:r>
            <a:r>
              <a:rPr/>
              <a:t> is a range of values that is likely to contain the true population parameter.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we were to take many samples and calculate the 95% CI for each, about 95% of these intervals would contain the true population mean.</a:t>
            </a:r>
          </a:p>
          <a:p>
            <a:pPr lvl="0" indent="0" marL="0">
              <a:buNone/>
            </a:pPr>
            <a:r>
              <a:rPr b="1"/>
              <a:t>Common misinterpretation:</a:t>
            </a:r>
            <a:r>
              <a:rPr/>
              <a:t> “There is a 95% probability that the true mean is in this interval.”</a:t>
            </a:r>
          </a:p>
          <a:p>
            <a:pPr lvl="0"/>
            <a:r>
              <a:rPr/>
              <a:t>Interpret 95% CI to mean:</a:t>
            </a:r>
          </a:p>
          <a:p>
            <a:pPr lvl="1"/>
            <a:r>
              <a:rPr/>
              <a:t>Range of values that contains µ (population mean) with 95% probability</a:t>
            </a:r>
          </a:p>
          <a:p>
            <a:pPr lvl="0"/>
            <a:r>
              <a:rPr/>
              <a:t>More correctly:</a:t>
            </a:r>
          </a:p>
          <a:p>
            <a:pPr lvl="1"/>
            <a:r>
              <a:rPr/>
              <a:t>If we took 100 samples from population</a:t>
            </a:r>
          </a:p>
          <a:p>
            <a:pPr lvl="1"/>
            <a:r>
              <a:rPr/>
              <a:t>calculate a CI from each</a:t>
            </a:r>
          </a:p>
          <a:p>
            <a:pPr lvl="1"/>
            <a:r>
              <a:rPr/>
              <a:t>95 of the 100 CIs will contain the true population mean - µ</a:t>
            </a:r>
          </a:p>
        </p:txBody>
      </p:sp>
      <p:pic>
        <p:nvPicPr>
          <p:cNvPr descr="04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Compare the SE and CI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compare what the two plots look like near each other</a:t>
            </a:r>
          </a:p>
        </p:txBody>
      </p:sp>
      <p:pic>
        <p:nvPicPr>
          <p:cNvPr descr="04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Standard Error and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Calculating Standard Error and Confidence Intervals</a:t>
            </a:r>
          </a:p>
          <a:p>
            <a:pPr lvl="0" indent="0" marL="1270000">
              <a:buNone/>
            </a:pPr>
            <a:r>
              <a:rPr sz="2000"/>
              <a:t>Calculate the standard error and 95% confidence interval for the mean length of Arctic grayling in each lake.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standard error and confidence intervals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ci_results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8
  lake  mean_length sd_length     n se_length    ci ci_lower ci_upper
  &lt;chr&gt;       &lt;dbl&gt;     &lt;dbl&gt; &lt;int&gt;     &lt;dbl&gt; &lt;dbl&gt;    &lt;dbl&gt;    &lt;dbl&gt;
1 I3           266.      28.3    66      3.48  6.82     259.     272.
2 I8           363.      52.3   102      5.18 10.2      352.     373.</a:t>
            </a:r>
          </a:p>
          <a:p>
            <a:pPr lvl="0" indent="0" marL="1270000">
              <a:buNone/>
            </a:pPr>
            <a:r>
              <a:rPr sz="2000"/>
              <a:t>What do these confidence intervals tell us about the difference between lakes?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more typical case DON’T know the population σ</a:t>
            </a:r>
          </a:p>
          <a:p>
            <a:pPr lvl="0"/>
            <a:r>
              <a:rPr/>
              <a:t>estimate it from the samples when don’t know the population σ</a:t>
            </a:r>
          </a:p>
          <a:p>
            <a:pPr lvl="0"/>
            <a:r>
              <a:rPr/>
              <a:t>and when sample size is &lt;~30)</a:t>
            </a:r>
          </a:p>
          <a:p>
            <a:pPr lvl="0"/>
            <a:r>
              <a:rPr/>
              <a:t>can’t use the standard normal (z) distribution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sample sizes are small, the </a:t>
            </a:r>
            <a:r>
              <a:rPr b="1"/>
              <a:t>t-distribution</a:t>
            </a:r>
            <a:r>
              <a:rPr/>
              <a:t>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</p:txBody>
      </p:sp>
      <p:pic>
        <p:nvPicPr>
          <p:cNvPr descr="04_01_lecture_powerpoint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Using the t-distribution</a:t>
            </a:r>
          </a:p>
          <a:p>
            <a:pPr lvl="0" indent="0" marL="1270000">
              <a:buNone/>
            </a:pPr>
            <a:r>
              <a:rPr sz="2000"/>
              <a:t>Let’s compare confidence intervals using the normal approximation (z) versus the t-distribution for our fish data.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CI using both z and t distributions for a smaller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sample_n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(small_sample)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sample_se &lt;- sample_sd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(sample_n)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For t-distribution, get critical value for 95% CI with df = n-1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t_crit &lt;-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sample_n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t_ci_lower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t_ci_upper &lt;- sample_mean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sample_se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255.3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deviation: 26.26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error:"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(sample_se,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Standard error: 8.31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z:"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(z_ci_upper,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z: 239 to 271.6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CI using 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(t_ci_lower,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(t_ci_upper,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95% CI using t: 236.5 to 274.1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 critical 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(t_crit,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"vs z critical value: 1.96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t critical value: 2.262 vs z critical value: 1.96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One-tailed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20900"/>
            <a:ext cx="27813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Two-tailed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95500"/>
            <a:ext cx="2781300" cy="160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t-distribution CI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CIs again:</a:t>
            </a:r>
          </a:p>
          <a:p>
            <a:pPr lvl="0" indent="0" marL="0">
              <a:buNone/>
            </a:pPr>
            <a:r>
              <a:rPr/>
              <a:t>Use two-sided test</a:t>
            </a:r>
          </a:p>
          <a:p>
            <a:pPr lvl="0"/>
            <a:r>
              <a:rPr/>
              <a:t>95% CI Sample A: = 272.8 ± 2.262 * (37.81/(9^0.5)) = 1.650788</a:t>
            </a:r>
          </a:p>
          <a:p>
            <a:pPr lvl="0"/>
            <a:r>
              <a:rPr/>
              <a:t>The 95% CI is between 244.3 and 301.3</a:t>
            </a:r>
          </a:p>
          <a:p>
            <a:pPr lvl="0"/>
            <a:r>
              <a:rPr/>
              <a:t>“The 95% CI for the population mean from sample A is 272.8 ± 28.5”</a:t>
            </a:r>
          </a:p>
        </p:txBody>
      </p:sp>
      <p:pic>
        <p:nvPicPr>
          <p:cNvPr descr="images/clipboard-7214722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Intro to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Hypothesis Testing in Original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4_01_lecture_powerpoint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Toolik Lake differs from 50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-342900" marL="342900">
              <a:buAutoNum type="arabicPeriod"/>
            </a:pPr>
            <a:r>
              <a:rPr sz="2000"/>
              <a:t>Is the mean length of Arctic grayling in these lakes different from 300 mm?</a:t>
            </a:r>
          </a:p>
          <a:p>
            <a:pPr lvl="0" indent="-342900" marL="342900">
              <a:buAutoNum type="arabicPeriod"/>
            </a:pPr>
            <a:r>
              <a:rPr sz="2000"/>
              <a:t>Is there a relationship between fish length and mass?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  <a:r>
              <a:rPr/>
              <a:t> - p &lt; 0.05: Strong evidence against H₀ - 0.05 ≤ p &lt; 0.10: Moderate evidence against H₀ - 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  <a:r>
              <a:rPr/>
              <a:t> - p-value is NOT the probability that H₀ is true - p-value is NOT the probability that results occurred by chance - Statistical significance ≠ practical significance</a:t>
            </a:r>
          </a:p>
        </p:txBody>
      </p:sp>
      <p:pic>
        <p:nvPicPr>
          <p:cNvPr descr="04_01_lecture_powerpoint_files/figure-pptx/unnamed-chunk-2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  <a:r>
              <a:rPr/>
              <a:t> - Rejecting H₀ when it’s actually true - Probability = α (significance level) - 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  <a:r>
              <a:rPr/>
              <a:t> - Failing to reject H₀ when it’s actually false - Probability = β - “Missing an effect that is real”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  <a:r>
              <a:rPr/>
              <a:t> - Probability of correctly rejecting a false H₀ - Increases with: - Larger sample size - Larger effect size - Lower variability - Higher α level</a:t>
            </a:r>
          </a:p>
        </p:txBody>
      </p:sp>
      <p:pic>
        <p:nvPicPr>
          <p:cNvPr descr="04_01_lecture_powerpoint_files/figure-pptx/unnamed-chunk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power for detecting a 30 mm difference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First determine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(lake_I3)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(lake_I8)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power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 &lt;- 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(n1, n2),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Using standardized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alpha,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power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66
          delta = 0.6741298
             sd = 1
      sig.level = 0.05
          power = 0.9702076
    alternative = two.sided
NOTE: n is number in *each* group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</a:t>
            </a:r>
            <a:r>
              <a:rPr/>
              <a:t>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1.96 × SE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04_01_lecture_powerpoint_files/figure-pptx/unnamed-chunk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2025-08-26T17:05:52Z</dcterms:created>
  <dcterms:modified xsi:type="dcterms:W3CDTF">2025-08-26T17:05:52Z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