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 ##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003B4F"/>
                    </a:solidFill>
                    <a:latin typeface="Courier"/>
                  </a:rPr>
                  <a:t>small_sample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sample_mean &lt;- </a:t>
                </a:r>
                <a:r>
                  <a:rPr>
                    <a:solidFill>
                      <a:srgbClr val="4758AB"/>
                    </a:solidFill>
                    <a:latin typeface="Courier"/>
                  </a:rPr>
                  <a:t>mean</a:t>
                </a:r>
                <a:r>
                  <a:rPr>
                    <a:solidFill>
                      <a:srgbClr val="003B4F"/>
                    </a:solidFill>
                    <a:latin typeface="Courier"/>
                  </a:rPr>
                  <a:t>(small_sample</a:t>
                </a:r>
                <a:r>
                  <a:rPr>
                    <a:solidFill>
                      <a:srgbClr val="5E5E5E"/>
                    </a:solidFill>
                    <a:latin typeface="Courier"/>
                  </a:rPr>
                  <a:t>$</a:t>
                </a:r>
                <a:r>
                  <a:rPr>
                    <a:solidFill>
                      <a:srgbClr val="003B4F"/>
                    </a:solidFill>
                    <a:latin typeface="Courier"/>
                  </a:rPr>
                  <a:t>length_mm)</a:t>
                </a:r>
                <a:br/>
                <a:r>
                  <a:rPr>
                    <a:solidFill>
                      <a:srgbClr val="003B4F"/>
                    </a:solidFill>
                    <a:latin typeface="Courier"/>
                  </a:rPr>
                  <a:t>sample_sd &lt;- </a:t>
                </a:r>
                <a:r>
                  <a:rPr>
                    <a:solidFill>
                      <a:srgbClr val="4758AB"/>
                    </a:solidFill>
                    <a:latin typeface="Courier"/>
                  </a:rPr>
                  <a:t>sd</a:t>
                </a:r>
                <a:r>
                  <a:rPr>
                    <a:solidFill>
                      <a:srgbClr val="003B4F"/>
                    </a:solidFill>
                    <a:latin typeface="Courier"/>
                  </a:rPr>
                  <a:t>(small_sample</a:t>
                </a:r>
                <a:r>
                  <a:rPr>
                    <a:solidFill>
                      <a:srgbClr val="5E5E5E"/>
                    </a:solidFill>
                    <a:latin typeface="Courier"/>
                  </a:rPr>
                  <a:t>$</a:t>
                </a:r>
                <a:r>
                  <a:rPr>
                    <a:solidFill>
                      <a:srgbClr val="003B4F"/>
                    </a:solidFill>
                    <a:latin typeface="Courier"/>
                  </a:rPr>
                  <a:t>length_mm)</a:t>
                </a:r>
                <a:br/>
                <a:r>
                  <a:rPr>
                    <a:solidFill>
                      <a:srgbClr val="003B4F"/>
                    </a:solidFill>
                    <a:latin typeface="Courier"/>
                  </a:rPr>
                  <a:t>sample_n &lt;- </a:t>
                </a:r>
                <a:r>
                  <a:rPr>
                    <a:solidFill>
                      <a:srgbClr val="4758AB"/>
                    </a:solidFill>
                    <a:latin typeface="Courier"/>
                  </a:rPr>
                  <a:t>nrow</a:t>
                </a:r>
                <a:r>
                  <a:rPr>
                    <a:solidFill>
                      <a:srgbClr val="003B4F"/>
                    </a:solidFill>
                    <a:latin typeface="Courier"/>
                  </a:rPr>
                  <a:t>(small_sample)</a:t>
                </a:r>
                <a:br/>
                <a:r>
                  <a:rPr>
                    <a:solidFill>
                      <a:srgbClr val="003B4F"/>
                    </a:solidFill>
                    <a:latin typeface="Courier"/>
                  </a:rPr>
                  <a:t>sample_se &lt;- sample_sd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(sample_n)</a:t>
                </a:r>
                <a:br/>
                <a:r>
                  <a:rPr>
                    <a:solidFill>
                      <a:srgbClr val="003B4F"/>
                    </a:solidFill>
                    <a:latin typeface="Courier"/>
                  </a:rPr>
                  <a:t>z_ci_lower &lt;- sample_mean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sample_se</a:t>
                </a:r>
                <a:br/>
                <a:r>
                  <a:rPr>
                    <a:solidFill>
                      <a:srgbClr val="003B4F"/>
                    </a:solidFill>
                    <a:latin typeface="Courier"/>
                  </a:rPr>
                  <a:t>z_ci_upper &lt;- sample_mean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sample_se</a:t>
                </a:r>
                <a:br/>
                <a:r>
                  <a:rPr>
                    <a:solidFill>
                      <a:srgbClr val="003B4F"/>
                    </a:solidFill>
                    <a:latin typeface="Courier"/>
                  </a:rPr>
                  <a:t>t_crit &lt;- </a:t>
                </a:r>
                <a:r>
                  <a:rPr>
                    <a:solidFill>
                      <a:srgbClr val="4758AB"/>
                    </a:solidFill>
                    <a:latin typeface="Courier"/>
                  </a:rPr>
                  <a:t>qt</a:t>
                </a:r>
                <a:r>
                  <a:rPr>
                    <a:solidFill>
                      <a:srgbClr val="003B4F"/>
                    </a:solidFill>
                    <a:latin typeface="Courier"/>
                  </a:rPr>
                  <a:t>(</a:t>
                </a:r>
                <a:r>
                  <a:rPr>
                    <a:solidFill>
                      <a:srgbClr val="AD0000"/>
                    </a:solidFill>
                    <a:latin typeface="Courier"/>
                  </a:rPr>
                  <a:t>0.975</a:t>
                </a:r>
                <a:r>
                  <a:rPr>
                    <a:solidFill>
                      <a:srgbClr val="003B4F"/>
                    </a:solidFill>
                    <a:latin typeface="Courier"/>
                  </a:rPr>
                  <a:t>, </a:t>
                </a:r>
                <a:r>
                  <a:rPr>
                    <a:solidFill>
                      <a:srgbClr val="657422"/>
                    </a:solidFill>
                    <a:latin typeface="Courier"/>
                  </a:rPr>
                  <a:t>df =</a:t>
                </a:r>
                <a:r>
                  <a:rPr>
                    <a:solidFill>
                      <a:srgbClr val="003B4F"/>
                    </a:solidFill>
                    <a:latin typeface="Courier"/>
                  </a:rPr>
                  <a:t> sample_n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t_ci_lower &lt;- sample_mean </a:t>
                </a:r>
                <a:r>
                  <a:rPr>
                    <a:solidFill>
                      <a:srgbClr val="5E5E5E"/>
                    </a:solidFill>
                    <a:latin typeface="Courier"/>
                  </a:rPr>
                  <a:t>-</a:t>
                </a:r>
                <a:r>
                  <a:rPr>
                    <a:solidFill>
                      <a:srgbClr val="003B4F"/>
                    </a:solidFill>
                    <a:latin typeface="Courier"/>
                  </a:rPr>
                  <a:t> t_crit </a:t>
                </a:r>
                <a:r>
                  <a:rPr>
                    <a:solidFill>
                      <a:srgbClr val="5E5E5E"/>
                    </a:solidFill>
                    <a:latin typeface="Courier"/>
                  </a:rPr>
                  <a:t>*</a:t>
                </a:r>
                <a:r>
                  <a:rPr>
                    <a:solidFill>
                      <a:srgbClr val="003B4F"/>
                    </a:solidFill>
                    <a:latin typeface="Courier"/>
                  </a:rPr>
                  <a:t> sample_se</a:t>
                </a:r>
                <a:br/>
                <a:r>
                  <a:rPr>
                    <a:solidFill>
                      <a:srgbClr val="003B4F"/>
                    </a:solidFill>
                    <a:latin typeface="Courier"/>
                  </a:rPr>
                  <a:t>t_ci_upper &lt;- sample_mean </a:t>
                </a:r>
                <a:r>
                  <a:rPr>
                    <a:solidFill>
                      <a:srgbClr val="5E5E5E"/>
                    </a:solidFill>
                    <a:latin typeface="Courier"/>
                  </a:rPr>
                  <a:t>+</a:t>
                </a:r>
                <a:r>
                  <a:rPr>
                    <a:solidFill>
                      <a:srgbClr val="003B4F"/>
                    </a:solidFill>
                    <a:latin typeface="Courier"/>
                  </a:rPr>
                  <a:t> t_crit </a:t>
                </a:r>
                <a:r>
                  <a:rPr>
                    <a:solidFill>
                      <a:srgbClr val="5E5E5E"/>
                    </a:solidFill>
                    <a:latin typeface="Courier"/>
                  </a:rPr>
                  <a:t>*</a:t>
                </a:r>
                <a:r>
                  <a:rPr>
                    <a:solidFill>
                      <a:srgbClr val="003B4F"/>
                    </a:solidFill>
                    <a:latin typeface="Courier"/>
                  </a:rPr>
                  <a:t> sample_se</a:t>
                </a: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257.7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34.84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11.02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236.1 to 279.3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232.8 to 282.6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1-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2025-09-10T16:43:41Z</dcterms:created>
  <dcterms:modified xsi:type="dcterms:W3CDTF">2025-09-10T16:43:41Z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