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3.png"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5.png" /><Relationship Id="rId2" Type="http://schemas.openxmlformats.org/officeDocument/2006/relationships/image" Target="../media/image1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04: Probability and Inference</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 Probability and Statistical Inference</a:t>
            </a:r>
          </a:p>
        </p:txBody>
      </p:sp>
      <p:sp>
        <p:nvSpPr>
          <p:cNvPr id="3" name="Content Placeholder 2"/>
          <p:cNvSpPr>
            <a:spLocks noGrp="1"/>
          </p:cNvSpPr>
          <p:nvPr>
            <p:ph idx="1" sz="half"/>
          </p:nvPr>
        </p:nvSpPr>
        <p:spPr/>
        <p:txBody>
          <a:bodyPr/>
          <a:lstStyle/>
          <a:p>
            <a:pPr lvl="0"/>
            <a:r>
              <a:rPr/>
              <a:t>Review of probability distributions</a:t>
            </a:r>
          </a:p>
          <a:p>
            <a:pPr lvl="0"/>
            <a:r>
              <a:rPr/>
              <a:t>Standard normal distribution and Z-scores</a:t>
            </a:r>
          </a:p>
          <a:p>
            <a:pPr lvl="0"/>
            <a:r>
              <a:rPr/>
              <a:t>Standard error and confidence intervals</a:t>
            </a:r>
          </a:p>
          <a:p>
            <a:pPr lvl="0"/>
            <a:r>
              <a:rPr/>
              <a:t>Statistical inference fundamentals</a:t>
            </a:r>
          </a:p>
          <a:p>
            <a:pPr lvl="0"/>
            <a:r>
              <a:rPr/>
              <a:t>Hypothesis testing principles</a:t>
            </a:r>
          </a:p>
        </p:txBody>
      </p:sp>
      <p:pic>
        <p:nvPicPr>
          <p:cNvPr descr="04_01_lecture_powerpoint_files/figure-pptx/unnamed-chunk-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1: Exploring the Grayling Dataset</a:t>
            </a:r>
          </a:p>
        </p:txBody>
      </p:sp>
      <p:sp>
        <p:nvSpPr>
          <p:cNvPr id="3" name="Content Placeholder 2"/>
          <p:cNvSpPr>
            <a:spLocks noGrp="1"/>
          </p:cNvSpPr>
          <p:nvPr>
            <p:ph idx="1"/>
          </p:nvPr>
        </p:nvSpPr>
        <p:spPr/>
        <p:txBody>
          <a:bodyPr/>
          <a:lstStyle/>
          <a:p>
            <a:pPr lvl="0" indent="0" marL="1270000">
              <a:buNone/>
            </a:pPr>
            <a:r>
              <a:rPr sz="2000" b="1"/>
              <a:t>Practice Exercise 1: Exploring the Grayling Dataset</a:t>
            </a:r>
          </a:p>
          <a:p>
            <a:pPr lvl="0" indent="0" marL="1270000">
              <a:buNone/>
            </a:pPr>
            <a:r>
              <a:rPr sz="2000"/>
              <a:t>Let’s explore the Arctic grayling data from lakes I3 and I8. Use the </a:t>
            </a:r>
            <a:r>
              <a:rPr sz="2000">
                <a:latin typeface="Courier"/>
              </a:rPr>
              <a:t>grayling_df</a:t>
            </a:r>
            <a:r>
              <a:rPr sz="2000"/>
              <a:t> data frame to create basic summary statistics.</a:t>
            </a:r>
          </a:p>
          <a:p>
            <a:pPr lvl="0" indent="0">
              <a:buNone/>
            </a:pPr>
            <a:r>
              <a:rPr>
                <a:solidFill>
                  <a:srgbClr val="5E5E5E"/>
                </a:solidFill>
                <a:latin typeface="Courier"/>
              </a:rPr>
              <a:t># Write your code here to explore the basic structure of the data</a:t>
            </a:r>
            <a:br/>
            <a:r>
              <a:rPr>
                <a:solidFill>
                  <a:srgbClr val="5E5E5E"/>
                </a:solidFill>
                <a:latin typeface="Courier"/>
              </a:rPr>
              <a:t># also note plottig a box plot is really useful</a:t>
            </a:r>
            <a:br/>
            <a:br/>
            <a:br/>
            <a:r>
              <a:rPr>
                <a:solidFill>
                  <a:srgbClr val="5E5E5E"/>
                </a:solidFill>
                <a:latin typeface="Courier"/>
              </a:rPr>
              <a:t># Calculate summary statistics</a:t>
            </a:r>
            <a:br/>
            <a:r>
              <a:rPr>
                <a:solidFill>
                  <a:srgbClr val="003B4F"/>
                </a:solidFill>
                <a:latin typeface="Courier"/>
              </a:rPr>
              <a:t>grayling_summary &lt;- grayling_df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mean_length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sd_length =</a:t>
            </a:r>
            <a:r>
              <a:rPr>
                <a:solidFill>
                  <a:srgbClr val="003B4F"/>
                </a:solidFill>
                <a:latin typeface="Courier"/>
              </a:rPr>
              <a:t> </a:t>
            </a:r>
            <a:r>
              <a:rPr>
                <a:solidFill>
                  <a:srgbClr val="4758AB"/>
                </a:solidFill>
                <a:latin typeface="Courier"/>
              </a:rPr>
              <a:t>sd</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se_length =</a:t>
            </a:r>
            <a:r>
              <a:rPr>
                <a:solidFill>
                  <a:srgbClr val="003B4F"/>
                </a:solidFill>
                <a:latin typeface="Courier"/>
              </a:rPr>
              <a:t> sd_length</a:t>
            </a:r>
            <a:r>
              <a:rPr>
                <a:solidFill>
                  <a:srgbClr val="5E5E5E"/>
                </a:solidFill>
                <a:latin typeface="Courier"/>
              </a:rPr>
              <a:t>/</a:t>
            </a:r>
            <a:r>
              <a:rPr>
                <a:solidFill>
                  <a:srgbClr val="4758AB"/>
                </a:solidFill>
                <a:latin typeface="Courier"/>
              </a:rPr>
              <a:t>sqrt</a:t>
            </a:r>
            <a:r>
              <a:rPr>
                <a:solidFill>
                  <a:srgbClr val="003B4F"/>
                </a:solidFill>
                <a:latin typeface="Courier"/>
              </a:rPr>
              <a:t>(</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count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r>
              <a:rPr>
                <a:solidFill>
                  <a:srgbClr val="003B4F"/>
                </a:solidFill>
                <a:latin typeface="Courier"/>
              </a:rPr>
              <a:t>grayling_summary</a:t>
            </a:r>
          </a:p>
          <a:p>
            <a:pPr lvl="0" indent="0">
              <a:buNone/>
            </a:pPr>
            <a:r>
              <a:rPr sz="2000">
                <a:latin typeface="Courier"/>
              </a:rPr>
              <a:t># A tibble: 2 × 5
  lake  mean_length sd_length se_length count
  &lt;chr&gt;       &lt;dbl&gt;     &lt;dbl&gt;     &lt;dbl&gt; &lt;int&gt;
1 I3           266.      28.3      3.48    66
2 I8           363.      52.3      5.18   102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Probability Distributions</a:t>
            </a:r>
          </a:p>
        </p:txBody>
      </p:sp>
      <p:sp>
        <p:nvSpPr>
          <p:cNvPr id="3" name="Content Placeholder 2"/>
          <p:cNvSpPr>
            <a:spLocks noGrp="1"/>
          </p:cNvSpPr>
          <p:nvPr>
            <p:ph idx="1" sz="half"/>
          </p:nvPr>
        </p:nvSpPr>
        <p:spPr/>
        <p:txBody>
          <a:bodyPr/>
          <a:lstStyle/>
          <a:p>
            <a:pPr lvl="0" indent="0" marL="0">
              <a:spcBef>
                <a:spcPts val="3000"/>
              </a:spcBef>
              <a:buNone/>
            </a:pPr>
            <a:r>
              <a:rPr b="1"/>
              <a:t>Probability Distribution Functions</a:t>
            </a:r>
          </a:p>
          <a:p>
            <a:pPr lvl="0"/>
            <a:r>
              <a:rPr/>
              <a:t>A </a:t>
            </a:r>
            <a:r>
              <a:rPr b="1"/>
              <a:t>probability distribution</a:t>
            </a:r>
            <a:r>
              <a:rPr/>
              <a:t> describes the probability of different outcomes in an experiment</a:t>
            </a:r>
          </a:p>
          <a:p>
            <a:pPr lvl="0"/>
            <a:r>
              <a:rPr/>
              <a:t>We’ve seen histograms of observed data</a:t>
            </a:r>
          </a:p>
          <a:p>
            <a:pPr lvl="0"/>
            <a:r>
              <a:rPr/>
              <a:t>Theoretical distributions help us model and understand real-world data</a:t>
            </a:r>
          </a:p>
          <a:p>
            <a:pPr lvl="0"/>
            <a:r>
              <a:rPr/>
              <a:t>We will focus on a </a:t>
            </a:r>
            <a:r>
              <a:rPr b="1"/>
              <a:t>standard normal distribution</a:t>
            </a:r>
            <a:r>
              <a:rPr/>
              <a:t> and a </a:t>
            </a:r>
            <a:r>
              <a:rPr b="1"/>
              <a:t>students</a:t>
            </a:r>
            <a:r>
              <a:rPr/>
              <a:t> </a:t>
            </a:r>
            <a:r>
              <a:rPr b="1"/>
              <a:t>t distribution</a:t>
            </a:r>
          </a:p>
        </p:txBody>
      </p:sp>
      <p:pic>
        <p:nvPicPr>
          <p:cNvPr descr="04_01_lecture_powerpoint_files/figure-pptx/unnamed-chunk-4-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Standard Normal Distribution</a:t>
            </a:r>
          </a:p>
        </p:txBody>
      </p:sp>
      <p:sp>
        <p:nvSpPr>
          <p:cNvPr id="3" name="Content Placeholder 2"/>
          <p:cNvSpPr>
            <a:spLocks noGrp="1"/>
          </p:cNvSpPr>
          <p:nvPr>
            <p:ph idx="1" sz="half"/>
          </p:nvPr>
        </p:nvSpPr>
        <p:spPr/>
        <p:txBody>
          <a:bodyPr/>
          <a:lstStyle/>
          <a:p>
            <a:pPr lvl="0" indent="0" marL="0">
              <a:buNone/>
            </a:pPr>
            <a:r>
              <a:rPr/>
              <a:t>The standard normal distribution is crucial for understanding statistical inference:</a:t>
            </a:r>
          </a:p>
          <a:p>
            <a:pPr lvl="0"/>
            <a:r>
              <a:rPr/>
              <a:t>Has mean (μ) = 0 and standard deviation (σ) = 1</a:t>
            </a:r>
          </a:p>
          <a:p>
            <a:pPr lvl="0"/>
            <a:r>
              <a:rPr/>
              <a:t>Symmetrical bell-shaped curve</a:t>
            </a:r>
          </a:p>
          <a:p>
            <a:pPr lvl="0"/>
            <a:r>
              <a:rPr/>
              <a:t>Area under the curve = 1 (total probability)</a:t>
            </a:r>
          </a:p>
          <a:p>
            <a:pPr lvl="0"/>
            <a:r>
              <a:rPr b="1"/>
              <a:t>Approximately</a:t>
            </a:r>
            <a:r>
              <a:rPr/>
              <a:t>:</a:t>
            </a:r>
          </a:p>
          <a:p>
            <a:pPr lvl="1"/>
            <a:r>
              <a:rPr/>
              <a:t>68% of data within ±1σ of the mean</a:t>
            </a:r>
          </a:p>
          <a:p>
            <a:pPr lvl="1"/>
            <a:r>
              <a:rPr b="1"/>
              <a:t>95% of data within ±2σ of the mean - really 1.96σ</a:t>
            </a:r>
          </a:p>
          <a:p>
            <a:pPr lvl="1"/>
            <a:r>
              <a:rPr/>
              <a:t>99.7% of data within ±3σ of the mean</a:t>
            </a:r>
          </a:p>
          <a:p>
            <a:pPr lvl="0" indent="0" marL="0">
              <a:buNone/>
            </a:pPr>
            <a:r>
              <a:rPr/>
              <a:t>Z-scores allow us to convert any </a:t>
            </a:r>
            <a:r>
              <a:rPr b="1"/>
              <a:t>normal distribution</a:t>
            </a:r>
            <a:r>
              <a:rPr/>
              <a:t> to the </a:t>
            </a:r>
            <a:r>
              <a:rPr b="1"/>
              <a:t>standard normal distribution.</a:t>
            </a:r>
          </a:p>
        </p:txBody>
      </p:sp>
      <p:pic>
        <p:nvPicPr>
          <p:cNvPr descr="04_01_lecture_powerpoint_files/figure-pptx/unnamed-chunk-5-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2: Calculating Z-scores of lake I3</a:t>
            </a:r>
          </a:p>
        </p:txBody>
      </p:sp>
      <p:sp>
        <p:nvSpPr>
          <p:cNvPr id="3" name="Content Placeholder 2"/>
          <p:cNvSpPr>
            <a:spLocks noGrp="1"/>
          </p:cNvSpPr>
          <p:nvPr>
            <p:ph idx="1"/>
          </p:nvPr>
        </p:nvSpPr>
        <p:spPr/>
        <p:txBody>
          <a:bodyPr/>
          <a:lstStyle/>
          <a:p>
            <a:pPr lvl="0" indent="0" marL="1270000">
              <a:buNone/>
            </a:pPr>
            <a:r>
              <a:rPr sz="2000" b="1"/>
              <a:t>Practice Exercise 2: Calculating Z-scores</a:t>
            </a:r>
          </a:p>
          <a:p>
            <a:pPr lvl="0" indent="0" marL="1270000">
              <a:buNone/>
            </a:pPr>
            <a:r>
              <a:rPr sz="2000"/>
              <a:t>Let’s practice converting raw values to Z-scores using the Arctic grayling data.</a:t>
            </a:r>
          </a:p>
          <a:p>
            <a:pPr lvl="0" indent="0" marL="1270000">
              <a:buNone/>
            </a:pPr>
            <a:r>
              <a:rPr sz="2000" b="1"/>
              <a:t>Z Score = (length - mean) / standard deviation</a:t>
            </a:r>
          </a:p>
          <a:p>
            <a:pPr lvl="0" indent="0">
              <a:buNone/>
            </a:pPr>
            <a:r>
              <a:rPr>
                <a:solidFill>
                  <a:srgbClr val="5E5E5E"/>
                </a:solidFill>
                <a:latin typeface="Courier"/>
              </a:rPr>
              <a:t># Calculate the mean and standard deviation of fish lengths</a:t>
            </a:r>
            <a:br/>
            <a:r>
              <a:rPr>
                <a:solidFill>
                  <a:srgbClr val="003B4F"/>
                </a:solidFill>
                <a:latin typeface="Courier"/>
              </a:rPr>
              <a:t>mean_length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sd_length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Calculate Z-scores for fish lengths</a:t>
            </a:r>
            <a:br/>
            <a:r>
              <a:rPr>
                <a:solidFill>
                  <a:srgbClr val="003B4F"/>
                </a:solidFill>
                <a:latin typeface="Courier"/>
              </a:rPr>
              <a:t>i3_df &lt;- i3_df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z_score =</a:t>
            </a:r>
            <a:r>
              <a:rPr>
                <a:solidFill>
                  <a:srgbClr val="003B4F"/>
                </a:solidFill>
                <a:latin typeface="Courier"/>
              </a:rPr>
              <a:t> (length_mm </a:t>
            </a:r>
            <a:r>
              <a:rPr>
                <a:solidFill>
                  <a:srgbClr val="5E5E5E"/>
                </a:solidFill>
                <a:latin typeface="Courier"/>
              </a:rPr>
              <a:t>-</a:t>
            </a:r>
            <a:r>
              <a:rPr>
                <a:solidFill>
                  <a:srgbClr val="003B4F"/>
                </a:solidFill>
                <a:latin typeface="Courier"/>
              </a:rPr>
              <a:t> mean_length) </a:t>
            </a:r>
            <a:r>
              <a:rPr>
                <a:solidFill>
                  <a:srgbClr val="5E5E5E"/>
                </a:solidFill>
                <a:latin typeface="Courier"/>
              </a:rPr>
              <a:t>/</a:t>
            </a:r>
            <a:r>
              <a:rPr>
                <a:solidFill>
                  <a:srgbClr val="003B4F"/>
                </a:solidFill>
                <a:latin typeface="Courier"/>
              </a:rPr>
              <a:t> sd_length)</a:t>
            </a:r>
            <a:br/>
            <a:br/>
            <a:r>
              <a:rPr>
                <a:solidFill>
                  <a:srgbClr val="5E5E5E"/>
                </a:solidFill>
                <a:latin typeface="Courier"/>
              </a:rPr>
              <a:t># View the first few rows with Z-scores</a:t>
            </a:r>
            <a:br/>
            <a:r>
              <a:rPr>
                <a:solidFill>
                  <a:srgbClr val="4758AB"/>
                </a:solidFill>
                <a:latin typeface="Courier"/>
              </a:rPr>
              <a:t>head</a:t>
            </a:r>
            <a:r>
              <a:rPr>
                <a:solidFill>
                  <a:srgbClr val="003B4F"/>
                </a:solidFill>
                <a:latin typeface="Courier"/>
              </a:rPr>
              <a:t>(i3_df)</a:t>
            </a:r>
          </a:p>
          <a:p>
            <a:pPr lvl="0" indent="0">
              <a:buNone/>
            </a:pPr>
            <a:r>
              <a:rPr sz="2000">
                <a:latin typeface="Courier"/>
              </a:rPr>
              <a:t># A tibble: 6 × 6
   site lake  species         length_mm mass_g z_score
  &lt;dbl&gt; &lt;chr&gt; &lt;chr&gt;               &lt;dbl&gt;  &lt;dbl&gt;   &lt;dbl&gt;
1   113 I3    arctic grayling       266    135  0.0139
2   113 I3    arctic grayling       290    185  0.862 
3   113 I3    arctic grayling       262    145 -0.127 
4   113 I3    arctic grayling       275    160  0.332 
5   113 I3    arctic grayling       240    105 -0.905 
6   113 I3    arctic grayling       265    145 -0.0214</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fish data as a z score</a:t>
            </a:r>
          </a:p>
        </p:txBody>
      </p:sp>
      <p:sp>
        <p:nvSpPr>
          <p:cNvPr id="3" name="Content Placeholder 2"/>
          <p:cNvSpPr>
            <a:spLocks noGrp="1"/>
          </p:cNvSpPr>
          <p:nvPr>
            <p:ph idx="1" sz="half"/>
          </p:nvPr>
        </p:nvSpPr>
        <p:spPr/>
        <p:txBody>
          <a:bodyPr/>
          <a:lstStyle/>
          <a:p>
            <a:pPr lvl="0" indent="0" marL="0">
              <a:buNone/>
            </a:pPr>
            <a:r>
              <a:rPr/>
              <a:t>So if we plot this data what does it look like in a standard normal distributon?</a:t>
            </a:r>
          </a:p>
        </p:txBody>
      </p:sp>
      <p:pic>
        <p:nvPicPr>
          <p:cNvPr descr="04_01_lecture_powerpoint_files/figure-pptx/unnamed-chunk-7-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Z-score Results</a:t>
            </a:r>
          </a:p>
        </p:txBody>
      </p:sp>
      <p:sp>
        <p:nvSpPr>
          <p:cNvPr id="3" name="Content Placeholder 2"/>
          <p:cNvSpPr>
            <a:spLocks noGrp="1"/>
          </p:cNvSpPr>
          <p:nvPr>
            <p:ph idx="1"/>
          </p:nvPr>
        </p:nvSpPr>
        <p:spPr/>
        <p:txBody>
          <a:bodyPr/>
          <a:lstStyle/>
          <a:p>
            <a:pPr lvl="0" indent="0" marL="0">
              <a:spcBef>
                <a:spcPts val="3000"/>
              </a:spcBef>
              <a:buNone/>
            </a:pPr>
            <a:r>
              <a:rPr b="1"/>
              <a:t>How to get area under 1 STD DEV?</a:t>
            </a:r>
          </a:p>
          <a:p>
            <a:pPr lvl="0" indent="0" marL="0">
              <a:buNone/>
            </a:pPr>
            <a:r>
              <a:rPr/>
              <a:t>Proportion within 1 standard deviation = sum of absolute values of Z Scores that are less than or equal to 1 divided by the number in the sample…</a:t>
            </a:r>
          </a:p>
          <a:p>
            <a:pPr lvl="0" indent="0" marL="0">
              <a:buNone/>
            </a:pPr>
            <a:r>
              <a:rPr/>
              <a:t>Remember in a true normal distribution it is 68% within 1 std dev.</a:t>
            </a:r>
          </a:p>
          <a:p>
            <a:pPr lvl="0" indent="0" marL="0">
              <a:buNone/>
            </a:pPr>
            <a:r>
              <a:rPr/>
              <a:t>should be </a:t>
            </a:r>
            <a:r>
              <a:rPr b="1"/>
              <a:t>approximately (varies if distribution is not normal)</a:t>
            </a:r>
            <a:r>
              <a:rPr/>
              <a:t>:</a:t>
            </a:r>
          </a:p>
          <a:p>
            <a:pPr lvl="0"/>
            <a:r>
              <a:rPr/>
              <a:t>68% of data within ±1σ of the mean</a:t>
            </a:r>
          </a:p>
          <a:p>
            <a:pPr lvl="0"/>
            <a:r>
              <a:rPr b="1"/>
              <a:t>95% of data within ±2σ of the mean - really 1.96σ</a:t>
            </a:r>
          </a:p>
          <a:p>
            <a:pPr lvl="0"/>
            <a:r>
              <a:rPr/>
              <a:t>99.7% of data within ±3σ of the mean</a:t>
            </a:r>
          </a:p>
          <a:p>
            <a:pPr lvl="0" indent="0">
              <a:buNone/>
            </a:pPr>
            <a:r>
              <a:rPr>
                <a:solidFill>
                  <a:srgbClr val="5E5E5E"/>
                </a:solidFill>
                <a:latin typeface="Courier"/>
              </a:rPr>
              <a:t># What proportion of fish are within 1 standard deviation of the mean?</a:t>
            </a:r>
            <a:br/>
            <a:r>
              <a:rPr>
                <a:solidFill>
                  <a:srgbClr val="003B4F"/>
                </a:solidFill>
                <a:latin typeface="Courier"/>
              </a:rPr>
              <a:t>within_1sd &lt;- </a:t>
            </a:r>
            <a:r>
              <a:rPr>
                <a:solidFill>
                  <a:srgbClr val="4758AB"/>
                </a:solidFill>
                <a:latin typeface="Courier"/>
              </a:rPr>
              <a:t>sum</a:t>
            </a:r>
            <a:r>
              <a:rPr>
                <a:solidFill>
                  <a:srgbClr val="003B4F"/>
                </a:solidFill>
                <a:latin typeface="Courier"/>
              </a:rPr>
              <a:t>(</a:t>
            </a:r>
            <a:r>
              <a:rPr>
                <a:solidFill>
                  <a:srgbClr val="4758AB"/>
                </a:solidFill>
                <a:latin typeface="Courier"/>
              </a:rPr>
              <a:t>abs</a:t>
            </a:r>
            <a:r>
              <a:rPr>
                <a:solidFill>
                  <a:srgbClr val="003B4F"/>
                </a:solidFill>
                <a:latin typeface="Courier"/>
              </a:rPr>
              <a:t>(i3_df</a:t>
            </a:r>
            <a:r>
              <a:rPr>
                <a:solidFill>
                  <a:srgbClr val="5E5E5E"/>
                </a:solidFill>
                <a:latin typeface="Courier"/>
              </a:rPr>
              <a:t>$</a:t>
            </a:r>
            <a:r>
              <a:rPr>
                <a:solidFill>
                  <a:srgbClr val="003B4F"/>
                </a:solidFill>
                <a:latin typeface="Courier"/>
              </a:rPr>
              <a:t>z_score) </a:t>
            </a:r>
            <a:r>
              <a:rPr>
                <a:solidFill>
                  <a:srgbClr val="5E5E5E"/>
                </a:solidFill>
                <a:latin typeface="Courier"/>
              </a:rPr>
              <a:t>&lt;=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(i3_df</a:t>
            </a:r>
            <a:r>
              <a:rPr>
                <a:solidFill>
                  <a:srgbClr val="5E5E5E"/>
                </a:solidFill>
                <a:latin typeface="Courier"/>
              </a:rPr>
              <a:t>$</a:t>
            </a:r>
            <a:r>
              <a:rPr>
                <a:solidFill>
                  <a:srgbClr val="003B4F"/>
                </a:solidFill>
                <a:latin typeface="Courier"/>
              </a:rPr>
              <a:t>z_score))</a:t>
            </a:r>
            <a:br/>
            <a:r>
              <a:rPr>
                <a:solidFill>
                  <a:srgbClr val="4758AB"/>
                </a:solidFill>
                <a:latin typeface="Courier"/>
              </a:rPr>
              <a:t>cat</a:t>
            </a:r>
            <a:r>
              <a:rPr>
                <a:solidFill>
                  <a:srgbClr val="003B4F"/>
                </a:solidFill>
                <a:latin typeface="Courier"/>
              </a:rPr>
              <a:t>(</a:t>
            </a:r>
            <a:r>
              <a:rPr>
                <a:solidFill>
                  <a:srgbClr val="20794D"/>
                </a:solidFill>
                <a:latin typeface="Courier"/>
              </a:rPr>
              <a:t>"Proportion within 1 SD:"</a:t>
            </a:r>
            <a:r>
              <a:rPr>
                <a:solidFill>
                  <a:srgbClr val="003B4F"/>
                </a:solidFill>
                <a:latin typeface="Courier"/>
              </a:rPr>
              <a:t>, </a:t>
            </a:r>
            <a:r>
              <a:rPr>
                <a:solidFill>
                  <a:srgbClr val="4758AB"/>
                </a:solidFill>
                <a:latin typeface="Courier"/>
              </a:rPr>
              <a:t>round</a:t>
            </a:r>
            <a:r>
              <a:rPr>
                <a:solidFill>
                  <a:srgbClr val="003B4F"/>
                </a:solidFill>
                <a:latin typeface="Courier"/>
              </a:rPr>
              <a:t>(within_1sd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Proportion within 1 SD: 81.8 %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4: Standard normal distribution - Fish Data</a:t>
            </a:r>
          </a:p>
        </p:txBody>
      </p:sp>
      <p:sp>
        <p:nvSpPr>
          <p:cNvPr id="3" name="Text Placeholder 2"/>
          <p:cNvSpPr>
            <a:spLocks noGrp="1"/>
          </p:cNvSpPr>
          <p:nvPr>
            <p:ph idx="1" type="body"/>
          </p:nvPr>
        </p:nvSpPr>
        <p:spPr/>
        <p:txBody>
          <a:bodyPr/>
          <a:lstStyle/>
          <a:p>
            <a:pPr lvl="0" indent="0" marL="0">
              <a:buNone/>
            </a:pPr>
            <a:r>
              <a:rPr/>
              <a:t>You want to know things about this population like</a:t>
            </a:r>
          </a:p>
          <a:p>
            <a:pPr lvl="0"/>
            <a:r>
              <a:rPr/>
              <a:t>probability of a fish having a certain length (e.g., &gt; 300 mm)</a:t>
            </a:r>
          </a:p>
          <a:p>
            <a:pPr lvl="0"/>
            <a:r>
              <a:rPr/>
              <a:t>Can solve this by integrating the area under curve</a:t>
            </a:r>
          </a:p>
          <a:p>
            <a:pPr lvl="0"/>
            <a:r>
              <a:rPr/>
              <a:t>But it is tedious to do every time</a:t>
            </a:r>
          </a:p>
          <a:p>
            <a:pPr lvl="0"/>
            <a:r>
              <a:rPr/>
              <a:t>Instead</a:t>
            </a:r>
          </a:p>
          <a:p>
            <a:pPr lvl="1"/>
            <a:r>
              <a:rPr/>
              <a:t>we can use the </a:t>
            </a:r>
            <a:r>
              <a:rPr i="1"/>
              <a:t>standard normal distribution</a:t>
            </a:r>
            <a:r>
              <a:rPr/>
              <a:t> (SND)</a:t>
            </a:r>
          </a:p>
          <a:p>
            <a:pPr lvl="1"/>
            <a:r>
              <a:rPr/>
              <a:t>and can use the proportions from the density curve</a:t>
            </a:r>
          </a:p>
        </p:txBody>
      </p:sp>
      <p:sp>
        <p:nvSpPr>
          <p:cNvPr id="5" name="Text Placeholder 4"/>
          <p:cNvSpPr>
            <a:spLocks noGrp="1"/>
          </p:cNvSpPr>
          <p:nvPr>
            <p:ph idx="3" sz="quarter" type="body"/>
          </p:nvPr>
        </p:nvSpPr>
        <p:spPr/>
        <p:txBody>
          <a:bodyPr/>
          <a:lstStyle/>
          <a:p>
            <a:pPr lvl="0" indent="0">
              <a:buNone/>
            </a:pPr>
            <a:r>
              <a:rPr>
                <a:latin typeface="Courier"/>
              </a:rPr>
              <a:t># A tibble: 1 × 1
  mean_length
        &lt;dbl&gt;
1        266.</a:t>
            </a:r>
          </a:p>
        </p:txBody>
      </p:sp>
      <p:pic>
        <p:nvPicPr>
          <p:cNvPr descr="04_01_lecture_powerpoint_files/figure-pptx/unnamed-chunk-9-1.png" id="0" name="Picture 1"/>
          <p:cNvPicPr>
            <a:picLocks noGrp="1" noChangeAspect="1"/>
          </p:cNvPicPr>
          <p:nvPr/>
        </p:nvPicPr>
        <p:blipFill>
          <a:blip r:embed="rId2"/>
          <a:stretch>
            <a:fillRect/>
          </a:stretch>
        </p:blipFill>
        <p:spPr bwMode="auto">
          <a:xfrm>
            <a:off x="4749800" y="1320800"/>
            <a:ext cx="4038600" cy="32258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Standard normal distribution properties</a:t>
            </a:r>
          </a:p>
        </p:txBody>
      </p:sp>
      <p:sp>
        <p:nvSpPr>
          <p:cNvPr id="3" name="Content Placeholder 2"/>
          <p:cNvSpPr>
            <a:spLocks noGrp="1"/>
          </p:cNvSpPr>
          <p:nvPr>
            <p:ph idx="1" sz="half"/>
          </p:nvPr>
        </p:nvSpPr>
        <p:spPr/>
        <p:txBody>
          <a:bodyPr/>
          <a:lstStyle/>
          <a:p>
            <a:pPr lvl="0" indent="0" marL="0">
              <a:buNone/>
            </a:pPr>
            <a:r>
              <a:rPr/>
              <a:t>Standard Normal Distribution</a:t>
            </a:r>
          </a:p>
          <a:p>
            <a:pPr lvl="0"/>
            <a:r>
              <a:rPr/>
              <a:t>“benchmark” normal distribution with µ = 0, σ = 1</a:t>
            </a:r>
          </a:p>
          <a:p>
            <a:pPr lvl="0"/>
            <a:r>
              <a:rPr/>
              <a:t>The Standard Normal Distribution is defined so that:</a:t>
            </a:r>
          </a:p>
          <a:p>
            <a:pPr lvl="1"/>
            <a:r>
              <a:rPr/>
              <a:t>~68% of the curve area within +/- 1 σ of the mean,</a:t>
            </a:r>
          </a:p>
          <a:p>
            <a:pPr lvl="1"/>
            <a:r>
              <a:rPr/>
              <a:t>~95% within +/- 2 σ of the mean,</a:t>
            </a:r>
          </a:p>
          <a:p>
            <a:pPr lvl="1"/>
            <a:r>
              <a:rPr/>
              <a:t>~99.7% within +/- 3 σ of the mean</a:t>
            </a:r>
          </a:p>
          <a:p>
            <a:pPr lvl="0" indent="0" marL="0">
              <a:buNone/>
            </a:pPr>
            <a:r>
              <a:rPr/>
              <a:t>*remember σ = standard deviation</a:t>
            </a:r>
          </a:p>
        </p:txBody>
      </p:sp>
      <p:pic>
        <p:nvPicPr>
          <p:cNvPr descr="04_01_lecture_powerpoint_files/figure-pptx/unnamed-chunk-10-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Using Z-tables</a:t>
            </a:r>
          </a:p>
        </p:txBody>
      </p:sp>
      <p:sp>
        <p:nvSpPr>
          <p:cNvPr id="3" name="Content Placeholder 2"/>
          <p:cNvSpPr>
            <a:spLocks noGrp="1"/>
          </p:cNvSpPr>
          <p:nvPr>
            <p:ph idx="1" sz="half"/>
          </p:nvPr>
        </p:nvSpPr>
        <p:spPr/>
        <p:txBody>
          <a:bodyPr/>
          <a:lstStyle/>
          <a:p>
            <a:pPr lvl="0" indent="0" marL="0">
              <a:buNone/>
            </a:pPr>
            <a:r>
              <a:rPr/>
              <a:t>Areas under curve of Standard Normal Distribution</a:t>
            </a:r>
          </a:p>
          <a:p>
            <a:pPr lvl="0"/>
            <a:r>
              <a:rPr/>
              <a:t>Have been calculated for a range of sample sizes</a:t>
            </a:r>
          </a:p>
          <a:p>
            <a:pPr lvl="0"/>
            <a:r>
              <a:rPr/>
              <a:t>Can be looked up in z-table</a:t>
            </a:r>
          </a:p>
          <a:p>
            <a:pPr lvl="0"/>
            <a:r>
              <a:rPr/>
              <a:t>No need to integrate</a:t>
            </a:r>
          </a:p>
          <a:p>
            <a:pPr lvl="0"/>
            <a:r>
              <a:rPr/>
              <a:t>Any normally distributed data can be standardized</a:t>
            </a:r>
          </a:p>
          <a:p>
            <a:pPr lvl="1"/>
            <a:r>
              <a:rPr/>
              <a:t>transformed into the standard normal distribution</a:t>
            </a:r>
          </a:p>
          <a:p>
            <a:pPr lvl="1"/>
            <a:r>
              <a:rPr/>
              <a:t>a value can be looked up in a table</a:t>
            </a:r>
          </a:p>
        </p:txBody>
      </p:sp>
      <p:pic>
        <p:nvPicPr>
          <p:cNvPr descr="04_01_lecture_powerpoint_files/figure-pptx/unnamed-chunk-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indent="0" marL="0">
                  <a:buNone/>
                </a:pPr>
                <a:r>
                  <a:rPr/>
                  <a:t>z = (300 - 265.61)/28.3 = 1.215194</a:t>
                </a:r>
              </a:p>
            </p:txBody>
          </p:sp>
        </mc:Choice>
      </mc:AlternateContent>
      <p:pic>
        <p:nvPicPr>
          <p:cNvPr descr="04_01_lecture_powerpoint_files/figure-pptx/unnamed-chunk-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from table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a:r>
                  <a:rPr/>
                  <a:t>z = (300 - 265.61)/28.3 = 1.22</a:t>
                </a:r>
              </a:p>
              <a:p>
                <a:pPr lvl="0"/>
                <a:r>
                  <a:rPr/>
                  <a:t>look up 1.2 on left and 0.02 on top to get 0.8888 in table</a:t>
                </a:r>
              </a:p>
              <a:p>
                <a:pPr lvl="0"/>
                <a:r>
                  <a:rPr/>
                  <a:t>Means 88.9% is the area left of the curve </a:t>
                </a:r>
                <a:r>
                  <a:rPr b="1"/>
                  <a:t>and</a:t>
                </a:r>
              </a:p>
              <a:p>
                <a:pPr lvl="0"/>
                <a:r>
                  <a:rPr/>
                  <a:t>100 - 88.9 = 11.27% of fish are expected to be longer</a:t>
                </a:r>
              </a:p>
              <a:p>
                <a:pPr lvl="0" indent="0" marL="0">
                  <a:buNone/>
                </a:pPr>
                <a:r>
                  <a:rPr b="1"/>
                  <a:t>At what point do you think its not likely to catch a larger fish - what percentage?</a:t>
                </a:r>
              </a:p>
              <a:p>
                <a:pPr lvl="0" indent="0" marL="0">
                  <a:buNone/>
                </a:pPr>
                <a:r>
                  <a:rPr/>
                  <a:t>do this the other way using that percent and why?</a:t>
                </a:r>
              </a:p>
            </p:txBody>
          </p:sp>
        </mc:Choice>
      </mc:AlternateContent>
      <p:pic>
        <p:nvPicPr>
          <p:cNvPr descr="images/clipboard-1995791111.png" id="0" name="Picture 1"/>
          <p:cNvPicPr>
            <a:picLocks noGrp="1" noChangeAspect="1"/>
          </p:cNvPicPr>
          <p:nvPr/>
        </p:nvPicPr>
        <p:blipFill>
          <a:blip r:embed="rId2"/>
          <a:stretch>
            <a:fillRect/>
          </a:stretch>
        </p:blipFill>
        <p:spPr bwMode="auto">
          <a:xfrm>
            <a:off x="6121400" y="1447800"/>
            <a:ext cx="2781300" cy="2908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calculation in r</a:t>
            </a:r>
          </a:p>
        </p:txBody>
      </p:sp>
      <p:sp>
        <p:nvSpPr>
          <p:cNvPr id="3" name="Content Placeholder 2"/>
          <p:cNvSpPr>
            <a:spLocks noGrp="1"/>
          </p:cNvSpPr>
          <p:nvPr>
            <p:ph idx="1" sz="half"/>
          </p:nvPr>
        </p:nvSpPr>
        <p:spPr/>
        <p:txBody>
          <a:bodyPr/>
          <a:lstStyle/>
          <a:p>
            <a:pPr lvl="0" indent="0" marL="0">
              <a:buNone/>
            </a:pPr>
            <a:r>
              <a:rPr/>
              <a:t>We can use R to get these values easier…</a:t>
            </a:r>
          </a:p>
          <a:p>
            <a:pPr lvl="0" indent="0" marL="0">
              <a:buNone/>
            </a:pPr>
            <a:r>
              <a:rPr/>
              <a:t># For standard normal distribution (mean=0, sd=1):</a:t>
            </a:r>
          </a:p>
          <a:p>
            <a:pPr lvl="0"/>
            <a:r>
              <a:rPr/>
              <a:t>pnorm(z) # gives cumulative probability (area to the left)</a:t>
            </a:r>
          </a:p>
          <a:p>
            <a:pPr lvl="0"/>
            <a:r>
              <a:rPr/>
              <a:t>qnorm(p) # gives z-value for a given probability</a:t>
            </a:r>
          </a:p>
          <a:p>
            <a:pPr lvl="0"/>
            <a:r>
              <a:rPr/>
              <a:t>dnorm(z) # gives probability density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003B4F"/>
                </a:solidFill>
                <a:latin typeface="Courier"/>
              </a:rPr>
              <a:t>z_value &lt;-  </a:t>
            </a:r>
            <a:r>
              <a:rPr>
                <a:solidFill>
                  <a:srgbClr val="AD0000"/>
                </a:solidFill>
                <a:latin typeface="Courier"/>
              </a:rPr>
              <a:t>1.22</a:t>
            </a:r>
            <a:br/>
            <a:r>
              <a:rPr>
                <a:solidFill>
                  <a:srgbClr val="003B4F"/>
                </a:solidFill>
                <a:latin typeface="Courier"/>
              </a:rPr>
              <a:t>prob_left &lt;- </a:t>
            </a:r>
            <a:r>
              <a:rPr>
                <a:solidFill>
                  <a:srgbClr val="4758AB"/>
                </a:solidFill>
                <a:latin typeface="Courier"/>
              </a:rPr>
              <a:t>pnorm</a:t>
            </a:r>
            <a:r>
              <a:rPr>
                <a:solidFill>
                  <a:srgbClr val="003B4F"/>
                </a:solidFill>
                <a:latin typeface="Courier"/>
              </a:rPr>
              <a:t>(z_value)          </a:t>
            </a:r>
            <a:r>
              <a:rPr>
                <a:solidFill>
                  <a:srgbClr val="5E5E5E"/>
                </a:solidFill>
                <a:latin typeface="Courier"/>
              </a:rPr>
              <a:t># 0.975 (97.5% to the left)</a:t>
            </a:r>
            <a:br/>
            <a:r>
              <a:rPr>
                <a:solidFill>
                  <a:srgbClr val="003B4F"/>
                </a:solidFill>
                <a:latin typeface="Courier"/>
              </a:rPr>
              <a:t>prob_right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(z_value)     </a:t>
            </a:r>
            <a:r>
              <a:rPr>
                <a:solidFill>
                  <a:srgbClr val="5E5E5E"/>
                </a:solidFill>
                <a:latin typeface="Courier"/>
              </a:rPr>
              <a:t># 0.025 (2.5% to the right)</a:t>
            </a:r>
            <a:br/>
            <a:r>
              <a:rPr>
                <a:solidFill>
                  <a:srgbClr val="003B4F"/>
                </a:solidFill>
                <a:latin typeface="Courier"/>
              </a:rPr>
              <a:t>prob_between &lt;- </a:t>
            </a:r>
            <a:r>
              <a:rPr>
                <a:solidFill>
                  <a:srgbClr val="4758AB"/>
                </a:solidFill>
                <a:latin typeface="Courier"/>
              </a:rPr>
              <a:t>pnorm</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 0.95 (95% between ±1.96)</a:t>
            </a:r>
            <a:br/>
            <a:r>
              <a:rPr>
                <a:solidFill>
                  <a:srgbClr val="5E5E5E"/>
                </a:solidFill>
                <a:latin typeface="Courier"/>
              </a:rPr>
              <a:t># To find z-value for a given probability:</a:t>
            </a:r>
            <a:br/>
            <a:r>
              <a:rPr>
                <a:solidFill>
                  <a:srgbClr val="003B4F"/>
                </a:solidFill>
                <a:latin typeface="Courier"/>
              </a:rPr>
              <a:t>z_for_95_percent &lt;- </a:t>
            </a:r>
            <a:r>
              <a:rPr>
                <a:solidFill>
                  <a:srgbClr val="4758AB"/>
                </a:solidFill>
                <a:latin typeface="Courier"/>
              </a:rPr>
              <a:t>qnorm</a:t>
            </a:r>
            <a:r>
              <a:rPr>
                <a:solidFill>
                  <a:srgbClr val="003B4F"/>
                </a:solidFill>
                <a:latin typeface="Courier"/>
              </a:rPr>
              <a:t>(</a:t>
            </a:r>
            <a:r>
              <a:rPr>
                <a:solidFill>
                  <a:srgbClr val="AD0000"/>
                </a:solidFill>
                <a:latin typeface="Courier"/>
              </a:rPr>
              <a:t>0.888</a:t>
            </a:r>
            <a:r>
              <a:rPr>
                <a:solidFill>
                  <a:srgbClr val="003B4F"/>
                </a:solidFill>
                <a:latin typeface="Courier"/>
              </a:rPr>
              <a:t>)     </a:t>
            </a:r>
            <a:r>
              <a:rPr>
                <a:solidFill>
                  <a:srgbClr val="5E5E5E"/>
                </a:solidFill>
                <a:latin typeface="Courier"/>
              </a:rPr>
              <a:t># 1.96</a:t>
            </a:r>
            <a:br/>
            <a:r>
              <a:rPr>
                <a:solidFill>
                  <a:srgbClr val="4758AB"/>
                </a:solidFill>
                <a:latin typeface="Courier"/>
              </a:rPr>
              <a:t>print</a:t>
            </a:r>
            <a:r>
              <a:rPr>
                <a:solidFill>
                  <a:srgbClr val="003B4F"/>
                </a:solidFill>
                <a:latin typeface="Courier"/>
              </a:rPr>
              <a:t>(prob_left)</a:t>
            </a:r>
          </a:p>
          <a:p>
            <a:pPr lvl="0" indent="0">
              <a:buNone/>
            </a:pPr>
            <a:r>
              <a:rPr>
                <a:latin typeface="Courier"/>
              </a:rPr>
              <a:t>[1] 0.8887676</a:t>
            </a:r>
          </a:p>
          <a:p>
            <a:pPr lvl="0" indent="0">
              <a:buNone/>
            </a:pPr>
            <a:r>
              <a:rPr>
                <a:solidFill>
                  <a:srgbClr val="4758AB"/>
                </a:solidFill>
                <a:latin typeface="Courier"/>
              </a:rPr>
              <a:t>print</a:t>
            </a:r>
            <a:r>
              <a:rPr>
                <a:solidFill>
                  <a:srgbClr val="003B4F"/>
                </a:solidFill>
                <a:latin typeface="Courier"/>
              </a:rPr>
              <a:t>(prob_right)</a:t>
            </a:r>
          </a:p>
          <a:p>
            <a:pPr lvl="0" indent="0">
              <a:buNone/>
            </a:pPr>
            <a:r>
              <a:rPr>
                <a:latin typeface="Courier"/>
              </a:rPr>
              <a:t>[1] 0.1112324</a:t>
            </a:r>
          </a:p>
          <a:p>
            <a:pPr lvl="0" indent="0">
              <a:buNone/>
            </a:pPr>
            <a:r>
              <a:rPr>
                <a:solidFill>
                  <a:srgbClr val="4758AB"/>
                </a:solidFill>
                <a:latin typeface="Courier"/>
              </a:rPr>
              <a:t>print</a:t>
            </a:r>
            <a:r>
              <a:rPr>
                <a:solidFill>
                  <a:srgbClr val="003B4F"/>
                </a:solidFill>
                <a:latin typeface="Courier"/>
              </a:rPr>
              <a:t>(prob_between)</a:t>
            </a:r>
          </a:p>
          <a:p>
            <a:pPr lvl="0" indent="0">
              <a:buNone/>
            </a:pPr>
            <a:r>
              <a:rPr>
                <a:latin typeface="Courier"/>
              </a:rPr>
              <a:t>[1] 0.9544997</a:t>
            </a:r>
          </a:p>
          <a:p>
            <a:pPr lvl="0" indent="0">
              <a:buNone/>
            </a:pPr>
            <a:r>
              <a:rPr>
                <a:solidFill>
                  <a:srgbClr val="4758AB"/>
                </a:solidFill>
                <a:latin typeface="Courier"/>
              </a:rPr>
              <a:t>print</a:t>
            </a:r>
            <a:r>
              <a:rPr>
                <a:solidFill>
                  <a:srgbClr val="003B4F"/>
                </a:solidFill>
                <a:latin typeface="Courier"/>
              </a:rPr>
              <a:t>(z_for_95_percent)</a:t>
            </a:r>
          </a:p>
          <a:p>
            <a:pPr lvl="0" indent="0">
              <a:buNone/>
            </a:pPr>
            <a:r>
              <a:rPr>
                <a:latin typeface="Courier"/>
              </a:rPr>
              <a:t>[1] 1.21596</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We can now use this for fun in the fish</a:t>
            </a:r>
          </a:p>
        </p:txBody>
      </p:sp>
      <p:sp>
        <p:nvSpPr>
          <p:cNvPr id="3" name="Content Placeholder 2"/>
          <p:cNvSpPr>
            <a:spLocks noGrp="1"/>
          </p:cNvSpPr>
          <p:nvPr>
            <p:ph idx="1" sz="half"/>
          </p:nvPr>
        </p:nvSpPr>
        <p:spPr/>
        <p:txBody>
          <a:bodyPr/>
          <a:lstStyle/>
          <a:p>
            <a:pPr lvl="0" indent="0" marL="0">
              <a:buNone/>
            </a:pPr>
            <a:r>
              <a:rPr/>
              <a:t>Lets say we are interested in knowing at what point from I3 it is not likely to catch a larger fish?</a:t>
            </a:r>
          </a:p>
          <a:p>
            <a:pPr lvl="0" indent="0" marL="0">
              <a:buNone/>
            </a:pPr>
            <a:r>
              <a:rPr/>
              <a:t>Maybe we expect 95% of the time to catch a fish that is “common” but the 5% is the unlikely portion….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5E5E5E"/>
                </a:solidFill>
                <a:latin typeface="Courier"/>
              </a:rPr>
              <a:t># What fish length corresponds to the top 5% (unlikely)?</a:t>
            </a:r>
            <a:br/>
            <a:r>
              <a:rPr>
                <a:solidFill>
                  <a:srgbClr val="003B4F"/>
                </a:solidFill>
                <a:latin typeface="Courier"/>
              </a:rPr>
              <a:t>top_5_percent_z &lt;- </a:t>
            </a:r>
            <a:r>
              <a:rPr>
                <a:solidFill>
                  <a:srgbClr val="4758AB"/>
                </a:solidFill>
                <a:latin typeface="Courier"/>
              </a:rPr>
              <a:t>qnorm</a:t>
            </a:r>
            <a:r>
              <a:rPr>
                <a:solidFill>
                  <a:srgbClr val="003B4F"/>
                </a:solidFill>
                <a:latin typeface="Courier"/>
              </a:rPr>
              <a:t>(</a:t>
            </a:r>
            <a:r>
              <a:rPr>
                <a:solidFill>
                  <a:srgbClr val="AD0000"/>
                </a:solidFill>
                <a:latin typeface="Courier"/>
              </a:rPr>
              <a:t>0.95</a:t>
            </a:r>
            <a:r>
              <a:rPr>
                <a:solidFill>
                  <a:srgbClr val="003B4F"/>
                </a:solidFill>
                <a:latin typeface="Courier"/>
              </a:rPr>
              <a:t>)  </a:t>
            </a:r>
            <a:r>
              <a:rPr>
                <a:solidFill>
                  <a:srgbClr val="5E5E5E"/>
                </a:solidFill>
                <a:latin typeface="Courier"/>
              </a:rPr>
              <a:t># z-score for 95th percentile</a:t>
            </a:r>
            <a:br/>
            <a:r>
              <a:rPr>
                <a:solidFill>
                  <a:srgbClr val="003B4F"/>
                </a:solidFill>
                <a:latin typeface="Courier"/>
              </a:rPr>
              <a:t>unlikely_length &lt;- mean_length </a:t>
            </a:r>
            <a:r>
              <a:rPr>
                <a:solidFill>
                  <a:srgbClr val="5E5E5E"/>
                </a:solidFill>
                <a:latin typeface="Courier"/>
              </a:rPr>
              <a:t>+</a:t>
            </a:r>
            <a:r>
              <a:rPr>
                <a:solidFill>
                  <a:srgbClr val="003B4F"/>
                </a:solidFill>
                <a:latin typeface="Courier"/>
              </a:rPr>
              <a:t> (top_5_percent_z </a:t>
            </a:r>
            <a:r>
              <a:rPr>
                <a:solidFill>
                  <a:srgbClr val="5E5E5E"/>
                </a:solidFill>
                <a:latin typeface="Courier"/>
              </a:rPr>
              <a:t>*</a:t>
            </a:r>
            <a:r>
              <a:rPr>
                <a:solidFill>
                  <a:srgbClr val="003B4F"/>
                </a:solidFill>
                <a:latin typeface="Courier"/>
              </a:rPr>
              <a:t> sd_length)</a:t>
            </a:r>
            <a:br/>
            <a:br/>
            <a:r>
              <a:rPr>
                <a:solidFill>
                  <a:srgbClr val="4758AB"/>
                </a:solidFill>
                <a:latin typeface="Courier"/>
              </a:rPr>
              <a:t>cat</a:t>
            </a:r>
            <a:r>
              <a:rPr>
                <a:solidFill>
                  <a:srgbClr val="003B4F"/>
                </a:solidFill>
                <a:latin typeface="Courier"/>
              </a:rPr>
              <a:t>(</a:t>
            </a:r>
            <a:r>
              <a:rPr>
                <a:solidFill>
                  <a:srgbClr val="20794D"/>
                </a:solidFill>
                <a:latin typeface="Courier"/>
              </a:rPr>
              <a:t>"Only 5% of fish are longer than:"</a:t>
            </a:r>
            <a:r>
              <a:rPr>
                <a:solidFill>
                  <a:srgbClr val="003B4F"/>
                </a:solidFill>
                <a:latin typeface="Courier"/>
              </a:rPr>
              <a:t>, </a:t>
            </a:r>
            <a:r>
              <a:rPr>
                <a:solidFill>
                  <a:srgbClr val="4758AB"/>
                </a:solidFill>
                <a:latin typeface="Courier"/>
              </a:rPr>
              <a:t>round</a:t>
            </a:r>
            <a:r>
              <a:rPr>
                <a:solidFill>
                  <a:srgbClr val="003B4F"/>
                </a:solidFill>
                <a:latin typeface="Courier"/>
              </a:rPr>
              <a:t>(unlikely_length,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Only 5% of fish are longer than: 312.2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"This corresponds to z-score:"</a:t>
            </a:r>
            <a:r>
              <a:rPr>
                <a:solidFill>
                  <a:srgbClr val="003B4F"/>
                </a:solidFill>
                <a:latin typeface="Courier"/>
              </a:rPr>
              <a:t>, </a:t>
            </a:r>
            <a:r>
              <a:rPr>
                <a:solidFill>
                  <a:srgbClr val="4758AB"/>
                </a:solidFill>
                <a:latin typeface="Courier"/>
              </a:rPr>
              <a:t>round</a:t>
            </a:r>
            <a:r>
              <a:rPr>
                <a:solidFill>
                  <a:srgbClr val="003B4F"/>
                </a:solidFill>
                <a:latin typeface="Courier"/>
              </a:rPr>
              <a:t>(top_5_percent_z,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This corresponds to z-score: 1.645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What this means</a:t>
            </a:r>
          </a:p>
        </p:txBody>
      </p:sp>
      <p:sp>
        <p:nvSpPr>
          <p:cNvPr id="3" name="Content Placeholder 2"/>
          <p:cNvSpPr>
            <a:spLocks noGrp="1"/>
          </p:cNvSpPr>
          <p:nvPr>
            <p:ph idx="1"/>
          </p:nvPr>
        </p:nvSpPr>
        <p:spPr/>
        <p:txBody>
          <a:bodyPr/>
          <a:lstStyle/>
          <a:p>
            <a:pPr lvl="0" indent="0" marL="0">
              <a:buNone/>
            </a:pPr>
            <a:r>
              <a:rPr/>
              <a:t>Given that we can: transform data to z-scores from standard normal distribution…</a:t>
            </a:r>
          </a:p>
          <a:p>
            <a:pPr lvl="0" indent="0" marL="0">
              <a:buNone/>
            </a:pPr>
            <a:r>
              <a:rPr/>
              <a:t>…figure out area under the curve (probability) associated with range of z-scores…</a:t>
            </a:r>
          </a:p>
          <a:p>
            <a:pPr lvl="0" indent="0" marL="0">
              <a:buNone/>
            </a:pPr>
            <a:r>
              <a:rPr/>
              <a:t>…can therefore figure out probability associated with a range of original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So what is next…</a:t>
            </a:r>
          </a:p>
        </p:txBody>
      </p:sp>
      <p:sp>
        <p:nvSpPr>
          <p:cNvPr id="3" name="Content Placeholder 2"/>
          <p:cNvSpPr>
            <a:spLocks noGrp="1"/>
          </p:cNvSpPr>
          <p:nvPr>
            <p:ph idx="1"/>
          </p:nvPr>
        </p:nvSpPr>
        <p:spPr/>
        <p:txBody>
          <a:bodyPr/>
          <a:lstStyle/>
          <a:p>
            <a:pPr lvl="0" indent="0" marL="0">
              <a:buNone/>
            </a:pPr>
            <a:r>
              <a:rPr/>
              <a:t>We can look at Standard normal distributions and know probability of a value being in a range under the standard normal curve…</a:t>
            </a:r>
          </a:p>
          <a:p>
            <a:pPr lvl="0" indent="0" marL="0">
              <a:buNone/>
            </a:pPr>
            <a:r>
              <a:rPr/>
              <a:t>Previously we had calculated Standard Error and Confidence Intervals -</a:t>
            </a:r>
          </a:p>
          <a:p>
            <a:pPr lvl="0"/>
            <a:r>
              <a:rPr/>
              <a:t>Now can assess our confidence that the population mean is within a certain range</a:t>
            </a:r>
            <a:br/>
          </a:p>
          <a:p>
            <a:pPr lvl="0"/>
            <a:r>
              <a:rPr/>
              <a:t>Can use t distribution to ask questions like:</a:t>
            </a:r>
          </a:p>
          <a:p>
            <a:pPr lvl="1"/>
            <a:r>
              <a:rPr/>
              <a:t>“What is probability of getting sample with mean = ȳ from population with mean = µ?“ (1 sample t-test)</a:t>
            </a:r>
            <a:br/>
          </a:p>
          <a:p>
            <a:pPr lvl="1"/>
            <a:r>
              <a:rPr/>
              <a:t>“What is the probability that two samples came from same population?” (2 sample t-test)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4:</a:t>
            </a:r>
            <a:r>
              <a:rPr/>
              <a:t> When Population σ is Unknown</a:t>
            </a:r>
          </a:p>
        </p:txBody>
      </p:sp>
      <p:sp>
        <p:nvSpPr>
          <p:cNvPr id="3" name="Content Placeholder 2"/>
          <p:cNvSpPr>
            <a:spLocks noGrp="1"/>
          </p:cNvSpPr>
          <p:nvPr>
            <p:ph idx="1"/>
          </p:nvPr>
        </p:nvSpPr>
        <p:spPr/>
        <p:txBody>
          <a:bodyPr/>
          <a:lstStyle/>
          <a:p>
            <a:pPr lvl="0" indent="0" marL="0">
              <a:spcBef>
                <a:spcPts val="3000"/>
              </a:spcBef>
              <a:buNone/>
            </a:pPr>
            <a:r>
              <a:rPr b="1"/>
              <a:t>When calculating confidence intervals we usually DON’T know the population σ (standard deviation) or 𝝁 population mean</a:t>
            </a:r>
          </a:p>
          <a:p>
            <a:pPr lvl="0"/>
            <a:r>
              <a:rPr/>
              <a:t>estimate it from the samples when don’t know the population σ or 𝝁</a:t>
            </a:r>
          </a:p>
          <a:p>
            <a:pPr lvl="0"/>
            <a:r>
              <a:rPr/>
              <a:t>and when sample size is small &lt; ~30</a:t>
            </a:r>
          </a:p>
          <a:p>
            <a:pPr lvl="0"/>
            <a:r>
              <a:rPr/>
              <a:t>can’t use the standard normal (z) distribution</a:t>
            </a:r>
          </a:p>
          <a:p>
            <a:pPr lvl="0" indent="0" marL="0">
              <a:buNone/>
            </a:pPr>
            <a:r>
              <a:rPr i="1"/>
              <a:t>Instead, we use Student’s t distribution</a:t>
            </a:r>
          </a:p>
          <a:p>
            <a:pPr lvl="0" indent="0" marL="0">
              <a:buNone/>
            </a:pP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t-distribution</a:t>
            </a:r>
          </a:p>
        </p:txBody>
      </p:sp>
      <p:sp>
        <p:nvSpPr>
          <p:cNvPr id="3" name="Content Placeholder 2"/>
          <p:cNvSpPr>
            <a:spLocks noGrp="1"/>
          </p:cNvSpPr>
          <p:nvPr>
            <p:ph idx="1" sz="half"/>
          </p:nvPr>
        </p:nvSpPr>
        <p:spPr/>
        <p:txBody>
          <a:bodyPr/>
          <a:lstStyle/>
          <a:p>
            <a:pPr lvl="0" indent="0" marL="0">
              <a:spcBef>
                <a:spcPts val="3000"/>
              </a:spcBef>
              <a:buNone/>
            </a:pPr>
            <a:r>
              <a:rPr b="1"/>
              <a:t>When sample sizes are small, the t-distribution is more appropriate than the normal distribution.</a:t>
            </a:r>
          </a:p>
          <a:p>
            <a:pPr lvl="0"/>
            <a:r>
              <a:rPr/>
              <a:t>Similar to normal distribution but with heavier tails</a:t>
            </a:r>
          </a:p>
          <a:p>
            <a:pPr lvl="0"/>
            <a:r>
              <a:rPr/>
              <a:t>Shape depends on </a:t>
            </a:r>
            <a:r>
              <a:rPr b="1"/>
              <a:t>degrees of freedom</a:t>
            </a:r>
            <a:r>
              <a:rPr/>
              <a:t> (df = n-1)</a:t>
            </a:r>
          </a:p>
          <a:p>
            <a:pPr lvl="0"/>
            <a:r>
              <a:rPr/>
              <a:t>With large df (&gt;30), approaches the normal distribution</a:t>
            </a:r>
          </a:p>
          <a:p>
            <a:pPr lvl="0"/>
            <a:r>
              <a:rPr/>
              <a:t>Used for:</a:t>
            </a:r>
          </a:p>
          <a:p>
            <a:pPr lvl="1"/>
            <a:r>
              <a:rPr/>
              <a:t>Small sample sizes</a:t>
            </a:r>
          </a:p>
          <a:p>
            <a:pPr lvl="1"/>
            <a:r>
              <a:rPr/>
              <a:t>When population standard deviation is unknown</a:t>
            </a:r>
          </a:p>
          <a:p>
            <a:pPr lvl="1"/>
            <a:r>
              <a:rPr/>
              <a:t>Calculating confidence intervals</a:t>
            </a:r>
          </a:p>
          <a:p>
            <a:pPr lvl="1"/>
            <a:r>
              <a:rPr/>
              <a:t>Conducting t-tests</a:t>
            </a:r>
          </a:p>
        </p:txBody>
      </p:sp>
      <p:pic>
        <p:nvPicPr>
          <p:cNvPr descr="04_01_lecture_powerpoint_files/figure-pptx/unnamed-chunk-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Student’s t-distribution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To calculate CI for sample from “unknown” population:</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0">
                  <a:buNone/>
                </a:pPr>
                <a:r>
                  <a:rPr/>
                  <a:t>Where:</a:t>
                </a:r>
              </a:p>
              <a:p>
                <a:pPr lvl="0"/>
                <a:r>
                  <a:rPr/>
                  <a:t>ȳ is sample mean</a:t>
                </a:r>
              </a:p>
              <a:p>
                <a:pPr lvl="0"/>
                <a:r>
                  <a:rPr/>
                  <a:t>𝑛 is sample size</a:t>
                </a:r>
              </a:p>
              <a:p>
                <a:pPr lvl="0"/>
                <a:r>
                  <a:rPr/>
                  <a:t>s is sample standard deviation</a:t>
                </a:r>
              </a:p>
              <a:p>
                <a:pPr lvl="0"/>
                <a:r>
                  <a:rPr/>
                  <a:t>t t-value corresponding the probability of the CI</a:t>
                </a:r>
              </a:p>
              <a:p>
                <a:pPr lvl="0"/>
                <a:r>
                  <a:rPr/>
                  <a:t>t in t-table for different degrees of freedom (n-1)</a:t>
                </a:r>
              </a:p>
            </p:txBody>
          </p:sp>
        </mc:Choice>
      </mc:AlternateContent>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Student’s t-distribution Table</a:t>
            </a:r>
          </a:p>
        </p:txBody>
      </p:sp>
      <p:sp>
        <p:nvSpPr>
          <p:cNvPr id="3" name="Content Placeholder 2"/>
          <p:cNvSpPr>
            <a:spLocks noGrp="1"/>
          </p:cNvSpPr>
          <p:nvPr>
            <p:ph idx="1" sz="half"/>
          </p:nvPr>
        </p:nvSpPr>
        <p:spPr/>
        <p:txBody>
          <a:bodyPr/>
          <a:lstStyle/>
          <a:p>
            <a:pPr lvl="0" indent="0" marL="0">
              <a:spcBef>
                <a:spcPts val="3000"/>
              </a:spcBef>
              <a:buNone/>
            </a:pPr>
            <a:r>
              <a:rPr b="1"/>
              <a:t>Here is a t-table</a:t>
            </a:r>
          </a:p>
          <a:p>
            <a:pPr lvl="0"/>
            <a:r>
              <a:rPr/>
              <a:t>Values of t that correspond to probabilities</a:t>
            </a:r>
          </a:p>
          <a:p>
            <a:pPr lvl="0"/>
            <a:r>
              <a:rPr/>
              <a:t>Probabilities listed along top</a:t>
            </a:r>
          </a:p>
          <a:p>
            <a:pPr lvl="0"/>
            <a:r>
              <a:rPr/>
              <a:t>Sample dfs are listed in the left-most column</a:t>
            </a:r>
          </a:p>
          <a:p>
            <a:pPr lvl="0"/>
            <a:r>
              <a:rPr/>
              <a:t>Probabilities are given for one-tailed and two-tailed “questions”</a:t>
            </a:r>
          </a:p>
        </p:txBody>
      </p:sp>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One-tailed Questions</a:t>
            </a:r>
          </a:p>
        </p:txBody>
      </p:sp>
      <p:sp>
        <p:nvSpPr>
          <p:cNvPr id="3" name="Text Placeholder 2"/>
          <p:cNvSpPr>
            <a:spLocks noGrp="1"/>
          </p:cNvSpPr>
          <p:nvPr>
            <p:ph idx="1" type="body"/>
          </p:nvPr>
        </p:nvSpPr>
        <p:spPr/>
        <p:txBody>
          <a:bodyPr/>
          <a:lstStyle/>
          <a:p>
            <a:pPr lvl="0" indent="0" marL="0">
              <a:spcBef>
                <a:spcPts val="3000"/>
              </a:spcBef>
              <a:buNone/>
            </a:pPr>
            <a:r>
              <a:rPr b="1"/>
              <a:t>One-tailed questions: area of distribution left or (right) of a certain value</a:t>
            </a:r>
          </a:p>
          <a:p>
            <a:pPr lvl="0"/>
            <a:r>
              <a:rPr/>
              <a:t>n=20 (df=19) - 90% of the observations found left</a:t>
            </a:r>
          </a:p>
          <a:p>
            <a:pPr lvl="0"/>
            <a:r>
              <a:rPr/>
              <a:t>t= 1.328 (10% are outside)</a:t>
            </a:r>
          </a:p>
        </p:txBody>
      </p:sp>
      <p:pic>
        <p:nvPicPr>
          <p:cNvPr descr="images/clipboard-1822465473.png" id="0" name="Picture 1"/>
          <p:cNvPicPr>
            <a:picLocks noGrp="1" noChangeAspect="1"/>
          </p:cNvPicPr>
          <p:nvPr/>
        </p:nvPicPr>
        <p:blipFill>
          <a:blip r:embed="rId2"/>
          <a:stretch>
            <a:fillRect/>
          </a:stretch>
        </p:blipFill>
        <p:spPr bwMode="auto">
          <a:xfrm>
            <a:off x="127000" y="1701800"/>
            <a:ext cx="4432300" cy="2451100"/>
          </a:xfrm>
          <a:prstGeom prst="rect">
            <a:avLst/>
          </a:prstGeom>
          <a:noFill/>
          <a:ln w="9525">
            <a:noFill/>
            <a:headEnd/>
            <a:tailEnd/>
          </a:ln>
        </p:spPr>
      </p:pic>
      <p:pic>
        <p:nvPicPr>
          <p:cNvPr descr="images/clipboard-641796945.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Two-tailed Questions</a:t>
            </a:r>
          </a:p>
        </p:txBody>
      </p:sp>
      <p:sp>
        <p:nvSpPr>
          <p:cNvPr id="3" name="Text Placeholder 2"/>
          <p:cNvSpPr>
            <a:spLocks noGrp="1"/>
          </p:cNvSpPr>
          <p:nvPr>
            <p:ph idx="1" type="body"/>
          </p:nvPr>
        </p:nvSpPr>
        <p:spPr/>
        <p:txBody>
          <a:bodyPr/>
          <a:lstStyle/>
          <a:p>
            <a:pPr lvl="0" indent="0" marL="0">
              <a:buNone/>
            </a:pPr>
            <a:r>
              <a:rPr/>
              <a:t>Two-tailed questions refer to area between certain values</a:t>
            </a:r>
          </a:p>
          <a:p>
            <a:pPr lvl="0"/>
            <a:r>
              <a:rPr/>
              <a:t>n= 20 (df=19), 90% of the observations are between</a:t>
            </a:r>
          </a:p>
          <a:p>
            <a:pPr lvl="0"/>
            <a:r>
              <a:rPr/>
              <a:t>t=-1.729 and t=1.729 (10% are outside)</a:t>
            </a:r>
          </a:p>
        </p:txBody>
      </p:sp>
      <p:pic>
        <p:nvPicPr>
          <p:cNvPr descr="images/clipboard-2234740159.png" id="0" name="Picture 1"/>
          <p:cNvPicPr>
            <a:picLocks noGrp="1" noChangeAspect="1"/>
          </p:cNvPicPr>
          <p:nvPr/>
        </p:nvPicPr>
        <p:blipFill>
          <a:blip r:embed="rId2"/>
          <a:stretch>
            <a:fillRect/>
          </a:stretch>
        </p:blipFill>
        <p:spPr bwMode="auto">
          <a:xfrm>
            <a:off x="127000" y="1651000"/>
            <a:ext cx="4432300" cy="2540000"/>
          </a:xfrm>
          <a:prstGeom prst="rect">
            <a:avLst/>
          </a:prstGeom>
          <a:noFill/>
          <a:ln w="9525">
            <a:noFill/>
            <a:headEnd/>
            <a:tailEnd/>
          </a:ln>
        </p:spPr>
      </p:pic>
      <p:pic>
        <p:nvPicPr>
          <p:cNvPr descr="images/clipboard-1734806681.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t-distribution CI Example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Let’s calculate CIs again:</a:t>
                </a:r>
              </a:p>
              <a:p>
                <a:pPr lvl="0" indent="0" marL="0">
                  <a:buNone/>
                </a:pPr>
                <a:r>
                  <a:rPr/>
                  <a:t>Use two-sided test</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a:r>
                  <a:rPr/>
                  <a:t>95% CI Sample A: = 272.8 ± 2.306 * (37.81/(9^0.5))</a:t>
                </a:r>
              </a:p>
              <a:p>
                <a:pPr lvl="0"/>
                <a:r>
                  <a:rPr/>
                  <a:t>mean = 272.8, N = 20, and s = 37.81 - t is ?</a:t>
                </a:r>
              </a:p>
              <a:p>
                <a:pPr lvl="0"/>
                <a:r>
                  <a:rPr/>
                  <a:t>CI = 29.06</a:t>
                </a:r>
              </a:p>
              <a:p>
                <a:pPr lvl="0"/>
                <a:r>
                  <a:rPr/>
                  <a:t>The 95% CI is between 243.7 and 301.9</a:t>
                </a:r>
              </a:p>
              <a:p>
                <a:pPr lvl="0"/>
                <a:r>
                  <a:rPr/>
                  <a:t>“The 95% CI for the population mean from sample A is 272.8 ± 29.06</a:t>
                </a:r>
              </a:p>
            </p:txBody>
          </p:sp>
        </mc:Choice>
      </mc:AlternateContent>
      <p:pic>
        <p:nvPicPr>
          <p:cNvPr descr="images/clipboard-3959630930.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4: Using the t-distribution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a:buNone/>
                </a:pP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(sample_mean,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251.2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deviation:"</a:t>
                </a:r>
                <a:r>
                  <a:rPr>
                    <a:solidFill>
                      <a:srgbClr val="003B4F"/>
                    </a:solidFill>
                    <a:latin typeface="Courier"/>
                  </a:rPr>
                  <a:t>, </a:t>
                </a:r>
                <a:r>
                  <a:rPr>
                    <a:solidFill>
                      <a:srgbClr val="4758AB"/>
                    </a:solidFill>
                    <a:latin typeface="Courier"/>
                  </a:rPr>
                  <a:t>round</a:t>
                </a:r>
                <a:r>
                  <a:rPr>
                    <a:solidFill>
                      <a:srgbClr val="003B4F"/>
                    </a:solidFill>
                    <a:latin typeface="Courier"/>
                  </a:rPr>
                  <a:t>(sample_sd,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deviation: 41.47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error:"</a:t>
                </a:r>
                <a:r>
                  <a:rPr>
                    <a:solidFill>
                      <a:srgbClr val="003B4F"/>
                    </a:solidFill>
                    <a:latin typeface="Courier"/>
                  </a:rPr>
                  <a:t>, </a:t>
                </a:r>
                <a:r>
                  <a:rPr>
                    <a:solidFill>
                      <a:srgbClr val="4758AB"/>
                    </a:solidFill>
                    <a:latin typeface="Courier"/>
                  </a:rPr>
                  <a:t>round</a:t>
                </a:r>
                <a:r>
                  <a:rPr>
                    <a:solidFill>
                      <a:srgbClr val="003B4F"/>
                    </a:solidFill>
                    <a:latin typeface="Courier"/>
                  </a:rPr>
                  <a:t>(sample_se,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error: 13.11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z:"</a:t>
                </a:r>
                <a:r>
                  <a:rPr>
                    <a:solidFill>
                      <a:srgbClr val="003B4F"/>
                    </a:solidFill>
                    <a:latin typeface="Courier"/>
                  </a:rPr>
                  <a:t>, </a:t>
                </a:r>
                <a:r>
                  <a:rPr>
                    <a:solidFill>
                      <a:srgbClr val="4758AB"/>
                    </a:solidFill>
                    <a:latin typeface="Courier"/>
                  </a:rPr>
                  <a:t>round</a:t>
                </a:r>
                <a:r>
                  <a:rPr>
                    <a:solidFill>
                      <a:srgbClr val="003B4F"/>
                    </a:solidFill>
                    <a:latin typeface="Courier"/>
                  </a:rPr>
                  <a:t>(z_ci_lower,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(z_ci_upper,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z: 225.5 to 276.9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t:"</a:t>
                </a:r>
                <a:r>
                  <a:rPr>
                    <a:solidFill>
                      <a:srgbClr val="003B4F"/>
                    </a:solidFill>
                    <a:latin typeface="Courier"/>
                  </a:rPr>
                  <a:t>, </a:t>
                </a:r>
                <a:r>
                  <a:rPr>
                    <a:solidFill>
                      <a:srgbClr val="4758AB"/>
                    </a:solidFill>
                    <a:latin typeface="Courier"/>
                  </a:rPr>
                  <a:t>round</a:t>
                </a:r>
                <a:r>
                  <a:rPr>
                    <a:solidFill>
                      <a:srgbClr val="003B4F"/>
                    </a:solidFill>
                    <a:latin typeface="Courier"/>
                  </a:rPr>
                  <a:t>(t_ci_lower,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(t_ci_upper,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t: 221.5 to 280.9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 critical value:"</a:t>
                </a:r>
                <a:r>
                  <a:rPr>
                    <a:solidFill>
                      <a:srgbClr val="003B4F"/>
                    </a:solidFill>
                    <a:latin typeface="Courier"/>
                  </a:rPr>
                  <a:t>, </a:t>
                </a:r>
                <a:r>
                  <a:rPr>
                    <a:solidFill>
                      <a:srgbClr val="4758AB"/>
                    </a:solidFill>
                    <a:latin typeface="Courier"/>
                  </a:rPr>
                  <a:t>round</a:t>
                </a:r>
                <a:r>
                  <a:rPr>
                    <a:solidFill>
                      <a:srgbClr val="003B4F"/>
                    </a:solidFill>
                    <a:latin typeface="Courier"/>
                  </a:rPr>
                  <a:t>(t_crit, </a:t>
                </a:r>
                <a:r>
                  <a:rPr>
                    <a:solidFill>
                      <a:srgbClr val="AD0000"/>
                    </a:solidFill>
                    <a:latin typeface="Courier"/>
                  </a:rPr>
                  <a:t>3</a:t>
                </a:r>
                <a:r>
                  <a:rPr>
                    <a:solidFill>
                      <a:srgbClr val="003B4F"/>
                    </a:solidFill>
                    <a:latin typeface="Courier"/>
                  </a:rPr>
                  <a:t>), </a:t>
                </a:r>
                <a:r>
                  <a:rPr>
                    <a:solidFill>
                      <a:srgbClr val="20794D"/>
                    </a:solidFill>
                    <a:latin typeface="Courier"/>
                  </a:rPr>
                  <a:t>"vs z critical value: 1.96</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t critical value: 2.262 vs z critical value: 1.96</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sp>
        <p:nvSpPr>
          <p:cNvPr id="4" name="Content Placeholder 3"/>
          <p:cNvSpPr>
            <a:spLocks noGrp="1"/>
          </p:cNvSpPr>
          <p:nvPr>
            <p:ph idx="2" sz="half"/>
          </p:nvPr>
        </p:nvSpPr>
        <p:spPr/>
        <p:txBody>
          <a:bodyPr/>
          <a:lstStyle/>
          <a:p>
            <a:pPr lvl="0" indent="0">
              <a:buNone/>
            </a:pPr>
            <a:r>
              <a:rPr>
                <a:latin typeface="Courier"/>
              </a:rPr>
              <a:t>Summary of One-Tailed Hypothesis Test:</a:t>
            </a:r>
          </a:p>
          <a:p>
            <a:pPr lvl="0" indent="0">
              <a:buNone/>
            </a:pPr>
            <a:r>
              <a:rPr>
                <a:latin typeface="Courier"/>
              </a:rPr>
              <a:t>Sample mean: 320 </a:t>
            </a:r>
          </a:p>
          <a:p>
            <a:pPr lvl="0" indent="0">
              <a:buNone/>
            </a:pPr>
            <a:r>
              <a:rPr>
                <a:latin typeface="Courier"/>
              </a:rPr>
              <a:t>Hypothesized mean: 285 </a:t>
            </a:r>
          </a:p>
          <a:p>
            <a:pPr lvl="0" indent="0">
              <a:buNone/>
            </a:pPr>
            <a:r>
              <a:rPr>
                <a:latin typeface="Courier"/>
              </a:rPr>
              <a:t>Sample size: 12 </a:t>
            </a:r>
          </a:p>
          <a:p>
            <a:pPr lvl="0" indent="0">
              <a:buNone/>
            </a:pPr>
            <a:r>
              <a:rPr>
                <a:latin typeface="Courier"/>
              </a:rPr>
              <a:t>Standard deviation: 42.15 </a:t>
            </a:r>
          </a:p>
          <a:p>
            <a:pPr lvl="0" indent="0">
              <a:buNone/>
            </a:pPr>
            <a:r>
              <a:rPr>
                <a:latin typeface="Courier"/>
              </a:rPr>
              <a:t>Standard error: 12.168 </a:t>
            </a:r>
          </a:p>
          <a:p>
            <a:pPr lvl="0" indent="0">
              <a:buNone/>
            </a:pPr>
            <a:r>
              <a:rPr>
                <a:latin typeface="Courier"/>
              </a:rPr>
              <a:t>t-statistic: 2.876 </a:t>
            </a:r>
          </a:p>
          <a:p>
            <a:pPr lvl="0" indent="0">
              <a:buNone/>
            </a:pPr>
            <a:r>
              <a:rPr>
                <a:latin typeface="Courier"/>
              </a:rPr>
              <a:t>Critical t-value (one-tailed): 1.796 </a:t>
            </a:r>
          </a:p>
          <a:p>
            <a:pPr lvl="0" indent="0">
              <a:buNone/>
            </a:pPr>
            <a:r>
              <a:rPr>
                <a:latin typeface="Courier"/>
              </a:rPr>
              <a:t>Critical value: 306.85 </a:t>
            </a:r>
          </a:p>
          <a:p>
            <a:pPr lvl="0" indent="0">
              <a:buNone/>
            </a:pPr>
            <a:r>
              <a:rPr>
                <a:latin typeface="Courier"/>
              </a:rPr>
              <a:t>Decision: Reject Ho (sample mean falls in upper rejection region)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pic>
        <p:nvPicPr>
          <p:cNvPr descr="04_01_lecture_powerpoint_files/figure-pptx/unnamed-chunk-17-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br/>
          </a:p>
        </p:txBody>
      </p:sp>
      <p:sp>
        <p:nvSpPr>
          <p:cNvPr id="4" name="Content Placeholder 3"/>
          <p:cNvSpPr>
            <a:spLocks noGrp="1"/>
          </p:cNvSpPr>
          <p:nvPr>
            <p:ph idx="2" sz="half"/>
          </p:nvPr>
        </p:nvSpPr>
        <p:spPr/>
        <p:txBody>
          <a:bodyPr/>
          <a:lstStyle/>
          <a:p>
            <a:pPr lvl="0" indent="0">
              <a:buNone/>
            </a:pPr>
            <a:r>
              <a:rPr>
                <a:latin typeface="Courier"/>
              </a:rPr>
              <a:t>Summary of Hypothesis Test:</a:t>
            </a:r>
          </a:p>
          <a:p>
            <a:pPr lvl="0" indent="0">
              <a:buNone/>
            </a:pPr>
            <a:r>
              <a:rPr>
                <a:latin typeface="Courier"/>
              </a:rPr>
              <a:t>Sample mean: 320 </a:t>
            </a:r>
          </a:p>
          <a:p>
            <a:pPr lvl="0" indent="0">
              <a:buNone/>
            </a:pPr>
            <a:r>
              <a:rPr>
                <a:latin typeface="Courier"/>
              </a:rPr>
              <a:t>Hypothesized mean: 270 </a:t>
            </a:r>
          </a:p>
          <a:p>
            <a:pPr lvl="0" indent="0">
              <a:buNone/>
            </a:pPr>
            <a:r>
              <a:rPr>
                <a:latin typeface="Courier"/>
              </a:rPr>
              <a:t>Standard error: 12.603 </a:t>
            </a:r>
          </a:p>
          <a:p>
            <a:pPr lvl="0" indent="0">
              <a:buNone/>
            </a:pPr>
            <a:r>
              <a:rPr>
                <a:latin typeface="Courier"/>
              </a:rPr>
              <a:t>t-statistic: 3.967 </a:t>
            </a:r>
          </a:p>
          <a:p>
            <a:pPr lvl="0" indent="0">
              <a:buNone/>
            </a:pPr>
            <a:r>
              <a:rPr>
                <a:latin typeface="Courier"/>
              </a:rPr>
              <a:t>Critical t-value (±): 2.306 </a:t>
            </a:r>
          </a:p>
          <a:p>
            <a:pPr lvl="0" indent="0">
              <a:buNone/>
            </a:pPr>
            <a:r>
              <a:rPr>
                <a:latin typeface="Courier"/>
              </a:rPr>
              <a:t>Critical values: 240.94 to 299.06 </a:t>
            </a:r>
          </a:p>
          <a:p>
            <a:pPr lvl="0" indent="0">
              <a:buNone/>
            </a:pPr>
            <a:r>
              <a:rPr>
                <a:latin typeface="Courier"/>
              </a:rPr>
              <a:t>Decision: Reject Ho (sample mean falls in rejection region)</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p>
        </p:txBody>
      </p:sp>
      <p:pic>
        <p:nvPicPr>
          <p:cNvPr descr="04_01_lecture_powerpoint_files/figure-pptx/unnamed-chunk-1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5: One-Sample t-Test</a:t>
            </a:r>
          </a:p>
        </p:txBody>
      </p:sp>
      <p:sp>
        <p:nvSpPr>
          <p:cNvPr id="3" name="Content Placeholder 2"/>
          <p:cNvSpPr>
            <a:spLocks noGrp="1"/>
          </p:cNvSpPr>
          <p:nvPr>
            <p:ph idx="1"/>
          </p:nvPr>
        </p:nvSpPr>
        <p:spPr/>
        <p:txBody>
          <a:bodyPr/>
          <a:lstStyle/>
          <a:p>
            <a:pPr lvl="0" indent="0" marL="1270000">
              <a:buNone/>
            </a:pPr>
            <a:r>
              <a:rPr sz="2000" b="1"/>
              <a:t>Practice Exercise 5: Lets practice a One-Sample t-Test</a:t>
            </a:r>
          </a:p>
          <a:p>
            <a:pPr lvl="0" indent="0" marL="1270000">
              <a:buNone/>
            </a:pPr>
            <a:r>
              <a:rPr sz="2000"/>
              <a:t>Let’s perform a one-sample t-test to determine if the mean fish length in Lake I3 differs from 260 mm:</a:t>
            </a:r>
          </a:p>
          <a:p>
            <a:pPr lvl="0" indent="0">
              <a:buNone/>
            </a:pPr>
            <a:r>
              <a:rPr>
                <a:solidFill>
                  <a:srgbClr val="5E5E5E"/>
                </a:solidFill>
                <a:latin typeface="Courier"/>
              </a:rPr>
              <a:t># get only lake I3</a:t>
            </a:r>
            <a:br/>
            <a:r>
              <a:rPr>
                <a:solidFill>
                  <a:srgbClr val="003B4F"/>
                </a:solidFill>
                <a:latin typeface="Courier"/>
              </a:rPr>
              <a:t>i3_df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"I3"</a:t>
            </a:r>
            <a:r>
              <a:rPr>
                <a:solidFill>
                  <a:srgbClr val="003B4F"/>
                </a:solidFill>
                <a:latin typeface="Courier"/>
              </a:rPr>
              <a:t>)</a:t>
            </a:r>
            <a:br/>
            <a:br/>
            <a:r>
              <a:rPr>
                <a:solidFill>
                  <a:srgbClr val="5E5E5E"/>
                </a:solidFill>
                <a:latin typeface="Courier"/>
              </a:rPr>
              <a:t># what is the mean</a:t>
            </a:r>
            <a:br/>
            <a:r>
              <a:rPr>
                <a:solidFill>
                  <a:srgbClr val="003B4F"/>
                </a:solidFill>
                <a:latin typeface="Courier"/>
              </a:rPr>
              <a:t>i3_mean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(i3_mean,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265.6 mm</a:t>
            </a:r>
          </a:p>
          <a:p>
            <a:pPr lvl="0" indent="0">
              <a:buNone/>
            </a:pPr>
            <a:r>
              <a:rPr>
                <a:solidFill>
                  <a:srgbClr val="5E5E5E"/>
                </a:solidFill>
                <a:latin typeface="Courier"/>
              </a:rPr>
              <a:t># Perform a one-sample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mu =</a:t>
            </a:r>
            <a:r>
              <a:rPr>
                <a:solidFill>
                  <a:srgbClr val="003B4F"/>
                </a:solidFill>
                <a:latin typeface="Courier"/>
              </a:rPr>
              <a:t> </a:t>
            </a:r>
            <a:r>
              <a:rPr>
                <a:solidFill>
                  <a:srgbClr val="AD0000"/>
                </a:solidFill>
                <a:latin typeface="Courier"/>
              </a:rPr>
              <a:t>260</a:t>
            </a:r>
            <a:r>
              <a:rPr>
                <a:solidFill>
                  <a:srgbClr val="003B4F"/>
                </a:solidFill>
                <a:latin typeface="Courier"/>
              </a:rPr>
              <a:t>)</a:t>
            </a:r>
            <a:br/>
            <a:br/>
            <a:r>
              <a:rPr>
                <a:solidFill>
                  <a:srgbClr val="5E5E5E"/>
                </a:solidFill>
                <a:latin typeface="Courier"/>
              </a:rPr>
              <a:t># View the test results</a:t>
            </a:r>
            <a:br/>
            <a:r>
              <a:rPr>
                <a:solidFill>
                  <a:srgbClr val="003B4F"/>
                </a:solidFill>
                <a:latin typeface="Courier"/>
              </a:rPr>
              <a:t>t_test_result</a:t>
            </a:r>
          </a:p>
          <a:p>
            <a:pPr lvl="0" indent="0">
              <a:buNone/>
            </a:pPr>
            <a:r>
              <a:rPr sz="2000">
                <a:latin typeface="Courier"/>
              </a:rPr>
              <a:t>
    One Sample t-test
data:  i3_df$length_mm
t = 1.6091, df = 65, p-value = 0.1124
alternative hypothesis: true mean is not equal to 260
95 percent confidence interval:
 258.6481 272.5640
sample estimates:
mean of x 
 265.6061 </a:t>
            </a:r>
          </a:p>
          <a:p>
            <a:pPr lvl="0" indent="0" marL="1270000">
              <a:buNone/>
            </a:pPr>
            <a:r>
              <a:rPr sz="2000"/>
              <a:t>Interpret this test result by answering these questions:</a:t>
            </a:r>
          </a:p>
          <a:p>
            <a:pPr lvl="0" indent="-342900" marL="342900">
              <a:buAutoNum type="arabicPeriod"/>
            </a:pPr>
            <a:r>
              <a:rPr sz="2000"/>
              <a:t>What was the null hypothesis?</a:t>
            </a:r>
          </a:p>
          <a:p>
            <a:pPr lvl="0" indent="-342900" marL="342900">
              <a:buAutoNum type="arabicPeriod"/>
            </a:pPr>
            <a:r>
              <a:rPr sz="2000"/>
              <a:t>What was the alternative hypothesis?</a:t>
            </a:r>
          </a:p>
          <a:p>
            <a:pPr lvl="0" indent="-342900" marL="342900">
              <a:buAutoNum type="arabicPeriod"/>
            </a:pPr>
            <a:r>
              <a:rPr sz="2000"/>
              <a:t>What does the p-value tell us?</a:t>
            </a:r>
          </a:p>
          <a:p>
            <a:pPr lvl="0" indent="-342900" marL="342900">
              <a:buAutoNum type="arabicPeriod"/>
            </a:pPr>
            <a:r>
              <a:rPr sz="2000"/>
              <a:t>Should we reject or fail to reject the null hypothesis at α = 0.05?</a:t>
            </a:r>
          </a:p>
          <a:p>
            <a:pPr lvl="0" indent="-342900" marL="342900">
              <a:buAutoNum type="arabicPeriod"/>
            </a:pPr>
            <a:r>
              <a:rPr sz="2000"/>
              <a:t>What is the practical interpretation of this result for fish biologists?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6: Formulating Hypotheses</a:t>
            </a:r>
          </a:p>
        </p:txBody>
      </p:sp>
      <p:sp>
        <p:nvSpPr>
          <p:cNvPr id="3" name="Content Placeholder 2"/>
          <p:cNvSpPr>
            <a:spLocks noGrp="1"/>
          </p:cNvSpPr>
          <p:nvPr>
            <p:ph idx="1"/>
          </p:nvPr>
        </p:nvSpPr>
        <p:spPr/>
        <p:txBody>
          <a:bodyPr/>
          <a:lstStyle/>
          <a:p>
            <a:pPr lvl="0" indent="0" marL="1270000">
              <a:buNone/>
            </a:pPr>
            <a:r>
              <a:rPr sz="2000" b="1"/>
              <a:t>Practice Exercise 6: Formulating Hypotheses</a:t>
            </a:r>
          </a:p>
          <a:p>
            <a:pPr lvl="0" indent="0" marL="1270000">
              <a:buNone/>
            </a:pPr>
            <a:r>
              <a:rPr sz="2000"/>
              <a:t>For the following research questions about Arctic grayling, write the null and alternative hypotheses:</a:t>
            </a:r>
          </a:p>
          <a:p>
            <a:pPr lvl="0" indent="-342900" marL="342900">
              <a:buAutoNum type="arabicPeriod"/>
            </a:pPr>
            <a:r>
              <a:rPr sz="2000"/>
              <a:t>Are fish in Lake I8 longer than fish in Lake I3?</a:t>
            </a:r>
          </a:p>
          <a:p>
            <a:pPr lvl="0" indent="0">
              <a:buNone/>
            </a:pPr>
            <a:r>
              <a:rPr>
                <a:solidFill>
                  <a:srgbClr val="5E5E5E"/>
                </a:solidFill>
                <a:latin typeface="Courier"/>
              </a:rPr>
              <a:t># Let's test one of these hypotheses: Are fish in Lake I8 longer than fish in Lake I3?</a:t>
            </a:r>
            <a:br/>
            <a:br/>
            <a:r>
              <a:rPr>
                <a:solidFill>
                  <a:srgbClr val="5E5E5E"/>
                </a:solidFill>
                <a:latin typeface="Courier"/>
              </a:rPr>
              <a:t># Perform an independent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(length_mm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grayling_df, </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"less"</a:t>
            </a:r>
            <a:r>
              <a:rPr>
                <a:solidFill>
                  <a:srgbClr val="003B4F"/>
                </a:solidFill>
                <a:latin typeface="Courier"/>
              </a:rPr>
              <a:t>)  </a:t>
            </a:r>
            <a:r>
              <a:rPr>
                <a:solidFill>
                  <a:srgbClr val="5E5E5E"/>
                </a:solidFill>
                <a:latin typeface="Courier"/>
              </a:rPr>
              <a:t># H₀: μ_I3 ≥ μ_I8, H₁: μ_I3 &lt; μ_I8</a:t>
            </a:r>
            <a:br/>
            <a:br/>
            <a:r>
              <a:rPr>
                <a:solidFill>
                  <a:srgbClr val="5E5E5E"/>
                </a:solidFill>
                <a:latin typeface="Courier"/>
              </a:rPr>
              <a:t># Display the results</a:t>
            </a:r>
            <a:br/>
            <a:r>
              <a:rPr>
                <a:solidFill>
                  <a:srgbClr val="003B4F"/>
                </a:solidFill>
                <a:latin typeface="Courier"/>
              </a:rPr>
              <a:t>t_test_result</a:t>
            </a:r>
          </a:p>
          <a:p>
            <a:pPr lvl="0" indent="0">
              <a:buNone/>
            </a:pPr>
            <a:r>
              <a:rPr sz="2000">
                <a:latin typeface="Courier"/>
              </a:rPr>
              <a:t>
    Welch Two Sample t-test
data:  length_mm by lake
t = -15.532, df = 161.63, p-value &lt; 2.2e-16
alternative hypothesis: true difference in means between group I3 and group I8 is less than 0
95 percent confidence interval:
      -Inf -86.66138
sample estimates:
mean in group I3 mean in group I8 
        265.6061         362.5980 </a:t>
            </a:r>
          </a:p>
          <a:p>
            <a:pPr lvl="0" indent="0" marL="1270000">
              <a:buNone/>
            </a:pPr>
            <a:r>
              <a:rPr sz="2000"/>
              <a:t>Based on this t-test, what can we conclude about the difference in fish length between the two lakes?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P-values</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 p &lt; 0.05: Strong evidence against H₀</a:t>
            </a:r>
          </a:p>
          <a:p>
            <a:pPr lvl="0"/>
            <a:r>
              <a:rPr/>
              <a:t>- 0.05 ≤ p &lt; 0.10: Moderate evidence against H₀</a:t>
            </a:r>
          </a:p>
          <a:p>
            <a:pPr lvl="0"/>
            <a:r>
              <a:rPr/>
              <a:t>- p ≥ 0.10: Insufficient evidence against H₀</a:t>
            </a:r>
          </a:p>
          <a:p>
            <a:pPr lvl="0" indent="0" marL="0">
              <a:buNone/>
            </a:pPr>
            <a:r>
              <a:rPr b="1"/>
              <a:t>Common misinterpretations:</a:t>
            </a:r>
          </a:p>
          <a:p>
            <a:pPr lvl="0"/>
            <a:r>
              <a:rPr/>
              <a:t>- p-value is NOT the probability that H₀ is true</a:t>
            </a:r>
          </a:p>
          <a:p>
            <a:pPr lvl="0"/>
            <a:r>
              <a:rPr/>
              <a:t>- p-value is NOT the probability that results occurred by chance</a:t>
            </a:r>
          </a:p>
          <a:p>
            <a:pPr lvl="0"/>
            <a:r>
              <a:rPr/>
              <a:t>- Statistical significance ≠ practical significance</a:t>
            </a:r>
          </a:p>
          <a:p>
            <a:pPr lvl="0"/>
            <a:r>
              <a:rPr/>
              <a:t>the smaller the p value does not necessarily mean much… use &lt; 0.05 even if is is 10^-16</a:t>
            </a:r>
          </a:p>
        </p:txBody>
      </p:sp>
      <p:pic>
        <p:nvPicPr>
          <p:cNvPr descr="04_01_lecture_powerpoint_files/figure-pptx/unnamed-chunk-2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 Rejecting H₀ when it’s actually true</a:t>
            </a:r>
          </a:p>
          <a:p>
            <a:pPr lvl="0"/>
            <a:r>
              <a:rPr/>
              <a:t>- Probability = α (significance level)</a:t>
            </a:r>
          </a:p>
          <a:p>
            <a:pPr lvl="0"/>
            <a:r>
              <a:rPr/>
              <a:t>- “Finding an effect that isn’t real”</a:t>
            </a:r>
          </a:p>
          <a:p>
            <a:pPr lvl="0" indent="0" marL="0">
              <a:buNone/>
            </a:pPr>
            <a:r>
              <a:rPr b="1"/>
              <a:t>Type II Error (False Negative)</a:t>
            </a:r>
          </a:p>
          <a:p>
            <a:pPr lvl="0"/>
            <a:r>
              <a:rPr/>
              <a:t>- Failing to reject H₀ when it’s actually false</a:t>
            </a:r>
          </a:p>
          <a:p>
            <a:pPr lvl="0"/>
            <a:r>
              <a:rPr/>
              <a:t>- Probability = β - “Missing an effect that is real”</a:t>
            </a:r>
          </a:p>
          <a:p>
            <a:pPr lvl="0" indent="0" marL="0">
              <a:buNone/>
            </a:pPr>
            <a:r>
              <a:rPr b="1"/>
              <a:t>Statistical Power = 1 - β</a:t>
            </a:r>
          </a:p>
          <a:p>
            <a:pPr lvl="0"/>
            <a:r>
              <a:rPr/>
              <a:t>- Probability of correctly rejecting a false H₀</a:t>
            </a:r>
          </a:p>
          <a:p>
            <a:pPr lvl="0"/>
            <a:r>
              <a:rPr/>
              <a:t>- Increases with:</a:t>
            </a:r>
          </a:p>
          <a:p>
            <a:pPr lvl="1"/>
            <a:r>
              <a:rPr/>
              <a:t>- Larger sample size</a:t>
            </a:r>
          </a:p>
          <a:p>
            <a:pPr lvl="1"/>
            <a:r>
              <a:rPr/>
              <a:t>- Larger effect size</a:t>
            </a:r>
          </a:p>
          <a:p>
            <a:pPr lvl="1"/>
            <a:r>
              <a:rPr/>
              <a:t>- Lower variability</a:t>
            </a:r>
          </a:p>
          <a:p>
            <a:pPr lvl="1"/>
            <a:r>
              <a:rPr/>
              <a:t>- Higher α level</a:t>
            </a:r>
          </a:p>
        </p:txBody>
      </p:sp>
      <p:pic>
        <p:nvPicPr>
          <p:cNvPr descr="04_01_lecture_powerpoint_files/figure-pptx/unnamed-chunk-2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a:r>
              <a:rPr/>
              <a:t>What does it mean…</a:t>
            </a:r>
          </a:p>
          <a:p>
            <a:pPr lvl="1"/>
            <a:r>
              <a:rPr/>
              <a:t>Black curve (Null Distribution): distribution of test statistics when Ho is true</a:t>
            </a:r>
          </a:p>
          <a:p>
            <a:pPr lvl="1"/>
            <a:r>
              <a:rPr/>
              <a:t>Green curve (Alternative Distribution): distribution when Ha is true (is an effect)</a:t>
            </a:r>
          </a:p>
          <a:p>
            <a:pPr lvl="0"/>
            <a:r>
              <a:rPr/>
              <a:t>Red shaded area (Type I Error): probability of rejecting Ho when it’s actually tru</a:t>
            </a:r>
          </a:p>
          <a:p>
            <a:pPr lvl="1"/>
            <a:r>
              <a:rPr/>
              <a:t>area under the null distribution (black curve) to the right α (p=0.05)</a:t>
            </a:r>
          </a:p>
          <a:p>
            <a:pPr lvl="0"/>
            <a:r>
              <a:rPr/>
              <a:t>Blue shaded area (Type II Error): probability of failing to reject Ho when alternative is actually true</a:t>
            </a:r>
          </a:p>
          <a:p>
            <a:pPr lvl="1"/>
            <a:r>
              <a:rPr/>
              <a:t>area under alternative distribution (green curve) left of α (depends on effect size, sample size, etc.)</a:t>
            </a:r>
          </a:p>
          <a:p>
            <a:pPr lvl="0" indent="0" marL="0">
              <a:buNone/>
            </a:pPr>
            <a:r>
              <a:rPr/>
              <a:t>The Key Insight fundamental trade-off in hypothesis testing:</a:t>
            </a:r>
          </a:p>
          <a:p>
            <a:pPr lvl="0"/>
            <a:r>
              <a:rPr/>
              <a:t>as α value moves left or right, change balance between Type I and Type II errors</a:t>
            </a:r>
          </a:p>
          <a:p>
            <a:pPr lvl="0"/>
            <a:r>
              <a:rPr/>
              <a:t>Moving left reduces Type II errors increases Type I errors, and vice versa</a:t>
            </a:r>
          </a:p>
          <a:p>
            <a:pPr lvl="0"/>
            <a:r>
              <a:rPr/>
              <a:t>power (1 - β) area under the green curve RIGHT of dashed line</a:t>
            </a:r>
          </a:p>
          <a:p>
            <a:pPr lvl="0"/>
            <a:r>
              <a:rPr/>
              <a:t>the probability of correctly detecting a real effect.</a:t>
            </a:r>
          </a:p>
        </p:txBody>
      </p:sp>
      <p:pic>
        <p:nvPicPr>
          <p:cNvPr descr="04_01_lecture_powerpoint_files/figure-pptx/unnamed-chunk-2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7: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indent="0">
              <a:buNone/>
            </a:pPr>
            <a:r>
              <a:rPr>
                <a:solidFill>
                  <a:srgbClr val="5E5E5E"/>
                </a:solidFill>
                <a:latin typeface="Courier"/>
              </a:rPr>
              <a:t># Calculate power for detecting a 30 mm difference</a:t>
            </a:r>
            <a:br/>
            <a:r>
              <a:rPr>
                <a:solidFill>
                  <a:srgbClr val="5E5E5E"/>
                </a:solidFill>
                <a:latin typeface="Courier"/>
              </a:rPr>
              <a:t># First determine parameters</a:t>
            </a:r>
            <a:br/>
            <a:r>
              <a:rPr>
                <a:solidFill>
                  <a:srgbClr val="003B4F"/>
                </a:solidFill>
                <a:latin typeface="Courier"/>
              </a:rPr>
              <a:t>lake_I3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"I3"</a:t>
            </a:r>
            <a:r>
              <a:rPr>
                <a:solidFill>
                  <a:srgbClr val="003B4F"/>
                </a:solidFill>
                <a:latin typeface="Courier"/>
              </a:rPr>
              <a:t>)</a:t>
            </a:r>
            <a:br/>
            <a:r>
              <a:rPr>
                <a:solidFill>
                  <a:srgbClr val="003B4F"/>
                </a:solidFill>
                <a:latin typeface="Courier"/>
              </a:rPr>
              <a:t>lake_I8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"I8"</a:t>
            </a:r>
            <a:r>
              <a:rPr>
                <a:solidFill>
                  <a:srgbClr val="003B4F"/>
                </a:solidFill>
                <a:latin typeface="Courier"/>
              </a:rPr>
              <a:t>) </a:t>
            </a:r>
            <a:br/>
            <a:br/>
            <a:r>
              <a:rPr>
                <a:solidFill>
                  <a:srgbClr val="003B4F"/>
                </a:solidFill>
                <a:latin typeface="Courier"/>
              </a:rPr>
              <a:t>n1 &lt;- </a:t>
            </a:r>
            <a:r>
              <a:rPr>
                <a:solidFill>
                  <a:srgbClr val="4758AB"/>
                </a:solidFill>
                <a:latin typeface="Courier"/>
              </a:rPr>
              <a:t>nrow</a:t>
            </a:r>
            <a:r>
              <a:rPr>
                <a:solidFill>
                  <a:srgbClr val="003B4F"/>
                </a:solidFill>
                <a:latin typeface="Courier"/>
              </a:rPr>
              <a:t>(lake_I3)</a:t>
            </a:r>
            <a:br/>
            <a:r>
              <a:rPr>
                <a:solidFill>
                  <a:srgbClr val="003B4F"/>
                </a:solidFill>
                <a:latin typeface="Courier"/>
              </a:rPr>
              <a:t>n2 &lt;- </a:t>
            </a:r>
            <a:r>
              <a:rPr>
                <a:solidFill>
                  <a:srgbClr val="4758AB"/>
                </a:solidFill>
                <a:latin typeface="Courier"/>
              </a:rPr>
              <a:t>nrow</a:t>
            </a:r>
            <a:r>
              <a:rPr>
                <a:solidFill>
                  <a:srgbClr val="003B4F"/>
                </a:solidFill>
                <a:latin typeface="Courier"/>
              </a:rPr>
              <a:t>(lake_I8)</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(lake_I3</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(lake_I8</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30</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66
          delta = 0.6741298
             sd = 1
      sig.level = 0.05
          power = 0.9702076
    alternative = two.sided
NOTE: n is number in *each* group</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Summary</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Probability distributions</a:t>
            </a:r>
            <a:r>
              <a:rPr/>
              <a:t> model random phenomena</a:t>
            </a:r>
          </a:p>
          <a:p>
            <a:pPr lvl="1"/>
            <a:r>
              <a:rPr/>
              <a:t>Normal distribution is especially important</a:t>
            </a:r>
          </a:p>
          <a:p>
            <a:pPr lvl="1"/>
            <a:r>
              <a:rPr/>
              <a:t>Z-scores standardize measurements</a:t>
            </a:r>
          </a:p>
          <a:p>
            <a:pPr lvl="0" indent="-342900" marL="342900">
              <a:buAutoNum type="arabicPeriod"/>
            </a:pPr>
            <a:r>
              <a:rPr b="1"/>
              <a:t>Standard error</a:t>
            </a:r>
            <a:r>
              <a:rPr/>
              <a:t> measures precision of estimates</a:t>
            </a:r>
          </a:p>
          <a:p>
            <a:pPr lvl="1"/>
            <a:r>
              <a:rPr/>
              <a:t>Decreases with larger sample sizes</a:t>
            </a:r>
          </a:p>
          <a:p>
            <a:pPr lvl="1"/>
            <a:r>
              <a:rPr/>
              <a:t>Used to construct confidence intervals</a:t>
            </a:r>
          </a:p>
          <a:p>
            <a:pPr lvl="0" indent="-342900" marL="342900">
              <a:buAutoNum type="arabicPeriod"/>
            </a:pPr>
            <a:r>
              <a:rPr b="1"/>
              <a:t>Confidence intervals</a:t>
            </a:r>
            <a:r>
              <a:rPr/>
              <a:t> express uncertainty</a:t>
            </a:r>
          </a:p>
          <a:p>
            <a:pPr lvl="1"/>
            <a:r>
              <a:rPr/>
              <a:t>Provide plausible range for parameters</a:t>
            </a:r>
          </a:p>
          <a:p>
            <a:pPr lvl="1"/>
            <a:r>
              <a:rPr/>
              <a:t>95% CI: </a:t>
            </a:r>
            <a:r>
              <a:rPr>
                <a:latin typeface="Courier"/>
              </a:rPr>
              <a:t>mean ± 1.96 × SE</a:t>
            </a:r>
          </a:p>
          <a:p>
            <a:pPr lvl="0" indent="-342900" marL="342900">
              <a:buAutoNum type="arabicPeriod"/>
            </a:pPr>
            <a:r>
              <a:rPr b="1"/>
              <a:t>Hypothesis testing</a:t>
            </a:r>
            <a:r>
              <a:rPr/>
              <a:t> evaluates claims</a:t>
            </a:r>
          </a:p>
          <a:p>
            <a:pPr lvl="1"/>
            <a:r>
              <a:rPr/>
              <a:t>Null vs. alternative hypotheses</a:t>
            </a:r>
          </a:p>
          <a:p>
            <a:pPr lvl="1"/>
            <a:r>
              <a:rPr/>
              <a:t>P-values quantify evidence against H₀</a:t>
            </a:r>
          </a:p>
          <a:p>
            <a:pPr lvl="1"/>
            <a:r>
              <a:rPr/>
              <a:t>Consider both statistical and practical significance</a:t>
            </a:r>
          </a:p>
        </p:txBody>
      </p:sp>
      <p:pic>
        <p:nvPicPr>
          <p:cNvPr descr="04_01_lecture_powerpoint_files/figure-pptx/unnamed-chunk-2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04: Probability and Inference</dc:title>
  <dc:creator>Bill Perry</dc:creator>
  <cp:keywords/>
  <dcterms:created xsi:type="dcterms:W3CDTF">2025-10-06T18:38:45Z</dcterms:created>
  <dcterms:modified xsi:type="dcterms:W3CDTF">2025-10-06T18:38:45Z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